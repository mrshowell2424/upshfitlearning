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</p:sldIdLst>
  <p:sldSz cy="15716250" cx="12144375"/>
  <p:notesSz cx="15716250" cy="121443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31" Type="http://schemas.openxmlformats.org/officeDocument/2006/relationships/slide" Target="slides/slide27.xml"/><Relationship Id="rId75" Type="http://schemas.openxmlformats.org/officeDocument/2006/relationships/slide" Target="slides/slide71.xml"/><Relationship Id="rId30" Type="http://schemas.openxmlformats.org/officeDocument/2006/relationships/slide" Target="slides/slide26.xml"/><Relationship Id="rId74" Type="http://schemas.openxmlformats.org/officeDocument/2006/relationships/slide" Target="slides/slide70.xml"/><Relationship Id="rId33" Type="http://schemas.openxmlformats.org/officeDocument/2006/relationships/slide" Target="slides/slide29.xml"/><Relationship Id="rId77" Type="http://schemas.openxmlformats.org/officeDocument/2006/relationships/slide" Target="slides/slide73.xml"/><Relationship Id="rId32" Type="http://schemas.openxmlformats.org/officeDocument/2006/relationships/slide" Target="slides/slide28.xml"/><Relationship Id="rId76" Type="http://schemas.openxmlformats.org/officeDocument/2006/relationships/slide" Target="slides/slide7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2" name="Google Shape;76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3" name="Google Shape;81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6" name="Google Shape;86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7" name="Google Shape;91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6" name="Google Shape;96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3" name="Google Shape;101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4" name="Google Shape;106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1" name="Google Shape;111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2" name="Google Shape;116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1" name="Google Shape;121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6" name="Google Shape;126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1" name="Google Shape;132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8" name="Google Shape;137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9" name="Google Shape;142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0" name="Google Shape;148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9" name="Google Shape;152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8" name="Google Shape;157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1" name="Google Shape;163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2" name="Google Shape;1632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2" name="Google Shape;168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1" name="Google Shape;1731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2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4" name="Google Shape;178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3" name="Google Shape;183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4" name="Google Shape;188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5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Google Shape;193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7" name="Google Shape;193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8" name="Google Shape;1938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4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6" name="Google Shape;198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3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5" name="Google Shape;2035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6" name="Google Shape;2036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8" name="Shape 2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" name="Google Shape;2099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0" name="Google Shape;2100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1" name="Google Shape;2101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3" name="Google Shape;2153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2" name="Shape 2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4" name="Google Shape;2204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5" name="Google Shape;2205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7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Google Shape;2258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9" name="Google Shape;2259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0" name="Google Shape;2260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4" name="Shape 2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Google Shape;2315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6" name="Google Shape;2316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7" name="Google Shape;2317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3" name="Shape 2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4" name="Google Shape;2364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5" name="Google Shape;2365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6" name="Google Shape;2366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4" name="Shape 2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5" name="Google Shape;2415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6" name="Google Shape;2416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7" name="Google Shape;2417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7" name="Shape 2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8" name="Google Shape;2468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9" name="Google Shape;2469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0" name="Google Shape;2470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2" name="Shape 2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3" name="Google Shape;2523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4" name="Google Shape;2524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5" name="Google Shape;2525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5" name="Shape 2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6" name="Google Shape;2576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7" name="Google Shape;2577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8" name="Google Shape;2578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6" name="Shape 2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7" name="Google Shape;2627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8" name="Google Shape;2628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9" name="Google Shape;2629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5" name="Shape 2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6" name="Google Shape;2676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7" name="Google Shape;2677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8" name="Google Shape;2678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8" name="Shape 2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9" name="Google Shape;2729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0" name="Google Shape;2730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1" name="Google Shape;2731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7" name="Shape 2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8" name="Google Shape;2778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9" name="Google Shape;2779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0" name="Google Shape;2780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4" name="Shape 2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5" name="Google Shape;2825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6" name="Google Shape;2826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7" name="Google Shape;2827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7" name="Shape 2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8" name="Google Shape;2878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9" name="Google Shape;2879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0" name="Google Shape;2880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0" name="Shape 2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1" name="Google Shape;2931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2" name="Google Shape;2932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3" name="Google Shape;2933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3" name="Shape 2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4" name="Google Shape;2984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5" name="Google Shape;2985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6" name="Google Shape;2986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6" name="Shape 3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7" name="Google Shape;3037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8" name="Google Shape;3038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9" name="Google Shape;3039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9" name="Shape 3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0" name="Google Shape;3090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1" name="Google Shape;3091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2" name="Google Shape;3092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8" name="Shape 3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9" name="Google Shape;3139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0" name="Google Shape;3140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1" name="Google Shape;3141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7" name="Shape 3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8" name="Google Shape;3188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9" name="Google Shape;3189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0" name="Google Shape;3190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0" name="Shape 3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1" name="Google Shape;3241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2" name="Google Shape;3242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3" name="Google Shape;3243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3" name="Shape 3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4" name="Google Shape;3294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5" name="Google Shape;3295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6" name="Google Shape;3296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4" name="Shape 3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5" name="Google Shape;3345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6" name="Google Shape;3346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7" name="Google Shape;3347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7" name="Shape 3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8" name="Google Shape;3398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9" name="Google Shape;3399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0" name="Google Shape;3400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2" name="Shape 3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3" name="Google Shape;3453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4" name="Google Shape;3454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5" name="Google Shape;3455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3" name="Shape 3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4" name="Google Shape;3504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5" name="Google Shape;3505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6" name="Google Shape;3506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6" name="Shape 3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7" name="Google Shape;3557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8" name="Google Shape;3558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9" name="Google Shape;3559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1" name="Shape 3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2" name="Google Shape;3612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3" name="Google Shape;3613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4" name="Google Shape;3614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2" name="Shape 3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3" name="Google Shape;3663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4" name="Google Shape;3664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5" name="Google Shape;3665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9" name="Shape 3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0" name="Google Shape;3720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1" name="Google Shape;3721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2" name="Google Shape;3722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4" name="Shape 3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5" name="Google Shape;3775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6" name="Google Shape;3776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7" name="Google Shape;3777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2023914" cy="342900"/>
          </a:xfrm>
          <a:prstGeom prst="rect">
            <a:avLst/>
          </a:prstGeom>
          <a:solidFill>
            <a:srgbClr val="7F9C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2023914" y="0"/>
            <a:ext cx="2024137" cy="342900"/>
          </a:xfrm>
          <a:prstGeom prst="rect">
            <a:avLst/>
          </a:prstGeom>
          <a:solidFill>
            <a:srgbClr val="D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048051" y="0"/>
            <a:ext cx="2023914" cy="34290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071964" y="0"/>
            <a:ext cx="2024137" cy="342900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8096101" y="0"/>
            <a:ext cx="2024137" cy="342900"/>
          </a:xfrm>
          <a:prstGeom prst="rect">
            <a:avLst/>
          </a:prstGeom>
          <a:solidFill>
            <a:srgbClr val="8A6A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0120238" y="0"/>
            <a:ext cx="2024137" cy="34290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666601" y="901201"/>
            <a:ext cx="11892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CLEAR LEARNING TARGETS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66601" y="1495276"/>
            <a:ext cx="11135508" cy="21410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133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9000"/>
              <a:buFont typeface="Arial"/>
              <a:buNone/>
            </a:pPr>
            <a:r>
              <a:rPr b="1" i="0" lang="en-US" sz="90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Unpacked Standards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66601" y="3788643"/>
            <a:ext cx="1189229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89F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64789F"/>
                </a:solidFill>
                <a:latin typeface="Arial"/>
                <a:ea typeface="Arial"/>
                <a:cs typeface="Arial"/>
                <a:sym typeface="Arial"/>
              </a:rPr>
              <a:t>ELA &amp; Math · 4th Grade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66601" y="4888781"/>
            <a:ext cx="10811173" cy="2256979"/>
          </a:xfrm>
          <a:prstGeom prst="roundRect">
            <a:avLst>
              <a:gd fmla="val 675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1028477" y="5212482"/>
            <a:ext cx="11096164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WHAT IS ON EACH PAGE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1028477" y="5664771"/>
            <a:ext cx="10390044" cy="1195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One standard per page, broken down into the parts you teach from: the essential questions that frame the lesson, the skills a student has to be able to do, the vocabulary they need, the misconception to watch for, and the student-facing "I can" targets.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66601" y="7450485"/>
            <a:ext cx="5319861" cy="1171129"/>
          </a:xfrm>
          <a:prstGeom prst="roundRect">
            <a:avLst>
              <a:gd fmla="val 11386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942752" y="7688461"/>
            <a:ext cx="5244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942752" y="8050337"/>
            <a:ext cx="5244316" cy="3714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726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E7269"/>
                </a:solidFill>
                <a:latin typeface="Arial"/>
                <a:ea typeface="Arial"/>
                <a:cs typeface="Arial"/>
                <a:sym typeface="Arial"/>
              </a:rPr>
              <a:t>What the lesson is really asking.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6157913" y="7450485"/>
            <a:ext cx="5319861" cy="1171129"/>
          </a:xfrm>
          <a:prstGeom prst="roundRect">
            <a:avLst>
              <a:gd fmla="val 11386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6434063" y="7688461"/>
            <a:ext cx="5244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6434063" y="8050337"/>
            <a:ext cx="5244316" cy="3714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726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E7269"/>
                </a:solidFill>
                <a:latin typeface="Arial"/>
                <a:ea typeface="Arial"/>
                <a:cs typeface="Arial"/>
                <a:sym typeface="Arial"/>
              </a:rPr>
              <a:t>What the student must be able to do.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666601" y="8793063"/>
            <a:ext cx="5319861" cy="1171129"/>
          </a:xfrm>
          <a:prstGeom prst="roundRect">
            <a:avLst>
              <a:gd fmla="val 11386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942752" y="9031039"/>
            <a:ext cx="5244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942752" y="9392915"/>
            <a:ext cx="5244316" cy="3714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726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E7269"/>
                </a:solidFill>
                <a:latin typeface="Arial"/>
                <a:ea typeface="Arial"/>
                <a:cs typeface="Arial"/>
                <a:sym typeface="Arial"/>
              </a:rPr>
              <a:t>The words to teach explicitly.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157913" y="8793063"/>
            <a:ext cx="5319861" cy="1171129"/>
          </a:xfrm>
          <a:prstGeom prst="roundRect">
            <a:avLst>
              <a:gd fmla="val 11386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6434063" y="9031039"/>
            <a:ext cx="5244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6434063" y="9392915"/>
            <a:ext cx="5244316" cy="3714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726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E7269"/>
                </a:solidFill>
                <a:latin typeface="Arial"/>
                <a:ea typeface="Arial"/>
                <a:cs typeface="Arial"/>
                <a:sym typeface="Arial"/>
              </a:rPr>
              <a:t>Where students reliably go wrong.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666601" y="14447118"/>
            <a:ext cx="10811173" cy="28575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666601" y="14704293"/>
            <a:ext cx="11135508" cy="3834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73 standards unpacked — 45 ELA, 28 Math · School Year 2026–2027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533326" y="533326"/>
            <a:ext cx="649866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READING LITERATURE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33326" y="847651"/>
            <a:ext cx="6498669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Key Ideas and Details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0266015" y="533326"/>
            <a:ext cx="134503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0475565" y="647626"/>
            <a:ext cx="100213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RL.4.1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Refer to details and examples in a text when explaining what the text says explicitly and when drawing inferences from the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the text state and what does it imply?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999902" y="4898157"/>
            <a:ext cx="498082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Which details best support my inference?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424464" y="4115470"/>
            <a:ext cx="105147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6586389" y="4182145"/>
            <a:ext cx="80382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explicit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561659" y="4115470"/>
            <a:ext cx="130306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7723584" y="4182145"/>
            <a:ext cx="105541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inference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8950449" y="4115470"/>
            <a:ext cx="127672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9112374" y="4182145"/>
            <a:ext cx="102907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10312896" y="4115470"/>
            <a:ext cx="89274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10474821" y="4182145"/>
            <a:ext cx="64509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detail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424464" y="4619997"/>
            <a:ext cx="122359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6586389" y="4686672"/>
            <a:ext cx="97594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1247477" y="6260827"/>
            <a:ext cx="899288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Refer to details and examples when explaining what the text says explicitly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1247477" y="6699721"/>
            <a:ext cx="355727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Draw inferences from the 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1247477" y="7138615"/>
            <a:ext cx="492090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Select the strongest supporting evidence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offer an inference with no evidence, or cite evidence that does not actually support the claim they made.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33326" y="950833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1218902" y="10098807"/>
            <a:ext cx="496363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what the text says directly.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780901" y="105696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1218902" y="10541050"/>
            <a:ext cx="602276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make an inference and back it with details.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10896674" y="14897174"/>
            <a:ext cx="7905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RL.4.1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533326" y="533326"/>
            <a:ext cx="649866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READING LITERATURE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33326" y="847651"/>
            <a:ext cx="6498669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Key Ideas and Details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0266015" y="533326"/>
            <a:ext cx="134503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10475565" y="647626"/>
            <a:ext cx="100213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RL.4.2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a theme of a story, drama, or poem from details in the text; summarize the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533326" y="3136553"/>
            <a:ext cx="5443538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999902" y="3755603"/>
            <a:ext cx="234663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is the theme?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999902" y="4204097"/>
            <a:ext cx="452652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summarize without opinion?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6167289" y="3136553"/>
            <a:ext cx="5443761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424464" y="3755603"/>
            <a:ext cx="98539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6586389" y="3822278"/>
            <a:ext cx="73774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theme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7495580" y="3755603"/>
            <a:ext cx="148768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7657505" y="3822278"/>
            <a:ext cx="124003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summarize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9068991" y="3755603"/>
            <a:ext cx="126332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9230916" y="3822278"/>
            <a:ext cx="101567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0418043" y="3755603"/>
            <a:ext cx="89274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10579968" y="3822278"/>
            <a:ext cx="64509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detail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33326" y="494771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809476" y="516671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809476" y="559534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1247477" y="5566767"/>
            <a:ext cx="505621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a theme from details in the 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809476" y="603423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1247477" y="6005661"/>
            <a:ext cx="369356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Summarize the text objectively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809476" y="647313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1247477" y="6444555"/>
            <a:ext cx="426892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Distinguish theme from topic or plot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33326" y="718817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533326" y="718817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895201" y="737860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895201" y="774047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Summaries turn into retellings with personal reactions attached. An objective summary excludes opinion.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533326" y="881427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780901" y="900469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780901" y="943332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1218902" y="9404747"/>
            <a:ext cx="378442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find the theme of a story.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780901" y="987556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1218902" y="9846990"/>
            <a:ext cx="526715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write a summary without my opinion.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896674" y="14897174"/>
            <a:ext cx="7905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RL.4.2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533326" y="533326"/>
            <a:ext cx="649866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READING LITERATURE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533326" y="847651"/>
            <a:ext cx="6498669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Key Ideas and Details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10266015" y="533326"/>
            <a:ext cx="134503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10475565" y="647626"/>
            <a:ext cx="100213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RL.4.3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Describe in depth a character, setting, or event in a story or drama, drawing on specific details in the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999902" y="4115470"/>
            <a:ext cx="501078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makes this character who they are?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999902" y="4563963"/>
            <a:ext cx="431533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setting shape the action?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6424464" y="4115470"/>
            <a:ext cx="117090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6586389" y="4182145"/>
            <a:ext cx="92325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in depth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7681094" y="4115470"/>
            <a:ext cx="175267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7843019" y="4182145"/>
            <a:ext cx="15050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specific detail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9519493" y="4115470"/>
            <a:ext cx="131601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9681418" y="4182145"/>
            <a:ext cx="106836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character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424464" y="4619997"/>
            <a:ext cx="102512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6586389" y="4686672"/>
            <a:ext cx="77747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setting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7535317" y="4619997"/>
            <a:ext cx="140865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7697242" y="4686672"/>
            <a:ext cx="116100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motivation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1247477" y="6067276"/>
            <a:ext cx="563206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Describe a character, setting, or event in depth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1247477" y="6506170"/>
            <a:ext cx="411765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Draw on specific details in the 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1247477" y="6945064"/>
            <a:ext cx="704014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how thoughts, words, and actions reveal character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give a general description ("she is nice") instead of a depth analysis grounded in specific lines.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533326" y="9314780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1218902" y="9905256"/>
            <a:ext cx="7720853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describe a character in depth using details from the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10896674" y="14897174"/>
            <a:ext cx="7905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RL.4.3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533326" y="533326"/>
            <a:ext cx="649866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READING LITERATURE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533326" y="847651"/>
            <a:ext cx="6498669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Craft and Structure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10266015" y="533326"/>
            <a:ext cx="134503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10475565" y="647626"/>
            <a:ext cx="100213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RL.4.4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the meaning of words and phrases as they are used in a text, including those that allude to significant characters found in mythology.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999902" y="4115470"/>
            <a:ext cx="399683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this word mean here?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999902" y="4563963"/>
            <a:ext cx="384557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the allusion refer to?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6424464" y="4115470"/>
            <a:ext cx="113094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6586389" y="4182145"/>
            <a:ext cx="88329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allusion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7641134" y="4115470"/>
            <a:ext cx="140865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7803059" y="4182145"/>
            <a:ext cx="116100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mythology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9135517" y="4115470"/>
            <a:ext cx="128967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9297442" y="4182145"/>
            <a:ext cx="104202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figurative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6424464" y="4619997"/>
            <a:ext cx="109120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6586389" y="4686672"/>
            <a:ext cx="843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7601396" y="4619997"/>
            <a:ext cx="155465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7763321" y="4686672"/>
            <a:ext cx="130700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connotation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1247477" y="6067276"/>
            <a:ext cx="654041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the meaning of words and phrases in a 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1247477" y="6506170"/>
            <a:ext cx="802339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Interpret words that allude to significant characters from mythology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1247477" y="6945064"/>
            <a:ext cx="532903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context to determine figurative meaning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Allusions are missed entirely because the referenced story is unfamiliar, and students read past them.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533326" y="9314780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1218902" y="9905256"/>
            <a:ext cx="5315039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figure out what words mean in a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780901" y="10376074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1218902" y="10347499"/>
            <a:ext cx="4749009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recognize a reference to a myth.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10896674" y="14897174"/>
            <a:ext cx="7905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RL.4.4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533326" y="533326"/>
            <a:ext cx="649866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READING LITERATURE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533326" y="847651"/>
            <a:ext cx="6498669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Craft and Structure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10266015" y="533326"/>
            <a:ext cx="134503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10475565" y="647626"/>
            <a:ext cx="100213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RL.4.5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major differences between poems, drama, and prose, and refer to the structural elements of each when writing or speaking about a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533326" y="3496419"/>
            <a:ext cx="5443538" cy="2265908"/>
          </a:xfrm>
          <a:prstGeom prst="roundRect">
            <a:avLst>
              <a:gd fmla="val 588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999902" y="4115470"/>
            <a:ext cx="484527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the form change the reading?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999902" y="4563963"/>
            <a:ext cx="460289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elements belong to each genre?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6167289" y="3496419"/>
            <a:ext cx="5443761" cy="2265908"/>
          </a:xfrm>
          <a:prstGeom prst="roundRect">
            <a:avLst>
              <a:gd fmla="val 588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6424464" y="4115470"/>
            <a:ext cx="91931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6586389" y="4182145"/>
            <a:ext cx="67166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prose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7429500" y="4115470"/>
            <a:ext cx="99856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7591425" y="4182145"/>
            <a:ext cx="75091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drama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8513787" y="4115470"/>
            <a:ext cx="91931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8675712" y="4182145"/>
            <a:ext cx="67166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poem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9518824" y="4115470"/>
            <a:ext cx="90591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9680749" y="4182145"/>
            <a:ext cx="65826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verse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6424464" y="4619997"/>
            <a:ext cx="105124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6586389" y="4686672"/>
            <a:ext cx="80359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rhythm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7561436" y="4619997"/>
            <a:ext cx="93225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7723361" y="4686672"/>
            <a:ext cx="68460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meter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8579421" y="4619997"/>
            <a:ext cx="220228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8741346" y="4686672"/>
            <a:ext cx="195463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cast of characters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6424464" y="5124524"/>
            <a:ext cx="199087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6586389" y="5191199"/>
            <a:ext cx="17432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stage directions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533326" y="5952753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809476" y="6171754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809476" y="660037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8"/>
          <p:cNvSpPr/>
          <p:nvPr/>
        </p:nvSpPr>
        <p:spPr>
          <a:xfrm>
            <a:off x="1247477" y="6571804"/>
            <a:ext cx="733777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major differences between poems, drama, and prose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809476" y="703927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1247477" y="7010698"/>
            <a:ext cx="431460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Refer to structural elements of each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809476" y="747816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1247477" y="7449592"/>
            <a:ext cx="364838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genre-specific vocabulary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533326" y="8193212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533326" y="8193212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895201" y="8383637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895201" y="8745513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apply story vocabulary to poetry, describing stanzas as paragraphs.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533326" y="9472836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780901" y="9663261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780901" y="10091886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1218902" y="10063311"/>
            <a:ext cx="776358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the difference between poems, plays, and prose.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10896674" y="14897174"/>
            <a:ext cx="7905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RL.4.5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533326" y="533326"/>
            <a:ext cx="649866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READING LITERATURE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533326" y="847651"/>
            <a:ext cx="6498669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Craft and Structure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10266015" y="533326"/>
            <a:ext cx="134503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10475565" y="647626"/>
            <a:ext cx="100213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RL.4.6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Compare and contrast the point of view from which different stories are narrated, including the difference between first- and third-person narrations.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999902" y="4115470"/>
            <a:ext cx="508666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Who is telling this and why does it matter?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999902" y="456396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would change with a different narrator?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6424464" y="4115470"/>
            <a:ext cx="150108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6586389" y="4182145"/>
            <a:ext cx="125343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first person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8011269" y="4115470"/>
            <a:ext cx="158077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9"/>
          <p:cNvSpPr/>
          <p:nvPr/>
        </p:nvSpPr>
        <p:spPr>
          <a:xfrm>
            <a:off x="8173194" y="4182145"/>
            <a:ext cx="133312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third person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9677772" y="4115470"/>
            <a:ext cx="126332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9839697" y="4182145"/>
            <a:ext cx="101567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narration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6424464" y="4619997"/>
            <a:ext cx="164685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6586389" y="4686672"/>
            <a:ext cx="139920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point of view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8157046" y="4619997"/>
            <a:ext cx="154104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8318971" y="4686672"/>
            <a:ext cx="129339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perspective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1247477" y="6260827"/>
            <a:ext cx="697433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Compare and contrast the point of view of different stories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1247477" y="6699721"/>
            <a:ext cx="514707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Distinguish first- and third-person narration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9"/>
          <p:cNvSpPr/>
          <p:nvPr/>
        </p:nvSpPr>
        <p:spPr>
          <a:xfrm>
            <a:off x="1247477" y="7138615"/>
            <a:ext cx="561708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Analyze the effect of the narrator’s perspective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9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identify the person of the narration but cannot explain what the choice does to the reader’s knowledge.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533326" y="950833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9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"/>
          <p:cNvSpPr/>
          <p:nvPr/>
        </p:nvSpPr>
        <p:spPr>
          <a:xfrm>
            <a:off x="1218902" y="10098807"/>
            <a:ext cx="320783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tell who is narrating.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780901" y="105696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9"/>
          <p:cNvSpPr/>
          <p:nvPr/>
        </p:nvSpPr>
        <p:spPr>
          <a:xfrm>
            <a:off x="1218902" y="10541050"/>
            <a:ext cx="643678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how the point of view affects the story.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9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10896674" y="14897174"/>
            <a:ext cx="7905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RL.4.6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0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533326" y="533326"/>
            <a:ext cx="103295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READING LITERATURE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533326" y="847651"/>
            <a:ext cx="1032950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Integration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10266015" y="533326"/>
            <a:ext cx="134503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0"/>
          <p:cNvSpPr/>
          <p:nvPr/>
        </p:nvSpPr>
        <p:spPr>
          <a:xfrm>
            <a:off x="10475565" y="647626"/>
            <a:ext cx="100213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RL.4.7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0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Make connections between the text of a story or drama and a visual or oral presentation of the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533326" y="3496419"/>
            <a:ext cx="5443538" cy="2289125"/>
          </a:xfrm>
          <a:prstGeom prst="roundRect">
            <a:avLst>
              <a:gd fmla="val 582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0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a visual version add or remove?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0"/>
          <p:cNvSpPr/>
          <p:nvPr/>
        </p:nvSpPr>
        <p:spPr>
          <a:xfrm>
            <a:off x="999902" y="4898157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Where does the text connect to the presentation?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6167289" y="3496419"/>
            <a:ext cx="5443761" cy="2289125"/>
          </a:xfrm>
          <a:prstGeom prst="roundRect">
            <a:avLst>
              <a:gd fmla="val 582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0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6424464" y="4115470"/>
            <a:ext cx="230854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0"/>
          <p:cNvSpPr/>
          <p:nvPr/>
        </p:nvSpPr>
        <p:spPr>
          <a:xfrm>
            <a:off x="6586389" y="4182145"/>
            <a:ext cx="206089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visual presentation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8818736" y="4115470"/>
            <a:ext cx="209691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0"/>
          <p:cNvSpPr/>
          <p:nvPr/>
        </p:nvSpPr>
        <p:spPr>
          <a:xfrm>
            <a:off x="8980661" y="4182145"/>
            <a:ext cx="184926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oral presentation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6424464" y="4619997"/>
            <a:ext cx="97199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"/>
          <p:cNvSpPr/>
          <p:nvPr/>
        </p:nvSpPr>
        <p:spPr>
          <a:xfrm>
            <a:off x="6586389" y="4686672"/>
            <a:ext cx="72434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reflect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7482185" y="4619997"/>
            <a:ext cx="109120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0"/>
          <p:cNvSpPr/>
          <p:nvPr/>
        </p:nvSpPr>
        <p:spPr>
          <a:xfrm>
            <a:off x="7644110" y="4686672"/>
            <a:ext cx="843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version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533326" y="5975970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0"/>
          <p:cNvSpPr/>
          <p:nvPr/>
        </p:nvSpPr>
        <p:spPr>
          <a:xfrm>
            <a:off x="809476" y="6194971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809476" y="66235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0"/>
          <p:cNvSpPr/>
          <p:nvPr/>
        </p:nvSpPr>
        <p:spPr>
          <a:xfrm>
            <a:off x="1247477" y="6595021"/>
            <a:ext cx="822131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Make connections between the text and a visual or oral presentation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809476" y="70624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0"/>
          <p:cNvSpPr/>
          <p:nvPr/>
        </p:nvSpPr>
        <p:spPr>
          <a:xfrm>
            <a:off x="1247477" y="7033915"/>
            <a:ext cx="678205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where each version reflects specific descriptions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809476" y="750138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0"/>
          <p:cNvSpPr/>
          <p:nvPr/>
        </p:nvSpPr>
        <p:spPr>
          <a:xfrm>
            <a:off x="1247477" y="7472809"/>
            <a:ext cx="381561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Analyze what is gained and lost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533326" y="8216429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533326" y="8216429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0"/>
          <p:cNvSpPr/>
          <p:nvPr/>
        </p:nvSpPr>
        <p:spPr>
          <a:xfrm>
            <a:off x="895201" y="840685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895201" y="8768730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list differences between book and film without analyzing the effect of those choices.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533326" y="9496053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0"/>
          <p:cNvSpPr/>
          <p:nvPr/>
        </p:nvSpPr>
        <p:spPr>
          <a:xfrm>
            <a:off x="780901" y="9686479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780901" y="10115104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0"/>
          <p:cNvSpPr/>
          <p:nvPr/>
        </p:nvSpPr>
        <p:spPr>
          <a:xfrm>
            <a:off x="1218902" y="10086529"/>
            <a:ext cx="602227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compare a text to a film or spoken version.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0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10896674" y="14897174"/>
            <a:ext cx="7905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RL.4.7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1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1"/>
          <p:cNvSpPr/>
          <p:nvPr/>
        </p:nvSpPr>
        <p:spPr>
          <a:xfrm>
            <a:off x="533326" y="533326"/>
            <a:ext cx="103295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READING LITERATURE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533326" y="847651"/>
            <a:ext cx="1032950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Integration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10266015" y="533326"/>
            <a:ext cx="134503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1"/>
          <p:cNvSpPr/>
          <p:nvPr/>
        </p:nvSpPr>
        <p:spPr>
          <a:xfrm>
            <a:off x="10475565" y="647626"/>
            <a:ext cx="100213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RL.4.9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1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1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Compare and contrast the treatment of similar themes and topics and patterns of events in stories, myths, and traditional literature from different cultures.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1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1"/>
          <p:cNvSpPr/>
          <p:nvPr/>
        </p:nvSpPr>
        <p:spPr>
          <a:xfrm>
            <a:off x="999902" y="4115470"/>
            <a:ext cx="460216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patterns repeat across cultures?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1"/>
          <p:cNvSpPr/>
          <p:nvPr/>
        </p:nvSpPr>
        <p:spPr>
          <a:xfrm>
            <a:off x="999902" y="456396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different traditions treat the same theme?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1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6424464" y="4115470"/>
            <a:ext cx="98539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1"/>
          <p:cNvSpPr/>
          <p:nvPr/>
        </p:nvSpPr>
        <p:spPr>
          <a:xfrm>
            <a:off x="6586389" y="4182145"/>
            <a:ext cx="73774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theme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7495580" y="4115470"/>
            <a:ext cx="83961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1"/>
          <p:cNvSpPr/>
          <p:nvPr/>
        </p:nvSpPr>
        <p:spPr>
          <a:xfrm>
            <a:off x="7657505" y="4182145"/>
            <a:ext cx="59196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motif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8420919" y="4115470"/>
            <a:ext cx="234806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1"/>
          <p:cNvSpPr/>
          <p:nvPr/>
        </p:nvSpPr>
        <p:spPr>
          <a:xfrm>
            <a:off x="8582844" y="4182145"/>
            <a:ext cx="210041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traditional literature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6424464" y="4619997"/>
            <a:ext cx="83961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1"/>
          <p:cNvSpPr/>
          <p:nvPr/>
        </p:nvSpPr>
        <p:spPr>
          <a:xfrm>
            <a:off x="6586389" y="4686672"/>
            <a:ext cx="59196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myth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7349803" y="4619997"/>
            <a:ext cx="106486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1"/>
          <p:cNvSpPr/>
          <p:nvPr/>
        </p:nvSpPr>
        <p:spPr>
          <a:xfrm>
            <a:off x="7511728" y="4686672"/>
            <a:ext cx="81721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pattern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1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1"/>
          <p:cNvSpPr/>
          <p:nvPr/>
        </p:nvSpPr>
        <p:spPr>
          <a:xfrm>
            <a:off x="1247477" y="6260827"/>
            <a:ext cx="782669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Compare and contrast the treatment of similar themes and topics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1"/>
          <p:cNvSpPr/>
          <p:nvPr/>
        </p:nvSpPr>
        <p:spPr>
          <a:xfrm>
            <a:off x="1247477" y="6699721"/>
            <a:ext cx="840205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Compare patterns of events in stories, myths, and traditional literature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1247477" y="7138615"/>
            <a:ext cx="287631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Analyze across cultures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533326" y="7882235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1"/>
          <p:cNvSpPr/>
          <p:nvPr/>
        </p:nvSpPr>
        <p:spPr>
          <a:xfrm>
            <a:off x="533326" y="7882235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1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895201" y="8434536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compare plots on surface details rather than on the underlying theme or pattern.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533326" y="9161859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1"/>
          <p:cNvSpPr/>
          <p:nvPr/>
        </p:nvSpPr>
        <p:spPr>
          <a:xfrm>
            <a:off x="780901" y="9352285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780901" y="9780910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1"/>
          <p:cNvSpPr/>
          <p:nvPr/>
        </p:nvSpPr>
        <p:spPr>
          <a:xfrm>
            <a:off x="1218902" y="9752335"/>
            <a:ext cx="873749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compare how two stories from different cultures handle a theme.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1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10896674" y="14897174"/>
            <a:ext cx="7905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RL.4.9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2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2"/>
          <p:cNvSpPr/>
          <p:nvPr/>
        </p:nvSpPr>
        <p:spPr>
          <a:xfrm>
            <a:off x="533326" y="533326"/>
            <a:ext cx="1020426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READING LITERATURE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533326" y="847651"/>
            <a:ext cx="9554904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Integration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10095681" y="533326"/>
            <a:ext cx="1515368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2"/>
          <p:cNvSpPr/>
          <p:nvPr/>
        </p:nvSpPr>
        <p:spPr>
          <a:xfrm>
            <a:off x="10305231" y="647626"/>
            <a:ext cx="117246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RL.4.10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2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2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By the end of the year, read and comprehend literature in the grades 4-5 text complexity band proficiently, with scaffolding as needed at the high end.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533326" y="4016350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2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2"/>
          <p:cNvSpPr/>
          <p:nvPr/>
        </p:nvSpPr>
        <p:spPr>
          <a:xfrm>
            <a:off x="999902" y="4635401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sustain attention in a complex text?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790501" y="5522788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2"/>
          <p:cNvSpPr/>
          <p:nvPr/>
        </p:nvSpPr>
        <p:spPr>
          <a:xfrm>
            <a:off x="999902" y="5418088"/>
            <a:ext cx="314447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scaffolds do I need?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6167289" y="4016350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2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6424464" y="4635401"/>
            <a:ext cx="204378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2"/>
          <p:cNvSpPr/>
          <p:nvPr/>
        </p:nvSpPr>
        <p:spPr>
          <a:xfrm>
            <a:off x="6586389" y="4702076"/>
            <a:ext cx="179613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complexity band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8553971" y="4635401"/>
            <a:ext cx="146156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2"/>
          <p:cNvSpPr/>
          <p:nvPr/>
        </p:nvSpPr>
        <p:spPr>
          <a:xfrm>
            <a:off x="8715896" y="4702076"/>
            <a:ext cx="121391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proficiently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6424464" y="5139928"/>
            <a:ext cx="145754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2"/>
          <p:cNvSpPr/>
          <p:nvPr/>
        </p:nvSpPr>
        <p:spPr>
          <a:xfrm>
            <a:off x="6586389" y="5206603"/>
            <a:ext cx="120989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scaffolding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7967737" y="5139928"/>
            <a:ext cx="115728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2"/>
          <p:cNvSpPr/>
          <p:nvPr/>
        </p:nvSpPr>
        <p:spPr>
          <a:xfrm>
            <a:off x="8129662" y="5206603"/>
            <a:ext cx="90963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stamina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533326" y="6161708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2"/>
          <p:cNvSpPr/>
          <p:nvPr/>
        </p:nvSpPr>
        <p:spPr>
          <a:xfrm>
            <a:off x="809476" y="6380708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809476" y="680933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2"/>
          <p:cNvSpPr/>
          <p:nvPr/>
        </p:nvSpPr>
        <p:spPr>
          <a:xfrm>
            <a:off x="1247477" y="6780758"/>
            <a:ext cx="670764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and comprehend literature in the grades 4-5 band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809476" y="724822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2"/>
          <p:cNvSpPr/>
          <p:nvPr/>
        </p:nvSpPr>
        <p:spPr>
          <a:xfrm>
            <a:off x="1247477" y="7219652"/>
            <a:ext cx="526445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scaffolding at the high end of the range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809476" y="768712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2"/>
          <p:cNvSpPr/>
          <p:nvPr/>
        </p:nvSpPr>
        <p:spPr>
          <a:xfrm>
            <a:off x="1247477" y="7658546"/>
            <a:ext cx="261945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Build reading stamina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533326" y="8402166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2"/>
          <p:cNvSpPr/>
          <p:nvPr/>
        </p:nvSpPr>
        <p:spPr>
          <a:xfrm>
            <a:off x="533326" y="8402166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2"/>
          <p:cNvSpPr/>
          <p:nvPr/>
        </p:nvSpPr>
        <p:spPr>
          <a:xfrm>
            <a:off x="895201" y="8592592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895201" y="8954467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confuse finishing a book with comprehending it. Periodic retelling checks catch the gap.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533326" y="10028262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2"/>
          <p:cNvSpPr/>
          <p:nvPr/>
        </p:nvSpPr>
        <p:spPr>
          <a:xfrm>
            <a:off x="780901" y="10218688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780901" y="1064731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2"/>
          <p:cNvSpPr/>
          <p:nvPr/>
        </p:nvSpPr>
        <p:spPr>
          <a:xfrm>
            <a:off x="1218902" y="10618738"/>
            <a:ext cx="6038969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read and understand grade-level literature.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2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10764292" y="14897174"/>
            <a:ext cx="9229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RL.4.10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3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3"/>
          <p:cNvSpPr/>
          <p:nvPr/>
        </p:nvSpPr>
        <p:spPr>
          <a:xfrm>
            <a:off x="533326" y="533326"/>
            <a:ext cx="80671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3"/>
          <p:cNvSpPr/>
          <p:nvPr/>
        </p:nvSpPr>
        <p:spPr>
          <a:xfrm>
            <a:off x="533326" y="847651"/>
            <a:ext cx="8067102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Key Ideas and Details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3"/>
          <p:cNvSpPr/>
          <p:nvPr/>
        </p:nvSpPr>
        <p:spPr>
          <a:xfrm>
            <a:off x="10361116" y="533326"/>
            <a:ext cx="1249933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3"/>
          <p:cNvSpPr/>
          <p:nvPr/>
        </p:nvSpPr>
        <p:spPr>
          <a:xfrm>
            <a:off x="10570666" y="647626"/>
            <a:ext cx="90703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RI.4.1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3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3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3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3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Refer to details and examples in a text when explaining what the text says explicitly and when drawing inferences from the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3"/>
          <p:cNvSpPr/>
          <p:nvPr/>
        </p:nvSpPr>
        <p:spPr>
          <a:xfrm>
            <a:off x="533326" y="3496419"/>
            <a:ext cx="5443538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3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3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3"/>
          <p:cNvSpPr/>
          <p:nvPr/>
        </p:nvSpPr>
        <p:spPr>
          <a:xfrm>
            <a:off x="999902" y="4115470"/>
            <a:ext cx="298215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is explicitly stated?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3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3"/>
          <p:cNvSpPr/>
          <p:nvPr/>
        </p:nvSpPr>
        <p:spPr>
          <a:xfrm>
            <a:off x="999902" y="4563963"/>
            <a:ext cx="346690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can I reasonably infer?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3"/>
          <p:cNvSpPr/>
          <p:nvPr/>
        </p:nvSpPr>
        <p:spPr>
          <a:xfrm>
            <a:off x="6167289" y="3496419"/>
            <a:ext cx="5443761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3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3"/>
          <p:cNvSpPr/>
          <p:nvPr/>
        </p:nvSpPr>
        <p:spPr>
          <a:xfrm>
            <a:off x="6424464" y="4115470"/>
            <a:ext cx="105147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3"/>
          <p:cNvSpPr/>
          <p:nvPr/>
        </p:nvSpPr>
        <p:spPr>
          <a:xfrm>
            <a:off x="6586389" y="4182145"/>
            <a:ext cx="80382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explicit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3"/>
          <p:cNvSpPr/>
          <p:nvPr/>
        </p:nvSpPr>
        <p:spPr>
          <a:xfrm>
            <a:off x="7561659" y="4115470"/>
            <a:ext cx="130306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3"/>
          <p:cNvSpPr/>
          <p:nvPr/>
        </p:nvSpPr>
        <p:spPr>
          <a:xfrm>
            <a:off x="7723584" y="4182145"/>
            <a:ext cx="105541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inference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3"/>
          <p:cNvSpPr/>
          <p:nvPr/>
        </p:nvSpPr>
        <p:spPr>
          <a:xfrm>
            <a:off x="8950449" y="4115470"/>
            <a:ext cx="127672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3"/>
          <p:cNvSpPr/>
          <p:nvPr/>
        </p:nvSpPr>
        <p:spPr>
          <a:xfrm>
            <a:off x="9112374" y="4182145"/>
            <a:ext cx="102907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3"/>
          <p:cNvSpPr/>
          <p:nvPr/>
        </p:nvSpPr>
        <p:spPr>
          <a:xfrm>
            <a:off x="10312896" y="4115470"/>
            <a:ext cx="69428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3"/>
          <p:cNvSpPr/>
          <p:nvPr/>
        </p:nvSpPr>
        <p:spPr>
          <a:xfrm>
            <a:off x="10474821" y="4182145"/>
            <a:ext cx="44663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cite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533326" y="5307583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3"/>
          <p:cNvSpPr/>
          <p:nvPr/>
        </p:nvSpPr>
        <p:spPr>
          <a:xfrm>
            <a:off x="809476" y="5526584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3"/>
          <p:cNvSpPr/>
          <p:nvPr/>
        </p:nvSpPr>
        <p:spPr>
          <a:xfrm>
            <a:off x="809476" y="595520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3"/>
          <p:cNvSpPr/>
          <p:nvPr/>
        </p:nvSpPr>
        <p:spPr>
          <a:xfrm>
            <a:off x="1247477" y="5926634"/>
            <a:ext cx="899288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Refer to details and examples when explaining what the text says explicitly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3"/>
          <p:cNvSpPr/>
          <p:nvPr/>
        </p:nvSpPr>
        <p:spPr>
          <a:xfrm>
            <a:off x="809476" y="639410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3"/>
          <p:cNvSpPr/>
          <p:nvPr/>
        </p:nvSpPr>
        <p:spPr>
          <a:xfrm>
            <a:off x="1247477" y="6365528"/>
            <a:ext cx="473795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Draw inferences from informational 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3"/>
          <p:cNvSpPr/>
          <p:nvPr/>
        </p:nvSpPr>
        <p:spPr>
          <a:xfrm>
            <a:off x="809476" y="683299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3"/>
          <p:cNvSpPr/>
          <p:nvPr/>
        </p:nvSpPr>
        <p:spPr>
          <a:xfrm>
            <a:off x="1247477" y="6804422"/>
            <a:ext cx="330065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Cite the strongest evidence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3"/>
          <p:cNvSpPr/>
          <p:nvPr/>
        </p:nvSpPr>
        <p:spPr>
          <a:xfrm>
            <a:off x="533326" y="7548042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3"/>
          <p:cNvSpPr/>
          <p:nvPr/>
        </p:nvSpPr>
        <p:spPr>
          <a:xfrm>
            <a:off x="533326" y="7548042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3"/>
          <p:cNvSpPr/>
          <p:nvPr/>
        </p:nvSpPr>
        <p:spPr>
          <a:xfrm>
            <a:off x="895201" y="7738467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3"/>
          <p:cNvSpPr/>
          <p:nvPr/>
        </p:nvSpPr>
        <p:spPr>
          <a:xfrm>
            <a:off x="895201" y="8100343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cite an entire paragraph rather than the specific sentence that supports the point.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3"/>
          <p:cNvSpPr/>
          <p:nvPr/>
        </p:nvSpPr>
        <p:spPr>
          <a:xfrm>
            <a:off x="533326" y="8827666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3"/>
          <p:cNvSpPr/>
          <p:nvPr/>
        </p:nvSpPr>
        <p:spPr>
          <a:xfrm>
            <a:off x="780901" y="9018091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3"/>
          <p:cNvSpPr/>
          <p:nvPr/>
        </p:nvSpPr>
        <p:spPr>
          <a:xfrm>
            <a:off x="780901" y="9446716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3"/>
          <p:cNvSpPr/>
          <p:nvPr/>
        </p:nvSpPr>
        <p:spPr>
          <a:xfrm>
            <a:off x="1218902" y="9418141"/>
            <a:ext cx="8460745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what the text says and infer beyond it, using evidence.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3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3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3"/>
          <p:cNvSpPr/>
          <p:nvPr/>
        </p:nvSpPr>
        <p:spPr>
          <a:xfrm>
            <a:off x="10975925" y="14897174"/>
            <a:ext cx="7113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RI.4.1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4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4"/>
          <p:cNvSpPr/>
          <p:nvPr/>
        </p:nvSpPr>
        <p:spPr>
          <a:xfrm>
            <a:off x="533326" y="533326"/>
            <a:ext cx="80671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4"/>
          <p:cNvSpPr/>
          <p:nvPr/>
        </p:nvSpPr>
        <p:spPr>
          <a:xfrm>
            <a:off x="533326" y="847651"/>
            <a:ext cx="8067102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Key Ideas and Details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4"/>
          <p:cNvSpPr/>
          <p:nvPr/>
        </p:nvSpPr>
        <p:spPr>
          <a:xfrm>
            <a:off x="10361116" y="533326"/>
            <a:ext cx="1249933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4"/>
          <p:cNvSpPr/>
          <p:nvPr/>
        </p:nvSpPr>
        <p:spPr>
          <a:xfrm>
            <a:off x="10570666" y="647626"/>
            <a:ext cx="90703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RI.4.2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4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4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4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4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the main idea of a text and explain how it is supported by key details; summarize the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4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4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4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4"/>
          <p:cNvSpPr/>
          <p:nvPr/>
        </p:nvSpPr>
        <p:spPr>
          <a:xfrm>
            <a:off x="999902" y="4115470"/>
            <a:ext cx="277048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is the main idea?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4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4"/>
          <p:cNvSpPr/>
          <p:nvPr/>
        </p:nvSpPr>
        <p:spPr>
          <a:xfrm>
            <a:off x="999902" y="4563963"/>
            <a:ext cx="375471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the key details build it?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4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4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4"/>
          <p:cNvSpPr/>
          <p:nvPr/>
        </p:nvSpPr>
        <p:spPr>
          <a:xfrm>
            <a:off x="6424464" y="4115470"/>
            <a:ext cx="135597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4"/>
          <p:cNvSpPr/>
          <p:nvPr/>
        </p:nvSpPr>
        <p:spPr>
          <a:xfrm>
            <a:off x="6586389" y="4182145"/>
            <a:ext cx="110832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main idea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4"/>
          <p:cNvSpPr/>
          <p:nvPr/>
        </p:nvSpPr>
        <p:spPr>
          <a:xfrm>
            <a:off x="7866162" y="4115470"/>
            <a:ext cx="132940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4"/>
          <p:cNvSpPr/>
          <p:nvPr/>
        </p:nvSpPr>
        <p:spPr>
          <a:xfrm>
            <a:off x="8028087" y="4182145"/>
            <a:ext cx="108175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key detail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4"/>
          <p:cNvSpPr/>
          <p:nvPr/>
        </p:nvSpPr>
        <p:spPr>
          <a:xfrm>
            <a:off x="9281294" y="4115470"/>
            <a:ext cx="148768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4"/>
          <p:cNvSpPr/>
          <p:nvPr/>
        </p:nvSpPr>
        <p:spPr>
          <a:xfrm>
            <a:off x="9443219" y="4182145"/>
            <a:ext cx="124003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summarize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4"/>
          <p:cNvSpPr/>
          <p:nvPr/>
        </p:nvSpPr>
        <p:spPr>
          <a:xfrm>
            <a:off x="6424464" y="4619997"/>
            <a:ext cx="111777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4"/>
          <p:cNvSpPr/>
          <p:nvPr/>
        </p:nvSpPr>
        <p:spPr>
          <a:xfrm>
            <a:off x="6586389" y="4686672"/>
            <a:ext cx="8701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support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4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4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4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4"/>
          <p:cNvSpPr/>
          <p:nvPr/>
        </p:nvSpPr>
        <p:spPr>
          <a:xfrm>
            <a:off x="1247477" y="6067276"/>
            <a:ext cx="401206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the main idea of a 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4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4"/>
          <p:cNvSpPr/>
          <p:nvPr/>
        </p:nvSpPr>
        <p:spPr>
          <a:xfrm>
            <a:off x="1247477" y="6506170"/>
            <a:ext cx="496584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how it is supported by key details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4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4"/>
          <p:cNvSpPr/>
          <p:nvPr/>
        </p:nvSpPr>
        <p:spPr>
          <a:xfrm>
            <a:off x="1247477" y="6945064"/>
            <a:ext cx="369356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Summarize the text objectively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4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4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4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4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select the first sentence as the main idea by default, which often fails in well-written nonfiction.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4"/>
          <p:cNvSpPr/>
          <p:nvPr/>
        </p:nvSpPr>
        <p:spPr>
          <a:xfrm>
            <a:off x="533326" y="9314780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4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4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4"/>
          <p:cNvSpPr/>
          <p:nvPr/>
        </p:nvSpPr>
        <p:spPr>
          <a:xfrm>
            <a:off x="1218902" y="9905256"/>
            <a:ext cx="457662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find and support the main idea.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4"/>
          <p:cNvSpPr/>
          <p:nvPr/>
        </p:nvSpPr>
        <p:spPr>
          <a:xfrm>
            <a:off x="780901" y="10376074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4"/>
          <p:cNvSpPr/>
          <p:nvPr/>
        </p:nvSpPr>
        <p:spPr>
          <a:xfrm>
            <a:off x="1218902" y="10347499"/>
            <a:ext cx="4213920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summarize a nonfiction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4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4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4"/>
          <p:cNvSpPr/>
          <p:nvPr/>
        </p:nvSpPr>
        <p:spPr>
          <a:xfrm>
            <a:off x="10975925" y="14897174"/>
            <a:ext cx="7113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RI.4.2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5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5"/>
          <p:cNvSpPr/>
          <p:nvPr/>
        </p:nvSpPr>
        <p:spPr>
          <a:xfrm>
            <a:off x="533326" y="533326"/>
            <a:ext cx="80671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5"/>
          <p:cNvSpPr/>
          <p:nvPr/>
        </p:nvSpPr>
        <p:spPr>
          <a:xfrm>
            <a:off x="533326" y="847651"/>
            <a:ext cx="8067102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Key Ideas and Details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5"/>
          <p:cNvSpPr/>
          <p:nvPr/>
        </p:nvSpPr>
        <p:spPr>
          <a:xfrm>
            <a:off x="10361116" y="533326"/>
            <a:ext cx="1249933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5"/>
          <p:cNvSpPr/>
          <p:nvPr/>
        </p:nvSpPr>
        <p:spPr>
          <a:xfrm>
            <a:off x="10570666" y="647626"/>
            <a:ext cx="90703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RI.4.3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5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5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5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5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events, procedures, ideas, or concepts in a historical, scientific, or technical text, including what happened and why.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5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5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5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5"/>
          <p:cNvSpPr/>
          <p:nvPr/>
        </p:nvSpPr>
        <p:spPr>
          <a:xfrm>
            <a:off x="999902" y="4115470"/>
            <a:ext cx="261945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Why did this happen?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5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5"/>
          <p:cNvSpPr/>
          <p:nvPr/>
        </p:nvSpPr>
        <p:spPr>
          <a:xfrm>
            <a:off x="999902" y="4563963"/>
            <a:ext cx="455722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is the sequence of the process?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5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5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5"/>
          <p:cNvSpPr/>
          <p:nvPr/>
        </p:nvSpPr>
        <p:spPr>
          <a:xfrm>
            <a:off x="6424464" y="4115470"/>
            <a:ext cx="139571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5"/>
          <p:cNvSpPr/>
          <p:nvPr/>
        </p:nvSpPr>
        <p:spPr>
          <a:xfrm>
            <a:off x="6586389" y="4182145"/>
            <a:ext cx="114806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procedure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5"/>
          <p:cNvSpPr/>
          <p:nvPr/>
        </p:nvSpPr>
        <p:spPr>
          <a:xfrm>
            <a:off x="7905899" y="4115470"/>
            <a:ext cx="115751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5"/>
          <p:cNvSpPr/>
          <p:nvPr/>
        </p:nvSpPr>
        <p:spPr>
          <a:xfrm>
            <a:off x="8067824" y="4182145"/>
            <a:ext cx="90986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concept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5"/>
          <p:cNvSpPr/>
          <p:nvPr/>
        </p:nvSpPr>
        <p:spPr>
          <a:xfrm>
            <a:off x="9149135" y="4115470"/>
            <a:ext cx="126332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5"/>
          <p:cNvSpPr/>
          <p:nvPr/>
        </p:nvSpPr>
        <p:spPr>
          <a:xfrm>
            <a:off x="9311060" y="4182145"/>
            <a:ext cx="101567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technical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5"/>
          <p:cNvSpPr/>
          <p:nvPr/>
        </p:nvSpPr>
        <p:spPr>
          <a:xfrm>
            <a:off x="6424464" y="4619997"/>
            <a:ext cx="107803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5"/>
          <p:cNvSpPr/>
          <p:nvPr/>
        </p:nvSpPr>
        <p:spPr>
          <a:xfrm>
            <a:off x="6586389" y="4686672"/>
            <a:ext cx="83038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explain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5"/>
          <p:cNvSpPr/>
          <p:nvPr/>
        </p:nvSpPr>
        <p:spPr>
          <a:xfrm>
            <a:off x="7588225" y="4619997"/>
            <a:ext cx="130328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5"/>
          <p:cNvSpPr/>
          <p:nvPr/>
        </p:nvSpPr>
        <p:spPr>
          <a:xfrm>
            <a:off x="7750150" y="4686672"/>
            <a:ext cx="105563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based 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5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5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5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5"/>
          <p:cNvSpPr/>
          <p:nvPr/>
        </p:nvSpPr>
        <p:spPr>
          <a:xfrm>
            <a:off x="1247477" y="6067276"/>
            <a:ext cx="1056696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events, procedures, ideas, or concepts in a historical, scientific, or technical 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5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5"/>
          <p:cNvSpPr/>
          <p:nvPr/>
        </p:nvSpPr>
        <p:spPr>
          <a:xfrm>
            <a:off x="1247477" y="6506170"/>
            <a:ext cx="392194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what happened and why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5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5"/>
          <p:cNvSpPr/>
          <p:nvPr/>
        </p:nvSpPr>
        <p:spPr>
          <a:xfrm>
            <a:off x="1247477" y="6945064"/>
            <a:ext cx="658609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Base the explanation on specific information in the 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5"/>
          <p:cNvSpPr/>
          <p:nvPr/>
        </p:nvSpPr>
        <p:spPr>
          <a:xfrm>
            <a:off x="533326" y="7688684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5"/>
          <p:cNvSpPr/>
          <p:nvPr/>
        </p:nvSpPr>
        <p:spPr>
          <a:xfrm>
            <a:off x="533326" y="7688684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5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5"/>
          <p:cNvSpPr/>
          <p:nvPr/>
        </p:nvSpPr>
        <p:spPr>
          <a:xfrm>
            <a:off x="895201" y="8240985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describe what happened without the causal mechanism the text supplied.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5"/>
          <p:cNvSpPr/>
          <p:nvPr/>
        </p:nvSpPr>
        <p:spPr>
          <a:xfrm>
            <a:off x="533326" y="8968308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5"/>
          <p:cNvSpPr/>
          <p:nvPr/>
        </p:nvSpPr>
        <p:spPr>
          <a:xfrm>
            <a:off x="780901" y="9158734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5"/>
          <p:cNvSpPr/>
          <p:nvPr/>
        </p:nvSpPr>
        <p:spPr>
          <a:xfrm>
            <a:off x="780901" y="958735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5"/>
          <p:cNvSpPr/>
          <p:nvPr/>
        </p:nvSpPr>
        <p:spPr>
          <a:xfrm>
            <a:off x="1218902" y="9558784"/>
            <a:ext cx="625285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a process and why it works that way.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5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5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5"/>
          <p:cNvSpPr/>
          <p:nvPr/>
        </p:nvSpPr>
        <p:spPr>
          <a:xfrm>
            <a:off x="10975925" y="14897174"/>
            <a:ext cx="7113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RI.4.3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6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6"/>
          <p:cNvSpPr/>
          <p:nvPr/>
        </p:nvSpPr>
        <p:spPr>
          <a:xfrm>
            <a:off x="533326" y="533326"/>
            <a:ext cx="80671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6"/>
          <p:cNvSpPr/>
          <p:nvPr/>
        </p:nvSpPr>
        <p:spPr>
          <a:xfrm>
            <a:off x="533326" y="847651"/>
            <a:ext cx="8067102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Craft and Structure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6"/>
          <p:cNvSpPr/>
          <p:nvPr/>
        </p:nvSpPr>
        <p:spPr>
          <a:xfrm>
            <a:off x="10361116" y="533326"/>
            <a:ext cx="1249933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6"/>
          <p:cNvSpPr/>
          <p:nvPr/>
        </p:nvSpPr>
        <p:spPr>
          <a:xfrm>
            <a:off x="10570666" y="647626"/>
            <a:ext cx="90703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RI.4.4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6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6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6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6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the meaning of general academic and domain-specific words or phrases in a text relevant to a grade 4 topic or subject area.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6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6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6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6"/>
          <p:cNvSpPr/>
          <p:nvPr/>
        </p:nvSpPr>
        <p:spPr>
          <a:xfrm>
            <a:off x="999902" y="4115470"/>
            <a:ext cx="469302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this term mean in this field?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6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6"/>
          <p:cNvSpPr/>
          <p:nvPr/>
        </p:nvSpPr>
        <p:spPr>
          <a:xfrm>
            <a:off x="999902" y="4563963"/>
            <a:ext cx="336131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the text define it?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6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6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6"/>
          <p:cNvSpPr/>
          <p:nvPr/>
        </p:nvSpPr>
        <p:spPr>
          <a:xfrm>
            <a:off x="6424464" y="4115470"/>
            <a:ext cx="197747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6"/>
          <p:cNvSpPr/>
          <p:nvPr/>
        </p:nvSpPr>
        <p:spPr>
          <a:xfrm>
            <a:off x="6586389" y="4182145"/>
            <a:ext cx="172982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domain-specific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6"/>
          <p:cNvSpPr/>
          <p:nvPr/>
        </p:nvSpPr>
        <p:spPr>
          <a:xfrm>
            <a:off x="8487668" y="4115470"/>
            <a:ext cx="255969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6"/>
          <p:cNvSpPr/>
          <p:nvPr/>
        </p:nvSpPr>
        <p:spPr>
          <a:xfrm>
            <a:off x="8649593" y="4182145"/>
            <a:ext cx="231263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academic 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6"/>
          <p:cNvSpPr/>
          <p:nvPr/>
        </p:nvSpPr>
        <p:spPr>
          <a:xfrm>
            <a:off x="6424464" y="4619997"/>
            <a:ext cx="180536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16"/>
          <p:cNvSpPr/>
          <p:nvPr/>
        </p:nvSpPr>
        <p:spPr>
          <a:xfrm>
            <a:off x="6586389" y="4686672"/>
            <a:ext cx="155771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technical term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6"/>
          <p:cNvSpPr/>
          <p:nvPr/>
        </p:nvSpPr>
        <p:spPr>
          <a:xfrm>
            <a:off x="8315548" y="4619997"/>
            <a:ext cx="109120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6"/>
          <p:cNvSpPr/>
          <p:nvPr/>
        </p:nvSpPr>
        <p:spPr>
          <a:xfrm>
            <a:off x="8477473" y="4686672"/>
            <a:ext cx="843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6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6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6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6"/>
          <p:cNvSpPr/>
          <p:nvPr/>
        </p:nvSpPr>
        <p:spPr>
          <a:xfrm>
            <a:off x="1247477" y="6067276"/>
            <a:ext cx="865965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the meaning of general academic and domain-specific words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6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6"/>
          <p:cNvSpPr/>
          <p:nvPr/>
        </p:nvSpPr>
        <p:spPr>
          <a:xfrm>
            <a:off x="1247477" y="6506170"/>
            <a:ext cx="354278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context and text features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6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16"/>
          <p:cNvSpPr/>
          <p:nvPr/>
        </p:nvSpPr>
        <p:spPr>
          <a:xfrm>
            <a:off x="1247477" y="6945064"/>
            <a:ext cx="333037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Consult reference materials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6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6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6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6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apply an everyday meaning to a technical term, as with "current", "solution", or "contract".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6"/>
          <p:cNvSpPr/>
          <p:nvPr/>
        </p:nvSpPr>
        <p:spPr>
          <a:xfrm>
            <a:off x="533326" y="9314780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6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6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6"/>
          <p:cNvSpPr/>
          <p:nvPr/>
        </p:nvSpPr>
        <p:spPr>
          <a:xfrm>
            <a:off x="1218902" y="9905256"/>
            <a:ext cx="573962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figure out technical words using the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6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6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6"/>
          <p:cNvSpPr/>
          <p:nvPr/>
        </p:nvSpPr>
        <p:spPr>
          <a:xfrm>
            <a:off x="10975925" y="14897174"/>
            <a:ext cx="7113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RI.4.4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7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7"/>
          <p:cNvSpPr/>
          <p:nvPr/>
        </p:nvSpPr>
        <p:spPr>
          <a:xfrm>
            <a:off x="533326" y="533326"/>
            <a:ext cx="80671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7"/>
          <p:cNvSpPr/>
          <p:nvPr/>
        </p:nvSpPr>
        <p:spPr>
          <a:xfrm>
            <a:off x="533326" y="847651"/>
            <a:ext cx="8067102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Craft and Structure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7"/>
          <p:cNvSpPr/>
          <p:nvPr/>
        </p:nvSpPr>
        <p:spPr>
          <a:xfrm>
            <a:off x="10361116" y="533326"/>
            <a:ext cx="1249933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7"/>
          <p:cNvSpPr/>
          <p:nvPr/>
        </p:nvSpPr>
        <p:spPr>
          <a:xfrm>
            <a:off x="10570666" y="647626"/>
            <a:ext cx="90703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RI.4.5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7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17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17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7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Describe the overall structure of events, ideas, concepts, or information in a text or part of a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7"/>
          <p:cNvSpPr/>
          <p:nvPr/>
        </p:nvSpPr>
        <p:spPr>
          <a:xfrm>
            <a:off x="533326" y="3496419"/>
            <a:ext cx="5443538" cy="2265908"/>
          </a:xfrm>
          <a:prstGeom prst="roundRect">
            <a:avLst>
              <a:gd fmla="val 588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7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7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17"/>
          <p:cNvSpPr/>
          <p:nvPr/>
        </p:nvSpPr>
        <p:spPr>
          <a:xfrm>
            <a:off x="999902" y="4115470"/>
            <a:ext cx="326971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is this text structured?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7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17"/>
          <p:cNvSpPr/>
          <p:nvPr/>
        </p:nvSpPr>
        <p:spPr>
          <a:xfrm>
            <a:off x="999902" y="4563963"/>
            <a:ext cx="505670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Why did the author choose that structure?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7"/>
          <p:cNvSpPr/>
          <p:nvPr/>
        </p:nvSpPr>
        <p:spPr>
          <a:xfrm>
            <a:off x="6167289" y="3496419"/>
            <a:ext cx="5443761" cy="2265908"/>
          </a:xfrm>
          <a:prstGeom prst="roundRect">
            <a:avLst>
              <a:gd fmla="val 588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7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7"/>
          <p:cNvSpPr/>
          <p:nvPr/>
        </p:nvSpPr>
        <p:spPr>
          <a:xfrm>
            <a:off x="6424464" y="4115470"/>
            <a:ext cx="148835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7"/>
          <p:cNvSpPr/>
          <p:nvPr/>
        </p:nvSpPr>
        <p:spPr>
          <a:xfrm>
            <a:off x="6586389" y="4182145"/>
            <a:ext cx="124070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chronology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7"/>
          <p:cNvSpPr/>
          <p:nvPr/>
        </p:nvSpPr>
        <p:spPr>
          <a:xfrm>
            <a:off x="7998544" y="4115470"/>
            <a:ext cx="155421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17"/>
          <p:cNvSpPr/>
          <p:nvPr/>
        </p:nvSpPr>
        <p:spPr>
          <a:xfrm>
            <a:off x="8160469" y="4182145"/>
            <a:ext cx="130656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7"/>
          <p:cNvSpPr/>
          <p:nvPr/>
        </p:nvSpPr>
        <p:spPr>
          <a:xfrm>
            <a:off x="6424464" y="4619997"/>
            <a:ext cx="206633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7"/>
          <p:cNvSpPr/>
          <p:nvPr/>
        </p:nvSpPr>
        <p:spPr>
          <a:xfrm>
            <a:off x="6586389" y="4686672"/>
            <a:ext cx="181868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cause and effect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7"/>
          <p:cNvSpPr/>
          <p:nvPr/>
        </p:nvSpPr>
        <p:spPr>
          <a:xfrm>
            <a:off x="8576518" y="4619997"/>
            <a:ext cx="253357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7"/>
          <p:cNvSpPr/>
          <p:nvPr/>
        </p:nvSpPr>
        <p:spPr>
          <a:xfrm>
            <a:off x="8738443" y="4686672"/>
            <a:ext cx="228592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problem and solution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7"/>
          <p:cNvSpPr/>
          <p:nvPr/>
        </p:nvSpPr>
        <p:spPr>
          <a:xfrm>
            <a:off x="6424464" y="5124524"/>
            <a:ext cx="124971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17"/>
          <p:cNvSpPr/>
          <p:nvPr/>
        </p:nvSpPr>
        <p:spPr>
          <a:xfrm>
            <a:off x="6586389" y="5191199"/>
            <a:ext cx="100206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structure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7"/>
          <p:cNvSpPr/>
          <p:nvPr/>
        </p:nvSpPr>
        <p:spPr>
          <a:xfrm>
            <a:off x="533326" y="5952753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17"/>
          <p:cNvSpPr/>
          <p:nvPr/>
        </p:nvSpPr>
        <p:spPr>
          <a:xfrm>
            <a:off x="809476" y="6171754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7"/>
          <p:cNvSpPr/>
          <p:nvPr/>
        </p:nvSpPr>
        <p:spPr>
          <a:xfrm>
            <a:off x="809476" y="660037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17"/>
          <p:cNvSpPr/>
          <p:nvPr/>
        </p:nvSpPr>
        <p:spPr>
          <a:xfrm>
            <a:off x="1247477" y="6571804"/>
            <a:ext cx="649449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Describe the overall structure of a text or part of a 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7"/>
          <p:cNvSpPr/>
          <p:nvPr/>
        </p:nvSpPr>
        <p:spPr>
          <a:xfrm>
            <a:off x="809476" y="703927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17"/>
          <p:cNvSpPr/>
          <p:nvPr/>
        </p:nvSpPr>
        <p:spPr>
          <a:xfrm>
            <a:off x="1247477" y="7010698"/>
            <a:ext cx="918050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chronology, comparison, cause and effect, and problem and solution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7"/>
          <p:cNvSpPr/>
          <p:nvPr/>
        </p:nvSpPr>
        <p:spPr>
          <a:xfrm>
            <a:off x="809476" y="747816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7"/>
          <p:cNvSpPr/>
          <p:nvPr/>
        </p:nvSpPr>
        <p:spPr>
          <a:xfrm>
            <a:off x="1247477" y="7449592"/>
            <a:ext cx="397694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the effect of the structure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7"/>
          <p:cNvSpPr/>
          <p:nvPr/>
        </p:nvSpPr>
        <p:spPr>
          <a:xfrm>
            <a:off x="533326" y="8193212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17"/>
          <p:cNvSpPr/>
          <p:nvPr/>
        </p:nvSpPr>
        <p:spPr>
          <a:xfrm>
            <a:off x="533326" y="8193212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7"/>
          <p:cNvSpPr/>
          <p:nvPr/>
        </p:nvSpPr>
        <p:spPr>
          <a:xfrm>
            <a:off x="895201" y="8383637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7"/>
          <p:cNvSpPr/>
          <p:nvPr/>
        </p:nvSpPr>
        <p:spPr>
          <a:xfrm>
            <a:off x="895201" y="8745513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name a structure by spotting one signal word without checking whether it holds across the text.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7"/>
          <p:cNvSpPr/>
          <p:nvPr/>
        </p:nvSpPr>
        <p:spPr>
          <a:xfrm>
            <a:off x="533326" y="9819308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7"/>
          <p:cNvSpPr/>
          <p:nvPr/>
        </p:nvSpPr>
        <p:spPr>
          <a:xfrm>
            <a:off x="780901" y="10009733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7"/>
          <p:cNvSpPr/>
          <p:nvPr/>
        </p:nvSpPr>
        <p:spPr>
          <a:xfrm>
            <a:off x="780901" y="10438358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7"/>
          <p:cNvSpPr/>
          <p:nvPr/>
        </p:nvSpPr>
        <p:spPr>
          <a:xfrm>
            <a:off x="1218902" y="10409783"/>
            <a:ext cx="5750183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identify how a text is organized and why.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7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7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7"/>
          <p:cNvSpPr/>
          <p:nvPr/>
        </p:nvSpPr>
        <p:spPr>
          <a:xfrm>
            <a:off x="10975925" y="14897174"/>
            <a:ext cx="7113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RI.4.5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18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8"/>
          <p:cNvSpPr/>
          <p:nvPr/>
        </p:nvSpPr>
        <p:spPr>
          <a:xfrm>
            <a:off x="533326" y="533326"/>
            <a:ext cx="80671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8"/>
          <p:cNvSpPr/>
          <p:nvPr/>
        </p:nvSpPr>
        <p:spPr>
          <a:xfrm>
            <a:off x="533326" y="847651"/>
            <a:ext cx="8067102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Craft and Structure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8"/>
          <p:cNvSpPr/>
          <p:nvPr/>
        </p:nvSpPr>
        <p:spPr>
          <a:xfrm>
            <a:off x="10361116" y="533326"/>
            <a:ext cx="1249933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8"/>
          <p:cNvSpPr/>
          <p:nvPr/>
        </p:nvSpPr>
        <p:spPr>
          <a:xfrm>
            <a:off x="10570666" y="647626"/>
            <a:ext cx="90703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RI.4.6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8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18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8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8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Compare and contrast a firsthand and secondhand account of the same event or topic; describe the differences in focus and information provided.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8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18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8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18"/>
          <p:cNvSpPr/>
          <p:nvPr/>
        </p:nvSpPr>
        <p:spPr>
          <a:xfrm>
            <a:off x="999902" y="4115470"/>
            <a:ext cx="505670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Who is telling this and how do they know?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8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18"/>
          <p:cNvSpPr/>
          <p:nvPr/>
        </p:nvSpPr>
        <p:spPr>
          <a:xfrm>
            <a:off x="999902" y="456396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the account shape the information?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8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18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18"/>
          <p:cNvSpPr/>
          <p:nvPr/>
        </p:nvSpPr>
        <p:spPr>
          <a:xfrm>
            <a:off x="6424464" y="4115470"/>
            <a:ext cx="123676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18"/>
          <p:cNvSpPr/>
          <p:nvPr/>
        </p:nvSpPr>
        <p:spPr>
          <a:xfrm>
            <a:off x="6586389" y="4182145"/>
            <a:ext cx="98911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firsthand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8"/>
          <p:cNvSpPr/>
          <p:nvPr/>
        </p:nvSpPr>
        <p:spPr>
          <a:xfrm>
            <a:off x="7746950" y="4115470"/>
            <a:ext cx="162096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18"/>
          <p:cNvSpPr/>
          <p:nvPr/>
        </p:nvSpPr>
        <p:spPr>
          <a:xfrm>
            <a:off x="7908875" y="4182145"/>
            <a:ext cx="137331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secondhand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18"/>
          <p:cNvSpPr/>
          <p:nvPr/>
        </p:nvSpPr>
        <p:spPr>
          <a:xfrm>
            <a:off x="9453637" y="4115470"/>
            <a:ext cx="115751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18"/>
          <p:cNvSpPr/>
          <p:nvPr/>
        </p:nvSpPr>
        <p:spPr>
          <a:xfrm>
            <a:off x="9615562" y="4182145"/>
            <a:ext cx="90986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account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8"/>
          <p:cNvSpPr/>
          <p:nvPr/>
        </p:nvSpPr>
        <p:spPr>
          <a:xfrm>
            <a:off x="6424464" y="4619997"/>
            <a:ext cx="89274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18"/>
          <p:cNvSpPr/>
          <p:nvPr/>
        </p:nvSpPr>
        <p:spPr>
          <a:xfrm>
            <a:off x="6586389" y="4686672"/>
            <a:ext cx="64509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focus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8"/>
          <p:cNvSpPr/>
          <p:nvPr/>
        </p:nvSpPr>
        <p:spPr>
          <a:xfrm>
            <a:off x="7402934" y="4619997"/>
            <a:ext cx="154104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18"/>
          <p:cNvSpPr/>
          <p:nvPr/>
        </p:nvSpPr>
        <p:spPr>
          <a:xfrm>
            <a:off x="7564859" y="4686672"/>
            <a:ext cx="129339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perspective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18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18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18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18"/>
          <p:cNvSpPr/>
          <p:nvPr/>
        </p:nvSpPr>
        <p:spPr>
          <a:xfrm>
            <a:off x="1247477" y="6260827"/>
            <a:ext cx="707083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Compare and contrast firsthand and secondhand accounts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8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18"/>
          <p:cNvSpPr/>
          <p:nvPr/>
        </p:nvSpPr>
        <p:spPr>
          <a:xfrm>
            <a:off x="1247477" y="6699721"/>
            <a:ext cx="349220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Describe differences in focus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8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18"/>
          <p:cNvSpPr/>
          <p:nvPr/>
        </p:nvSpPr>
        <p:spPr>
          <a:xfrm>
            <a:off x="1247477" y="7138615"/>
            <a:ext cx="576319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Describe differences in the information provided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18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18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18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8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assume a firsthand account is automatically more accurate, without considering its limits.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18"/>
          <p:cNvSpPr/>
          <p:nvPr/>
        </p:nvSpPr>
        <p:spPr>
          <a:xfrm>
            <a:off x="533326" y="9508331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18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18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18"/>
          <p:cNvSpPr/>
          <p:nvPr/>
        </p:nvSpPr>
        <p:spPr>
          <a:xfrm>
            <a:off x="1218902" y="10098807"/>
            <a:ext cx="674693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compare a firsthand and a secondhand account.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18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18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18"/>
          <p:cNvSpPr/>
          <p:nvPr/>
        </p:nvSpPr>
        <p:spPr>
          <a:xfrm>
            <a:off x="10975925" y="14897174"/>
            <a:ext cx="7113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RI.4.6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19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19"/>
          <p:cNvSpPr/>
          <p:nvPr/>
        </p:nvSpPr>
        <p:spPr>
          <a:xfrm>
            <a:off x="533326" y="533326"/>
            <a:ext cx="103295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9"/>
          <p:cNvSpPr/>
          <p:nvPr/>
        </p:nvSpPr>
        <p:spPr>
          <a:xfrm>
            <a:off x="533326" y="847651"/>
            <a:ext cx="1032950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Integration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9"/>
          <p:cNvSpPr/>
          <p:nvPr/>
        </p:nvSpPr>
        <p:spPr>
          <a:xfrm>
            <a:off x="10361116" y="533326"/>
            <a:ext cx="1249933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19"/>
          <p:cNvSpPr/>
          <p:nvPr/>
        </p:nvSpPr>
        <p:spPr>
          <a:xfrm>
            <a:off x="10570666" y="647626"/>
            <a:ext cx="90703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RI.4.7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19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19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19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19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Interpret information presented visually, orally, or quantitatively and explain how the information contributes to an understanding of the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19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19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19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9"/>
          <p:cNvSpPr/>
          <p:nvPr/>
        </p:nvSpPr>
        <p:spPr>
          <a:xfrm>
            <a:off x="999902" y="4115470"/>
            <a:ext cx="327045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this data show?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19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9"/>
          <p:cNvSpPr/>
          <p:nvPr/>
        </p:nvSpPr>
        <p:spPr>
          <a:xfrm>
            <a:off x="999902" y="4563963"/>
            <a:ext cx="454199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the visual support the text?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19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19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19"/>
          <p:cNvSpPr/>
          <p:nvPr/>
        </p:nvSpPr>
        <p:spPr>
          <a:xfrm>
            <a:off x="6424464" y="4115470"/>
            <a:ext cx="171316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19"/>
          <p:cNvSpPr/>
          <p:nvPr/>
        </p:nvSpPr>
        <p:spPr>
          <a:xfrm>
            <a:off x="6586389" y="4182145"/>
            <a:ext cx="146551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quantitatively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19"/>
          <p:cNvSpPr/>
          <p:nvPr/>
        </p:nvSpPr>
        <p:spPr>
          <a:xfrm>
            <a:off x="8223349" y="4115470"/>
            <a:ext cx="85300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19"/>
          <p:cNvSpPr/>
          <p:nvPr/>
        </p:nvSpPr>
        <p:spPr>
          <a:xfrm>
            <a:off x="8385274" y="4182145"/>
            <a:ext cx="6053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chart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19"/>
          <p:cNvSpPr/>
          <p:nvPr/>
        </p:nvSpPr>
        <p:spPr>
          <a:xfrm>
            <a:off x="9162083" y="4115470"/>
            <a:ext cx="93270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9"/>
          <p:cNvSpPr/>
          <p:nvPr/>
        </p:nvSpPr>
        <p:spPr>
          <a:xfrm>
            <a:off x="9324008" y="4182145"/>
            <a:ext cx="68505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graph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19"/>
          <p:cNvSpPr/>
          <p:nvPr/>
        </p:nvSpPr>
        <p:spPr>
          <a:xfrm>
            <a:off x="10180513" y="4115470"/>
            <a:ext cx="114411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19"/>
          <p:cNvSpPr/>
          <p:nvPr/>
        </p:nvSpPr>
        <p:spPr>
          <a:xfrm>
            <a:off x="10342438" y="4182145"/>
            <a:ext cx="89646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timeline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19"/>
          <p:cNvSpPr/>
          <p:nvPr/>
        </p:nvSpPr>
        <p:spPr>
          <a:xfrm>
            <a:off x="6424464" y="4619997"/>
            <a:ext cx="118385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19"/>
          <p:cNvSpPr/>
          <p:nvPr/>
        </p:nvSpPr>
        <p:spPr>
          <a:xfrm>
            <a:off x="6586389" y="4686672"/>
            <a:ext cx="93620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diagram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19"/>
          <p:cNvSpPr/>
          <p:nvPr/>
        </p:nvSpPr>
        <p:spPr>
          <a:xfrm>
            <a:off x="7694042" y="4619997"/>
            <a:ext cx="119702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19"/>
          <p:cNvSpPr/>
          <p:nvPr/>
        </p:nvSpPr>
        <p:spPr>
          <a:xfrm>
            <a:off x="7855967" y="4686672"/>
            <a:ext cx="94937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interpret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19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19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19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19"/>
          <p:cNvSpPr/>
          <p:nvPr/>
        </p:nvSpPr>
        <p:spPr>
          <a:xfrm>
            <a:off x="1247477" y="6067276"/>
            <a:ext cx="751384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Interpret information presented visually, orally, or quantitatively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19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19"/>
          <p:cNvSpPr/>
          <p:nvPr/>
        </p:nvSpPr>
        <p:spPr>
          <a:xfrm>
            <a:off x="1247477" y="6506170"/>
            <a:ext cx="685867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how the information contributes to understanding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19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9"/>
          <p:cNvSpPr/>
          <p:nvPr/>
        </p:nvSpPr>
        <p:spPr>
          <a:xfrm>
            <a:off x="1247477" y="6945064"/>
            <a:ext cx="548030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charts, graphs, timelines, and diagrams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19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19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19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19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read the number off a graph without interpreting what it means for the author’s argument.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19"/>
          <p:cNvSpPr/>
          <p:nvPr/>
        </p:nvSpPr>
        <p:spPr>
          <a:xfrm>
            <a:off x="533326" y="9314780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19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19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19"/>
          <p:cNvSpPr/>
          <p:nvPr/>
        </p:nvSpPr>
        <p:spPr>
          <a:xfrm>
            <a:off x="1218902" y="9905256"/>
            <a:ext cx="779992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interpret charts and graphs and connect them to the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19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19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19"/>
          <p:cNvSpPr/>
          <p:nvPr/>
        </p:nvSpPr>
        <p:spPr>
          <a:xfrm>
            <a:off x="10975925" y="14897174"/>
            <a:ext cx="7113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RI.4.7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20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20"/>
          <p:cNvSpPr/>
          <p:nvPr/>
        </p:nvSpPr>
        <p:spPr>
          <a:xfrm>
            <a:off x="533326" y="533326"/>
            <a:ext cx="103295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0"/>
          <p:cNvSpPr/>
          <p:nvPr/>
        </p:nvSpPr>
        <p:spPr>
          <a:xfrm>
            <a:off x="533326" y="847651"/>
            <a:ext cx="1032950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Integration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"/>
          <p:cNvSpPr/>
          <p:nvPr/>
        </p:nvSpPr>
        <p:spPr>
          <a:xfrm>
            <a:off x="10361116" y="533326"/>
            <a:ext cx="1249933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20"/>
          <p:cNvSpPr/>
          <p:nvPr/>
        </p:nvSpPr>
        <p:spPr>
          <a:xfrm>
            <a:off x="10570666" y="647626"/>
            <a:ext cx="90703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RI.4.8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0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20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20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0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how an author uses reasons and evidence to support particular points in a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0"/>
          <p:cNvSpPr/>
          <p:nvPr/>
        </p:nvSpPr>
        <p:spPr>
          <a:xfrm>
            <a:off x="533326" y="3136553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20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0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20"/>
          <p:cNvSpPr/>
          <p:nvPr/>
        </p:nvSpPr>
        <p:spPr>
          <a:xfrm>
            <a:off x="999902" y="3755603"/>
            <a:ext cx="222507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is the claim?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0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20"/>
          <p:cNvSpPr/>
          <p:nvPr/>
        </p:nvSpPr>
        <p:spPr>
          <a:xfrm>
            <a:off x="999902" y="4204097"/>
            <a:ext cx="380087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Is the evidence strong enough?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0"/>
          <p:cNvSpPr/>
          <p:nvPr/>
        </p:nvSpPr>
        <p:spPr>
          <a:xfrm>
            <a:off x="6167289" y="3136553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20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20"/>
          <p:cNvSpPr/>
          <p:nvPr/>
        </p:nvSpPr>
        <p:spPr>
          <a:xfrm>
            <a:off x="6424464" y="3755603"/>
            <a:ext cx="87935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20"/>
          <p:cNvSpPr/>
          <p:nvPr/>
        </p:nvSpPr>
        <p:spPr>
          <a:xfrm>
            <a:off x="6586389" y="3822278"/>
            <a:ext cx="63170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claim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0"/>
          <p:cNvSpPr/>
          <p:nvPr/>
        </p:nvSpPr>
        <p:spPr>
          <a:xfrm>
            <a:off x="7389540" y="3755603"/>
            <a:ext cx="105169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20"/>
          <p:cNvSpPr/>
          <p:nvPr/>
        </p:nvSpPr>
        <p:spPr>
          <a:xfrm>
            <a:off x="7551465" y="3822278"/>
            <a:ext cx="80404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reason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0"/>
          <p:cNvSpPr/>
          <p:nvPr/>
        </p:nvSpPr>
        <p:spPr>
          <a:xfrm>
            <a:off x="8526959" y="3755603"/>
            <a:ext cx="127672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20"/>
          <p:cNvSpPr/>
          <p:nvPr/>
        </p:nvSpPr>
        <p:spPr>
          <a:xfrm>
            <a:off x="8688884" y="3822278"/>
            <a:ext cx="102907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20"/>
          <p:cNvSpPr/>
          <p:nvPr/>
        </p:nvSpPr>
        <p:spPr>
          <a:xfrm>
            <a:off x="9889406" y="3755603"/>
            <a:ext cx="111777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20"/>
          <p:cNvSpPr/>
          <p:nvPr/>
        </p:nvSpPr>
        <p:spPr>
          <a:xfrm>
            <a:off x="10051331" y="3822278"/>
            <a:ext cx="8701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support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0"/>
          <p:cNvSpPr/>
          <p:nvPr/>
        </p:nvSpPr>
        <p:spPr>
          <a:xfrm>
            <a:off x="6424464" y="4260131"/>
            <a:ext cx="122381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20"/>
          <p:cNvSpPr/>
          <p:nvPr/>
        </p:nvSpPr>
        <p:spPr>
          <a:xfrm>
            <a:off x="6586389" y="4326806"/>
            <a:ext cx="97616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20"/>
          <p:cNvSpPr/>
          <p:nvPr/>
        </p:nvSpPr>
        <p:spPr>
          <a:xfrm>
            <a:off x="533326" y="5088359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20"/>
          <p:cNvSpPr/>
          <p:nvPr/>
        </p:nvSpPr>
        <p:spPr>
          <a:xfrm>
            <a:off x="809476" y="5307360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0"/>
          <p:cNvSpPr/>
          <p:nvPr/>
        </p:nvSpPr>
        <p:spPr>
          <a:xfrm>
            <a:off x="809476" y="573598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20"/>
          <p:cNvSpPr/>
          <p:nvPr/>
        </p:nvSpPr>
        <p:spPr>
          <a:xfrm>
            <a:off x="1247477" y="5707410"/>
            <a:ext cx="817637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how an author uses reasons and evidence to support points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0"/>
          <p:cNvSpPr/>
          <p:nvPr/>
        </p:nvSpPr>
        <p:spPr>
          <a:xfrm>
            <a:off x="809476" y="617487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20"/>
          <p:cNvSpPr/>
          <p:nvPr/>
        </p:nvSpPr>
        <p:spPr>
          <a:xfrm>
            <a:off x="1247477" y="6146304"/>
            <a:ext cx="422325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Distinguish a claim from its support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20"/>
          <p:cNvSpPr/>
          <p:nvPr/>
        </p:nvSpPr>
        <p:spPr>
          <a:xfrm>
            <a:off x="809476" y="661377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20"/>
          <p:cNvSpPr/>
          <p:nvPr/>
        </p:nvSpPr>
        <p:spPr>
          <a:xfrm>
            <a:off x="1247477" y="6585198"/>
            <a:ext cx="404276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Evaluate the strength of evidence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0"/>
          <p:cNvSpPr/>
          <p:nvPr/>
        </p:nvSpPr>
        <p:spPr>
          <a:xfrm>
            <a:off x="533326" y="7328818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20"/>
          <p:cNvSpPr/>
          <p:nvPr/>
        </p:nvSpPr>
        <p:spPr>
          <a:xfrm>
            <a:off x="533326" y="7328818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20"/>
          <p:cNvSpPr/>
          <p:nvPr/>
        </p:nvSpPr>
        <p:spPr>
          <a:xfrm>
            <a:off x="895201" y="7519243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0"/>
          <p:cNvSpPr/>
          <p:nvPr/>
        </p:nvSpPr>
        <p:spPr>
          <a:xfrm>
            <a:off x="895201" y="7881119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accept any statement in print as proven, treating assertion as evidence.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0"/>
          <p:cNvSpPr/>
          <p:nvPr/>
        </p:nvSpPr>
        <p:spPr>
          <a:xfrm>
            <a:off x="533326" y="8608442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20"/>
          <p:cNvSpPr/>
          <p:nvPr/>
        </p:nvSpPr>
        <p:spPr>
          <a:xfrm>
            <a:off x="780901" y="8798868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0"/>
          <p:cNvSpPr/>
          <p:nvPr/>
        </p:nvSpPr>
        <p:spPr>
          <a:xfrm>
            <a:off x="780901" y="922749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20"/>
          <p:cNvSpPr/>
          <p:nvPr/>
        </p:nvSpPr>
        <p:spPr>
          <a:xfrm>
            <a:off x="1218902" y="9198918"/>
            <a:ext cx="653182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find the author’s claim and judge the evidence.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20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20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20"/>
          <p:cNvSpPr/>
          <p:nvPr/>
        </p:nvSpPr>
        <p:spPr>
          <a:xfrm>
            <a:off x="10975925" y="14897174"/>
            <a:ext cx="7113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RI.4.8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21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21"/>
          <p:cNvSpPr/>
          <p:nvPr/>
        </p:nvSpPr>
        <p:spPr>
          <a:xfrm>
            <a:off x="533326" y="533326"/>
            <a:ext cx="103295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1"/>
          <p:cNvSpPr/>
          <p:nvPr/>
        </p:nvSpPr>
        <p:spPr>
          <a:xfrm>
            <a:off x="533326" y="847651"/>
            <a:ext cx="1032950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Integration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1"/>
          <p:cNvSpPr/>
          <p:nvPr/>
        </p:nvSpPr>
        <p:spPr>
          <a:xfrm>
            <a:off x="10361116" y="533326"/>
            <a:ext cx="1249933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21"/>
          <p:cNvSpPr/>
          <p:nvPr/>
        </p:nvSpPr>
        <p:spPr>
          <a:xfrm>
            <a:off x="10570666" y="647626"/>
            <a:ext cx="90703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RI.4.9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21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21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21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21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Integrate information from two texts on the same topic in order to write or speak about the subject knowledgeably.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21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21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1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21"/>
          <p:cNvSpPr/>
          <p:nvPr/>
        </p:nvSpPr>
        <p:spPr>
          <a:xfrm>
            <a:off x="999902" y="4115470"/>
            <a:ext cx="354303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each source add?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21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21"/>
          <p:cNvSpPr/>
          <p:nvPr/>
        </p:nvSpPr>
        <p:spPr>
          <a:xfrm>
            <a:off x="999902" y="4563963"/>
            <a:ext cx="284611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Where do they conflict?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21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21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21"/>
          <p:cNvSpPr/>
          <p:nvPr/>
        </p:nvSpPr>
        <p:spPr>
          <a:xfrm>
            <a:off x="6424464" y="4115470"/>
            <a:ext cx="125015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21"/>
          <p:cNvSpPr/>
          <p:nvPr/>
        </p:nvSpPr>
        <p:spPr>
          <a:xfrm>
            <a:off x="6586389" y="4182145"/>
            <a:ext cx="100250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integrate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21"/>
          <p:cNvSpPr/>
          <p:nvPr/>
        </p:nvSpPr>
        <p:spPr>
          <a:xfrm>
            <a:off x="7760345" y="4115470"/>
            <a:ext cx="103829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21"/>
          <p:cNvSpPr/>
          <p:nvPr/>
        </p:nvSpPr>
        <p:spPr>
          <a:xfrm>
            <a:off x="7922270" y="4182145"/>
            <a:ext cx="79064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21"/>
          <p:cNvSpPr/>
          <p:nvPr/>
        </p:nvSpPr>
        <p:spPr>
          <a:xfrm>
            <a:off x="8884369" y="4115470"/>
            <a:ext cx="144839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21"/>
          <p:cNvSpPr/>
          <p:nvPr/>
        </p:nvSpPr>
        <p:spPr>
          <a:xfrm>
            <a:off x="9046294" y="4182145"/>
            <a:ext cx="120074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synthesize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21"/>
          <p:cNvSpPr/>
          <p:nvPr/>
        </p:nvSpPr>
        <p:spPr>
          <a:xfrm>
            <a:off x="6424464" y="4619997"/>
            <a:ext cx="189845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21"/>
          <p:cNvSpPr/>
          <p:nvPr/>
        </p:nvSpPr>
        <p:spPr>
          <a:xfrm>
            <a:off x="6586389" y="4686672"/>
            <a:ext cx="165080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knowledgeably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21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21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21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21"/>
          <p:cNvSpPr/>
          <p:nvPr/>
        </p:nvSpPr>
        <p:spPr>
          <a:xfrm>
            <a:off x="1247477" y="6067276"/>
            <a:ext cx="649449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Integrate information from two texts on the same topic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21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21"/>
          <p:cNvSpPr/>
          <p:nvPr/>
        </p:nvSpPr>
        <p:spPr>
          <a:xfrm>
            <a:off x="1247477" y="6506170"/>
            <a:ext cx="577866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Write or speak about the subject knowledgeably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21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21"/>
          <p:cNvSpPr/>
          <p:nvPr/>
        </p:nvSpPr>
        <p:spPr>
          <a:xfrm>
            <a:off x="1247477" y="6945064"/>
            <a:ext cx="611656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agreements and conflicts between sources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21"/>
          <p:cNvSpPr/>
          <p:nvPr/>
        </p:nvSpPr>
        <p:spPr>
          <a:xfrm>
            <a:off x="533326" y="7688684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21"/>
          <p:cNvSpPr/>
          <p:nvPr/>
        </p:nvSpPr>
        <p:spPr>
          <a:xfrm>
            <a:off x="533326" y="7688684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21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21"/>
          <p:cNvSpPr/>
          <p:nvPr/>
        </p:nvSpPr>
        <p:spPr>
          <a:xfrm>
            <a:off x="895201" y="8240985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summarize each source in turn instead of weaving them into a single account.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21"/>
          <p:cNvSpPr/>
          <p:nvPr/>
        </p:nvSpPr>
        <p:spPr>
          <a:xfrm>
            <a:off x="533326" y="8968308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21"/>
          <p:cNvSpPr/>
          <p:nvPr/>
        </p:nvSpPr>
        <p:spPr>
          <a:xfrm>
            <a:off x="780901" y="9158734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21"/>
          <p:cNvSpPr/>
          <p:nvPr/>
        </p:nvSpPr>
        <p:spPr>
          <a:xfrm>
            <a:off x="780901" y="958735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21"/>
          <p:cNvSpPr/>
          <p:nvPr/>
        </p:nvSpPr>
        <p:spPr>
          <a:xfrm>
            <a:off x="1218902" y="9558784"/>
            <a:ext cx="555029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combine information from two sources.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21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21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21"/>
          <p:cNvSpPr/>
          <p:nvPr/>
        </p:nvSpPr>
        <p:spPr>
          <a:xfrm>
            <a:off x="10975925" y="14897174"/>
            <a:ext cx="7113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RI.4.9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2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22"/>
          <p:cNvSpPr/>
          <p:nvPr/>
        </p:nvSpPr>
        <p:spPr>
          <a:xfrm>
            <a:off x="533326" y="533326"/>
            <a:ext cx="1030887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22"/>
          <p:cNvSpPr/>
          <p:nvPr/>
        </p:nvSpPr>
        <p:spPr>
          <a:xfrm>
            <a:off x="533326" y="847651"/>
            <a:ext cx="9652858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Integration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22"/>
          <p:cNvSpPr/>
          <p:nvPr/>
        </p:nvSpPr>
        <p:spPr>
          <a:xfrm>
            <a:off x="10190783" y="533326"/>
            <a:ext cx="1420267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22"/>
          <p:cNvSpPr/>
          <p:nvPr/>
        </p:nvSpPr>
        <p:spPr>
          <a:xfrm>
            <a:off x="10400333" y="647626"/>
            <a:ext cx="1077367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RI.4.10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22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22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22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2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By the end of year, read and comprehend informational texts in the grades 4-5 text complexity band proficiently, with scaffolding as needed at the high end.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22"/>
          <p:cNvSpPr/>
          <p:nvPr/>
        </p:nvSpPr>
        <p:spPr>
          <a:xfrm>
            <a:off x="533326" y="4016350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22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22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22"/>
          <p:cNvSpPr/>
          <p:nvPr/>
        </p:nvSpPr>
        <p:spPr>
          <a:xfrm>
            <a:off x="999902" y="4635401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persist through complex nonfiction?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22"/>
          <p:cNvSpPr/>
          <p:nvPr/>
        </p:nvSpPr>
        <p:spPr>
          <a:xfrm>
            <a:off x="790501" y="5522788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22"/>
          <p:cNvSpPr/>
          <p:nvPr/>
        </p:nvSpPr>
        <p:spPr>
          <a:xfrm>
            <a:off x="999902" y="5418088"/>
            <a:ext cx="311918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supports do I need?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22"/>
          <p:cNvSpPr/>
          <p:nvPr/>
        </p:nvSpPr>
        <p:spPr>
          <a:xfrm>
            <a:off x="6167289" y="4016350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22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22"/>
          <p:cNvSpPr/>
          <p:nvPr/>
        </p:nvSpPr>
        <p:spPr>
          <a:xfrm>
            <a:off x="6424464" y="4635401"/>
            <a:ext cx="204378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22"/>
          <p:cNvSpPr/>
          <p:nvPr/>
        </p:nvSpPr>
        <p:spPr>
          <a:xfrm>
            <a:off x="6586389" y="4702076"/>
            <a:ext cx="179613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complexity band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22"/>
          <p:cNvSpPr/>
          <p:nvPr/>
        </p:nvSpPr>
        <p:spPr>
          <a:xfrm>
            <a:off x="8553971" y="4635401"/>
            <a:ext cx="146156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22"/>
          <p:cNvSpPr/>
          <p:nvPr/>
        </p:nvSpPr>
        <p:spPr>
          <a:xfrm>
            <a:off x="8715896" y="4702076"/>
            <a:ext cx="121391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proficiently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22"/>
          <p:cNvSpPr/>
          <p:nvPr/>
        </p:nvSpPr>
        <p:spPr>
          <a:xfrm>
            <a:off x="6424464" y="5139928"/>
            <a:ext cx="145754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22"/>
          <p:cNvSpPr/>
          <p:nvPr/>
        </p:nvSpPr>
        <p:spPr>
          <a:xfrm>
            <a:off x="6586389" y="5206603"/>
            <a:ext cx="120989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scaffolding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22"/>
          <p:cNvSpPr/>
          <p:nvPr/>
        </p:nvSpPr>
        <p:spPr>
          <a:xfrm>
            <a:off x="533326" y="6161708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22"/>
          <p:cNvSpPr/>
          <p:nvPr/>
        </p:nvSpPr>
        <p:spPr>
          <a:xfrm>
            <a:off x="809476" y="6380708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22"/>
          <p:cNvSpPr/>
          <p:nvPr/>
        </p:nvSpPr>
        <p:spPr>
          <a:xfrm>
            <a:off x="809476" y="680933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22"/>
          <p:cNvSpPr/>
          <p:nvPr/>
        </p:nvSpPr>
        <p:spPr>
          <a:xfrm>
            <a:off x="1247477" y="6780758"/>
            <a:ext cx="772208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and comprehend informational text in the grades 4-5 band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22"/>
          <p:cNvSpPr/>
          <p:nvPr/>
        </p:nvSpPr>
        <p:spPr>
          <a:xfrm>
            <a:off x="809476" y="724822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22"/>
          <p:cNvSpPr/>
          <p:nvPr/>
        </p:nvSpPr>
        <p:spPr>
          <a:xfrm>
            <a:off x="1247477" y="7219652"/>
            <a:ext cx="373506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scaffolding at the high end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22"/>
          <p:cNvSpPr/>
          <p:nvPr/>
        </p:nvSpPr>
        <p:spPr>
          <a:xfrm>
            <a:off x="809476" y="768712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22"/>
          <p:cNvSpPr/>
          <p:nvPr/>
        </p:nvSpPr>
        <p:spPr>
          <a:xfrm>
            <a:off x="1247477" y="7658546"/>
            <a:ext cx="423945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Sustain attention across a long 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22"/>
          <p:cNvSpPr/>
          <p:nvPr/>
        </p:nvSpPr>
        <p:spPr>
          <a:xfrm>
            <a:off x="533326" y="8402166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22"/>
          <p:cNvSpPr/>
          <p:nvPr/>
        </p:nvSpPr>
        <p:spPr>
          <a:xfrm>
            <a:off x="533326" y="8402166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22"/>
          <p:cNvSpPr/>
          <p:nvPr/>
        </p:nvSpPr>
        <p:spPr>
          <a:xfrm>
            <a:off x="895201" y="8592592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22"/>
          <p:cNvSpPr/>
          <p:nvPr/>
        </p:nvSpPr>
        <p:spPr>
          <a:xfrm>
            <a:off x="895201" y="8954467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Dense paragraphs get skimmed. Chunking the text and summarizing after each section restores comprehension.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22"/>
          <p:cNvSpPr/>
          <p:nvPr/>
        </p:nvSpPr>
        <p:spPr>
          <a:xfrm>
            <a:off x="533326" y="10028262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22"/>
          <p:cNvSpPr/>
          <p:nvPr/>
        </p:nvSpPr>
        <p:spPr>
          <a:xfrm>
            <a:off x="780901" y="10218688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22"/>
          <p:cNvSpPr/>
          <p:nvPr/>
        </p:nvSpPr>
        <p:spPr>
          <a:xfrm>
            <a:off x="780901" y="1064731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22"/>
          <p:cNvSpPr/>
          <p:nvPr/>
        </p:nvSpPr>
        <p:spPr>
          <a:xfrm>
            <a:off x="1218902" y="10618738"/>
            <a:ext cx="614922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read and understand grade-level nonfiction.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22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22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22"/>
          <p:cNvSpPr/>
          <p:nvPr/>
        </p:nvSpPr>
        <p:spPr>
          <a:xfrm>
            <a:off x="10843543" y="14897174"/>
            <a:ext cx="84370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RI.4.10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23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23"/>
          <p:cNvSpPr/>
          <p:nvPr/>
        </p:nvSpPr>
        <p:spPr>
          <a:xfrm>
            <a:off x="533326" y="533326"/>
            <a:ext cx="87615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READING FOUNDATIONAL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23"/>
          <p:cNvSpPr/>
          <p:nvPr/>
        </p:nvSpPr>
        <p:spPr>
          <a:xfrm>
            <a:off x="533326" y="847651"/>
            <a:ext cx="8761564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Phonics and Word Recognition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23"/>
          <p:cNvSpPr/>
          <p:nvPr/>
        </p:nvSpPr>
        <p:spPr>
          <a:xfrm>
            <a:off x="9989195" y="533326"/>
            <a:ext cx="162185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23"/>
          <p:cNvSpPr/>
          <p:nvPr/>
        </p:nvSpPr>
        <p:spPr>
          <a:xfrm>
            <a:off x="10198745" y="647626"/>
            <a:ext cx="127895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RF.4.3.A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23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23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23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23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combined knowledge of all letter-sound correspondences, syllabication patterns, and morphology to read accurately unfamiliar multisyllabic words.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23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23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23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23"/>
          <p:cNvSpPr/>
          <p:nvPr/>
        </p:nvSpPr>
        <p:spPr>
          <a:xfrm>
            <a:off x="999902" y="4115470"/>
            <a:ext cx="508715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decode an unfamiliar long word?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23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23"/>
          <p:cNvSpPr/>
          <p:nvPr/>
        </p:nvSpPr>
        <p:spPr>
          <a:xfrm>
            <a:off x="999902" y="4563963"/>
            <a:ext cx="384532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 the word parts tell me?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23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23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23"/>
          <p:cNvSpPr/>
          <p:nvPr/>
        </p:nvSpPr>
        <p:spPr>
          <a:xfrm>
            <a:off x="6424464" y="4115470"/>
            <a:ext cx="162051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23"/>
          <p:cNvSpPr/>
          <p:nvPr/>
        </p:nvSpPr>
        <p:spPr>
          <a:xfrm>
            <a:off x="6586389" y="4182145"/>
            <a:ext cx="137286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syllabication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23"/>
          <p:cNvSpPr/>
          <p:nvPr/>
        </p:nvSpPr>
        <p:spPr>
          <a:xfrm>
            <a:off x="8130704" y="4115470"/>
            <a:ext cx="156760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23"/>
          <p:cNvSpPr/>
          <p:nvPr/>
        </p:nvSpPr>
        <p:spPr>
          <a:xfrm>
            <a:off x="8292629" y="4182145"/>
            <a:ext cx="131995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morphology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23"/>
          <p:cNvSpPr/>
          <p:nvPr/>
        </p:nvSpPr>
        <p:spPr>
          <a:xfrm>
            <a:off x="6424464" y="4619997"/>
            <a:ext cx="160689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23"/>
          <p:cNvSpPr/>
          <p:nvPr/>
        </p:nvSpPr>
        <p:spPr>
          <a:xfrm>
            <a:off x="6586389" y="4686672"/>
            <a:ext cx="135924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multisyllabic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23"/>
          <p:cNvSpPr/>
          <p:nvPr/>
        </p:nvSpPr>
        <p:spPr>
          <a:xfrm>
            <a:off x="8117086" y="4619997"/>
            <a:ext cx="73402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23"/>
          <p:cNvSpPr/>
          <p:nvPr/>
        </p:nvSpPr>
        <p:spPr>
          <a:xfrm>
            <a:off x="8279011" y="4686672"/>
            <a:ext cx="48637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root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23"/>
          <p:cNvSpPr/>
          <p:nvPr/>
        </p:nvSpPr>
        <p:spPr>
          <a:xfrm>
            <a:off x="8936831" y="4619997"/>
            <a:ext cx="75612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23"/>
          <p:cNvSpPr/>
          <p:nvPr/>
        </p:nvSpPr>
        <p:spPr>
          <a:xfrm>
            <a:off x="9098756" y="4686672"/>
            <a:ext cx="50847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affix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23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23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23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23"/>
          <p:cNvSpPr/>
          <p:nvPr/>
        </p:nvSpPr>
        <p:spPr>
          <a:xfrm>
            <a:off x="1247477" y="6067276"/>
            <a:ext cx="896292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letter-sound correspondences, syllabication patterns, and morphology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23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3"/>
          <p:cNvSpPr/>
          <p:nvPr/>
        </p:nvSpPr>
        <p:spPr>
          <a:xfrm>
            <a:off x="1247477" y="6506170"/>
            <a:ext cx="905305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accurately unfamiliar multisyllabic words in context and out of context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23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23"/>
          <p:cNvSpPr/>
          <p:nvPr/>
        </p:nvSpPr>
        <p:spPr>
          <a:xfrm>
            <a:off x="1247477" y="6945064"/>
            <a:ext cx="489020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Apply morphology to determine meaning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23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23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23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23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decode a long word correctly but skip past its meaning, so comprehension does not improve.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23"/>
          <p:cNvSpPr/>
          <p:nvPr/>
        </p:nvSpPr>
        <p:spPr>
          <a:xfrm>
            <a:off x="533326" y="9314780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23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23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23"/>
          <p:cNvSpPr/>
          <p:nvPr/>
        </p:nvSpPr>
        <p:spPr>
          <a:xfrm>
            <a:off x="1218902" y="9905256"/>
            <a:ext cx="613302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read and understand long unfamiliar words.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23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23"/>
          <p:cNvSpPr/>
          <p:nvPr/>
        </p:nvSpPr>
        <p:spPr>
          <a:xfrm>
            <a:off x="533326" y="14897174"/>
            <a:ext cx="3347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1,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23"/>
          <p:cNvSpPr/>
          <p:nvPr/>
        </p:nvSpPr>
        <p:spPr>
          <a:xfrm>
            <a:off x="10685041" y="14897174"/>
            <a:ext cx="10022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RF.4.3.A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24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24"/>
          <p:cNvSpPr/>
          <p:nvPr/>
        </p:nvSpPr>
        <p:spPr>
          <a:xfrm>
            <a:off x="533326" y="533326"/>
            <a:ext cx="826380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READING FOUNDATIONAL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24"/>
          <p:cNvSpPr/>
          <p:nvPr/>
        </p:nvSpPr>
        <p:spPr>
          <a:xfrm>
            <a:off x="533326" y="847651"/>
            <a:ext cx="826380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Fluency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24"/>
          <p:cNvSpPr/>
          <p:nvPr/>
        </p:nvSpPr>
        <p:spPr>
          <a:xfrm>
            <a:off x="9989195" y="533326"/>
            <a:ext cx="162185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24"/>
          <p:cNvSpPr/>
          <p:nvPr/>
        </p:nvSpPr>
        <p:spPr>
          <a:xfrm>
            <a:off x="10198745" y="647626"/>
            <a:ext cx="127895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RF.4.4.A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24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24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24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24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grade-level text with purpose and understanding.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24"/>
          <p:cNvSpPr/>
          <p:nvPr/>
        </p:nvSpPr>
        <p:spPr>
          <a:xfrm>
            <a:off x="533326" y="3136553"/>
            <a:ext cx="5443538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24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24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24"/>
          <p:cNvSpPr/>
          <p:nvPr/>
        </p:nvSpPr>
        <p:spPr>
          <a:xfrm>
            <a:off x="999902" y="3755603"/>
            <a:ext cx="277048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am I reading for?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24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24"/>
          <p:cNvSpPr/>
          <p:nvPr/>
        </p:nvSpPr>
        <p:spPr>
          <a:xfrm>
            <a:off x="999902" y="4204097"/>
            <a:ext cx="473943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purpose change how I read?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24"/>
          <p:cNvSpPr/>
          <p:nvPr/>
        </p:nvSpPr>
        <p:spPr>
          <a:xfrm>
            <a:off x="6167289" y="3136553"/>
            <a:ext cx="5443761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24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24"/>
          <p:cNvSpPr/>
          <p:nvPr/>
        </p:nvSpPr>
        <p:spPr>
          <a:xfrm>
            <a:off x="6424464" y="3755603"/>
            <a:ext cx="118407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24"/>
          <p:cNvSpPr/>
          <p:nvPr/>
        </p:nvSpPr>
        <p:spPr>
          <a:xfrm>
            <a:off x="6586389" y="3822278"/>
            <a:ext cx="93642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24"/>
          <p:cNvSpPr/>
          <p:nvPr/>
        </p:nvSpPr>
        <p:spPr>
          <a:xfrm>
            <a:off x="7694265" y="3755603"/>
            <a:ext cx="195136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24"/>
          <p:cNvSpPr/>
          <p:nvPr/>
        </p:nvSpPr>
        <p:spPr>
          <a:xfrm>
            <a:off x="7856190" y="3822278"/>
            <a:ext cx="170371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comprehension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24"/>
          <p:cNvSpPr/>
          <p:nvPr/>
        </p:nvSpPr>
        <p:spPr>
          <a:xfrm>
            <a:off x="9731350" y="3755603"/>
            <a:ext cx="111755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24"/>
          <p:cNvSpPr/>
          <p:nvPr/>
        </p:nvSpPr>
        <p:spPr>
          <a:xfrm>
            <a:off x="9893275" y="3822278"/>
            <a:ext cx="86990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monitor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24"/>
          <p:cNvSpPr/>
          <p:nvPr/>
        </p:nvSpPr>
        <p:spPr>
          <a:xfrm>
            <a:off x="533326" y="494771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24"/>
          <p:cNvSpPr/>
          <p:nvPr/>
        </p:nvSpPr>
        <p:spPr>
          <a:xfrm>
            <a:off x="809476" y="516671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24"/>
          <p:cNvSpPr/>
          <p:nvPr/>
        </p:nvSpPr>
        <p:spPr>
          <a:xfrm>
            <a:off x="809476" y="559534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24"/>
          <p:cNvSpPr/>
          <p:nvPr/>
        </p:nvSpPr>
        <p:spPr>
          <a:xfrm>
            <a:off x="1247477" y="5566767"/>
            <a:ext cx="654115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grade-level text with purpose and understanding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24"/>
          <p:cNvSpPr/>
          <p:nvPr/>
        </p:nvSpPr>
        <p:spPr>
          <a:xfrm>
            <a:off x="809476" y="603423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24"/>
          <p:cNvSpPr/>
          <p:nvPr/>
        </p:nvSpPr>
        <p:spPr>
          <a:xfrm>
            <a:off x="1247477" y="6005661"/>
            <a:ext cx="431558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Adjust reading approach to purpose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24"/>
          <p:cNvSpPr/>
          <p:nvPr/>
        </p:nvSpPr>
        <p:spPr>
          <a:xfrm>
            <a:off x="809476" y="647313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24"/>
          <p:cNvSpPr/>
          <p:nvPr/>
        </p:nvSpPr>
        <p:spPr>
          <a:xfrm>
            <a:off x="1247477" y="6444555"/>
            <a:ext cx="284611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Monitor comprehension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24"/>
          <p:cNvSpPr/>
          <p:nvPr/>
        </p:nvSpPr>
        <p:spPr>
          <a:xfrm>
            <a:off x="533326" y="7188175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24"/>
          <p:cNvSpPr/>
          <p:nvPr/>
        </p:nvSpPr>
        <p:spPr>
          <a:xfrm>
            <a:off x="533326" y="7188175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24"/>
          <p:cNvSpPr/>
          <p:nvPr/>
        </p:nvSpPr>
        <p:spPr>
          <a:xfrm>
            <a:off x="895201" y="737860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24"/>
          <p:cNvSpPr/>
          <p:nvPr/>
        </p:nvSpPr>
        <p:spPr>
          <a:xfrm>
            <a:off x="895201" y="7740476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Every text is read at the same speed and depth regardless of why it is being read.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24"/>
          <p:cNvSpPr/>
          <p:nvPr/>
        </p:nvSpPr>
        <p:spPr>
          <a:xfrm>
            <a:off x="533326" y="8467799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24"/>
          <p:cNvSpPr/>
          <p:nvPr/>
        </p:nvSpPr>
        <p:spPr>
          <a:xfrm>
            <a:off x="780901" y="8658225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24"/>
          <p:cNvSpPr/>
          <p:nvPr/>
        </p:nvSpPr>
        <p:spPr>
          <a:xfrm>
            <a:off x="780901" y="9086850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24"/>
          <p:cNvSpPr/>
          <p:nvPr/>
        </p:nvSpPr>
        <p:spPr>
          <a:xfrm>
            <a:off x="1218902" y="9058275"/>
            <a:ext cx="3946989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read with a clear purpose.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24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24"/>
          <p:cNvSpPr/>
          <p:nvPr/>
        </p:nvSpPr>
        <p:spPr>
          <a:xfrm>
            <a:off x="533326" y="14897174"/>
            <a:ext cx="3347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1,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24"/>
          <p:cNvSpPr/>
          <p:nvPr/>
        </p:nvSpPr>
        <p:spPr>
          <a:xfrm>
            <a:off x="10685041" y="14897174"/>
            <a:ext cx="10022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RF.4.4.A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25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25"/>
          <p:cNvSpPr/>
          <p:nvPr/>
        </p:nvSpPr>
        <p:spPr>
          <a:xfrm>
            <a:off x="533326" y="533326"/>
            <a:ext cx="826380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READING FOUNDATIONAL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25"/>
          <p:cNvSpPr/>
          <p:nvPr/>
        </p:nvSpPr>
        <p:spPr>
          <a:xfrm>
            <a:off x="533326" y="847651"/>
            <a:ext cx="826380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Fluency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25"/>
          <p:cNvSpPr/>
          <p:nvPr/>
        </p:nvSpPr>
        <p:spPr>
          <a:xfrm>
            <a:off x="9989195" y="533326"/>
            <a:ext cx="162185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25"/>
          <p:cNvSpPr/>
          <p:nvPr/>
        </p:nvSpPr>
        <p:spPr>
          <a:xfrm>
            <a:off x="10198745" y="647626"/>
            <a:ext cx="127895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RF.4.4.B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25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25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25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25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grade-level prose and poetry orally with accuracy, appropriate rate, and expression on successive readings.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25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25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25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25"/>
          <p:cNvSpPr/>
          <p:nvPr/>
        </p:nvSpPr>
        <p:spPr>
          <a:xfrm>
            <a:off x="999902" y="4115470"/>
            <a:ext cx="428439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phrasing carry meaning?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25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25"/>
          <p:cNvSpPr/>
          <p:nvPr/>
        </p:nvSpPr>
        <p:spPr>
          <a:xfrm>
            <a:off x="999902" y="4563963"/>
            <a:ext cx="454175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expression communicate?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25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25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25"/>
          <p:cNvSpPr/>
          <p:nvPr/>
        </p:nvSpPr>
        <p:spPr>
          <a:xfrm>
            <a:off x="6424464" y="4115470"/>
            <a:ext cx="107803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25"/>
          <p:cNvSpPr/>
          <p:nvPr/>
        </p:nvSpPr>
        <p:spPr>
          <a:xfrm>
            <a:off x="6586389" y="4182145"/>
            <a:ext cx="83038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fluency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25"/>
          <p:cNvSpPr/>
          <p:nvPr/>
        </p:nvSpPr>
        <p:spPr>
          <a:xfrm>
            <a:off x="7588225" y="4115470"/>
            <a:ext cx="117068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25"/>
          <p:cNvSpPr/>
          <p:nvPr/>
        </p:nvSpPr>
        <p:spPr>
          <a:xfrm>
            <a:off x="7750150" y="4182145"/>
            <a:ext cx="92303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prosody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25"/>
          <p:cNvSpPr/>
          <p:nvPr/>
        </p:nvSpPr>
        <p:spPr>
          <a:xfrm>
            <a:off x="8844632" y="4115470"/>
            <a:ext cx="123698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25"/>
          <p:cNvSpPr/>
          <p:nvPr/>
        </p:nvSpPr>
        <p:spPr>
          <a:xfrm>
            <a:off x="9006557" y="4182145"/>
            <a:ext cx="98933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phrasing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25"/>
          <p:cNvSpPr/>
          <p:nvPr/>
        </p:nvSpPr>
        <p:spPr>
          <a:xfrm>
            <a:off x="6424464" y="4619997"/>
            <a:ext cx="147496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25"/>
          <p:cNvSpPr/>
          <p:nvPr/>
        </p:nvSpPr>
        <p:spPr>
          <a:xfrm>
            <a:off x="6586389" y="4686672"/>
            <a:ext cx="122731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expression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25"/>
          <p:cNvSpPr/>
          <p:nvPr/>
        </p:nvSpPr>
        <p:spPr>
          <a:xfrm>
            <a:off x="7985150" y="4619997"/>
            <a:ext cx="73402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25"/>
          <p:cNvSpPr/>
          <p:nvPr/>
        </p:nvSpPr>
        <p:spPr>
          <a:xfrm>
            <a:off x="8147075" y="4686672"/>
            <a:ext cx="48637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rate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25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25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25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25"/>
          <p:cNvSpPr/>
          <p:nvPr/>
        </p:nvSpPr>
        <p:spPr>
          <a:xfrm>
            <a:off x="1247477" y="6067276"/>
            <a:ext cx="782202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prose and poetry orally with accuracy, rate, and expression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25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25"/>
          <p:cNvSpPr/>
          <p:nvPr/>
        </p:nvSpPr>
        <p:spPr>
          <a:xfrm>
            <a:off x="1247477" y="6506170"/>
            <a:ext cx="438999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Improve across successive readings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25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25"/>
          <p:cNvSpPr/>
          <p:nvPr/>
        </p:nvSpPr>
        <p:spPr>
          <a:xfrm>
            <a:off x="1247477" y="6945064"/>
            <a:ext cx="420876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phrasing that reflects meaning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25"/>
          <p:cNvSpPr/>
          <p:nvPr/>
        </p:nvSpPr>
        <p:spPr>
          <a:xfrm>
            <a:off x="533326" y="7688684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25"/>
          <p:cNvSpPr/>
          <p:nvPr/>
        </p:nvSpPr>
        <p:spPr>
          <a:xfrm>
            <a:off x="533326" y="7688684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25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25"/>
          <p:cNvSpPr/>
          <p:nvPr/>
        </p:nvSpPr>
        <p:spPr>
          <a:xfrm>
            <a:off x="895201" y="8240985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Word-by-word reading persists in longer sentences even when individual words are known.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25"/>
          <p:cNvSpPr/>
          <p:nvPr/>
        </p:nvSpPr>
        <p:spPr>
          <a:xfrm>
            <a:off x="533326" y="8968308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25"/>
          <p:cNvSpPr/>
          <p:nvPr/>
        </p:nvSpPr>
        <p:spPr>
          <a:xfrm>
            <a:off x="780901" y="9158734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25"/>
          <p:cNvSpPr/>
          <p:nvPr/>
        </p:nvSpPr>
        <p:spPr>
          <a:xfrm>
            <a:off x="780901" y="958735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25"/>
          <p:cNvSpPr/>
          <p:nvPr/>
        </p:nvSpPr>
        <p:spPr>
          <a:xfrm>
            <a:off x="1218902" y="9558784"/>
            <a:ext cx="589703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read aloud with accuracy and expression.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25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25"/>
          <p:cNvSpPr/>
          <p:nvPr/>
        </p:nvSpPr>
        <p:spPr>
          <a:xfrm>
            <a:off x="533326" y="14897174"/>
            <a:ext cx="3347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1,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25"/>
          <p:cNvSpPr/>
          <p:nvPr/>
        </p:nvSpPr>
        <p:spPr>
          <a:xfrm>
            <a:off x="10685041" y="14897174"/>
            <a:ext cx="10022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RF.4.4.B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26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26"/>
          <p:cNvSpPr/>
          <p:nvPr/>
        </p:nvSpPr>
        <p:spPr>
          <a:xfrm>
            <a:off x="533326" y="533326"/>
            <a:ext cx="826380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READING FOUNDATIONAL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26"/>
          <p:cNvSpPr/>
          <p:nvPr/>
        </p:nvSpPr>
        <p:spPr>
          <a:xfrm>
            <a:off x="533326" y="847651"/>
            <a:ext cx="826380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Fluency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26"/>
          <p:cNvSpPr/>
          <p:nvPr/>
        </p:nvSpPr>
        <p:spPr>
          <a:xfrm>
            <a:off x="9989195" y="533326"/>
            <a:ext cx="162185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26"/>
          <p:cNvSpPr/>
          <p:nvPr/>
        </p:nvSpPr>
        <p:spPr>
          <a:xfrm>
            <a:off x="10198745" y="647626"/>
            <a:ext cx="127895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RF.4.4.C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26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26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26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26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context to confirm or self-correct word recognition and understanding, rereading as necessary.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26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26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26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26"/>
          <p:cNvSpPr/>
          <p:nvPr/>
        </p:nvSpPr>
        <p:spPr>
          <a:xfrm>
            <a:off x="999902" y="4115470"/>
            <a:ext cx="499629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catch a breakdown in meaning?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26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26"/>
          <p:cNvSpPr/>
          <p:nvPr/>
        </p:nvSpPr>
        <p:spPr>
          <a:xfrm>
            <a:off x="999902" y="4563963"/>
            <a:ext cx="364838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Which clues help me repair it?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26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26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26"/>
          <p:cNvSpPr/>
          <p:nvPr/>
        </p:nvSpPr>
        <p:spPr>
          <a:xfrm>
            <a:off x="6424464" y="4115470"/>
            <a:ext cx="150085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26"/>
          <p:cNvSpPr/>
          <p:nvPr/>
        </p:nvSpPr>
        <p:spPr>
          <a:xfrm>
            <a:off x="6586389" y="4182145"/>
            <a:ext cx="125320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self-correct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26"/>
          <p:cNvSpPr/>
          <p:nvPr/>
        </p:nvSpPr>
        <p:spPr>
          <a:xfrm>
            <a:off x="8011046" y="4115470"/>
            <a:ext cx="109120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26"/>
          <p:cNvSpPr/>
          <p:nvPr/>
        </p:nvSpPr>
        <p:spPr>
          <a:xfrm>
            <a:off x="8172971" y="4182145"/>
            <a:ext cx="843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26"/>
          <p:cNvSpPr/>
          <p:nvPr/>
        </p:nvSpPr>
        <p:spPr>
          <a:xfrm>
            <a:off x="9187979" y="4115470"/>
            <a:ext cx="101195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26"/>
          <p:cNvSpPr/>
          <p:nvPr/>
        </p:nvSpPr>
        <p:spPr>
          <a:xfrm>
            <a:off x="9349904" y="4182145"/>
            <a:ext cx="76430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reread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26"/>
          <p:cNvSpPr/>
          <p:nvPr/>
        </p:nvSpPr>
        <p:spPr>
          <a:xfrm>
            <a:off x="6424464" y="4619997"/>
            <a:ext cx="111755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26"/>
          <p:cNvSpPr/>
          <p:nvPr/>
        </p:nvSpPr>
        <p:spPr>
          <a:xfrm>
            <a:off x="6586389" y="4686672"/>
            <a:ext cx="86990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monitor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26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26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26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26"/>
          <p:cNvSpPr/>
          <p:nvPr/>
        </p:nvSpPr>
        <p:spPr>
          <a:xfrm>
            <a:off x="1247477" y="6067276"/>
            <a:ext cx="445015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context to confirm or self-correct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26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26"/>
          <p:cNvSpPr/>
          <p:nvPr/>
        </p:nvSpPr>
        <p:spPr>
          <a:xfrm>
            <a:off x="1247477" y="6506170"/>
            <a:ext cx="257378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Reread as necessary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26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26"/>
          <p:cNvSpPr/>
          <p:nvPr/>
        </p:nvSpPr>
        <p:spPr>
          <a:xfrm>
            <a:off x="1247477" y="6945064"/>
            <a:ext cx="443591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Monitor comprehension continuously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26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26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26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26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only monitor at the word level, not at the level of whether the passage as a whole made sense.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26"/>
          <p:cNvSpPr/>
          <p:nvPr/>
        </p:nvSpPr>
        <p:spPr>
          <a:xfrm>
            <a:off x="533326" y="9314780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26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26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26"/>
          <p:cNvSpPr/>
          <p:nvPr/>
        </p:nvSpPr>
        <p:spPr>
          <a:xfrm>
            <a:off x="1218902" y="9905256"/>
            <a:ext cx="625875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notice when meaning breaks down and fix it.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26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26"/>
          <p:cNvSpPr/>
          <p:nvPr/>
        </p:nvSpPr>
        <p:spPr>
          <a:xfrm>
            <a:off x="533326" y="14897174"/>
            <a:ext cx="3347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1,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26"/>
          <p:cNvSpPr/>
          <p:nvPr/>
        </p:nvSpPr>
        <p:spPr>
          <a:xfrm>
            <a:off x="10685041" y="14897174"/>
            <a:ext cx="10022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RF.4.4.C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27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27"/>
          <p:cNvSpPr/>
          <p:nvPr/>
        </p:nvSpPr>
        <p:spPr>
          <a:xfrm>
            <a:off x="533326" y="533326"/>
            <a:ext cx="72525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WRITING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27"/>
          <p:cNvSpPr/>
          <p:nvPr/>
        </p:nvSpPr>
        <p:spPr>
          <a:xfrm>
            <a:off x="533326" y="847651"/>
            <a:ext cx="7252558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Text Types and Purposes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27"/>
          <p:cNvSpPr/>
          <p:nvPr/>
        </p:nvSpPr>
        <p:spPr>
          <a:xfrm>
            <a:off x="10404425" y="533326"/>
            <a:ext cx="120662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27"/>
          <p:cNvSpPr/>
          <p:nvPr/>
        </p:nvSpPr>
        <p:spPr>
          <a:xfrm>
            <a:off x="10613975" y="647626"/>
            <a:ext cx="86372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W.4.1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27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27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27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27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Write opinion pieces on topics or texts, supporting a point of view with reasons and information.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27"/>
          <p:cNvSpPr/>
          <p:nvPr/>
        </p:nvSpPr>
        <p:spPr>
          <a:xfrm>
            <a:off x="533326" y="3496419"/>
            <a:ext cx="5443538" cy="2265908"/>
          </a:xfrm>
          <a:prstGeom prst="roundRect">
            <a:avLst>
              <a:gd fmla="val 588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27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27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27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is my position and how do I support it?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27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27"/>
          <p:cNvSpPr/>
          <p:nvPr/>
        </p:nvSpPr>
        <p:spPr>
          <a:xfrm>
            <a:off x="999902" y="4898157"/>
            <a:ext cx="348213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group my reasons?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27"/>
          <p:cNvSpPr/>
          <p:nvPr/>
        </p:nvSpPr>
        <p:spPr>
          <a:xfrm>
            <a:off x="6167289" y="3496419"/>
            <a:ext cx="5443761" cy="2265908"/>
          </a:xfrm>
          <a:prstGeom prst="roundRect">
            <a:avLst>
              <a:gd fmla="val 588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27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27"/>
          <p:cNvSpPr/>
          <p:nvPr/>
        </p:nvSpPr>
        <p:spPr>
          <a:xfrm>
            <a:off x="6424464" y="4115470"/>
            <a:ext cx="109143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27"/>
          <p:cNvSpPr/>
          <p:nvPr/>
        </p:nvSpPr>
        <p:spPr>
          <a:xfrm>
            <a:off x="6586389" y="4182145"/>
            <a:ext cx="84378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opinion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27"/>
          <p:cNvSpPr/>
          <p:nvPr/>
        </p:nvSpPr>
        <p:spPr>
          <a:xfrm>
            <a:off x="7601620" y="4115470"/>
            <a:ext cx="105169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27"/>
          <p:cNvSpPr/>
          <p:nvPr/>
        </p:nvSpPr>
        <p:spPr>
          <a:xfrm>
            <a:off x="7763545" y="4182145"/>
            <a:ext cx="80404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reason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27"/>
          <p:cNvSpPr/>
          <p:nvPr/>
        </p:nvSpPr>
        <p:spPr>
          <a:xfrm>
            <a:off x="6424464" y="4619997"/>
            <a:ext cx="279811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27"/>
          <p:cNvSpPr/>
          <p:nvPr/>
        </p:nvSpPr>
        <p:spPr>
          <a:xfrm>
            <a:off x="6586389" y="4686672"/>
            <a:ext cx="255821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organizational structure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27"/>
          <p:cNvSpPr/>
          <p:nvPr/>
        </p:nvSpPr>
        <p:spPr>
          <a:xfrm>
            <a:off x="9308306" y="4619997"/>
            <a:ext cx="179263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27"/>
          <p:cNvSpPr/>
          <p:nvPr/>
        </p:nvSpPr>
        <p:spPr>
          <a:xfrm>
            <a:off x="9470231" y="4686672"/>
            <a:ext cx="154498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linking phrase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27"/>
          <p:cNvSpPr/>
          <p:nvPr/>
        </p:nvSpPr>
        <p:spPr>
          <a:xfrm>
            <a:off x="6424464" y="5124524"/>
            <a:ext cx="144861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27"/>
          <p:cNvSpPr/>
          <p:nvPr/>
        </p:nvSpPr>
        <p:spPr>
          <a:xfrm>
            <a:off x="6586389" y="5191199"/>
            <a:ext cx="120096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27"/>
          <p:cNvSpPr/>
          <p:nvPr/>
        </p:nvSpPr>
        <p:spPr>
          <a:xfrm>
            <a:off x="533326" y="5952753"/>
            <a:ext cx="11077724" cy="2927821"/>
          </a:xfrm>
          <a:prstGeom prst="roundRect">
            <a:avLst>
              <a:gd fmla="val 455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27"/>
          <p:cNvSpPr/>
          <p:nvPr/>
        </p:nvSpPr>
        <p:spPr>
          <a:xfrm>
            <a:off x="809476" y="6171754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27"/>
          <p:cNvSpPr/>
          <p:nvPr/>
        </p:nvSpPr>
        <p:spPr>
          <a:xfrm>
            <a:off x="809476" y="660037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27"/>
          <p:cNvSpPr/>
          <p:nvPr/>
        </p:nvSpPr>
        <p:spPr>
          <a:xfrm>
            <a:off x="1247477" y="6571804"/>
            <a:ext cx="540540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Introduce a topic and state an opinion clearly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27"/>
          <p:cNvSpPr/>
          <p:nvPr/>
        </p:nvSpPr>
        <p:spPr>
          <a:xfrm>
            <a:off x="809476" y="703927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27"/>
          <p:cNvSpPr/>
          <p:nvPr/>
        </p:nvSpPr>
        <p:spPr>
          <a:xfrm>
            <a:off x="1247477" y="7010698"/>
            <a:ext cx="717667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Create an organizational structure that groups related ideas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27"/>
          <p:cNvSpPr/>
          <p:nvPr/>
        </p:nvSpPr>
        <p:spPr>
          <a:xfrm>
            <a:off x="809476" y="747816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27"/>
          <p:cNvSpPr/>
          <p:nvPr/>
        </p:nvSpPr>
        <p:spPr>
          <a:xfrm>
            <a:off x="1247477" y="7449592"/>
            <a:ext cx="566251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Provide reasons supported by facts and details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27"/>
          <p:cNvSpPr/>
          <p:nvPr/>
        </p:nvSpPr>
        <p:spPr>
          <a:xfrm>
            <a:off x="809476" y="791706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27"/>
          <p:cNvSpPr/>
          <p:nvPr/>
        </p:nvSpPr>
        <p:spPr>
          <a:xfrm>
            <a:off x="1247477" y="7888486"/>
            <a:ext cx="613228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Link opinion and reasons using words and phrases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27"/>
          <p:cNvSpPr/>
          <p:nvPr/>
        </p:nvSpPr>
        <p:spPr>
          <a:xfrm>
            <a:off x="809476" y="835595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27"/>
          <p:cNvSpPr/>
          <p:nvPr/>
        </p:nvSpPr>
        <p:spPr>
          <a:xfrm>
            <a:off x="1247477" y="8327380"/>
            <a:ext cx="505670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Provide a concluding statement or section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27"/>
          <p:cNvSpPr/>
          <p:nvPr/>
        </p:nvSpPr>
        <p:spPr>
          <a:xfrm>
            <a:off x="533326" y="9071000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27"/>
          <p:cNvSpPr/>
          <p:nvPr/>
        </p:nvSpPr>
        <p:spPr>
          <a:xfrm>
            <a:off x="533326" y="9071000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27"/>
          <p:cNvSpPr/>
          <p:nvPr/>
        </p:nvSpPr>
        <p:spPr>
          <a:xfrm>
            <a:off x="895201" y="9261425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27"/>
          <p:cNvSpPr/>
          <p:nvPr/>
        </p:nvSpPr>
        <p:spPr>
          <a:xfrm>
            <a:off x="895201" y="9623301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Reasons appear without supporting facts. At grade 4 each reason needs evidence behind it.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27"/>
          <p:cNvSpPr/>
          <p:nvPr/>
        </p:nvSpPr>
        <p:spPr>
          <a:xfrm>
            <a:off x="533326" y="10350624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27"/>
          <p:cNvSpPr/>
          <p:nvPr/>
        </p:nvSpPr>
        <p:spPr>
          <a:xfrm>
            <a:off x="780901" y="10541050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27"/>
          <p:cNvSpPr/>
          <p:nvPr/>
        </p:nvSpPr>
        <p:spPr>
          <a:xfrm>
            <a:off x="780901" y="1096967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27"/>
          <p:cNvSpPr/>
          <p:nvPr/>
        </p:nvSpPr>
        <p:spPr>
          <a:xfrm>
            <a:off x="1218902" y="10941100"/>
            <a:ext cx="640019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write an opinion piece with reasons and facts.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27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27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27"/>
          <p:cNvSpPr/>
          <p:nvPr/>
        </p:nvSpPr>
        <p:spPr>
          <a:xfrm>
            <a:off x="11002491" y="14897174"/>
            <a:ext cx="6847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W.4.1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28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28"/>
          <p:cNvSpPr/>
          <p:nvPr/>
        </p:nvSpPr>
        <p:spPr>
          <a:xfrm>
            <a:off x="533326" y="533326"/>
            <a:ext cx="72525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WRITING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28"/>
          <p:cNvSpPr/>
          <p:nvPr/>
        </p:nvSpPr>
        <p:spPr>
          <a:xfrm>
            <a:off x="533326" y="847651"/>
            <a:ext cx="7252558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Text Types and Purposes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28"/>
          <p:cNvSpPr/>
          <p:nvPr/>
        </p:nvSpPr>
        <p:spPr>
          <a:xfrm>
            <a:off x="10404425" y="533326"/>
            <a:ext cx="120662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28"/>
          <p:cNvSpPr/>
          <p:nvPr/>
        </p:nvSpPr>
        <p:spPr>
          <a:xfrm>
            <a:off x="10613975" y="647626"/>
            <a:ext cx="86372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W.4.2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28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28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28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28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Write informative/explanatory texts to examine a topic and convey ideas and information clearly.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28"/>
          <p:cNvSpPr/>
          <p:nvPr/>
        </p:nvSpPr>
        <p:spPr>
          <a:xfrm>
            <a:off x="533326" y="3496419"/>
            <a:ext cx="5443538" cy="2265908"/>
          </a:xfrm>
          <a:prstGeom prst="roundRect">
            <a:avLst>
              <a:gd fmla="val 588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28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28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28"/>
          <p:cNvSpPr/>
          <p:nvPr/>
        </p:nvSpPr>
        <p:spPr>
          <a:xfrm>
            <a:off x="999902" y="4115470"/>
            <a:ext cx="485975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organize complex information?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28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28"/>
          <p:cNvSpPr/>
          <p:nvPr/>
        </p:nvSpPr>
        <p:spPr>
          <a:xfrm>
            <a:off x="999902" y="4563963"/>
            <a:ext cx="373948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features help my reader?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28"/>
          <p:cNvSpPr/>
          <p:nvPr/>
        </p:nvSpPr>
        <p:spPr>
          <a:xfrm>
            <a:off x="6167289" y="3496419"/>
            <a:ext cx="5443761" cy="2265908"/>
          </a:xfrm>
          <a:prstGeom prst="roundRect">
            <a:avLst>
              <a:gd fmla="val 588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28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28"/>
          <p:cNvSpPr/>
          <p:nvPr/>
        </p:nvSpPr>
        <p:spPr>
          <a:xfrm>
            <a:off x="6424464" y="4115470"/>
            <a:ext cx="148790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28"/>
          <p:cNvSpPr/>
          <p:nvPr/>
        </p:nvSpPr>
        <p:spPr>
          <a:xfrm>
            <a:off x="6586389" y="4182145"/>
            <a:ext cx="124025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informative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28"/>
          <p:cNvSpPr/>
          <p:nvPr/>
        </p:nvSpPr>
        <p:spPr>
          <a:xfrm>
            <a:off x="7998098" y="4115470"/>
            <a:ext cx="155443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28"/>
          <p:cNvSpPr/>
          <p:nvPr/>
        </p:nvSpPr>
        <p:spPr>
          <a:xfrm>
            <a:off x="8160023" y="4182145"/>
            <a:ext cx="130678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explanatory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28"/>
          <p:cNvSpPr/>
          <p:nvPr/>
        </p:nvSpPr>
        <p:spPr>
          <a:xfrm>
            <a:off x="6424464" y="4619997"/>
            <a:ext cx="213687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28"/>
          <p:cNvSpPr/>
          <p:nvPr/>
        </p:nvSpPr>
        <p:spPr>
          <a:xfrm>
            <a:off x="6586389" y="4686672"/>
            <a:ext cx="18892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precise language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28"/>
          <p:cNvSpPr/>
          <p:nvPr/>
        </p:nvSpPr>
        <p:spPr>
          <a:xfrm>
            <a:off x="8647063" y="4619997"/>
            <a:ext cx="197747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28"/>
          <p:cNvSpPr/>
          <p:nvPr/>
        </p:nvSpPr>
        <p:spPr>
          <a:xfrm>
            <a:off x="8808988" y="4686672"/>
            <a:ext cx="172982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domain-specific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28"/>
          <p:cNvSpPr/>
          <p:nvPr/>
        </p:nvSpPr>
        <p:spPr>
          <a:xfrm>
            <a:off x="6424464" y="5124524"/>
            <a:ext cx="138209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28"/>
          <p:cNvSpPr/>
          <p:nvPr/>
        </p:nvSpPr>
        <p:spPr>
          <a:xfrm>
            <a:off x="6586389" y="5191199"/>
            <a:ext cx="113444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formatting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28"/>
          <p:cNvSpPr/>
          <p:nvPr/>
        </p:nvSpPr>
        <p:spPr>
          <a:xfrm>
            <a:off x="533326" y="5952753"/>
            <a:ext cx="11077724" cy="2927821"/>
          </a:xfrm>
          <a:prstGeom prst="roundRect">
            <a:avLst>
              <a:gd fmla="val 455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28"/>
          <p:cNvSpPr/>
          <p:nvPr/>
        </p:nvSpPr>
        <p:spPr>
          <a:xfrm>
            <a:off x="809476" y="6171754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28"/>
          <p:cNvSpPr/>
          <p:nvPr/>
        </p:nvSpPr>
        <p:spPr>
          <a:xfrm>
            <a:off x="809476" y="660037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28"/>
          <p:cNvSpPr/>
          <p:nvPr/>
        </p:nvSpPr>
        <p:spPr>
          <a:xfrm>
            <a:off x="1247477" y="6571804"/>
            <a:ext cx="738884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Introduce a topic and group related information in paragraphs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28"/>
          <p:cNvSpPr/>
          <p:nvPr/>
        </p:nvSpPr>
        <p:spPr>
          <a:xfrm>
            <a:off x="809476" y="703927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28"/>
          <p:cNvSpPr/>
          <p:nvPr/>
        </p:nvSpPr>
        <p:spPr>
          <a:xfrm>
            <a:off x="1247477" y="7010698"/>
            <a:ext cx="757032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Develop the topic with facts, definitions, details, and quotations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28"/>
          <p:cNvSpPr/>
          <p:nvPr/>
        </p:nvSpPr>
        <p:spPr>
          <a:xfrm>
            <a:off x="809476" y="747816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28"/>
          <p:cNvSpPr/>
          <p:nvPr/>
        </p:nvSpPr>
        <p:spPr>
          <a:xfrm>
            <a:off x="1247477" y="7449592"/>
            <a:ext cx="433031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Link ideas using words and phrases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28"/>
          <p:cNvSpPr/>
          <p:nvPr/>
        </p:nvSpPr>
        <p:spPr>
          <a:xfrm>
            <a:off x="809476" y="791706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28"/>
          <p:cNvSpPr/>
          <p:nvPr/>
        </p:nvSpPr>
        <p:spPr>
          <a:xfrm>
            <a:off x="1247477" y="7888486"/>
            <a:ext cx="652543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precise language and domain-specific vocabulary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28"/>
          <p:cNvSpPr/>
          <p:nvPr/>
        </p:nvSpPr>
        <p:spPr>
          <a:xfrm>
            <a:off x="809476" y="835595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28"/>
          <p:cNvSpPr/>
          <p:nvPr/>
        </p:nvSpPr>
        <p:spPr>
          <a:xfrm>
            <a:off x="1247477" y="8327380"/>
            <a:ext cx="505670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Provide a concluding statement or section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28"/>
          <p:cNvSpPr/>
          <p:nvPr/>
        </p:nvSpPr>
        <p:spPr>
          <a:xfrm>
            <a:off x="533326" y="9071000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28"/>
          <p:cNvSpPr/>
          <p:nvPr/>
        </p:nvSpPr>
        <p:spPr>
          <a:xfrm>
            <a:off x="533326" y="9071000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28"/>
          <p:cNvSpPr/>
          <p:nvPr/>
        </p:nvSpPr>
        <p:spPr>
          <a:xfrm>
            <a:off x="895201" y="9261425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28"/>
          <p:cNvSpPr/>
          <p:nvPr/>
        </p:nvSpPr>
        <p:spPr>
          <a:xfrm>
            <a:off x="895201" y="9623301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dump every fact they gathered rather than selecting what serves the reader.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28"/>
          <p:cNvSpPr/>
          <p:nvPr/>
        </p:nvSpPr>
        <p:spPr>
          <a:xfrm>
            <a:off x="533326" y="10350624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28"/>
          <p:cNvSpPr/>
          <p:nvPr/>
        </p:nvSpPr>
        <p:spPr>
          <a:xfrm>
            <a:off x="780901" y="10541050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28"/>
          <p:cNvSpPr/>
          <p:nvPr/>
        </p:nvSpPr>
        <p:spPr>
          <a:xfrm>
            <a:off x="780901" y="1096967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28"/>
          <p:cNvSpPr/>
          <p:nvPr/>
        </p:nvSpPr>
        <p:spPr>
          <a:xfrm>
            <a:off x="1218902" y="10941100"/>
            <a:ext cx="7201480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write to explain a topic with facts and precise words.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28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28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28"/>
          <p:cNvSpPr/>
          <p:nvPr/>
        </p:nvSpPr>
        <p:spPr>
          <a:xfrm>
            <a:off x="11002491" y="14897174"/>
            <a:ext cx="6847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W.4.2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29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29"/>
          <p:cNvSpPr/>
          <p:nvPr/>
        </p:nvSpPr>
        <p:spPr>
          <a:xfrm>
            <a:off x="533326" y="533326"/>
            <a:ext cx="72525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WRITING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29"/>
          <p:cNvSpPr/>
          <p:nvPr/>
        </p:nvSpPr>
        <p:spPr>
          <a:xfrm>
            <a:off x="533326" y="847651"/>
            <a:ext cx="7252558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Text Types and Purposes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29"/>
          <p:cNvSpPr/>
          <p:nvPr/>
        </p:nvSpPr>
        <p:spPr>
          <a:xfrm>
            <a:off x="10404425" y="533326"/>
            <a:ext cx="120662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29"/>
          <p:cNvSpPr/>
          <p:nvPr/>
        </p:nvSpPr>
        <p:spPr>
          <a:xfrm>
            <a:off x="10613975" y="647626"/>
            <a:ext cx="86372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W.4.3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29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29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29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29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Write narratives to develop real or imagined experiences or events using effective technique, descriptive details, and clear event sequences.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29"/>
          <p:cNvSpPr/>
          <p:nvPr/>
        </p:nvSpPr>
        <p:spPr>
          <a:xfrm>
            <a:off x="533326" y="3496419"/>
            <a:ext cx="5443538" cy="2265908"/>
          </a:xfrm>
          <a:prstGeom prst="roundRect">
            <a:avLst>
              <a:gd fmla="val 588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29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29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29"/>
          <p:cNvSpPr/>
          <p:nvPr/>
        </p:nvSpPr>
        <p:spPr>
          <a:xfrm>
            <a:off x="999902" y="4115470"/>
            <a:ext cx="325522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pace a narrative?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29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29"/>
          <p:cNvSpPr/>
          <p:nvPr/>
        </p:nvSpPr>
        <p:spPr>
          <a:xfrm>
            <a:off x="999902" y="4563963"/>
            <a:ext cx="454248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techniques develop the events?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29"/>
          <p:cNvSpPr/>
          <p:nvPr/>
        </p:nvSpPr>
        <p:spPr>
          <a:xfrm>
            <a:off x="6167289" y="3496419"/>
            <a:ext cx="5443761" cy="2265908"/>
          </a:xfrm>
          <a:prstGeom prst="roundRect">
            <a:avLst>
              <a:gd fmla="val 588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29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29"/>
          <p:cNvSpPr/>
          <p:nvPr/>
        </p:nvSpPr>
        <p:spPr>
          <a:xfrm>
            <a:off x="6424464" y="4115470"/>
            <a:ext cx="91931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29"/>
          <p:cNvSpPr/>
          <p:nvPr/>
        </p:nvSpPr>
        <p:spPr>
          <a:xfrm>
            <a:off x="6586389" y="4182145"/>
            <a:ext cx="67166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orient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29"/>
          <p:cNvSpPr/>
          <p:nvPr/>
        </p:nvSpPr>
        <p:spPr>
          <a:xfrm>
            <a:off x="7429500" y="4115470"/>
            <a:ext cx="122381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29"/>
          <p:cNvSpPr/>
          <p:nvPr/>
        </p:nvSpPr>
        <p:spPr>
          <a:xfrm>
            <a:off x="7591425" y="4182145"/>
            <a:ext cx="97616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dialogue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29"/>
          <p:cNvSpPr/>
          <p:nvPr/>
        </p:nvSpPr>
        <p:spPr>
          <a:xfrm>
            <a:off x="8739039" y="4115470"/>
            <a:ext cx="102512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29"/>
          <p:cNvSpPr/>
          <p:nvPr/>
        </p:nvSpPr>
        <p:spPr>
          <a:xfrm>
            <a:off x="8900964" y="4182145"/>
            <a:ext cx="77747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pacing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29"/>
          <p:cNvSpPr/>
          <p:nvPr/>
        </p:nvSpPr>
        <p:spPr>
          <a:xfrm>
            <a:off x="6424464" y="4619997"/>
            <a:ext cx="226881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29"/>
          <p:cNvSpPr/>
          <p:nvPr/>
        </p:nvSpPr>
        <p:spPr>
          <a:xfrm>
            <a:off x="6586389" y="4686672"/>
            <a:ext cx="202116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transitional phrase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29"/>
          <p:cNvSpPr/>
          <p:nvPr/>
        </p:nvSpPr>
        <p:spPr>
          <a:xfrm>
            <a:off x="8778999" y="4619997"/>
            <a:ext cx="179241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29"/>
          <p:cNvSpPr/>
          <p:nvPr/>
        </p:nvSpPr>
        <p:spPr>
          <a:xfrm>
            <a:off x="8940924" y="4686672"/>
            <a:ext cx="154476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sensory detail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29"/>
          <p:cNvSpPr/>
          <p:nvPr/>
        </p:nvSpPr>
        <p:spPr>
          <a:xfrm>
            <a:off x="6424464" y="5124524"/>
            <a:ext cx="144861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29"/>
          <p:cNvSpPr/>
          <p:nvPr/>
        </p:nvSpPr>
        <p:spPr>
          <a:xfrm>
            <a:off x="6586389" y="5191199"/>
            <a:ext cx="120096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29"/>
          <p:cNvSpPr/>
          <p:nvPr/>
        </p:nvSpPr>
        <p:spPr>
          <a:xfrm>
            <a:off x="533326" y="5952753"/>
            <a:ext cx="11077724" cy="2927821"/>
          </a:xfrm>
          <a:prstGeom prst="roundRect">
            <a:avLst>
              <a:gd fmla="val 455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29"/>
          <p:cNvSpPr/>
          <p:nvPr/>
        </p:nvSpPr>
        <p:spPr>
          <a:xfrm>
            <a:off x="809476" y="6171754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29"/>
          <p:cNvSpPr/>
          <p:nvPr/>
        </p:nvSpPr>
        <p:spPr>
          <a:xfrm>
            <a:off x="809476" y="660037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29"/>
          <p:cNvSpPr/>
          <p:nvPr/>
        </p:nvSpPr>
        <p:spPr>
          <a:xfrm>
            <a:off x="1247477" y="6571804"/>
            <a:ext cx="853908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Orient the reader by establishing a situation and introducing characters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29"/>
          <p:cNvSpPr/>
          <p:nvPr/>
        </p:nvSpPr>
        <p:spPr>
          <a:xfrm>
            <a:off x="809476" y="703927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29"/>
          <p:cNvSpPr/>
          <p:nvPr/>
        </p:nvSpPr>
        <p:spPr>
          <a:xfrm>
            <a:off x="1247477" y="7010698"/>
            <a:ext cx="779796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dialogue and description to develop experiences and events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29"/>
          <p:cNvSpPr/>
          <p:nvPr/>
        </p:nvSpPr>
        <p:spPr>
          <a:xfrm>
            <a:off x="809476" y="747816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29"/>
          <p:cNvSpPr/>
          <p:nvPr/>
        </p:nvSpPr>
        <p:spPr>
          <a:xfrm>
            <a:off x="1247477" y="7449592"/>
            <a:ext cx="687389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transitional words and phrases to manage sequence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29"/>
          <p:cNvSpPr/>
          <p:nvPr/>
        </p:nvSpPr>
        <p:spPr>
          <a:xfrm>
            <a:off x="809476" y="791706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29"/>
          <p:cNvSpPr/>
          <p:nvPr/>
        </p:nvSpPr>
        <p:spPr>
          <a:xfrm>
            <a:off x="1247477" y="7888486"/>
            <a:ext cx="482930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concrete words and sensory details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29"/>
          <p:cNvSpPr/>
          <p:nvPr/>
        </p:nvSpPr>
        <p:spPr>
          <a:xfrm>
            <a:off x="809476" y="835595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29"/>
          <p:cNvSpPr/>
          <p:nvPr/>
        </p:nvSpPr>
        <p:spPr>
          <a:xfrm>
            <a:off x="1247477" y="8327380"/>
            <a:ext cx="251337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Provide a conclusion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29"/>
          <p:cNvSpPr/>
          <p:nvPr/>
        </p:nvSpPr>
        <p:spPr>
          <a:xfrm>
            <a:off x="533326" y="9071000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29"/>
          <p:cNvSpPr/>
          <p:nvPr/>
        </p:nvSpPr>
        <p:spPr>
          <a:xfrm>
            <a:off x="533326" y="9071000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29"/>
          <p:cNvSpPr/>
          <p:nvPr/>
        </p:nvSpPr>
        <p:spPr>
          <a:xfrm>
            <a:off x="895201" y="9261425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29"/>
          <p:cNvSpPr/>
          <p:nvPr/>
        </p:nvSpPr>
        <p:spPr>
          <a:xfrm>
            <a:off x="895201" y="9623301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give equal time to every event, so the important moment gets no more space than the walk to school.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29"/>
          <p:cNvSpPr/>
          <p:nvPr/>
        </p:nvSpPr>
        <p:spPr>
          <a:xfrm>
            <a:off x="533326" y="10697096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29"/>
          <p:cNvSpPr/>
          <p:nvPr/>
        </p:nvSpPr>
        <p:spPr>
          <a:xfrm>
            <a:off x="780901" y="10887521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29"/>
          <p:cNvSpPr/>
          <p:nvPr/>
        </p:nvSpPr>
        <p:spPr>
          <a:xfrm>
            <a:off x="780901" y="11316146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29"/>
          <p:cNvSpPr/>
          <p:nvPr/>
        </p:nvSpPr>
        <p:spPr>
          <a:xfrm>
            <a:off x="1218902" y="11287571"/>
            <a:ext cx="795708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write a narrative with pacing, dialogue, and sensory detail.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29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29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29"/>
          <p:cNvSpPr/>
          <p:nvPr/>
        </p:nvSpPr>
        <p:spPr>
          <a:xfrm>
            <a:off x="11002491" y="14897174"/>
            <a:ext cx="6847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W.4.3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30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30"/>
          <p:cNvSpPr/>
          <p:nvPr/>
        </p:nvSpPr>
        <p:spPr>
          <a:xfrm>
            <a:off x="533326" y="533326"/>
            <a:ext cx="788562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WRITING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30"/>
          <p:cNvSpPr/>
          <p:nvPr/>
        </p:nvSpPr>
        <p:spPr>
          <a:xfrm>
            <a:off x="533326" y="847651"/>
            <a:ext cx="7885628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Production and Distribution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30"/>
          <p:cNvSpPr/>
          <p:nvPr/>
        </p:nvSpPr>
        <p:spPr>
          <a:xfrm>
            <a:off x="10404425" y="533326"/>
            <a:ext cx="120662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30"/>
          <p:cNvSpPr/>
          <p:nvPr/>
        </p:nvSpPr>
        <p:spPr>
          <a:xfrm>
            <a:off x="10613975" y="647626"/>
            <a:ext cx="86372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W.4.4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30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30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30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30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Produce clear and coherent writing in which the development and organization are appropriate to task, purpose, and audience.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30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30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30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30"/>
          <p:cNvSpPr/>
          <p:nvPr/>
        </p:nvSpPr>
        <p:spPr>
          <a:xfrm>
            <a:off x="999902" y="4115470"/>
            <a:ext cx="511711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Does my writing fit the task and audience?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30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30"/>
          <p:cNvSpPr/>
          <p:nvPr/>
        </p:nvSpPr>
        <p:spPr>
          <a:xfrm>
            <a:off x="999902" y="4563963"/>
            <a:ext cx="516303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clear and coherent mean here?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30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30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30"/>
          <p:cNvSpPr/>
          <p:nvPr/>
        </p:nvSpPr>
        <p:spPr>
          <a:xfrm>
            <a:off x="6424464" y="4115470"/>
            <a:ext cx="125015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30"/>
          <p:cNvSpPr/>
          <p:nvPr/>
        </p:nvSpPr>
        <p:spPr>
          <a:xfrm>
            <a:off x="6586389" y="4182145"/>
            <a:ext cx="100250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coherent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30"/>
          <p:cNvSpPr/>
          <p:nvPr/>
        </p:nvSpPr>
        <p:spPr>
          <a:xfrm>
            <a:off x="7760345" y="4115470"/>
            <a:ext cx="76036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30"/>
          <p:cNvSpPr/>
          <p:nvPr/>
        </p:nvSpPr>
        <p:spPr>
          <a:xfrm>
            <a:off x="7922270" y="4182145"/>
            <a:ext cx="51271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task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30"/>
          <p:cNvSpPr/>
          <p:nvPr/>
        </p:nvSpPr>
        <p:spPr>
          <a:xfrm>
            <a:off x="8606433" y="4115470"/>
            <a:ext cx="118407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30"/>
          <p:cNvSpPr/>
          <p:nvPr/>
        </p:nvSpPr>
        <p:spPr>
          <a:xfrm>
            <a:off x="8768358" y="4182145"/>
            <a:ext cx="93642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30"/>
          <p:cNvSpPr/>
          <p:nvPr/>
        </p:nvSpPr>
        <p:spPr>
          <a:xfrm>
            <a:off x="9876234" y="4115470"/>
            <a:ext cx="128989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30"/>
          <p:cNvSpPr/>
          <p:nvPr/>
        </p:nvSpPr>
        <p:spPr>
          <a:xfrm>
            <a:off x="10038159" y="4182145"/>
            <a:ext cx="104224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audience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30"/>
          <p:cNvSpPr/>
          <p:nvPr/>
        </p:nvSpPr>
        <p:spPr>
          <a:xfrm>
            <a:off x="6424464" y="4619997"/>
            <a:ext cx="81327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30"/>
          <p:cNvSpPr/>
          <p:nvPr/>
        </p:nvSpPr>
        <p:spPr>
          <a:xfrm>
            <a:off x="6586389" y="4686672"/>
            <a:ext cx="56562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style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30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30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30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30"/>
          <p:cNvSpPr/>
          <p:nvPr/>
        </p:nvSpPr>
        <p:spPr>
          <a:xfrm>
            <a:off x="1247477" y="6067276"/>
            <a:ext cx="420900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Produce clear and coherent writing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30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30"/>
          <p:cNvSpPr/>
          <p:nvPr/>
        </p:nvSpPr>
        <p:spPr>
          <a:xfrm>
            <a:off x="1247477" y="6506170"/>
            <a:ext cx="905427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Match development, organization, and style to task, purpose, and audience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30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30"/>
          <p:cNvSpPr/>
          <p:nvPr/>
        </p:nvSpPr>
        <p:spPr>
          <a:xfrm>
            <a:off x="1247477" y="6945064"/>
            <a:ext cx="257378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Revise for coherence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30"/>
          <p:cNvSpPr/>
          <p:nvPr/>
        </p:nvSpPr>
        <p:spPr>
          <a:xfrm>
            <a:off x="533326" y="7688684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30"/>
          <p:cNvSpPr/>
          <p:nvPr/>
        </p:nvSpPr>
        <p:spPr>
          <a:xfrm>
            <a:off x="533326" y="7688684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30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30"/>
          <p:cNvSpPr/>
          <p:nvPr/>
        </p:nvSpPr>
        <p:spPr>
          <a:xfrm>
            <a:off x="895201" y="8240985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equate longer with better, padding rather than developing.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30"/>
          <p:cNvSpPr/>
          <p:nvPr/>
        </p:nvSpPr>
        <p:spPr>
          <a:xfrm>
            <a:off x="533326" y="8968308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30"/>
          <p:cNvSpPr/>
          <p:nvPr/>
        </p:nvSpPr>
        <p:spPr>
          <a:xfrm>
            <a:off x="780901" y="9158734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30"/>
          <p:cNvSpPr/>
          <p:nvPr/>
        </p:nvSpPr>
        <p:spPr>
          <a:xfrm>
            <a:off x="780901" y="958735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30"/>
          <p:cNvSpPr/>
          <p:nvPr/>
        </p:nvSpPr>
        <p:spPr>
          <a:xfrm>
            <a:off x="1218902" y="9558784"/>
            <a:ext cx="5503143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write clearly for my task and audience.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30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30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30"/>
          <p:cNvSpPr/>
          <p:nvPr/>
        </p:nvSpPr>
        <p:spPr>
          <a:xfrm>
            <a:off x="11002491" y="14897174"/>
            <a:ext cx="6847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W.4.4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31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31"/>
          <p:cNvSpPr/>
          <p:nvPr/>
        </p:nvSpPr>
        <p:spPr>
          <a:xfrm>
            <a:off x="533326" y="533326"/>
            <a:ext cx="788562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WRITING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31"/>
          <p:cNvSpPr/>
          <p:nvPr/>
        </p:nvSpPr>
        <p:spPr>
          <a:xfrm>
            <a:off x="533326" y="847651"/>
            <a:ext cx="7885628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Production and Distribution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31"/>
          <p:cNvSpPr/>
          <p:nvPr/>
        </p:nvSpPr>
        <p:spPr>
          <a:xfrm>
            <a:off x="10404425" y="533326"/>
            <a:ext cx="120662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31"/>
          <p:cNvSpPr/>
          <p:nvPr/>
        </p:nvSpPr>
        <p:spPr>
          <a:xfrm>
            <a:off x="10613975" y="647626"/>
            <a:ext cx="86372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W.4.5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31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31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31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31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With guidance and support from peers and adults, develop and strengthen writing by planning, revising, editing, and rewriting.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31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31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p31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31"/>
          <p:cNvSpPr/>
          <p:nvPr/>
        </p:nvSpPr>
        <p:spPr>
          <a:xfrm>
            <a:off x="999902" y="4115470"/>
            <a:ext cx="281541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is worth revising?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p31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31"/>
          <p:cNvSpPr/>
          <p:nvPr/>
        </p:nvSpPr>
        <p:spPr>
          <a:xfrm>
            <a:off x="999902" y="4563963"/>
            <a:ext cx="346715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use feedback well?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31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31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31"/>
          <p:cNvSpPr/>
          <p:nvPr/>
        </p:nvSpPr>
        <p:spPr>
          <a:xfrm>
            <a:off x="6424464" y="4115470"/>
            <a:ext cx="77375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31"/>
          <p:cNvSpPr/>
          <p:nvPr/>
        </p:nvSpPr>
        <p:spPr>
          <a:xfrm>
            <a:off x="6586389" y="4182145"/>
            <a:ext cx="52610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plan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31"/>
          <p:cNvSpPr/>
          <p:nvPr/>
        </p:nvSpPr>
        <p:spPr>
          <a:xfrm>
            <a:off x="7283946" y="4115470"/>
            <a:ext cx="95882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31"/>
          <p:cNvSpPr/>
          <p:nvPr/>
        </p:nvSpPr>
        <p:spPr>
          <a:xfrm>
            <a:off x="7445871" y="4182145"/>
            <a:ext cx="71117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revise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31"/>
          <p:cNvSpPr/>
          <p:nvPr/>
        </p:nvSpPr>
        <p:spPr>
          <a:xfrm>
            <a:off x="8328496" y="4115470"/>
            <a:ext cx="70767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31"/>
          <p:cNvSpPr/>
          <p:nvPr/>
        </p:nvSpPr>
        <p:spPr>
          <a:xfrm>
            <a:off x="8490421" y="4182145"/>
            <a:ext cx="46002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edit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31"/>
          <p:cNvSpPr/>
          <p:nvPr/>
        </p:nvSpPr>
        <p:spPr>
          <a:xfrm>
            <a:off x="9121899" y="4115470"/>
            <a:ext cx="103807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31"/>
          <p:cNvSpPr/>
          <p:nvPr/>
        </p:nvSpPr>
        <p:spPr>
          <a:xfrm>
            <a:off x="9283824" y="4182145"/>
            <a:ext cx="79042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rewrite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31"/>
          <p:cNvSpPr/>
          <p:nvPr/>
        </p:nvSpPr>
        <p:spPr>
          <a:xfrm>
            <a:off x="6424464" y="4619997"/>
            <a:ext cx="128989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31"/>
          <p:cNvSpPr/>
          <p:nvPr/>
        </p:nvSpPr>
        <p:spPr>
          <a:xfrm>
            <a:off x="6586389" y="4686672"/>
            <a:ext cx="104224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feedback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31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31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31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31"/>
          <p:cNvSpPr/>
          <p:nvPr/>
        </p:nvSpPr>
        <p:spPr>
          <a:xfrm>
            <a:off x="1247477" y="6067276"/>
            <a:ext cx="525340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Plan, revise, edit, and rewrite with guidance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31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31"/>
          <p:cNvSpPr/>
          <p:nvPr/>
        </p:nvSpPr>
        <p:spPr>
          <a:xfrm>
            <a:off x="1247477" y="6506170"/>
            <a:ext cx="410832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Try a new approach when needed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31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31"/>
          <p:cNvSpPr/>
          <p:nvPr/>
        </p:nvSpPr>
        <p:spPr>
          <a:xfrm>
            <a:off x="1247477" y="6945064"/>
            <a:ext cx="348262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peer and adult feedback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31"/>
          <p:cNvSpPr/>
          <p:nvPr/>
        </p:nvSpPr>
        <p:spPr>
          <a:xfrm>
            <a:off x="533326" y="7688684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31"/>
          <p:cNvSpPr/>
          <p:nvPr/>
        </p:nvSpPr>
        <p:spPr>
          <a:xfrm>
            <a:off x="533326" y="7688684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31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31"/>
          <p:cNvSpPr/>
          <p:nvPr/>
        </p:nvSpPr>
        <p:spPr>
          <a:xfrm>
            <a:off x="895201" y="8240985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Revision stops at fixing spelling. Real revision reorganizes, cuts, and adds.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31"/>
          <p:cNvSpPr/>
          <p:nvPr/>
        </p:nvSpPr>
        <p:spPr>
          <a:xfrm>
            <a:off x="533326" y="8968308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31"/>
          <p:cNvSpPr/>
          <p:nvPr/>
        </p:nvSpPr>
        <p:spPr>
          <a:xfrm>
            <a:off x="780901" y="9158734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31"/>
          <p:cNvSpPr/>
          <p:nvPr/>
        </p:nvSpPr>
        <p:spPr>
          <a:xfrm>
            <a:off x="780901" y="958735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31"/>
          <p:cNvSpPr/>
          <p:nvPr/>
        </p:nvSpPr>
        <p:spPr>
          <a:xfrm>
            <a:off x="1218902" y="9558784"/>
            <a:ext cx="5282625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revise my writing to make it stronger.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31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31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31"/>
          <p:cNvSpPr/>
          <p:nvPr/>
        </p:nvSpPr>
        <p:spPr>
          <a:xfrm>
            <a:off x="11002491" y="14897174"/>
            <a:ext cx="6847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W.4.5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32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32"/>
          <p:cNvSpPr/>
          <p:nvPr/>
        </p:nvSpPr>
        <p:spPr>
          <a:xfrm>
            <a:off x="533326" y="533326"/>
            <a:ext cx="788562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WRITING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5" name="Google Shape;1485;p32"/>
          <p:cNvSpPr/>
          <p:nvPr/>
        </p:nvSpPr>
        <p:spPr>
          <a:xfrm>
            <a:off x="533326" y="847651"/>
            <a:ext cx="7885628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Production and Distribution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p32"/>
          <p:cNvSpPr/>
          <p:nvPr/>
        </p:nvSpPr>
        <p:spPr>
          <a:xfrm>
            <a:off x="10404425" y="533326"/>
            <a:ext cx="120662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32"/>
          <p:cNvSpPr/>
          <p:nvPr/>
        </p:nvSpPr>
        <p:spPr>
          <a:xfrm>
            <a:off x="10613975" y="647626"/>
            <a:ext cx="86372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W.4.6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32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32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32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32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With some guidance and support from adults, use technology to produce and publish writing and to interact and collaborate with others.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32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32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4" name="Google Shape;1494;p32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32"/>
          <p:cNvSpPr/>
          <p:nvPr/>
        </p:nvSpPr>
        <p:spPr>
          <a:xfrm>
            <a:off x="999902" y="4115470"/>
            <a:ext cx="460265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technology support writing?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p32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32"/>
          <p:cNvSpPr/>
          <p:nvPr/>
        </p:nvSpPr>
        <p:spPr>
          <a:xfrm>
            <a:off x="999902" y="4563963"/>
            <a:ext cx="391629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collaborate effectively?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8" name="Google Shape;1498;p32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32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32"/>
          <p:cNvSpPr/>
          <p:nvPr/>
        </p:nvSpPr>
        <p:spPr>
          <a:xfrm>
            <a:off x="6424464" y="4115470"/>
            <a:ext cx="107803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32"/>
          <p:cNvSpPr/>
          <p:nvPr/>
        </p:nvSpPr>
        <p:spPr>
          <a:xfrm>
            <a:off x="6586389" y="4182145"/>
            <a:ext cx="83038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publish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32"/>
          <p:cNvSpPr/>
          <p:nvPr/>
        </p:nvSpPr>
        <p:spPr>
          <a:xfrm>
            <a:off x="7588225" y="4115470"/>
            <a:ext cx="148835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32"/>
          <p:cNvSpPr/>
          <p:nvPr/>
        </p:nvSpPr>
        <p:spPr>
          <a:xfrm>
            <a:off x="7750150" y="4182145"/>
            <a:ext cx="124070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collaborate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p32"/>
          <p:cNvSpPr/>
          <p:nvPr/>
        </p:nvSpPr>
        <p:spPr>
          <a:xfrm>
            <a:off x="9162306" y="4115470"/>
            <a:ext cx="162073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32"/>
          <p:cNvSpPr/>
          <p:nvPr/>
        </p:nvSpPr>
        <p:spPr>
          <a:xfrm>
            <a:off x="9324231" y="4182145"/>
            <a:ext cx="137308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keyboarding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6" name="Google Shape;1506;p32"/>
          <p:cNvSpPr/>
          <p:nvPr/>
        </p:nvSpPr>
        <p:spPr>
          <a:xfrm>
            <a:off x="6424464" y="4619997"/>
            <a:ext cx="147518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32"/>
          <p:cNvSpPr/>
          <p:nvPr/>
        </p:nvSpPr>
        <p:spPr>
          <a:xfrm>
            <a:off x="6586389" y="4686672"/>
            <a:ext cx="122753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technology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p32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32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0" name="Google Shape;1510;p32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32"/>
          <p:cNvSpPr/>
          <p:nvPr/>
        </p:nvSpPr>
        <p:spPr>
          <a:xfrm>
            <a:off x="1247477" y="6067276"/>
            <a:ext cx="557190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technology to produce and publish writing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2" name="Google Shape;1512;p32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32"/>
          <p:cNvSpPr/>
          <p:nvPr/>
        </p:nvSpPr>
        <p:spPr>
          <a:xfrm>
            <a:off x="1247477" y="6506170"/>
            <a:ext cx="423921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Interact and collaborate with others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32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32"/>
          <p:cNvSpPr/>
          <p:nvPr/>
        </p:nvSpPr>
        <p:spPr>
          <a:xfrm>
            <a:off x="1247477" y="6945064"/>
            <a:ext cx="767124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Demonstrate sufficient keyboarding to type a page in one sitting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6" name="Google Shape;1516;p32"/>
          <p:cNvSpPr/>
          <p:nvPr/>
        </p:nvSpPr>
        <p:spPr>
          <a:xfrm>
            <a:off x="533326" y="7688684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7" name="Google Shape;1517;p32"/>
          <p:cNvSpPr/>
          <p:nvPr/>
        </p:nvSpPr>
        <p:spPr>
          <a:xfrm>
            <a:off x="533326" y="7688684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8" name="Google Shape;1518;p32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p32"/>
          <p:cNvSpPr/>
          <p:nvPr/>
        </p:nvSpPr>
        <p:spPr>
          <a:xfrm>
            <a:off x="895201" y="8240985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Keyboarding speed becomes the bottleneck on composition and needs its own practice time.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32"/>
          <p:cNvSpPr/>
          <p:nvPr/>
        </p:nvSpPr>
        <p:spPr>
          <a:xfrm>
            <a:off x="533326" y="8968308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1" name="Google Shape;1521;p32"/>
          <p:cNvSpPr/>
          <p:nvPr/>
        </p:nvSpPr>
        <p:spPr>
          <a:xfrm>
            <a:off x="780901" y="9158734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32"/>
          <p:cNvSpPr/>
          <p:nvPr/>
        </p:nvSpPr>
        <p:spPr>
          <a:xfrm>
            <a:off x="780901" y="958735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32"/>
          <p:cNvSpPr/>
          <p:nvPr/>
        </p:nvSpPr>
        <p:spPr>
          <a:xfrm>
            <a:off x="1218902" y="9558784"/>
            <a:ext cx="680931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use technology to write, publish, and collaborate.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4" name="Google Shape;1524;p32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32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32"/>
          <p:cNvSpPr/>
          <p:nvPr/>
        </p:nvSpPr>
        <p:spPr>
          <a:xfrm>
            <a:off x="11002491" y="14897174"/>
            <a:ext cx="6847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W.4.6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33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33"/>
          <p:cNvSpPr/>
          <p:nvPr/>
        </p:nvSpPr>
        <p:spPr>
          <a:xfrm>
            <a:off x="533326" y="533326"/>
            <a:ext cx="59355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WRITING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33"/>
          <p:cNvSpPr/>
          <p:nvPr/>
        </p:nvSpPr>
        <p:spPr>
          <a:xfrm>
            <a:off x="533326" y="847651"/>
            <a:ext cx="593558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Research and Range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p33"/>
          <p:cNvSpPr/>
          <p:nvPr/>
        </p:nvSpPr>
        <p:spPr>
          <a:xfrm>
            <a:off x="10404425" y="533326"/>
            <a:ext cx="120662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33"/>
          <p:cNvSpPr/>
          <p:nvPr/>
        </p:nvSpPr>
        <p:spPr>
          <a:xfrm>
            <a:off x="10613975" y="647626"/>
            <a:ext cx="86372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W.4.7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33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33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p33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33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Conduct short research projects that build knowledge through investigation of different aspects of a topic.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33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33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33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4" name="Google Shape;1544;p33"/>
          <p:cNvSpPr/>
          <p:nvPr/>
        </p:nvSpPr>
        <p:spPr>
          <a:xfrm>
            <a:off x="999902" y="4115470"/>
            <a:ext cx="364838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aspect will I investigate?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33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6" name="Google Shape;1546;p33"/>
          <p:cNvSpPr/>
          <p:nvPr/>
        </p:nvSpPr>
        <p:spPr>
          <a:xfrm>
            <a:off x="999902" y="4563963"/>
            <a:ext cx="367883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narrow my question?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33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33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33"/>
          <p:cNvSpPr/>
          <p:nvPr/>
        </p:nvSpPr>
        <p:spPr>
          <a:xfrm>
            <a:off x="6424464" y="4115470"/>
            <a:ext cx="124993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33"/>
          <p:cNvSpPr/>
          <p:nvPr/>
        </p:nvSpPr>
        <p:spPr>
          <a:xfrm>
            <a:off x="6586389" y="4182145"/>
            <a:ext cx="100228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33"/>
          <p:cNvSpPr/>
          <p:nvPr/>
        </p:nvSpPr>
        <p:spPr>
          <a:xfrm>
            <a:off x="7760122" y="4115470"/>
            <a:ext cx="146179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33"/>
          <p:cNvSpPr/>
          <p:nvPr/>
        </p:nvSpPr>
        <p:spPr>
          <a:xfrm>
            <a:off x="7922047" y="4182145"/>
            <a:ext cx="121414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investigate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33"/>
          <p:cNvSpPr/>
          <p:nvPr/>
        </p:nvSpPr>
        <p:spPr>
          <a:xfrm>
            <a:off x="9307637" y="4115470"/>
            <a:ext cx="102512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33"/>
          <p:cNvSpPr/>
          <p:nvPr/>
        </p:nvSpPr>
        <p:spPr>
          <a:xfrm>
            <a:off x="9469562" y="4182145"/>
            <a:ext cx="77747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aspect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33"/>
          <p:cNvSpPr/>
          <p:nvPr/>
        </p:nvSpPr>
        <p:spPr>
          <a:xfrm>
            <a:off x="6424464" y="4619997"/>
            <a:ext cx="122381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33"/>
          <p:cNvSpPr/>
          <p:nvPr/>
        </p:nvSpPr>
        <p:spPr>
          <a:xfrm>
            <a:off x="6586389" y="4686672"/>
            <a:ext cx="97616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question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33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33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33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Google Shape;1560;p33"/>
          <p:cNvSpPr/>
          <p:nvPr/>
        </p:nvSpPr>
        <p:spPr>
          <a:xfrm>
            <a:off x="1247477" y="6067276"/>
            <a:ext cx="386030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Conduct short research projects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33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33"/>
          <p:cNvSpPr/>
          <p:nvPr/>
        </p:nvSpPr>
        <p:spPr>
          <a:xfrm>
            <a:off x="1247477" y="6506170"/>
            <a:ext cx="812579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Build knowledge through investigation of different aspects of a topic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33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33"/>
          <p:cNvSpPr/>
          <p:nvPr/>
        </p:nvSpPr>
        <p:spPr>
          <a:xfrm>
            <a:off x="1247477" y="6945064"/>
            <a:ext cx="334584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Narrow a research question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33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33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33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33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Questions are chosen that can be answered with a single fact, which does not sustain a project.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33"/>
          <p:cNvSpPr/>
          <p:nvPr/>
        </p:nvSpPr>
        <p:spPr>
          <a:xfrm>
            <a:off x="533326" y="9314780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33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33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33"/>
          <p:cNvSpPr/>
          <p:nvPr/>
        </p:nvSpPr>
        <p:spPr>
          <a:xfrm>
            <a:off x="1218902" y="9905256"/>
            <a:ext cx="524701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research different aspects of a topic.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3" name="Google Shape;1573;p33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33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33"/>
          <p:cNvSpPr/>
          <p:nvPr/>
        </p:nvSpPr>
        <p:spPr>
          <a:xfrm>
            <a:off x="11002491" y="14897174"/>
            <a:ext cx="6847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W.4.7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34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34"/>
          <p:cNvSpPr/>
          <p:nvPr/>
        </p:nvSpPr>
        <p:spPr>
          <a:xfrm>
            <a:off x="533326" y="533326"/>
            <a:ext cx="59355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WRITING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34"/>
          <p:cNvSpPr/>
          <p:nvPr/>
        </p:nvSpPr>
        <p:spPr>
          <a:xfrm>
            <a:off x="533326" y="847651"/>
            <a:ext cx="593558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Research and Range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34"/>
          <p:cNvSpPr/>
          <p:nvPr/>
        </p:nvSpPr>
        <p:spPr>
          <a:xfrm>
            <a:off x="10404425" y="533326"/>
            <a:ext cx="120662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34"/>
          <p:cNvSpPr/>
          <p:nvPr/>
        </p:nvSpPr>
        <p:spPr>
          <a:xfrm>
            <a:off x="10613975" y="647626"/>
            <a:ext cx="86372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W.4.8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34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34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34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34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Recall relevant information from experiences or gather relevant information from print and digital sources; take notes and provide a list of sources.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0" name="Google Shape;1590;p34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34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34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34"/>
          <p:cNvSpPr/>
          <p:nvPr/>
        </p:nvSpPr>
        <p:spPr>
          <a:xfrm>
            <a:off x="999902" y="4115470"/>
            <a:ext cx="268011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paraphrase?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34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34"/>
          <p:cNvSpPr/>
          <p:nvPr/>
        </p:nvSpPr>
        <p:spPr>
          <a:xfrm>
            <a:off x="999902" y="4563963"/>
            <a:ext cx="308848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credit a source?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p34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34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34"/>
          <p:cNvSpPr/>
          <p:nvPr/>
        </p:nvSpPr>
        <p:spPr>
          <a:xfrm>
            <a:off x="6424464" y="4115470"/>
            <a:ext cx="152809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34"/>
          <p:cNvSpPr/>
          <p:nvPr/>
        </p:nvSpPr>
        <p:spPr>
          <a:xfrm>
            <a:off x="6586389" y="4182145"/>
            <a:ext cx="128044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paraphrase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34"/>
          <p:cNvSpPr/>
          <p:nvPr/>
        </p:nvSpPr>
        <p:spPr>
          <a:xfrm>
            <a:off x="8038281" y="4115470"/>
            <a:ext cx="142205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34"/>
          <p:cNvSpPr/>
          <p:nvPr/>
        </p:nvSpPr>
        <p:spPr>
          <a:xfrm>
            <a:off x="8200206" y="4182145"/>
            <a:ext cx="117440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categorize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34"/>
          <p:cNvSpPr/>
          <p:nvPr/>
        </p:nvSpPr>
        <p:spPr>
          <a:xfrm>
            <a:off x="9546059" y="4115470"/>
            <a:ext cx="139526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34"/>
          <p:cNvSpPr/>
          <p:nvPr/>
        </p:nvSpPr>
        <p:spPr>
          <a:xfrm>
            <a:off x="9707984" y="4182145"/>
            <a:ext cx="114761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source list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4" name="Google Shape;1604;p34"/>
          <p:cNvSpPr/>
          <p:nvPr/>
        </p:nvSpPr>
        <p:spPr>
          <a:xfrm>
            <a:off x="6424464" y="4619997"/>
            <a:ext cx="117068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34"/>
          <p:cNvSpPr/>
          <p:nvPr/>
        </p:nvSpPr>
        <p:spPr>
          <a:xfrm>
            <a:off x="6586389" y="4686672"/>
            <a:ext cx="92303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relevant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34"/>
          <p:cNvSpPr/>
          <p:nvPr/>
        </p:nvSpPr>
        <p:spPr>
          <a:xfrm>
            <a:off x="7680871" y="4619997"/>
            <a:ext cx="140843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34"/>
          <p:cNvSpPr/>
          <p:nvPr/>
        </p:nvSpPr>
        <p:spPr>
          <a:xfrm>
            <a:off x="7842796" y="4686672"/>
            <a:ext cx="116078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plagiarism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34"/>
          <p:cNvSpPr/>
          <p:nvPr/>
        </p:nvSpPr>
        <p:spPr>
          <a:xfrm>
            <a:off x="533326" y="5448226"/>
            <a:ext cx="11077724" cy="2488927"/>
          </a:xfrm>
          <a:prstGeom prst="roundRect">
            <a:avLst>
              <a:gd fmla="val 535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34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34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34"/>
          <p:cNvSpPr/>
          <p:nvPr/>
        </p:nvSpPr>
        <p:spPr>
          <a:xfrm>
            <a:off x="1247477" y="6067276"/>
            <a:ext cx="525315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Recall relevant information from experience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2" name="Google Shape;1612;p34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34"/>
          <p:cNvSpPr/>
          <p:nvPr/>
        </p:nvSpPr>
        <p:spPr>
          <a:xfrm>
            <a:off x="1247477" y="6506170"/>
            <a:ext cx="687291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Gather relevant information from print and digital sources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34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34"/>
          <p:cNvSpPr/>
          <p:nvPr/>
        </p:nvSpPr>
        <p:spPr>
          <a:xfrm>
            <a:off x="1247477" y="6945064"/>
            <a:ext cx="620767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Take notes, paraphrase, and categorize information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34"/>
          <p:cNvSpPr/>
          <p:nvPr/>
        </p:nvSpPr>
        <p:spPr>
          <a:xfrm>
            <a:off x="809476" y="741253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34"/>
          <p:cNvSpPr/>
          <p:nvPr/>
        </p:nvSpPr>
        <p:spPr>
          <a:xfrm>
            <a:off x="1247477" y="7383959"/>
            <a:ext cx="289154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Provide a list of sources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34"/>
          <p:cNvSpPr/>
          <p:nvPr/>
        </p:nvSpPr>
        <p:spPr>
          <a:xfrm>
            <a:off x="533326" y="8127578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34"/>
          <p:cNvSpPr/>
          <p:nvPr/>
        </p:nvSpPr>
        <p:spPr>
          <a:xfrm>
            <a:off x="533326" y="8127578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34"/>
          <p:cNvSpPr/>
          <p:nvPr/>
        </p:nvSpPr>
        <p:spPr>
          <a:xfrm>
            <a:off x="895201" y="831800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34"/>
          <p:cNvSpPr/>
          <p:nvPr/>
        </p:nvSpPr>
        <p:spPr>
          <a:xfrm>
            <a:off x="895201" y="8679879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Paraphrasing becomes swapping a few synonyms while keeping the original sentence structure.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34"/>
          <p:cNvSpPr/>
          <p:nvPr/>
        </p:nvSpPr>
        <p:spPr>
          <a:xfrm>
            <a:off x="533326" y="9753674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34"/>
          <p:cNvSpPr/>
          <p:nvPr/>
        </p:nvSpPr>
        <p:spPr>
          <a:xfrm>
            <a:off x="780901" y="9944100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34"/>
          <p:cNvSpPr/>
          <p:nvPr/>
        </p:nvSpPr>
        <p:spPr>
          <a:xfrm>
            <a:off x="780901" y="103727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34"/>
          <p:cNvSpPr/>
          <p:nvPr/>
        </p:nvSpPr>
        <p:spPr>
          <a:xfrm>
            <a:off x="1218902" y="10344150"/>
            <a:ext cx="676093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take notes in my own words and list my sources.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p34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34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34"/>
          <p:cNvSpPr/>
          <p:nvPr/>
        </p:nvSpPr>
        <p:spPr>
          <a:xfrm>
            <a:off x="11002491" y="14897174"/>
            <a:ext cx="6847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W.4.8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35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35"/>
          <p:cNvSpPr/>
          <p:nvPr/>
        </p:nvSpPr>
        <p:spPr>
          <a:xfrm>
            <a:off x="533326" y="533326"/>
            <a:ext cx="59355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WRITING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35"/>
          <p:cNvSpPr/>
          <p:nvPr/>
        </p:nvSpPr>
        <p:spPr>
          <a:xfrm>
            <a:off x="533326" y="847651"/>
            <a:ext cx="593558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Research and Range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35"/>
          <p:cNvSpPr/>
          <p:nvPr/>
        </p:nvSpPr>
        <p:spPr>
          <a:xfrm>
            <a:off x="10404425" y="533326"/>
            <a:ext cx="120662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35"/>
          <p:cNvSpPr/>
          <p:nvPr/>
        </p:nvSpPr>
        <p:spPr>
          <a:xfrm>
            <a:off x="10613975" y="647626"/>
            <a:ext cx="86372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W.4.9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p35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35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35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35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Draw evidence from literary or informational texts to support analysis, reflection, and research.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p35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35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5" name="Google Shape;1645;p35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6" name="Google Shape;1646;p35"/>
          <p:cNvSpPr/>
          <p:nvPr/>
        </p:nvSpPr>
        <p:spPr>
          <a:xfrm>
            <a:off x="999902" y="4115470"/>
            <a:ext cx="457195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evidence supports my analysis?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7" name="Google Shape;1647;p35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35"/>
          <p:cNvSpPr/>
          <p:nvPr/>
        </p:nvSpPr>
        <p:spPr>
          <a:xfrm>
            <a:off x="999902" y="4563963"/>
            <a:ext cx="316486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use a quotation?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p35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35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1" name="Google Shape;1651;p35"/>
          <p:cNvSpPr/>
          <p:nvPr/>
        </p:nvSpPr>
        <p:spPr>
          <a:xfrm>
            <a:off x="6424464" y="4115470"/>
            <a:ext cx="127672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35"/>
          <p:cNvSpPr/>
          <p:nvPr/>
        </p:nvSpPr>
        <p:spPr>
          <a:xfrm>
            <a:off x="6586389" y="4182145"/>
            <a:ext cx="102907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35"/>
          <p:cNvSpPr/>
          <p:nvPr/>
        </p:nvSpPr>
        <p:spPr>
          <a:xfrm>
            <a:off x="7786911" y="4115470"/>
            <a:ext cx="118385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35"/>
          <p:cNvSpPr/>
          <p:nvPr/>
        </p:nvSpPr>
        <p:spPr>
          <a:xfrm>
            <a:off x="7948836" y="4182145"/>
            <a:ext cx="93620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35"/>
          <p:cNvSpPr/>
          <p:nvPr/>
        </p:nvSpPr>
        <p:spPr>
          <a:xfrm>
            <a:off x="9056489" y="4115470"/>
            <a:ext cx="128967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6" name="Google Shape;1656;p35"/>
          <p:cNvSpPr/>
          <p:nvPr/>
        </p:nvSpPr>
        <p:spPr>
          <a:xfrm>
            <a:off x="9218414" y="4182145"/>
            <a:ext cx="104202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reflection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p35"/>
          <p:cNvSpPr/>
          <p:nvPr/>
        </p:nvSpPr>
        <p:spPr>
          <a:xfrm>
            <a:off x="10431884" y="4115470"/>
            <a:ext cx="69428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8" name="Google Shape;1658;p35"/>
          <p:cNvSpPr/>
          <p:nvPr/>
        </p:nvSpPr>
        <p:spPr>
          <a:xfrm>
            <a:off x="10593809" y="4182145"/>
            <a:ext cx="44663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cite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35"/>
          <p:cNvSpPr/>
          <p:nvPr/>
        </p:nvSpPr>
        <p:spPr>
          <a:xfrm>
            <a:off x="6424464" y="4619997"/>
            <a:ext cx="130328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0" name="Google Shape;1660;p35"/>
          <p:cNvSpPr/>
          <p:nvPr/>
        </p:nvSpPr>
        <p:spPr>
          <a:xfrm>
            <a:off x="6586389" y="4686672"/>
            <a:ext cx="105563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quotation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35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p35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3" name="Google Shape;1663;p35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4" name="Google Shape;1664;p35"/>
          <p:cNvSpPr/>
          <p:nvPr/>
        </p:nvSpPr>
        <p:spPr>
          <a:xfrm>
            <a:off x="1247477" y="6067276"/>
            <a:ext cx="802314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Draw evidence from literary texts to support analysis and reflection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35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35"/>
          <p:cNvSpPr/>
          <p:nvPr/>
        </p:nvSpPr>
        <p:spPr>
          <a:xfrm>
            <a:off x="1247477" y="6506170"/>
            <a:ext cx="470775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Draw evidence from informational texts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p35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35"/>
          <p:cNvSpPr/>
          <p:nvPr/>
        </p:nvSpPr>
        <p:spPr>
          <a:xfrm>
            <a:off x="1247477" y="6945064"/>
            <a:ext cx="510237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Apply grade 4 reading standards to writing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9" name="Google Shape;1669;p35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0" name="Google Shape;1670;p35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35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2" name="Google Shape;1672;p35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Quotations are dropped in without introduction or explanation, leaving the reader to connect them.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3" name="Google Shape;1673;p35"/>
          <p:cNvSpPr/>
          <p:nvPr/>
        </p:nvSpPr>
        <p:spPr>
          <a:xfrm>
            <a:off x="533326" y="9314780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35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5" name="Google Shape;1675;p35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p35"/>
          <p:cNvSpPr/>
          <p:nvPr/>
        </p:nvSpPr>
        <p:spPr>
          <a:xfrm>
            <a:off x="1218902" y="9905256"/>
            <a:ext cx="654115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use evidence from a text to support my writing.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7" name="Google Shape;1677;p35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35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35"/>
          <p:cNvSpPr/>
          <p:nvPr/>
        </p:nvSpPr>
        <p:spPr>
          <a:xfrm>
            <a:off x="11002491" y="14897174"/>
            <a:ext cx="6847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W.4.9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p36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36"/>
          <p:cNvSpPr/>
          <p:nvPr/>
        </p:nvSpPr>
        <p:spPr>
          <a:xfrm>
            <a:off x="533326" y="533326"/>
            <a:ext cx="59355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WRITING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p36"/>
          <p:cNvSpPr/>
          <p:nvPr/>
        </p:nvSpPr>
        <p:spPr>
          <a:xfrm>
            <a:off x="533326" y="847651"/>
            <a:ext cx="593558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Research and Range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p36"/>
          <p:cNvSpPr/>
          <p:nvPr/>
        </p:nvSpPr>
        <p:spPr>
          <a:xfrm>
            <a:off x="10234092" y="533326"/>
            <a:ext cx="1376958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36"/>
          <p:cNvSpPr/>
          <p:nvPr/>
        </p:nvSpPr>
        <p:spPr>
          <a:xfrm>
            <a:off x="10443642" y="647626"/>
            <a:ext cx="103405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W.4.10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36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36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36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p36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Write routinely over extended and shorter time frames for a range of discipline-specific tasks, purposes, and audiences.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4" name="Google Shape;1694;p36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36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6" name="Google Shape;1696;p36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36"/>
          <p:cNvSpPr/>
          <p:nvPr/>
        </p:nvSpPr>
        <p:spPr>
          <a:xfrm>
            <a:off x="999902" y="4115470"/>
            <a:ext cx="431460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routine writing build skill?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8" name="Google Shape;1698;p36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9" name="Google Shape;1699;p36"/>
          <p:cNvSpPr/>
          <p:nvPr/>
        </p:nvSpPr>
        <p:spPr>
          <a:xfrm>
            <a:off x="999902" y="4563963"/>
            <a:ext cx="488480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adjust to different time frames?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0" name="Google Shape;1700;p36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36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p36"/>
          <p:cNvSpPr/>
          <p:nvPr/>
        </p:nvSpPr>
        <p:spPr>
          <a:xfrm>
            <a:off x="6424464" y="4115470"/>
            <a:ext cx="122359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36"/>
          <p:cNvSpPr/>
          <p:nvPr/>
        </p:nvSpPr>
        <p:spPr>
          <a:xfrm>
            <a:off x="6586389" y="4182145"/>
            <a:ext cx="97594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routinely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4" name="Google Shape;1704;p36"/>
          <p:cNvSpPr/>
          <p:nvPr/>
        </p:nvSpPr>
        <p:spPr>
          <a:xfrm>
            <a:off x="7733779" y="4115470"/>
            <a:ext cx="130328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36"/>
          <p:cNvSpPr/>
          <p:nvPr/>
        </p:nvSpPr>
        <p:spPr>
          <a:xfrm>
            <a:off x="7895704" y="4182145"/>
            <a:ext cx="105563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extended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36"/>
          <p:cNvSpPr/>
          <p:nvPr/>
        </p:nvSpPr>
        <p:spPr>
          <a:xfrm>
            <a:off x="9122792" y="4115470"/>
            <a:ext cx="144794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36"/>
          <p:cNvSpPr/>
          <p:nvPr/>
        </p:nvSpPr>
        <p:spPr>
          <a:xfrm>
            <a:off x="9284717" y="4182145"/>
            <a:ext cx="120029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time frame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36"/>
          <p:cNvSpPr/>
          <p:nvPr/>
        </p:nvSpPr>
        <p:spPr>
          <a:xfrm>
            <a:off x="6424464" y="4619997"/>
            <a:ext cx="217594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36"/>
          <p:cNvSpPr/>
          <p:nvPr/>
        </p:nvSpPr>
        <p:spPr>
          <a:xfrm>
            <a:off x="6586389" y="4686672"/>
            <a:ext cx="192829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discipline-specific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p36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36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p36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36"/>
          <p:cNvSpPr/>
          <p:nvPr/>
        </p:nvSpPr>
        <p:spPr>
          <a:xfrm>
            <a:off x="1247477" y="6067276"/>
            <a:ext cx="503583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Write routinely over extended time frames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36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36"/>
          <p:cNvSpPr/>
          <p:nvPr/>
        </p:nvSpPr>
        <p:spPr>
          <a:xfrm>
            <a:off x="1247477" y="6506170"/>
            <a:ext cx="365771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Write over shorter time frames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p36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7" name="Google Shape;1717;p36"/>
          <p:cNvSpPr/>
          <p:nvPr/>
        </p:nvSpPr>
        <p:spPr>
          <a:xfrm>
            <a:off x="1247477" y="6945064"/>
            <a:ext cx="522319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Adapt to a range of discipline-specific tasks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8" name="Google Shape;1718;p36"/>
          <p:cNvSpPr/>
          <p:nvPr/>
        </p:nvSpPr>
        <p:spPr>
          <a:xfrm>
            <a:off x="533326" y="7688684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9" name="Google Shape;1719;p36"/>
          <p:cNvSpPr/>
          <p:nvPr/>
        </p:nvSpPr>
        <p:spPr>
          <a:xfrm>
            <a:off x="533326" y="7688684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p36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1" name="Google Shape;1721;p36"/>
          <p:cNvSpPr/>
          <p:nvPr/>
        </p:nvSpPr>
        <p:spPr>
          <a:xfrm>
            <a:off x="895201" y="8240985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On-demand writing gets the same lengthy planning as a research paper, and time runs out.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2" name="Google Shape;1722;p36"/>
          <p:cNvSpPr/>
          <p:nvPr/>
        </p:nvSpPr>
        <p:spPr>
          <a:xfrm>
            <a:off x="533326" y="8968308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36"/>
          <p:cNvSpPr/>
          <p:nvPr/>
        </p:nvSpPr>
        <p:spPr>
          <a:xfrm>
            <a:off x="780901" y="9158734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p36"/>
          <p:cNvSpPr/>
          <p:nvPr/>
        </p:nvSpPr>
        <p:spPr>
          <a:xfrm>
            <a:off x="780901" y="958735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36"/>
          <p:cNvSpPr/>
          <p:nvPr/>
        </p:nvSpPr>
        <p:spPr>
          <a:xfrm>
            <a:off x="1218902" y="9558784"/>
            <a:ext cx="761059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write well for both long projects and quick assignments.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36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36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8" name="Google Shape;1728;p36"/>
          <p:cNvSpPr/>
          <p:nvPr/>
        </p:nvSpPr>
        <p:spPr>
          <a:xfrm>
            <a:off x="10870109" y="14897174"/>
            <a:ext cx="81714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W.4.10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37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37"/>
          <p:cNvSpPr/>
          <p:nvPr/>
        </p:nvSpPr>
        <p:spPr>
          <a:xfrm>
            <a:off x="533326" y="533326"/>
            <a:ext cx="975537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SPEAKING AND LISTENING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6" name="Google Shape;1736;p37"/>
          <p:cNvSpPr/>
          <p:nvPr/>
        </p:nvSpPr>
        <p:spPr>
          <a:xfrm>
            <a:off x="533326" y="847651"/>
            <a:ext cx="975537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Comprehension and Collaboration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7" name="Google Shape;1737;p37"/>
          <p:cNvSpPr/>
          <p:nvPr/>
        </p:nvSpPr>
        <p:spPr>
          <a:xfrm>
            <a:off x="10281865" y="533326"/>
            <a:ext cx="132918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p37"/>
          <p:cNvSpPr/>
          <p:nvPr/>
        </p:nvSpPr>
        <p:spPr>
          <a:xfrm>
            <a:off x="10491415" y="647626"/>
            <a:ext cx="98628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SL.4.1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9" name="Google Shape;1739;p37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0" name="Google Shape;1740;p37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37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2" name="Google Shape;1742;p37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Engage effectively in a range of collaborative discussions on grade 4 topics and texts, building on others’ ideas and expressing their own clearly.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3" name="Google Shape;1743;p37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4" name="Google Shape;1744;p37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5" name="Google Shape;1745;p37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37"/>
          <p:cNvSpPr/>
          <p:nvPr/>
        </p:nvSpPr>
        <p:spPr>
          <a:xfrm>
            <a:off x="999902" y="4115470"/>
            <a:ext cx="420876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prepare for a discussion?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7" name="Google Shape;1747;p37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p37"/>
          <p:cNvSpPr/>
          <p:nvPr/>
        </p:nvSpPr>
        <p:spPr>
          <a:xfrm>
            <a:off x="999902" y="4563963"/>
            <a:ext cx="452210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extend someone’s thinking?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9" name="Google Shape;1749;p37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37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1" name="Google Shape;1751;p37"/>
          <p:cNvSpPr/>
          <p:nvPr/>
        </p:nvSpPr>
        <p:spPr>
          <a:xfrm>
            <a:off x="6424464" y="4115470"/>
            <a:ext cx="127672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p37"/>
          <p:cNvSpPr/>
          <p:nvPr/>
        </p:nvSpPr>
        <p:spPr>
          <a:xfrm>
            <a:off x="6586389" y="4182145"/>
            <a:ext cx="102907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prepared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3" name="Google Shape;1753;p37"/>
          <p:cNvSpPr/>
          <p:nvPr/>
        </p:nvSpPr>
        <p:spPr>
          <a:xfrm>
            <a:off x="7786911" y="4115470"/>
            <a:ext cx="72062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37"/>
          <p:cNvSpPr/>
          <p:nvPr/>
        </p:nvSpPr>
        <p:spPr>
          <a:xfrm>
            <a:off x="7948836" y="4182145"/>
            <a:ext cx="47297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role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37"/>
          <p:cNvSpPr/>
          <p:nvPr/>
        </p:nvSpPr>
        <p:spPr>
          <a:xfrm>
            <a:off x="8593262" y="4115470"/>
            <a:ext cx="84006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37"/>
          <p:cNvSpPr/>
          <p:nvPr/>
        </p:nvSpPr>
        <p:spPr>
          <a:xfrm>
            <a:off x="8755187" y="4182145"/>
            <a:ext cx="59241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pose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7" name="Google Shape;1757;p37"/>
          <p:cNvSpPr/>
          <p:nvPr/>
        </p:nvSpPr>
        <p:spPr>
          <a:xfrm>
            <a:off x="9519047" y="4115470"/>
            <a:ext cx="131645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37"/>
          <p:cNvSpPr/>
          <p:nvPr/>
        </p:nvSpPr>
        <p:spPr>
          <a:xfrm>
            <a:off x="9680972" y="4182145"/>
            <a:ext cx="106880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elaborate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9" name="Google Shape;1759;p37"/>
          <p:cNvSpPr/>
          <p:nvPr/>
        </p:nvSpPr>
        <p:spPr>
          <a:xfrm>
            <a:off x="6424464" y="4619997"/>
            <a:ext cx="121041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37"/>
          <p:cNvSpPr/>
          <p:nvPr/>
        </p:nvSpPr>
        <p:spPr>
          <a:xfrm>
            <a:off x="6586389" y="4686672"/>
            <a:ext cx="96276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key idea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1" name="Google Shape;1761;p37"/>
          <p:cNvSpPr/>
          <p:nvPr/>
        </p:nvSpPr>
        <p:spPr>
          <a:xfrm>
            <a:off x="533326" y="5448226"/>
            <a:ext cx="11077724" cy="2488927"/>
          </a:xfrm>
          <a:prstGeom prst="roundRect">
            <a:avLst>
              <a:gd fmla="val 535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37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3" name="Google Shape;1763;p37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37"/>
          <p:cNvSpPr/>
          <p:nvPr/>
        </p:nvSpPr>
        <p:spPr>
          <a:xfrm>
            <a:off x="1247477" y="6067276"/>
            <a:ext cx="737288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Come to discussions prepared, having read required material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p37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p37"/>
          <p:cNvSpPr/>
          <p:nvPr/>
        </p:nvSpPr>
        <p:spPr>
          <a:xfrm>
            <a:off x="1247477" y="6506170"/>
            <a:ext cx="657062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Follow agreed-upon rules and carry out assigned roles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7" name="Google Shape;1767;p37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37"/>
          <p:cNvSpPr/>
          <p:nvPr/>
        </p:nvSpPr>
        <p:spPr>
          <a:xfrm>
            <a:off x="1247477" y="6945064"/>
            <a:ext cx="473918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Pose and respond to specific questions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9" name="Google Shape;1769;p37"/>
          <p:cNvSpPr/>
          <p:nvPr/>
        </p:nvSpPr>
        <p:spPr>
          <a:xfrm>
            <a:off x="809476" y="741253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37"/>
          <p:cNvSpPr/>
          <p:nvPr/>
        </p:nvSpPr>
        <p:spPr>
          <a:xfrm>
            <a:off x="1247477" y="7383959"/>
            <a:ext cx="785787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Review key ideas and explain own ideas in light of the discussion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1" name="Google Shape;1771;p37"/>
          <p:cNvSpPr/>
          <p:nvPr/>
        </p:nvSpPr>
        <p:spPr>
          <a:xfrm>
            <a:off x="533326" y="8127578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37"/>
          <p:cNvSpPr/>
          <p:nvPr/>
        </p:nvSpPr>
        <p:spPr>
          <a:xfrm>
            <a:off x="533326" y="8127578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37"/>
          <p:cNvSpPr/>
          <p:nvPr/>
        </p:nvSpPr>
        <p:spPr>
          <a:xfrm>
            <a:off x="895201" y="831800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4" name="Google Shape;1774;p37"/>
          <p:cNvSpPr/>
          <p:nvPr/>
        </p:nvSpPr>
        <p:spPr>
          <a:xfrm>
            <a:off x="895201" y="8679879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participate without having read, contributing only general reactions.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5" name="Google Shape;1775;p37"/>
          <p:cNvSpPr/>
          <p:nvPr/>
        </p:nvSpPr>
        <p:spPr>
          <a:xfrm>
            <a:off x="533326" y="9407203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37"/>
          <p:cNvSpPr/>
          <p:nvPr/>
        </p:nvSpPr>
        <p:spPr>
          <a:xfrm>
            <a:off x="780901" y="9597628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7" name="Google Shape;1777;p37"/>
          <p:cNvSpPr/>
          <p:nvPr/>
        </p:nvSpPr>
        <p:spPr>
          <a:xfrm>
            <a:off x="780901" y="1002625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p37"/>
          <p:cNvSpPr/>
          <p:nvPr/>
        </p:nvSpPr>
        <p:spPr>
          <a:xfrm>
            <a:off x="1218902" y="9997678"/>
            <a:ext cx="789962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come prepared and build on others’ ideas in a discussion.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9" name="Google Shape;1779;p37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p37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1" name="Google Shape;1781;p37"/>
          <p:cNvSpPr/>
          <p:nvPr/>
        </p:nvSpPr>
        <p:spPr>
          <a:xfrm>
            <a:off x="10909846" y="14897174"/>
            <a:ext cx="77740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SL.4.1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p38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8" name="Google Shape;1788;p38"/>
          <p:cNvSpPr/>
          <p:nvPr/>
        </p:nvSpPr>
        <p:spPr>
          <a:xfrm>
            <a:off x="533326" y="533326"/>
            <a:ext cx="975537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SPEAKING AND LISTENING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p38"/>
          <p:cNvSpPr/>
          <p:nvPr/>
        </p:nvSpPr>
        <p:spPr>
          <a:xfrm>
            <a:off x="533326" y="847651"/>
            <a:ext cx="975537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Comprehension and Collaboration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p38"/>
          <p:cNvSpPr/>
          <p:nvPr/>
        </p:nvSpPr>
        <p:spPr>
          <a:xfrm>
            <a:off x="10281865" y="533326"/>
            <a:ext cx="132918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38"/>
          <p:cNvSpPr/>
          <p:nvPr/>
        </p:nvSpPr>
        <p:spPr>
          <a:xfrm>
            <a:off x="10491415" y="647626"/>
            <a:ext cx="98628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SL.4.2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2" name="Google Shape;1792;p38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38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38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5" name="Google Shape;1795;p38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Paraphrase portions of a text read aloud or information presented in diverse media and formats.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6" name="Google Shape;1796;p38"/>
          <p:cNvSpPr/>
          <p:nvPr/>
        </p:nvSpPr>
        <p:spPr>
          <a:xfrm>
            <a:off x="533326" y="3496419"/>
            <a:ext cx="5443538" cy="2289125"/>
          </a:xfrm>
          <a:prstGeom prst="roundRect">
            <a:avLst>
              <a:gd fmla="val 582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38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8" name="Google Shape;1798;p38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p38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restate someone’s point accurately?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0" name="Google Shape;1800;p38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1" name="Google Shape;1801;p38"/>
          <p:cNvSpPr/>
          <p:nvPr/>
        </p:nvSpPr>
        <p:spPr>
          <a:xfrm>
            <a:off x="999902" y="4898157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is the difference between paraphrase and repeat?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2" name="Google Shape;1802;p38"/>
          <p:cNvSpPr/>
          <p:nvPr/>
        </p:nvSpPr>
        <p:spPr>
          <a:xfrm>
            <a:off x="6167289" y="3496419"/>
            <a:ext cx="5443761" cy="2289125"/>
          </a:xfrm>
          <a:prstGeom prst="roundRect">
            <a:avLst>
              <a:gd fmla="val 582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3" name="Google Shape;1803;p38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4" name="Google Shape;1804;p38"/>
          <p:cNvSpPr/>
          <p:nvPr/>
        </p:nvSpPr>
        <p:spPr>
          <a:xfrm>
            <a:off x="6424464" y="4115470"/>
            <a:ext cx="152809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38"/>
          <p:cNvSpPr/>
          <p:nvPr/>
        </p:nvSpPr>
        <p:spPr>
          <a:xfrm>
            <a:off x="6586389" y="4182145"/>
            <a:ext cx="128044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paraphrase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6" name="Google Shape;1806;p38"/>
          <p:cNvSpPr/>
          <p:nvPr/>
        </p:nvSpPr>
        <p:spPr>
          <a:xfrm>
            <a:off x="8038281" y="4115470"/>
            <a:ext cx="180558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7" name="Google Shape;1807;p38"/>
          <p:cNvSpPr/>
          <p:nvPr/>
        </p:nvSpPr>
        <p:spPr>
          <a:xfrm>
            <a:off x="8200206" y="4182145"/>
            <a:ext cx="155793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diverse media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8" name="Google Shape;1808;p38"/>
          <p:cNvSpPr/>
          <p:nvPr/>
        </p:nvSpPr>
        <p:spPr>
          <a:xfrm>
            <a:off x="9929589" y="4115470"/>
            <a:ext cx="99833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38"/>
          <p:cNvSpPr/>
          <p:nvPr/>
        </p:nvSpPr>
        <p:spPr>
          <a:xfrm>
            <a:off x="10091514" y="4182145"/>
            <a:ext cx="75068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format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0" name="Google Shape;1810;p38"/>
          <p:cNvSpPr/>
          <p:nvPr/>
        </p:nvSpPr>
        <p:spPr>
          <a:xfrm>
            <a:off x="6424464" y="4619997"/>
            <a:ext cx="105147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38"/>
          <p:cNvSpPr/>
          <p:nvPr/>
        </p:nvSpPr>
        <p:spPr>
          <a:xfrm>
            <a:off x="6586389" y="4686672"/>
            <a:ext cx="80382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restate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2" name="Google Shape;1812;p38"/>
          <p:cNvSpPr/>
          <p:nvPr/>
        </p:nvSpPr>
        <p:spPr>
          <a:xfrm>
            <a:off x="533326" y="5975970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3" name="Google Shape;1813;p38"/>
          <p:cNvSpPr/>
          <p:nvPr/>
        </p:nvSpPr>
        <p:spPr>
          <a:xfrm>
            <a:off x="809476" y="6194971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4" name="Google Shape;1814;p38"/>
          <p:cNvSpPr/>
          <p:nvPr/>
        </p:nvSpPr>
        <p:spPr>
          <a:xfrm>
            <a:off x="809476" y="66235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p38"/>
          <p:cNvSpPr/>
          <p:nvPr/>
        </p:nvSpPr>
        <p:spPr>
          <a:xfrm>
            <a:off x="1247477" y="6595021"/>
            <a:ext cx="486025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Paraphrase portions of a text read aloud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38"/>
          <p:cNvSpPr/>
          <p:nvPr/>
        </p:nvSpPr>
        <p:spPr>
          <a:xfrm>
            <a:off x="809476" y="70624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7" name="Google Shape;1817;p38"/>
          <p:cNvSpPr/>
          <p:nvPr/>
        </p:nvSpPr>
        <p:spPr>
          <a:xfrm>
            <a:off x="1247477" y="7033915"/>
            <a:ext cx="769089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Paraphrase information presented in diverse media and formats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8" name="Google Shape;1818;p38"/>
          <p:cNvSpPr/>
          <p:nvPr/>
        </p:nvSpPr>
        <p:spPr>
          <a:xfrm>
            <a:off x="809476" y="750138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9" name="Google Shape;1819;p38"/>
          <p:cNvSpPr/>
          <p:nvPr/>
        </p:nvSpPr>
        <p:spPr>
          <a:xfrm>
            <a:off x="1247477" y="7472809"/>
            <a:ext cx="392095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Restate accurately in own words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38"/>
          <p:cNvSpPr/>
          <p:nvPr/>
        </p:nvSpPr>
        <p:spPr>
          <a:xfrm>
            <a:off x="533326" y="8216429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1" name="Google Shape;1821;p38"/>
          <p:cNvSpPr/>
          <p:nvPr/>
        </p:nvSpPr>
        <p:spPr>
          <a:xfrm>
            <a:off x="533326" y="8216429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2" name="Google Shape;1822;p38"/>
          <p:cNvSpPr/>
          <p:nvPr/>
        </p:nvSpPr>
        <p:spPr>
          <a:xfrm>
            <a:off x="895201" y="840685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38"/>
          <p:cNvSpPr/>
          <p:nvPr/>
        </p:nvSpPr>
        <p:spPr>
          <a:xfrm>
            <a:off x="895201" y="8768730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Paraphrase turns into verbatim repetition, or drifts far enough to change the meaning.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4" name="Google Shape;1824;p38"/>
          <p:cNvSpPr/>
          <p:nvPr/>
        </p:nvSpPr>
        <p:spPr>
          <a:xfrm>
            <a:off x="533326" y="9496053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5" name="Google Shape;1825;p38"/>
          <p:cNvSpPr/>
          <p:nvPr/>
        </p:nvSpPr>
        <p:spPr>
          <a:xfrm>
            <a:off x="780901" y="9686479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6" name="Google Shape;1826;p38"/>
          <p:cNvSpPr/>
          <p:nvPr/>
        </p:nvSpPr>
        <p:spPr>
          <a:xfrm>
            <a:off x="780901" y="10115104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38"/>
          <p:cNvSpPr/>
          <p:nvPr/>
        </p:nvSpPr>
        <p:spPr>
          <a:xfrm>
            <a:off x="1218902" y="10086529"/>
            <a:ext cx="518415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paraphrase what I heard accurately.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8" name="Google Shape;1828;p38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38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0" name="Google Shape;1830;p38"/>
          <p:cNvSpPr/>
          <p:nvPr/>
        </p:nvSpPr>
        <p:spPr>
          <a:xfrm>
            <a:off x="10909846" y="14897174"/>
            <a:ext cx="77740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SL.4.2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39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p39"/>
          <p:cNvSpPr/>
          <p:nvPr/>
        </p:nvSpPr>
        <p:spPr>
          <a:xfrm>
            <a:off x="533326" y="533326"/>
            <a:ext cx="975537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SPEAKING AND LISTENING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8" name="Google Shape;1838;p39"/>
          <p:cNvSpPr/>
          <p:nvPr/>
        </p:nvSpPr>
        <p:spPr>
          <a:xfrm>
            <a:off x="533326" y="847651"/>
            <a:ext cx="975537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Comprehension and Collaboration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9" name="Google Shape;1839;p39"/>
          <p:cNvSpPr/>
          <p:nvPr/>
        </p:nvSpPr>
        <p:spPr>
          <a:xfrm>
            <a:off x="10281865" y="533326"/>
            <a:ext cx="132918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0" name="Google Shape;1840;p39"/>
          <p:cNvSpPr/>
          <p:nvPr/>
        </p:nvSpPr>
        <p:spPr>
          <a:xfrm>
            <a:off x="10491415" y="647626"/>
            <a:ext cx="98628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SL.4.3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1" name="Google Shape;1841;p39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2" name="Google Shape;1842;p39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p39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p39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the reasons and evidence a speaker provides to support particular points.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5" name="Google Shape;1845;p39"/>
          <p:cNvSpPr/>
          <p:nvPr/>
        </p:nvSpPr>
        <p:spPr>
          <a:xfrm>
            <a:off x="533326" y="3136553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6" name="Google Shape;1846;p39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7" name="Google Shape;1847;p39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p39"/>
          <p:cNvSpPr/>
          <p:nvPr/>
        </p:nvSpPr>
        <p:spPr>
          <a:xfrm>
            <a:off x="999902" y="3755603"/>
            <a:ext cx="363315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is the speaker claiming?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9" name="Google Shape;1849;p39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39"/>
          <p:cNvSpPr/>
          <p:nvPr/>
        </p:nvSpPr>
        <p:spPr>
          <a:xfrm>
            <a:off x="999902" y="4204097"/>
            <a:ext cx="316436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Is the support convincing?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1" name="Google Shape;1851;p39"/>
          <p:cNvSpPr/>
          <p:nvPr/>
        </p:nvSpPr>
        <p:spPr>
          <a:xfrm>
            <a:off x="6167289" y="3136553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2" name="Google Shape;1852;p39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3" name="Google Shape;1853;p39"/>
          <p:cNvSpPr/>
          <p:nvPr/>
        </p:nvSpPr>
        <p:spPr>
          <a:xfrm>
            <a:off x="6424464" y="3755603"/>
            <a:ext cx="105169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p39"/>
          <p:cNvSpPr/>
          <p:nvPr/>
        </p:nvSpPr>
        <p:spPr>
          <a:xfrm>
            <a:off x="6586389" y="3822278"/>
            <a:ext cx="80404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reason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" name="Google Shape;1855;p39"/>
          <p:cNvSpPr/>
          <p:nvPr/>
        </p:nvSpPr>
        <p:spPr>
          <a:xfrm>
            <a:off x="7561883" y="3755603"/>
            <a:ext cx="127672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6" name="Google Shape;1856;p39"/>
          <p:cNvSpPr/>
          <p:nvPr/>
        </p:nvSpPr>
        <p:spPr>
          <a:xfrm>
            <a:off x="7723808" y="3822278"/>
            <a:ext cx="102907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" name="Google Shape;1857;p39"/>
          <p:cNvSpPr/>
          <p:nvPr/>
        </p:nvSpPr>
        <p:spPr>
          <a:xfrm>
            <a:off x="8924330" y="3755603"/>
            <a:ext cx="87935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8" name="Google Shape;1858;p39"/>
          <p:cNvSpPr/>
          <p:nvPr/>
        </p:nvSpPr>
        <p:spPr>
          <a:xfrm>
            <a:off x="9086255" y="3822278"/>
            <a:ext cx="63170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claim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9" name="Google Shape;1859;p39"/>
          <p:cNvSpPr/>
          <p:nvPr/>
        </p:nvSpPr>
        <p:spPr>
          <a:xfrm>
            <a:off x="9889406" y="3755603"/>
            <a:ext cx="111777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39"/>
          <p:cNvSpPr/>
          <p:nvPr/>
        </p:nvSpPr>
        <p:spPr>
          <a:xfrm>
            <a:off x="10051331" y="3822278"/>
            <a:ext cx="8701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support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" name="Google Shape;1861;p39"/>
          <p:cNvSpPr/>
          <p:nvPr/>
        </p:nvSpPr>
        <p:spPr>
          <a:xfrm>
            <a:off x="6424464" y="4260131"/>
            <a:ext cx="117068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39"/>
          <p:cNvSpPr/>
          <p:nvPr/>
        </p:nvSpPr>
        <p:spPr>
          <a:xfrm>
            <a:off x="6586389" y="4326806"/>
            <a:ext cx="92303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speaker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3" name="Google Shape;1863;p39"/>
          <p:cNvSpPr/>
          <p:nvPr/>
        </p:nvSpPr>
        <p:spPr>
          <a:xfrm>
            <a:off x="533326" y="5088359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39"/>
          <p:cNvSpPr/>
          <p:nvPr/>
        </p:nvSpPr>
        <p:spPr>
          <a:xfrm>
            <a:off x="809476" y="5307360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5" name="Google Shape;1865;p39"/>
          <p:cNvSpPr/>
          <p:nvPr/>
        </p:nvSpPr>
        <p:spPr>
          <a:xfrm>
            <a:off x="809476" y="573598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39"/>
          <p:cNvSpPr/>
          <p:nvPr/>
        </p:nvSpPr>
        <p:spPr>
          <a:xfrm>
            <a:off x="1247477" y="5707410"/>
            <a:ext cx="645004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the reasons and evidence a speaker provides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7" name="Google Shape;1867;p39"/>
          <p:cNvSpPr/>
          <p:nvPr/>
        </p:nvSpPr>
        <p:spPr>
          <a:xfrm>
            <a:off x="809476" y="617487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p39"/>
          <p:cNvSpPr/>
          <p:nvPr/>
        </p:nvSpPr>
        <p:spPr>
          <a:xfrm>
            <a:off x="1247477" y="6146304"/>
            <a:ext cx="436027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Connect reasons to particular points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9" name="Google Shape;1869;p39"/>
          <p:cNvSpPr/>
          <p:nvPr/>
        </p:nvSpPr>
        <p:spPr>
          <a:xfrm>
            <a:off x="809476" y="661377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0" name="Google Shape;1870;p39"/>
          <p:cNvSpPr/>
          <p:nvPr/>
        </p:nvSpPr>
        <p:spPr>
          <a:xfrm>
            <a:off x="1247477" y="6585198"/>
            <a:ext cx="204409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Evaluate support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1" name="Google Shape;1871;p39"/>
          <p:cNvSpPr/>
          <p:nvPr/>
        </p:nvSpPr>
        <p:spPr>
          <a:xfrm>
            <a:off x="533326" y="7328818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2" name="Google Shape;1872;p39"/>
          <p:cNvSpPr/>
          <p:nvPr/>
        </p:nvSpPr>
        <p:spPr>
          <a:xfrm>
            <a:off x="533326" y="7328818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3" name="Google Shape;1873;p39"/>
          <p:cNvSpPr/>
          <p:nvPr/>
        </p:nvSpPr>
        <p:spPr>
          <a:xfrm>
            <a:off x="895201" y="7519243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4" name="Google Shape;1874;p39"/>
          <p:cNvSpPr/>
          <p:nvPr/>
        </p:nvSpPr>
        <p:spPr>
          <a:xfrm>
            <a:off x="895201" y="7881119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judge a speaker by delivery and confidence rather than by the quality of the reasoning.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5" name="Google Shape;1875;p39"/>
          <p:cNvSpPr/>
          <p:nvPr/>
        </p:nvSpPr>
        <p:spPr>
          <a:xfrm>
            <a:off x="533326" y="8954914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6" name="Google Shape;1876;p39"/>
          <p:cNvSpPr/>
          <p:nvPr/>
        </p:nvSpPr>
        <p:spPr>
          <a:xfrm>
            <a:off x="780901" y="9145339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7" name="Google Shape;1877;p39"/>
          <p:cNvSpPr/>
          <p:nvPr/>
        </p:nvSpPr>
        <p:spPr>
          <a:xfrm>
            <a:off x="780901" y="9573964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8" name="Google Shape;1878;p39"/>
          <p:cNvSpPr/>
          <p:nvPr/>
        </p:nvSpPr>
        <p:spPr>
          <a:xfrm>
            <a:off x="1218902" y="9545389"/>
            <a:ext cx="604412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identify a speaker’s reasons and evidence.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9" name="Google Shape;1879;p39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0" name="Google Shape;1880;p39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1" name="Google Shape;1881;p39"/>
          <p:cNvSpPr/>
          <p:nvPr/>
        </p:nvSpPr>
        <p:spPr>
          <a:xfrm>
            <a:off x="10909846" y="14897174"/>
            <a:ext cx="77740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SL.4.3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p40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8" name="Google Shape;1888;p40"/>
          <p:cNvSpPr/>
          <p:nvPr/>
        </p:nvSpPr>
        <p:spPr>
          <a:xfrm>
            <a:off x="533326" y="533326"/>
            <a:ext cx="1040906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SPEAKING AND LISTENING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9" name="Google Shape;1889;p40"/>
          <p:cNvSpPr/>
          <p:nvPr/>
        </p:nvSpPr>
        <p:spPr>
          <a:xfrm>
            <a:off x="533326" y="847651"/>
            <a:ext cx="9746674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Presentation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0" name="Google Shape;1890;p40"/>
          <p:cNvSpPr/>
          <p:nvPr/>
        </p:nvSpPr>
        <p:spPr>
          <a:xfrm>
            <a:off x="10281865" y="533326"/>
            <a:ext cx="132918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1" name="Google Shape;1891;p40"/>
          <p:cNvSpPr/>
          <p:nvPr/>
        </p:nvSpPr>
        <p:spPr>
          <a:xfrm>
            <a:off x="10491415" y="647626"/>
            <a:ext cx="98628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SL.4.4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2" name="Google Shape;1892;p40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3" name="Google Shape;1893;p40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40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5" name="Google Shape;1895;p40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Report on a topic or text, tell a story, or recount an experience in an organized manner, using appropriate facts and relevant, descriptive details.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6" name="Google Shape;1896;p40"/>
          <p:cNvSpPr/>
          <p:nvPr/>
        </p:nvSpPr>
        <p:spPr>
          <a:xfrm>
            <a:off x="533326" y="4016350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40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8" name="Google Shape;1898;p40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40"/>
          <p:cNvSpPr/>
          <p:nvPr/>
        </p:nvSpPr>
        <p:spPr>
          <a:xfrm>
            <a:off x="999902" y="4635401"/>
            <a:ext cx="414884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organize a presentation?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0" name="Google Shape;1900;p40"/>
          <p:cNvSpPr/>
          <p:nvPr/>
        </p:nvSpPr>
        <p:spPr>
          <a:xfrm>
            <a:off x="790501" y="5188595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Google Shape;1901;p40"/>
          <p:cNvSpPr/>
          <p:nvPr/>
        </p:nvSpPr>
        <p:spPr>
          <a:xfrm>
            <a:off x="999902" y="5083894"/>
            <a:ext cx="478363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makes a theme clear to listeners?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2" name="Google Shape;1902;p40"/>
          <p:cNvSpPr/>
          <p:nvPr/>
        </p:nvSpPr>
        <p:spPr>
          <a:xfrm>
            <a:off x="6167289" y="4016350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3" name="Google Shape;1903;p40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40"/>
          <p:cNvSpPr/>
          <p:nvPr/>
        </p:nvSpPr>
        <p:spPr>
          <a:xfrm>
            <a:off x="6424464" y="4635401"/>
            <a:ext cx="136936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5" name="Google Shape;1905;p40"/>
          <p:cNvSpPr/>
          <p:nvPr/>
        </p:nvSpPr>
        <p:spPr>
          <a:xfrm>
            <a:off x="6586389" y="4702076"/>
            <a:ext cx="112171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organized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6" name="Google Shape;1906;p40"/>
          <p:cNvSpPr/>
          <p:nvPr/>
        </p:nvSpPr>
        <p:spPr>
          <a:xfrm>
            <a:off x="7879556" y="4635401"/>
            <a:ext cx="117068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7" name="Google Shape;1907;p40"/>
          <p:cNvSpPr/>
          <p:nvPr/>
        </p:nvSpPr>
        <p:spPr>
          <a:xfrm>
            <a:off x="8041481" y="4702076"/>
            <a:ext cx="92303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relevant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8" name="Google Shape;1908;p40"/>
          <p:cNvSpPr/>
          <p:nvPr/>
        </p:nvSpPr>
        <p:spPr>
          <a:xfrm>
            <a:off x="9135963" y="4635401"/>
            <a:ext cx="135597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9" name="Google Shape;1909;p40"/>
          <p:cNvSpPr/>
          <p:nvPr/>
        </p:nvSpPr>
        <p:spPr>
          <a:xfrm>
            <a:off x="9297888" y="4702076"/>
            <a:ext cx="110832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main idea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0" name="Google Shape;1910;p40"/>
          <p:cNvSpPr/>
          <p:nvPr/>
        </p:nvSpPr>
        <p:spPr>
          <a:xfrm>
            <a:off x="6424464" y="5139928"/>
            <a:ext cx="98539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1" name="Google Shape;1911;p40"/>
          <p:cNvSpPr/>
          <p:nvPr/>
        </p:nvSpPr>
        <p:spPr>
          <a:xfrm>
            <a:off x="6586389" y="5206603"/>
            <a:ext cx="73774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theme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2" name="Google Shape;1912;p40"/>
          <p:cNvSpPr/>
          <p:nvPr/>
        </p:nvSpPr>
        <p:spPr>
          <a:xfrm>
            <a:off x="7495580" y="5139928"/>
            <a:ext cx="84006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3" name="Google Shape;1913;p40"/>
          <p:cNvSpPr/>
          <p:nvPr/>
        </p:nvSpPr>
        <p:spPr>
          <a:xfrm>
            <a:off x="7657505" y="5206603"/>
            <a:ext cx="59241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pace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4" name="Google Shape;1914;p40"/>
          <p:cNvSpPr/>
          <p:nvPr/>
        </p:nvSpPr>
        <p:spPr>
          <a:xfrm>
            <a:off x="533326" y="5968157"/>
            <a:ext cx="11077724" cy="2488927"/>
          </a:xfrm>
          <a:prstGeom prst="roundRect">
            <a:avLst>
              <a:gd fmla="val 535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40"/>
          <p:cNvSpPr/>
          <p:nvPr/>
        </p:nvSpPr>
        <p:spPr>
          <a:xfrm>
            <a:off x="809476" y="618715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6" name="Google Shape;1916;p40"/>
          <p:cNvSpPr/>
          <p:nvPr/>
        </p:nvSpPr>
        <p:spPr>
          <a:xfrm>
            <a:off x="809476" y="661578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7" name="Google Shape;1917;p40"/>
          <p:cNvSpPr/>
          <p:nvPr/>
        </p:nvSpPr>
        <p:spPr>
          <a:xfrm>
            <a:off x="1247477" y="6587207"/>
            <a:ext cx="584423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Report on a topic or text in an organized manner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8" name="Google Shape;1918;p40"/>
          <p:cNvSpPr/>
          <p:nvPr/>
        </p:nvSpPr>
        <p:spPr>
          <a:xfrm>
            <a:off x="809476" y="705467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40"/>
          <p:cNvSpPr/>
          <p:nvPr/>
        </p:nvSpPr>
        <p:spPr>
          <a:xfrm>
            <a:off x="1247477" y="7026101"/>
            <a:ext cx="647976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appropriate facts and relevant, descriptive details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0" name="Google Shape;1920;p40"/>
          <p:cNvSpPr/>
          <p:nvPr/>
        </p:nvSpPr>
        <p:spPr>
          <a:xfrm>
            <a:off x="809476" y="749357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1" name="Google Shape;1921;p40"/>
          <p:cNvSpPr/>
          <p:nvPr/>
        </p:nvSpPr>
        <p:spPr>
          <a:xfrm>
            <a:off x="1247477" y="7464996"/>
            <a:ext cx="363364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Support main ideas or themes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2" name="Google Shape;1922;p40"/>
          <p:cNvSpPr/>
          <p:nvPr/>
        </p:nvSpPr>
        <p:spPr>
          <a:xfrm>
            <a:off x="809476" y="793246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3" name="Google Shape;1923;p40"/>
          <p:cNvSpPr/>
          <p:nvPr/>
        </p:nvSpPr>
        <p:spPr>
          <a:xfrm>
            <a:off x="1247477" y="7903890"/>
            <a:ext cx="493637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Speak clearly at an understandable pace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4" name="Google Shape;1924;p40"/>
          <p:cNvSpPr/>
          <p:nvPr/>
        </p:nvSpPr>
        <p:spPr>
          <a:xfrm>
            <a:off x="533326" y="8647509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5" name="Google Shape;1925;p40"/>
          <p:cNvSpPr/>
          <p:nvPr/>
        </p:nvSpPr>
        <p:spPr>
          <a:xfrm>
            <a:off x="533326" y="8647509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6" name="Google Shape;1926;p40"/>
          <p:cNvSpPr/>
          <p:nvPr/>
        </p:nvSpPr>
        <p:spPr>
          <a:xfrm>
            <a:off x="895201" y="8837935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7" name="Google Shape;1927;p40"/>
          <p:cNvSpPr/>
          <p:nvPr/>
        </p:nvSpPr>
        <p:spPr>
          <a:xfrm>
            <a:off x="895201" y="9199811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Presentations are read word for word from notes, which removes the connection with the audience.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8" name="Google Shape;1928;p40"/>
          <p:cNvSpPr/>
          <p:nvPr/>
        </p:nvSpPr>
        <p:spPr>
          <a:xfrm>
            <a:off x="533326" y="10273605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9" name="Google Shape;1929;p40"/>
          <p:cNvSpPr/>
          <p:nvPr/>
        </p:nvSpPr>
        <p:spPr>
          <a:xfrm>
            <a:off x="780901" y="10464031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0" name="Google Shape;1930;p40"/>
          <p:cNvSpPr/>
          <p:nvPr/>
        </p:nvSpPr>
        <p:spPr>
          <a:xfrm>
            <a:off x="780901" y="10892656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1" name="Google Shape;1931;p40"/>
          <p:cNvSpPr/>
          <p:nvPr/>
        </p:nvSpPr>
        <p:spPr>
          <a:xfrm>
            <a:off x="1218902" y="10864081"/>
            <a:ext cx="7517279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give an organized presentation with supporting details.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2" name="Google Shape;1932;p40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3" name="Google Shape;1933;p40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4" name="Google Shape;1934;p40"/>
          <p:cNvSpPr/>
          <p:nvPr/>
        </p:nvSpPr>
        <p:spPr>
          <a:xfrm>
            <a:off x="10909846" y="14897174"/>
            <a:ext cx="77740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SL.4.4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p41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1" name="Google Shape;1941;p41"/>
          <p:cNvSpPr/>
          <p:nvPr/>
        </p:nvSpPr>
        <p:spPr>
          <a:xfrm>
            <a:off x="533326" y="533326"/>
            <a:ext cx="1040906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SPEAKING AND LISTENING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2" name="Google Shape;1942;p41"/>
          <p:cNvSpPr/>
          <p:nvPr/>
        </p:nvSpPr>
        <p:spPr>
          <a:xfrm>
            <a:off x="533326" y="847651"/>
            <a:ext cx="9746674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Presentation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3" name="Google Shape;1943;p41"/>
          <p:cNvSpPr/>
          <p:nvPr/>
        </p:nvSpPr>
        <p:spPr>
          <a:xfrm>
            <a:off x="10281865" y="533326"/>
            <a:ext cx="132918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4" name="Google Shape;1944;p41"/>
          <p:cNvSpPr/>
          <p:nvPr/>
        </p:nvSpPr>
        <p:spPr>
          <a:xfrm>
            <a:off x="10491415" y="647626"/>
            <a:ext cx="98628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SL.4.5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5" name="Google Shape;1945;p41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6" name="Google Shape;1946;p41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7" name="Google Shape;1947;p41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8" name="Google Shape;1948;p41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Add audio recordings and visual displays to presentations when appropriate to enhance the development of main ideas or themes.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9" name="Google Shape;1949;p41"/>
          <p:cNvSpPr/>
          <p:nvPr/>
        </p:nvSpPr>
        <p:spPr>
          <a:xfrm>
            <a:off x="533326" y="4016350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41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1" name="Google Shape;1951;p41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2" name="Google Shape;1952;p41"/>
          <p:cNvSpPr/>
          <p:nvPr/>
        </p:nvSpPr>
        <p:spPr>
          <a:xfrm>
            <a:off x="999902" y="4635401"/>
            <a:ext cx="387626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 audio and visuals add?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3" name="Google Shape;1953;p41"/>
          <p:cNvSpPr/>
          <p:nvPr/>
        </p:nvSpPr>
        <p:spPr>
          <a:xfrm>
            <a:off x="790501" y="5188595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4" name="Google Shape;1954;p41"/>
          <p:cNvSpPr/>
          <p:nvPr/>
        </p:nvSpPr>
        <p:spPr>
          <a:xfrm>
            <a:off x="999902" y="5083894"/>
            <a:ext cx="327020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avoid distraction?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p41"/>
          <p:cNvSpPr/>
          <p:nvPr/>
        </p:nvSpPr>
        <p:spPr>
          <a:xfrm>
            <a:off x="6167289" y="4016350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6" name="Google Shape;1956;p41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7" name="Google Shape;1957;p41"/>
          <p:cNvSpPr/>
          <p:nvPr/>
        </p:nvSpPr>
        <p:spPr>
          <a:xfrm>
            <a:off x="6424464" y="4635401"/>
            <a:ext cx="196475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p41"/>
          <p:cNvSpPr/>
          <p:nvPr/>
        </p:nvSpPr>
        <p:spPr>
          <a:xfrm>
            <a:off x="6586389" y="4702076"/>
            <a:ext cx="171710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audio recording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p41"/>
          <p:cNvSpPr/>
          <p:nvPr/>
        </p:nvSpPr>
        <p:spPr>
          <a:xfrm>
            <a:off x="8474943" y="4635401"/>
            <a:ext cx="173950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0" name="Google Shape;1960;p41"/>
          <p:cNvSpPr/>
          <p:nvPr/>
        </p:nvSpPr>
        <p:spPr>
          <a:xfrm>
            <a:off x="8636868" y="4702076"/>
            <a:ext cx="149185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visual display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1" name="Google Shape;1961;p41"/>
          <p:cNvSpPr/>
          <p:nvPr/>
        </p:nvSpPr>
        <p:spPr>
          <a:xfrm>
            <a:off x="6424464" y="5139928"/>
            <a:ext cx="123720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2" name="Google Shape;1962;p41"/>
          <p:cNvSpPr/>
          <p:nvPr/>
        </p:nvSpPr>
        <p:spPr>
          <a:xfrm>
            <a:off x="6586389" y="5206603"/>
            <a:ext cx="989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enhance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p41"/>
          <p:cNvSpPr/>
          <p:nvPr/>
        </p:nvSpPr>
        <p:spPr>
          <a:xfrm>
            <a:off x="7747397" y="5139928"/>
            <a:ext cx="115751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4" name="Google Shape;1964;p41"/>
          <p:cNvSpPr/>
          <p:nvPr/>
        </p:nvSpPr>
        <p:spPr>
          <a:xfrm>
            <a:off x="7909322" y="5206603"/>
            <a:ext cx="90986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develop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5" name="Google Shape;1965;p41"/>
          <p:cNvSpPr/>
          <p:nvPr/>
        </p:nvSpPr>
        <p:spPr>
          <a:xfrm>
            <a:off x="533326" y="596815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6" name="Google Shape;1966;p41"/>
          <p:cNvSpPr/>
          <p:nvPr/>
        </p:nvSpPr>
        <p:spPr>
          <a:xfrm>
            <a:off x="809476" y="618715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7" name="Google Shape;1967;p41"/>
          <p:cNvSpPr/>
          <p:nvPr/>
        </p:nvSpPr>
        <p:spPr>
          <a:xfrm>
            <a:off x="809476" y="661578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8" name="Google Shape;1968;p41"/>
          <p:cNvSpPr/>
          <p:nvPr/>
        </p:nvSpPr>
        <p:spPr>
          <a:xfrm>
            <a:off x="1247477" y="6587207"/>
            <a:ext cx="694952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Add audio recordings and visual displays to presentations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9" name="Google Shape;1969;p41"/>
          <p:cNvSpPr/>
          <p:nvPr/>
        </p:nvSpPr>
        <p:spPr>
          <a:xfrm>
            <a:off x="809476" y="705467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0" name="Google Shape;1970;p41"/>
          <p:cNvSpPr/>
          <p:nvPr/>
        </p:nvSpPr>
        <p:spPr>
          <a:xfrm>
            <a:off x="1247477" y="7026101"/>
            <a:ext cx="614726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Enhance the development of main ideas or themes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1" name="Google Shape;1971;p41"/>
          <p:cNvSpPr/>
          <p:nvPr/>
        </p:nvSpPr>
        <p:spPr>
          <a:xfrm>
            <a:off x="809476" y="749357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2" name="Google Shape;1972;p41"/>
          <p:cNvSpPr/>
          <p:nvPr/>
        </p:nvSpPr>
        <p:spPr>
          <a:xfrm>
            <a:off x="1247477" y="7464996"/>
            <a:ext cx="311893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Select media purposefully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3" name="Google Shape;1973;p41"/>
          <p:cNvSpPr/>
          <p:nvPr/>
        </p:nvSpPr>
        <p:spPr>
          <a:xfrm>
            <a:off x="533326" y="8208615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4" name="Google Shape;1974;p41"/>
          <p:cNvSpPr/>
          <p:nvPr/>
        </p:nvSpPr>
        <p:spPr>
          <a:xfrm>
            <a:off x="533326" y="8208615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5" name="Google Shape;1975;p41"/>
          <p:cNvSpPr/>
          <p:nvPr/>
        </p:nvSpPr>
        <p:spPr>
          <a:xfrm>
            <a:off x="895201" y="839904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6" name="Google Shape;1976;p41"/>
          <p:cNvSpPr/>
          <p:nvPr/>
        </p:nvSpPr>
        <p:spPr>
          <a:xfrm>
            <a:off x="895201" y="8760916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Animations and effects distract from the content instead of supporting it.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7" name="Google Shape;1977;p41"/>
          <p:cNvSpPr/>
          <p:nvPr/>
        </p:nvSpPr>
        <p:spPr>
          <a:xfrm>
            <a:off x="533326" y="9488239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8" name="Google Shape;1978;p41"/>
          <p:cNvSpPr/>
          <p:nvPr/>
        </p:nvSpPr>
        <p:spPr>
          <a:xfrm>
            <a:off x="780901" y="9678665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9" name="Google Shape;1979;p41"/>
          <p:cNvSpPr/>
          <p:nvPr/>
        </p:nvSpPr>
        <p:spPr>
          <a:xfrm>
            <a:off x="780901" y="10107290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0" name="Google Shape;1980;p41"/>
          <p:cNvSpPr/>
          <p:nvPr/>
        </p:nvSpPr>
        <p:spPr>
          <a:xfrm>
            <a:off x="1218902" y="10078715"/>
            <a:ext cx="6667619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add audio or visuals that develop my main idea.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1" name="Google Shape;1981;p41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2" name="Google Shape;1982;p41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3" name="Google Shape;1983;p41"/>
          <p:cNvSpPr/>
          <p:nvPr/>
        </p:nvSpPr>
        <p:spPr>
          <a:xfrm>
            <a:off x="10909846" y="14897174"/>
            <a:ext cx="77740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SL.4.5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988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42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0" name="Google Shape;1990;p42"/>
          <p:cNvSpPr/>
          <p:nvPr/>
        </p:nvSpPr>
        <p:spPr>
          <a:xfrm>
            <a:off x="533326" y="533326"/>
            <a:ext cx="1040906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SPEAKING AND LISTENING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1" name="Google Shape;1991;p42"/>
          <p:cNvSpPr/>
          <p:nvPr/>
        </p:nvSpPr>
        <p:spPr>
          <a:xfrm>
            <a:off x="533326" y="847651"/>
            <a:ext cx="9746674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Presentation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2" name="Google Shape;1992;p42"/>
          <p:cNvSpPr/>
          <p:nvPr/>
        </p:nvSpPr>
        <p:spPr>
          <a:xfrm>
            <a:off x="10281865" y="533326"/>
            <a:ext cx="132918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3" name="Google Shape;1993;p42"/>
          <p:cNvSpPr/>
          <p:nvPr/>
        </p:nvSpPr>
        <p:spPr>
          <a:xfrm>
            <a:off x="10491415" y="647626"/>
            <a:ext cx="98628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SL.4.6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4" name="Google Shape;1994;p42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5" name="Google Shape;1995;p42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42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7" name="Google Shape;1997;p42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Differentiate between contexts that call for formal English and situations where informal discourse is appropriate.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8" name="Google Shape;1998;p42"/>
          <p:cNvSpPr/>
          <p:nvPr/>
        </p:nvSpPr>
        <p:spPr>
          <a:xfrm>
            <a:off x="533326" y="4016350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9" name="Google Shape;1999;p42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0" name="Google Shape;2000;p42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1" name="Google Shape;2001;p42"/>
          <p:cNvSpPr/>
          <p:nvPr/>
        </p:nvSpPr>
        <p:spPr>
          <a:xfrm>
            <a:off x="999902" y="4635401"/>
            <a:ext cx="401181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When is formal English required?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2" name="Google Shape;2002;p42"/>
          <p:cNvSpPr/>
          <p:nvPr/>
        </p:nvSpPr>
        <p:spPr>
          <a:xfrm>
            <a:off x="790501" y="5188595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3" name="Google Shape;2003;p42"/>
          <p:cNvSpPr/>
          <p:nvPr/>
        </p:nvSpPr>
        <p:spPr>
          <a:xfrm>
            <a:off x="999902" y="5083894"/>
            <a:ext cx="317885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switch registers?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4" name="Google Shape;2004;p42"/>
          <p:cNvSpPr/>
          <p:nvPr/>
        </p:nvSpPr>
        <p:spPr>
          <a:xfrm>
            <a:off x="6167289" y="4016350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42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6" name="Google Shape;2006;p42"/>
          <p:cNvSpPr/>
          <p:nvPr/>
        </p:nvSpPr>
        <p:spPr>
          <a:xfrm>
            <a:off x="6424464" y="4635401"/>
            <a:ext cx="183192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7" name="Google Shape;2007;p42"/>
          <p:cNvSpPr/>
          <p:nvPr/>
        </p:nvSpPr>
        <p:spPr>
          <a:xfrm>
            <a:off x="6586389" y="4702076"/>
            <a:ext cx="158427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formal English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8" name="Google Shape;2008;p42"/>
          <p:cNvSpPr/>
          <p:nvPr/>
        </p:nvSpPr>
        <p:spPr>
          <a:xfrm>
            <a:off x="8342114" y="4635401"/>
            <a:ext cx="225519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42"/>
          <p:cNvSpPr/>
          <p:nvPr/>
        </p:nvSpPr>
        <p:spPr>
          <a:xfrm>
            <a:off x="8504039" y="4702076"/>
            <a:ext cx="200754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informal discourse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0" name="Google Shape;2010;p42"/>
          <p:cNvSpPr/>
          <p:nvPr/>
        </p:nvSpPr>
        <p:spPr>
          <a:xfrm>
            <a:off x="6424464" y="5139928"/>
            <a:ext cx="109120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42"/>
          <p:cNvSpPr/>
          <p:nvPr/>
        </p:nvSpPr>
        <p:spPr>
          <a:xfrm>
            <a:off x="6586389" y="5206603"/>
            <a:ext cx="843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2" name="Google Shape;2012;p42"/>
          <p:cNvSpPr/>
          <p:nvPr/>
        </p:nvSpPr>
        <p:spPr>
          <a:xfrm>
            <a:off x="7601396" y="5139928"/>
            <a:ext cx="111755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3" name="Google Shape;2013;p42"/>
          <p:cNvSpPr/>
          <p:nvPr/>
        </p:nvSpPr>
        <p:spPr>
          <a:xfrm>
            <a:off x="7763321" y="5206603"/>
            <a:ext cx="86990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register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4" name="Google Shape;2014;p42"/>
          <p:cNvSpPr/>
          <p:nvPr/>
        </p:nvSpPr>
        <p:spPr>
          <a:xfrm>
            <a:off x="533326" y="596815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p42"/>
          <p:cNvSpPr/>
          <p:nvPr/>
        </p:nvSpPr>
        <p:spPr>
          <a:xfrm>
            <a:off x="809476" y="618715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6" name="Google Shape;2016;p42"/>
          <p:cNvSpPr/>
          <p:nvPr/>
        </p:nvSpPr>
        <p:spPr>
          <a:xfrm>
            <a:off x="809476" y="661578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7" name="Google Shape;2017;p42"/>
          <p:cNvSpPr/>
          <p:nvPr/>
        </p:nvSpPr>
        <p:spPr>
          <a:xfrm>
            <a:off x="1247477" y="6587207"/>
            <a:ext cx="559621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Differentiate contexts calling for formal English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8" name="Google Shape;2018;p42"/>
          <p:cNvSpPr/>
          <p:nvPr/>
        </p:nvSpPr>
        <p:spPr>
          <a:xfrm>
            <a:off x="809476" y="705467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9" name="Google Shape;2019;p42"/>
          <p:cNvSpPr/>
          <p:nvPr/>
        </p:nvSpPr>
        <p:spPr>
          <a:xfrm>
            <a:off x="1247477" y="7026101"/>
            <a:ext cx="734243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Recognize situations where informal discourse is appropriate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0" name="Google Shape;2020;p42"/>
          <p:cNvSpPr/>
          <p:nvPr/>
        </p:nvSpPr>
        <p:spPr>
          <a:xfrm>
            <a:off x="809476" y="749357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1" name="Google Shape;2021;p42"/>
          <p:cNvSpPr/>
          <p:nvPr/>
        </p:nvSpPr>
        <p:spPr>
          <a:xfrm>
            <a:off x="1247477" y="7464996"/>
            <a:ext cx="696426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formal English when appropriate to task and situation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2" name="Google Shape;2022;p42"/>
          <p:cNvSpPr/>
          <p:nvPr/>
        </p:nvSpPr>
        <p:spPr>
          <a:xfrm>
            <a:off x="533326" y="8208615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3" name="Google Shape;2023;p42"/>
          <p:cNvSpPr/>
          <p:nvPr/>
        </p:nvSpPr>
        <p:spPr>
          <a:xfrm>
            <a:off x="533326" y="8208615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4" name="Google Shape;2024;p42"/>
          <p:cNvSpPr/>
          <p:nvPr/>
        </p:nvSpPr>
        <p:spPr>
          <a:xfrm>
            <a:off x="895201" y="839904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5" name="Google Shape;2025;p42"/>
          <p:cNvSpPr/>
          <p:nvPr/>
        </p:nvSpPr>
        <p:spPr>
          <a:xfrm>
            <a:off x="895201" y="8760916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hear formal English as unnatural and resist it, or over-formalize into stilted phrasing.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6" name="Google Shape;2026;p42"/>
          <p:cNvSpPr/>
          <p:nvPr/>
        </p:nvSpPr>
        <p:spPr>
          <a:xfrm>
            <a:off x="533326" y="9488239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7" name="Google Shape;2027;p42"/>
          <p:cNvSpPr/>
          <p:nvPr/>
        </p:nvSpPr>
        <p:spPr>
          <a:xfrm>
            <a:off x="780901" y="9678665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8" name="Google Shape;2028;p42"/>
          <p:cNvSpPr/>
          <p:nvPr/>
        </p:nvSpPr>
        <p:spPr>
          <a:xfrm>
            <a:off x="780901" y="10107290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9" name="Google Shape;2029;p42"/>
          <p:cNvSpPr/>
          <p:nvPr/>
        </p:nvSpPr>
        <p:spPr>
          <a:xfrm>
            <a:off x="1218902" y="10078715"/>
            <a:ext cx="591274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tell when to use formal English and use it.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0" name="Google Shape;2030;p42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1" name="Google Shape;2031;p42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2" name="Google Shape;2032;p42"/>
          <p:cNvSpPr/>
          <p:nvPr/>
        </p:nvSpPr>
        <p:spPr>
          <a:xfrm>
            <a:off x="10909846" y="14897174"/>
            <a:ext cx="77740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SL.4.6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037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p43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9" name="Google Shape;2039;p43"/>
          <p:cNvSpPr/>
          <p:nvPr/>
        </p:nvSpPr>
        <p:spPr>
          <a:xfrm>
            <a:off x="533326" y="533326"/>
            <a:ext cx="936934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LANGUAGE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0" name="Google Shape;2040;p43"/>
          <p:cNvSpPr/>
          <p:nvPr/>
        </p:nvSpPr>
        <p:spPr>
          <a:xfrm>
            <a:off x="533326" y="847651"/>
            <a:ext cx="936934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Conventions of Standard English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1" name="Google Shape;2041;p43"/>
          <p:cNvSpPr/>
          <p:nvPr/>
        </p:nvSpPr>
        <p:spPr>
          <a:xfrm>
            <a:off x="10483900" y="533326"/>
            <a:ext cx="1127150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2" name="Google Shape;2042;p43"/>
          <p:cNvSpPr/>
          <p:nvPr/>
        </p:nvSpPr>
        <p:spPr>
          <a:xfrm>
            <a:off x="10693450" y="647626"/>
            <a:ext cx="784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L.4.1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3" name="Google Shape;2043;p43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4" name="Google Shape;2044;p43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5" name="Google Shape;2045;p43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6" name="Google Shape;2046;p43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Demonstrate command of the conventions of standard English grammar and usage when writing or speaking.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7" name="Google Shape;2047;p43"/>
          <p:cNvSpPr/>
          <p:nvPr/>
        </p:nvSpPr>
        <p:spPr>
          <a:xfrm>
            <a:off x="533326" y="3496419"/>
            <a:ext cx="5443538" cy="2265908"/>
          </a:xfrm>
          <a:prstGeom prst="roundRect">
            <a:avLst>
              <a:gd fmla="val 588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8" name="Google Shape;2048;p43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9" name="Google Shape;2049;p43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0" name="Google Shape;2050;p43"/>
          <p:cNvSpPr/>
          <p:nvPr/>
        </p:nvSpPr>
        <p:spPr>
          <a:xfrm>
            <a:off x="999902" y="4115470"/>
            <a:ext cx="420900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the parts of a sentence fit?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1" name="Google Shape;2051;p43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2" name="Google Shape;2052;p43"/>
          <p:cNvSpPr/>
          <p:nvPr/>
        </p:nvSpPr>
        <p:spPr>
          <a:xfrm>
            <a:off x="999902" y="4563963"/>
            <a:ext cx="413288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fix a run-on or fragment?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3" name="Google Shape;2053;p43"/>
          <p:cNvSpPr/>
          <p:nvPr/>
        </p:nvSpPr>
        <p:spPr>
          <a:xfrm>
            <a:off x="6167289" y="3496419"/>
            <a:ext cx="5443761" cy="2265908"/>
          </a:xfrm>
          <a:prstGeom prst="roundRect">
            <a:avLst>
              <a:gd fmla="val 588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4" name="Google Shape;2054;p43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5" name="Google Shape;2055;p43"/>
          <p:cNvSpPr/>
          <p:nvPr/>
        </p:nvSpPr>
        <p:spPr>
          <a:xfrm>
            <a:off x="6424464" y="4115470"/>
            <a:ext cx="203083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6" name="Google Shape;2056;p43"/>
          <p:cNvSpPr/>
          <p:nvPr/>
        </p:nvSpPr>
        <p:spPr>
          <a:xfrm>
            <a:off x="6586389" y="4182145"/>
            <a:ext cx="178318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relative pronoun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7" name="Google Shape;2057;p43"/>
          <p:cNvSpPr/>
          <p:nvPr/>
        </p:nvSpPr>
        <p:spPr>
          <a:xfrm>
            <a:off x="8541023" y="4115470"/>
            <a:ext cx="220250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8" name="Google Shape;2058;p43"/>
          <p:cNvSpPr/>
          <p:nvPr/>
        </p:nvSpPr>
        <p:spPr>
          <a:xfrm>
            <a:off x="8702948" y="4182145"/>
            <a:ext cx="195485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progressive tense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9" name="Google Shape;2059;p43"/>
          <p:cNvSpPr/>
          <p:nvPr/>
        </p:nvSpPr>
        <p:spPr>
          <a:xfrm>
            <a:off x="6424464" y="4619997"/>
            <a:ext cx="191140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0" name="Google Shape;2060;p43"/>
          <p:cNvSpPr/>
          <p:nvPr/>
        </p:nvSpPr>
        <p:spPr>
          <a:xfrm>
            <a:off x="6586389" y="4686672"/>
            <a:ext cx="166375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modal auxiliary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1" name="Google Shape;2061;p43"/>
          <p:cNvSpPr/>
          <p:nvPr/>
        </p:nvSpPr>
        <p:spPr>
          <a:xfrm>
            <a:off x="8421588" y="4619997"/>
            <a:ext cx="246749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2" name="Google Shape;2062;p43"/>
          <p:cNvSpPr/>
          <p:nvPr/>
        </p:nvSpPr>
        <p:spPr>
          <a:xfrm>
            <a:off x="8583513" y="4686672"/>
            <a:ext cx="221984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prepositional phrase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3" name="Google Shape;2063;p43"/>
          <p:cNvSpPr/>
          <p:nvPr/>
        </p:nvSpPr>
        <p:spPr>
          <a:xfrm>
            <a:off x="6424464" y="5124524"/>
            <a:ext cx="126310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4" name="Google Shape;2064;p43"/>
          <p:cNvSpPr/>
          <p:nvPr/>
        </p:nvSpPr>
        <p:spPr>
          <a:xfrm>
            <a:off x="6586389" y="5191199"/>
            <a:ext cx="101545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fragment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5" name="Google Shape;2065;p43"/>
          <p:cNvSpPr/>
          <p:nvPr/>
        </p:nvSpPr>
        <p:spPr>
          <a:xfrm>
            <a:off x="7773293" y="5124524"/>
            <a:ext cx="101195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6" name="Google Shape;2066;p43"/>
          <p:cNvSpPr/>
          <p:nvPr/>
        </p:nvSpPr>
        <p:spPr>
          <a:xfrm>
            <a:off x="7935218" y="5191199"/>
            <a:ext cx="76430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run-on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7" name="Google Shape;2067;p43"/>
          <p:cNvSpPr/>
          <p:nvPr/>
        </p:nvSpPr>
        <p:spPr>
          <a:xfrm>
            <a:off x="8870975" y="5124524"/>
            <a:ext cx="158122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8" name="Google Shape;2068;p43"/>
          <p:cNvSpPr/>
          <p:nvPr/>
        </p:nvSpPr>
        <p:spPr>
          <a:xfrm>
            <a:off x="9032900" y="5191199"/>
            <a:ext cx="133357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homophone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9" name="Google Shape;2069;p43"/>
          <p:cNvSpPr/>
          <p:nvPr/>
        </p:nvSpPr>
        <p:spPr>
          <a:xfrm>
            <a:off x="533326" y="5952753"/>
            <a:ext cx="11077724" cy="3805610"/>
          </a:xfrm>
          <a:prstGeom prst="roundRect">
            <a:avLst>
              <a:gd fmla="val 3504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0" name="Google Shape;2070;p43"/>
          <p:cNvSpPr/>
          <p:nvPr/>
        </p:nvSpPr>
        <p:spPr>
          <a:xfrm>
            <a:off x="809476" y="6171754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1" name="Google Shape;2071;p43"/>
          <p:cNvSpPr/>
          <p:nvPr/>
        </p:nvSpPr>
        <p:spPr>
          <a:xfrm>
            <a:off x="809476" y="660037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2" name="Google Shape;2072;p43"/>
          <p:cNvSpPr/>
          <p:nvPr/>
        </p:nvSpPr>
        <p:spPr>
          <a:xfrm>
            <a:off x="1247477" y="6571804"/>
            <a:ext cx="517801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relative pronouns and relative adverbs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3" name="Google Shape;2073;p43"/>
          <p:cNvSpPr/>
          <p:nvPr/>
        </p:nvSpPr>
        <p:spPr>
          <a:xfrm>
            <a:off x="809476" y="703927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4" name="Google Shape;2074;p43"/>
          <p:cNvSpPr/>
          <p:nvPr/>
        </p:nvSpPr>
        <p:spPr>
          <a:xfrm>
            <a:off x="1247477" y="7010698"/>
            <a:ext cx="464759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Form and use progressive verb tenses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5" name="Google Shape;2075;p43"/>
          <p:cNvSpPr/>
          <p:nvPr/>
        </p:nvSpPr>
        <p:spPr>
          <a:xfrm>
            <a:off x="809476" y="747816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6" name="Google Shape;2076;p43"/>
          <p:cNvSpPr/>
          <p:nvPr/>
        </p:nvSpPr>
        <p:spPr>
          <a:xfrm>
            <a:off x="1247477" y="7449592"/>
            <a:ext cx="258851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modal auxiliaries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7" name="Google Shape;2077;p43"/>
          <p:cNvSpPr/>
          <p:nvPr/>
        </p:nvSpPr>
        <p:spPr>
          <a:xfrm>
            <a:off x="809476" y="791706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8" name="Google Shape;2078;p43"/>
          <p:cNvSpPr/>
          <p:nvPr/>
        </p:nvSpPr>
        <p:spPr>
          <a:xfrm>
            <a:off x="1247477" y="7888486"/>
            <a:ext cx="378491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Order adjectives conventionally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9" name="Google Shape;2079;p43"/>
          <p:cNvSpPr/>
          <p:nvPr/>
        </p:nvSpPr>
        <p:spPr>
          <a:xfrm>
            <a:off x="809476" y="835595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0" name="Google Shape;2080;p43"/>
          <p:cNvSpPr/>
          <p:nvPr/>
        </p:nvSpPr>
        <p:spPr>
          <a:xfrm>
            <a:off x="1247477" y="8327380"/>
            <a:ext cx="434505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Form and use prepositional phrases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1" name="Google Shape;2081;p43"/>
          <p:cNvSpPr/>
          <p:nvPr/>
        </p:nvSpPr>
        <p:spPr>
          <a:xfrm>
            <a:off x="809476" y="879484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2" name="Google Shape;2082;p43"/>
          <p:cNvSpPr/>
          <p:nvPr/>
        </p:nvSpPr>
        <p:spPr>
          <a:xfrm>
            <a:off x="1247477" y="8766274"/>
            <a:ext cx="776677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Produce complete sentences and correct fragments and run-ons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3" name="Google Shape;2083;p43"/>
          <p:cNvSpPr/>
          <p:nvPr/>
        </p:nvSpPr>
        <p:spPr>
          <a:xfrm>
            <a:off x="809476" y="923374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4" name="Google Shape;2084;p43"/>
          <p:cNvSpPr/>
          <p:nvPr/>
        </p:nvSpPr>
        <p:spPr>
          <a:xfrm>
            <a:off x="1247477" y="9205168"/>
            <a:ext cx="485951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Correctly use frequently confused words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5" name="Google Shape;2085;p43"/>
          <p:cNvSpPr/>
          <p:nvPr/>
        </p:nvSpPr>
        <p:spPr>
          <a:xfrm>
            <a:off x="533326" y="9948788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6" name="Google Shape;2086;p43"/>
          <p:cNvSpPr/>
          <p:nvPr/>
        </p:nvSpPr>
        <p:spPr>
          <a:xfrm>
            <a:off x="533326" y="9948788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7" name="Google Shape;2087;p43"/>
          <p:cNvSpPr/>
          <p:nvPr/>
        </p:nvSpPr>
        <p:spPr>
          <a:xfrm>
            <a:off x="895201" y="1013921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8" name="Google Shape;2088;p43"/>
          <p:cNvSpPr/>
          <p:nvPr/>
        </p:nvSpPr>
        <p:spPr>
          <a:xfrm>
            <a:off x="895201" y="10501089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To, too, and two, and there, their, and they’re remain the most frequent errors and require targeted practice.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9" name="Google Shape;2089;p43"/>
          <p:cNvSpPr/>
          <p:nvPr/>
        </p:nvSpPr>
        <p:spPr>
          <a:xfrm>
            <a:off x="533326" y="11574884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0" name="Google Shape;2090;p43"/>
          <p:cNvSpPr/>
          <p:nvPr/>
        </p:nvSpPr>
        <p:spPr>
          <a:xfrm>
            <a:off x="780901" y="11765310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1" name="Google Shape;2091;p43"/>
          <p:cNvSpPr/>
          <p:nvPr/>
        </p:nvSpPr>
        <p:spPr>
          <a:xfrm>
            <a:off x="780901" y="1219393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2" name="Google Shape;2092;p43"/>
          <p:cNvSpPr/>
          <p:nvPr/>
        </p:nvSpPr>
        <p:spPr>
          <a:xfrm>
            <a:off x="1218902" y="12165360"/>
            <a:ext cx="764178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write complete sentences without fragments or run-ons.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3" name="Google Shape;2093;p43"/>
          <p:cNvSpPr/>
          <p:nvPr/>
        </p:nvSpPr>
        <p:spPr>
          <a:xfrm>
            <a:off x="780901" y="12636178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4" name="Google Shape;2094;p43"/>
          <p:cNvSpPr/>
          <p:nvPr/>
        </p:nvSpPr>
        <p:spPr>
          <a:xfrm>
            <a:off x="1218902" y="12607603"/>
            <a:ext cx="573397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use frequently confused words correctly.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5" name="Google Shape;2095;p43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6" name="Google Shape;2096;p43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7" name="Google Shape;2097;p43"/>
          <p:cNvSpPr/>
          <p:nvPr/>
        </p:nvSpPr>
        <p:spPr>
          <a:xfrm>
            <a:off x="11068571" y="14897174"/>
            <a:ext cx="6186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L.4.1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102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Google Shape;2103;p44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4" name="Google Shape;2104;p44"/>
          <p:cNvSpPr/>
          <p:nvPr/>
        </p:nvSpPr>
        <p:spPr>
          <a:xfrm>
            <a:off x="533326" y="533326"/>
            <a:ext cx="936934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LANGUAGE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5" name="Google Shape;2105;p44"/>
          <p:cNvSpPr/>
          <p:nvPr/>
        </p:nvSpPr>
        <p:spPr>
          <a:xfrm>
            <a:off x="533326" y="847651"/>
            <a:ext cx="936934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Conventions of Standard English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6" name="Google Shape;2106;p44"/>
          <p:cNvSpPr/>
          <p:nvPr/>
        </p:nvSpPr>
        <p:spPr>
          <a:xfrm>
            <a:off x="10483900" y="533326"/>
            <a:ext cx="1127150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7" name="Google Shape;2107;p44"/>
          <p:cNvSpPr/>
          <p:nvPr/>
        </p:nvSpPr>
        <p:spPr>
          <a:xfrm>
            <a:off x="10693450" y="647626"/>
            <a:ext cx="784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L.4.2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8" name="Google Shape;2108;p44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9" name="Google Shape;2109;p44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0" name="Google Shape;2110;p44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1" name="Google Shape;2111;p44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Demonstrate command of the conventions of standard English capitalization, punctuation, and spelling when writing.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2" name="Google Shape;2112;p44"/>
          <p:cNvSpPr/>
          <p:nvPr/>
        </p:nvSpPr>
        <p:spPr>
          <a:xfrm>
            <a:off x="533326" y="3496419"/>
            <a:ext cx="5443538" cy="2265908"/>
          </a:xfrm>
          <a:prstGeom prst="roundRect">
            <a:avLst>
              <a:gd fmla="val 588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3" name="Google Shape;2113;p44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4" name="Google Shape;2114;p44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5" name="Google Shape;2115;p44"/>
          <p:cNvSpPr/>
          <p:nvPr/>
        </p:nvSpPr>
        <p:spPr>
          <a:xfrm>
            <a:off x="999902" y="4115470"/>
            <a:ext cx="393692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Where does the punctuation go?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6" name="Google Shape;2116;p44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7" name="Google Shape;2117;p44"/>
          <p:cNvSpPr/>
          <p:nvPr/>
        </p:nvSpPr>
        <p:spPr>
          <a:xfrm>
            <a:off x="999902" y="4563963"/>
            <a:ext cx="392194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punctuate a quotation?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8" name="Google Shape;2118;p44"/>
          <p:cNvSpPr/>
          <p:nvPr/>
        </p:nvSpPr>
        <p:spPr>
          <a:xfrm>
            <a:off x="6167289" y="3496419"/>
            <a:ext cx="5443761" cy="2265908"/>
          </a:xfrm>
          <a:prstGeom prst="roundRect">
            <a:avLst>
              <a:gd fmla="val 588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9" name="Google Shape;2119;p44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0" name="Google Shape;2120;p44"/>
          <p:cNvSpPr/>
          <p:nvPr/>
        </p:nvSpPr>
        <p:spPr>
          <a:xfrm>
            <a:off x="6424464" y="4115470"/>
            <a:ext cx="169998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1" name="Google Shape;2121;p44"/>
          <p:cNvSpPr/>
          <p:nvPr/>
        </p:nvSpPr>
        <p:spPr>
          <a:xfrm>
            <a:off x="6586389" y="4182145"/>
            <a:ext cx="145233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capitalization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2" name="Google Shape;2122;p44"/>
          <p:cNvSpPr/>
          <p:nvPr/>
        </p:nvSpPr>
        <p:spPr>
          <a:xfrm>
            <a:off x="8210178" y="4115470"/>
            <a:ext cx="201744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3" name="Google Shape;2123;p44"/>
          <p:cNvSpPr/>
          <p:nvPr/>
        </p:nvSpPr>
        <p:spPr>
          <a:xfrm>
            <a:off x="8372103" y="4182145"/>
            <a:ext cx="176979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quotation marks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4" name="Google Shape;2124;p44"/>
          <p:cNvSpPr/>
          <p:nvPr/>
        </p:nvSpPr>
        <p:spPr>
          <a:xfrm>
            <a:off x="6424464" y="4619997"/>
            <a:ext cx="289098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5" name="Google Shape;2125;p44"/>
          <p:cNvSpPr/>
          <p:nvPr/>
        </p:nvSpPr>
        <p:spPr>
          <a:xfrm>
            <a:off x="6586389" y="4686672"/>
            <a:ext cx="265386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coordinating conjunction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6" name="Google Shape;2126;p44"/>
          <p:cNvSpPr/>
          <p:nvPr/>
        </p:nvSpPr>
        <p:spPr>
          <a:xfrm>
            <a:off x="6424464" y="5124524"/>
            <a:ext cx="246749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7" name="Google Shape;2127;p44"/>
          <p:cNvSpPr/>
          <p:nvPr/>
        </p:nvSpPr>
        <p:spPr>
          <a:xfrm>
            <a:off x="6586389" y="5191199"/>
            <a:ext cx="221984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compound sentence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8" name="Google Shape;2128;p44"/>
          <p:cNvSpPr/>
          <p:nvPr/>
        </p:nvSpPr>
        <p:spPr>
          <a:xfrm>
            <a:off x="8977685" y="5124524"/>
            <a:ext cx="173950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9" name="Google Shape;2129;p44"/>
          <p:cNvSpPr/>
          <p:nvPr/>
        </p:nvSpPr>
        <p:spPr>
          <a:xfrm>
            <a:off x="9139610" y="5191199"/>
            <a:ext cx="149185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direct speech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0" name="Google Shape;2130;p44"/>
          <p:cNvSpPr/>
          <p:nvPr/>
        </p:nvSpPr>
        <p:spPr>
          <a:xfrm>
            <a:off x="533326" y="5952753"/>
            <a:ext cx="11077724" cy="2488927"/>
          </a:xfrm>
          <a:prstGeom prst="roundRect">
            <a:avLst>
              <a:gd fmla="val 535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1" name="Google Shape;2131;p44"/>
          <p:cNvSpPr/>
          <p:nvPr/>
        </p:nvSpPr>
        <p:spPr>
          <a:xfrm>
            <a:off x="809476" y="6171754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2" name="Google Shape;2132;p44"/>
          <p:cNvSpPr/>
          <p:nvPr/>
        </p:nvSpPr>
        <p:spPr>
          <a:xfrm>
            <a:off x="809476" y="660037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3" name="Google Shape;2133;p44"/>
          <p:cNvSpPr/>
          <p:nvPr/>
        </p:nvSpPr>
        <p:spPr>
          <a:xfrm>
            <a:off x="1247477" y="6571804"/>
            <a:ext cx="304281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correct capitalization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4" name="Google Shape;2134;p44"/>
          <p:cNvSpPr/>
          <p:nvPr/>
        </p:nvSpPr>
        <p:spPr>
          <a:xfrm>
            <a:off x="809476" y="703927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5" name="Google Shape;2135;p44"/>
          <p:cNvSpPr/>
          <p:nvPr/>
        </p:nvSpPr>
        <p:spPr>
          <a:xfrm>
            <a:off x="1247477" y="7010698"/>
            <a:ext cx="867463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commas and quotation marks to mark direct speech and quotations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6" name="Google Shape;2136;p44"/>
          <p:cNvSpPr/>
          <p:nvPr/>
        </p:nvSpPr>
        <p:spPr>
          <a:xfrm>
            <a:off x="809476" y="747816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7" name="Google Shape;2137;p44"/>
          <p:cNvSpPr/>
          <p:nvPr/>
        </p:nvSpPr>
        <p:spPr>
          <a:xfrm>
            <a:off x="1247477" y="7449592"/>
            <a:ext cx="881190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a comma before a coordinating conjunction in a compound sentence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8" name="Google Shape;2138;p44"/>
          <p:cNvSpPr/>
          <p:nvPr/>
        </p:nvSpPr>
        <p:spPr>
          <a:xfrm>
            <a:off x="809476" y="791706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9" name="Google Shape;2139;p44"/>
          <p:cNvSpPr/>
          <p:nvPr/>
        </p:nvSpPr>
        <p:spPr>
          <a:xfrm>
            <a:off x="1247477" y="7888486"/>
            <a:ext cx="747356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Spell grade-appropriate words correctly, consulting references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0" name="Google Shape;2140;p44"/>
          <p:cNvSpPr/>
          <p:nvPr/>
        </p:nvSpPr>
        <p:spPr>
          <a:xfrm>
            <a:off x="533326" y="8632106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1" name="Google Shape;2141;p44"/>
          <p:cNvSpPr/>
          <p:nvPr/>
        </p:nvSpPr>
        <p:spPr>
          <a:xfrm>
            <a:off x="533326" y="8632106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2" name="Google Shape;2142;p44"/>
          <p:cNvSpPr/>
          <p:nvPr/>
        </p:nvSpPr>
        <p:spPr>
          <a:xfrm>
            <a:off x="895201" y="882253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3" name="Google Shape;2143;p44"/>
          <p:cNvSpPr/>
          <p:nvPr/>
        </p:nvSpPr>
        <p:spPr>
          <a:xfrm>
            <a:off x="895201" y="9184407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The comma before "and" in a compound sentence is either omitted entirely or inserted before every "and".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4" name="Google Shape;2144;p44"/>
          <p:cNvSpPr/>
          <p:nvPr/>
        </p:nvSpPr>
        <p:spPr>
          <a:xfrm>
            <a:off x="533326" y="10258202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5" name="Google Shape;2145;p44"/>
          <p:cNvSpPr/>
          <p:nvPr/>
        </p:nvSpPr>
        <p:spPr>
          <a:xfrm>
            <a:off x="780901" y="1044862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6" name="Google Shape;2146;p44"/>
          <p:cNvSpPr/>
          <p:nvPr/>
        </p:nvSpPr>
        <p:spPr>
          <a:xfrm>
            <a:off x="780901" y="1087725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7" name="Google Shape;2147;p44"/>
          <p:cNvSpPr/>
          <p:nvPr/>
        </p:nvSpPr>
        <p:spPr>
          <a:xfrm>
            <a:off x="1218902" y="10848677"/>
            <a:ext cx="7842163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punctuate quotations and compound sentences correctly.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8" name="Google Shape;2148;p44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9" name="Google Shape;2149;p44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0" name="Google Shape;2150;p44"/>
          <p:cNvSpPr/>
          <p:nvPr/>
        </p:nvSpPr>
        <p:spPr>
          <a:xfrm>
            <a:off x="11068571" y="14897174"/>
            <a:ext cx="6186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L.4.2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p45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7" name="Google Shape;2157;p45"/>
          <p:cNvSpPr/>
          <p:nvPr/>
        </p:nvSpPr>
        <p:spPr>
          <a:xfrm>
            <a:off x="533326" y="533326"/>
            <a:ext cx="788022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LANGUAGE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8" name="Google Shape;2158;p45"/>
          <p:cNvSpPr/>
          <p:nvPr/>
        </p:nvSpPr>
        <p:spPr>
          <a:xfrm>
            <a:off x="533326" y="847651"/>
            <a:ext cx="788022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Knowledge and Vocabulary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9" name="Google Shape;2159;p45"/>
          <p:cNvSpPr/>
          <p:nvPr/>
        </p:nvSpPr>
        <p:spPr>
          <a:xfrm>
            <a:off x="10483900" y="533326"/>
            <a:ext cx="1127150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0" name="Google Shape;2160;p45"/>
          <p:cNvSpPr/>
          <p:nvPr/>
        </p:nvSpPr>
        <p:spPr>
          <a:xfrm>
            <a:off x="10693450" y="647626"/>
            <a:ext cx="784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L.4.3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1" name="Google Shape;2161;p45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2" name="Google Shape;2162;p45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3" name="Google Shape;2163;p45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4" name="Google Shape;2164;p45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knowledge of language and its conventions when writing, speaking, reading, or listening.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5" name="Google Shape;2165;p45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6" name="Google Shape;2166;p45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7" name="Google Shape;2167;p45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8" name="Google Shape;2168;p45"/>
          <p:cNvSpPr/>
          <p:nvPr/>
        </p:nvSpPr>
        <p:spPr>
          <a:xfrm>
            <a:off x="999902" y="4115470"/>
            <a:ext cx="379940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Which words are most precise?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9" name="Google Shape;2169;p45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0" name="Google Shape;2170;p45"/>
          <p:cNvSpPr/>
          <p:nvPr/>
        </p:nvSpPr>
        <p:spPr>
          <a:xfrm>
            <a:off x="999902" y="4563963"/>
            <a:ext cx="376919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say it in fewer words?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1" name="Google Shape;2171;p45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2" name="Google Shape;2172;p45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3" name="Google Shape;2173;p45"/>
          <p:cNvSpPr/>
          <p:nvPr/>
        </p:nvSpPr>
        <p:spPr>
          <a:xfrm>
            <a:off x="6424464" y="4115470"/>
            <a:ext cx="109120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4" name="Google Shape;2174;p45"/>
          <p:cNvSpPr/>
          <p:nvPr/>
        </p:nvSpPr>
        <p:spPr>
          <a:xfrm>
            <a:off x="6586389" y="4182145"/>
            <a:ext cx="843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precise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5" name="Google Shape;2175;p45"/>
          <p:cNvSpPr/>
          <p:nvPr/>
        </p:nvSpPr>
        <p:spPr>
          <a:xfrm>
            <a:off x="7601396" y="4115470"/>
            <a:ext cx="107803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6" name="Google Shape;2176;p45"/>
          <p:cNvSpPr/>
          <p:nvPr/>
        </p:nvSpPr>
        <p:spPr>
          <a:xfrm>
            <a:off x="7763321" y="4182145"/>
            <a:ext cx="83038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convey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7" name="Google Shape;2177;p45"/>
          <p:cNvSpPr/>
          <p:nvPr/>
        </p:nvSpPr>
        <p:spPr>
          <a:xfrm>
            <a:off x="8765158" y="4115470"/>
            <a:ext cx="90167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8" name="Google Shape;2178;p45"/>
          <p:cNvSpPr/>
          <p:nvPr/>
        </p:nvSpPr>
        <p:spPr>
          <a:xfrm>
            <a:off x="8927083" y="4182145"/>
            <a:ext cx="65402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effect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9" name="Google Shape;2179;p45"/>
          <p:cNvSpPr/>
          <p:nvPr/>
        </p:nvSpPr>
        <p:spPr>
          <a:xfrm>
            <a:off x="9752558" y="4115470"/>
            <a:ext cx="98516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0" name="Google Shape;2180;p45"/>
          <p:cNvSpPr/>
          <p:nvPr/>
        </p:nvSpPr>
        <p:spPr>
          <a:xfrm>
            <a:off x="9914483" y="4182145"/>
            <a:ext cx="73751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formal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1" name="Google Shape;2181;p45"/>
          <p:cNvSpPr/>
          <p:nvPr/>
        </p:nvSpPr>
        <p:spPr>
          <a:xfrm>
            <a:off x="6424464" y="4619997"/>
            <a:ext cx="113094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2" name="Google Shape;2182;p45"/>
          <p:cNvSpPr/>
          <p:nvPr/>
        </p:nvSpPr>
        <p:spPr>
          <a:xfrm>
            <a:off x="6586389" y="4686672"/>
            <a:ext cx="88329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concise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3" name="Google Shape;2183;p45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4" name="Google Shape;2184;p45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5" name="Google Shape;2185;p45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6" name="Google Shape;2186;p45"/>
          <p:cNvSpPr/>
          <p:nvPr/>
        </p:nvSpPr>
        <p:spPr>
          <a:xfrm>
            <a:off x="1247477" y="6067276"/>
            <a:ext cx="643433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Choose words and phrases to convey ideas precisely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7" name="Google Shape;2187;p45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8" name="Google Shape;2188;p45"/>
          <p:cNvSpPr/>
          <p:nvPr/>
        </p:nvSpPr>
        <p:spPr>
          <a:xfrm>
            <a:off x="1247477" y="6506170"/>
            <a:ext cx="355334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Choose punctuation for effect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9" name="Google Shape;2189;p45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0" name="Google Shape;2190;p45"/>
          <p:cNvSpPr/>
          <p:nvPr/>
        </p:nvSpPr>
        <p:spPr>
          <a:xfrm>
            <a:off x="1247477" y="6945064"/>
            <a:ext cx="559621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Differentiate contexts calling for formal English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1" name="Google Shape;2191;p45"/>
          <p:cNvSpPr/>
          <p:nvPr/>
        </p:nvSpPr>
        <p:spPr>
          <a:xfrm>
            <a:off x="533326" y="7688684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2" name="Google Shape;2192;p45"/>
          <p:cNvSpPr/>
          <p:nvPr/>
        </p:nvSpPr>
        <p:spPr>
          <a:xfrm>
            <a:off x="533326" y="7688684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3" name="Google Shape;2193;p45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4" name="Google Shape;2194;p45"/>
          <p:cNvSpPr/>
          <p:nvPr/>
        </p:nvSpPr>
        <p:spPr>
          <a:xfrm>
            <a:off x="895201" y="8240985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reach for long words to sound advanced, at the cost of precision and clarity.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5" name="Google Shape;2195;p45"/>
          <p:cNvSpPr/>
          <p:nvPr/>
        </p:nvSpPr>
        <p:spPr>
          <a:xfrm>
            <a:off x="533326" y="8968308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6" name="Google Shape;2196;p45"/>
          <p:cNvSpPr/>
          <p:nvPr/>
        </p:nvSpPr>
        <p:spPr>
          <a:xfrm>
            <a:off x="780901" y="9158734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7" name="Google Shape;2197;p45"/>
          <p:cNvSpPr/>
          <p:nvPr/>
        </p:nvSpPr>
        <p:spPr>
          <a:xfrm>
            <a:off x="780901" y="958735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8" name="Google Shape;2198;p45"/>
          <p:cNvSpPr/>
          <p:nvPr/>
        </p:nvSpPr>
        <p:spPr>
          <a:xfrm>
            <a:off x="1218902" y="9558784"/>
            <a:ext cx="6919570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choose precise words and cut what I do not need.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9" name="Google Shape;2199;p45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0" name="Google Shape;2200;p45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1" name="Google Shape;2201;p45"/>
          <p:cNvSpPr/>
          <p:nvPr/>
        </p:nvSpPr>
        <p:spPr>
          <a:xfrm>
            <a:off x="11068571" y="14897174"/>
            <a:ext cx="6186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L.4.3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206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p46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8" name="Google Shape;2208;p46"/>
          <p:cNvSpPr/>
          <p:nvPr/>
        </p:nvSpPr>
        <p:spPr>
          <a:xfrm>
            <a:off x="533326" y="533326"/>
            <a:ext cx="788022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LANGUAGE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9" name="Google Shape;2209;p46"/>
          <p:cNvSpPr/>
          <p:nvPr/>
        </p:nvSpPr>
        <p:spPr>
          <a:xfrm>
            <a:off x="533326" y="847651"/>
            <a:ext cx="788022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Knowledge and Vocabulary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0" name="Google Shape;2210;p46"/>
          <p:cNvSpPr/>
          <p:nvPr/>
        </p:nvSpPr>
        <p:spPr>
          <a:xfrm>
            <a:off x="10483900" y="533326"/>
            <a:ext cx="1127150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1" name="Google Shape;2211;p46"/>
          <p:cNvSpPr/>
          <p:nvPr/>
        </p:nvSpPr>
        <p:spPr>
          <a:xfrm>
            <a:off x="10693450" y="647626"/>
            <a:ext cx="784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L.4.4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2" name="Google Shape;2212;p46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3" name="Google Shape;2213;p46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4" name="Google Shape;2214;p46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5" name="Google Shape;2215;p46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or clarify the meaning of unknown and multiple-meaning words and phrases based on grade 4 reading and content.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6" name="Google Shape;2216;p46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7" name="Google Shape;2217;p46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8" name="Google Shape;2218;p46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9" name="Google Shape;2219;p46"/>
          <p:cNvSpPr/>
          <p:nvPr/>
        </p:nvSpPr>
        <p:spPr>
          <a:xfrm>
            <a:off x="999902" y="4115470"/>
            <a:ext cx="342098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strategy fits this word?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0" name="Google Shape;2220;p46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1" name="Google Shape;2221;p46"/>
          <p:cNvSpPr/>
          <p:nvPr/>
        </p:nvSpPr>
        <p:spPr>
          <a:xfrm>
            <a:off x="999902" y="4563963"/>
            <a:ext cx="351209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verify my meaning?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2" name="Google Shape;2222;p46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3" name="Google Shape;2223;p46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4" name="Google Shape;2224;p46"/>
          <p:cNvSpPr/>
          <p:nvPr/>
        </p:nvSpPr>
        <p:spPr>
          <a:xfrm>
            <a:off x="6424464" y="4115470"/>
            <a:ext cx="109120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5" name="Google Shape;2225;p46"/>
          <p:cNvSpPr/>
          <p:nvPr/>
        </p:nvSpPr>
        <p:spPr>
          <a:xfrm>
            <a:off x="6586389" y="4182145"/>
            <a:ext cx="843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6" name="Google Shape;2226;p46"/>
          <p:cNvSpPr/>
          <p:nvPr/>
        </p:nvSpPr>
        <p:spPr>
          <a:xfrm>
            <a:off x="7601396" y="4115470"/>
            <a:ext cx="144839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7" name="Google Shape;2227;p46"/>
          <p:cNvSpPr/>
          <p:nvPr/>
        </p:nvSpPr>
        <p:spPr>
          <a:xfrm>
            <a:off x="7763321" y="4182145"/>
            <a:ext cx="120074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Greek root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8" name="Google Shape;2228;p46"/>
          <p:cNvSpPr/>
          <p:nvPr/>
        </p:nvSpPr>
        <p:spPr>
          <a:xfrm>
            <a:off x="9135517" y="4115470"/>
            <a:ext cx="131623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9" name="Google Shape;2229;p46"/>
          <p:cNvSpPr/>
          <p:nvPr/>
        </p:nvSpPr>
        <p:spPr>
          <a:xfrm>
            <a:off x="9297442" y="4182145"/>
            <a:ext cx="106858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Latin root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0" name="Google Shape;2230;p46"/>
          <p:cNvSpPr/>
          <p:nvPr/>
        </p:nvSpPr>
        <p:spPr>
          <a:xfrm>
            <a:off x="10537478" y="4115470"/>
            <a:ext cx="75612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1" name="Google Shape;2231;p46"/>
          <p:cNvSpPr/>
          <p:nvPr/>
        </p:nvSpPr>
        <p:spPr>
          <a:xfrm>
            <a:off x="10699403" y="4182145"/>
            <a:ext cx="50847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affix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2" name="Google Shape;2232;p46"/>
          <p:cNvSpPr/>
          <p:nvPr/>
        </p:nvSpPr>
        <p:spPr>
          <a:xfrm>
            <a:off x="6424464" y="4619997"/>
            <a:ext cx="89252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3" name="Google Shape;2233;p46"/>
          <p:cNvSpPr/>
          <p:nvPr/>
        </p:nvSpPr>
        <p:spPr>
          <a:xfrm>
            <a:off x="6586389" y="4686672"/>
            <a:ext cx="64487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verify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4" name="Google Shape;2234;p46"/>
          <p:cNvSpPr/>
          <p:nvPr/>
        </p:nvSpPr>
        <p:spPr>
          <a:xfrm>
            <a:off x="7402711" y="4619997"/>
            <a:ext cx="224202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5" name="Google Shape;2235;p46"/>
          <p:cNvSpPr/>
          <p:nvPr/>
        </p:nvSpPr>
        <p:spPr>
          <a:xfrm>
            <a:off x="7564636" y="4686672"/>
            <a:ext cx="199437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reference material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6" name="Google Shape;2236;p46"/>
          <p:cNvSpPr/>
          <p:nvPr/>
        </p:nvSpPr>
        <p:spPr>
          <a:xfrm>
            <a:off x="533326" y="5448226"/>
            <a:ext cx="11077724" cy="2488927"/>
          </a:xfrm>
          <a:prstGeom prst="roundRect">
            <a:avLst>
              <a:gd fmla="val 535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7" name="Google Shape;2237;p46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8" name="Google Shape;2238;p46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9" name="Google Shape;2239;p46"/>
          <p:cNvSpPr/>
          <p:nvPr/>
        </p:nvSpPr>
        <p:spPr>
          <a:xfrm>
            <a:off x="1247477" y="6067276"/>
            <a:ext cx="402728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context as a clue to meaning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0" name="Google Shape;2240;p46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1" name="Google Shape;2241;p46"/>
          <p:cNvSpPr/>
          <p:nvPr/>
        </p:nvSpPr>
        <p:spPr>
          <a:xfrm>
            <a:off x="1247477" y="6506170"/>
            <a:ext cx="676216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common Greek and Latin affixes and roots as clues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2" name="Google Shape;2242;p46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3" name="Google Shape;2243;p46"/>
          <p:cNvSpPr/>
          <p:nvPr/>
        </p:nvSpPr>
        <p:spPr>
          <a:xfrm>
            <a:off x="1247477" y="6945064"/>
            <a:ext cx="829646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Consult reference materials to find pronunciation and clarify meaning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4" name="Google Shape;2244;p46"/>
          <p:cNvSpPr/>
          <p:nvPr/>
        </p:nvSpPr>
        <p:spPr>
          <a:xfrm>
            <a:off x="809476" y="741253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5" name="Google Shape;2245;p46"/>
          <p:cNvSpPr/>
          <p:nvPr/>
        </p:nvSpPr>
        <p:spPr>
          <a:xfrm>
            <a:off x="1247477" y="7383959"/>
            <a:ext cx="569222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Verify the preliminary determination of meaning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6" name="Google Shape;2246;p46"/>
          <p:cNvSpPr/>
          <p:nvPr/>
        </p:nvSpPr>
        <p:spPr>
          <a:xfrm>
            <a:off x="533326" y="8127578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7" name="Google Shape;2247;p46"/>
          <p:cNvSpPr/>
          <p:nvPr/>
        </p:nvSpPr>
        <p:spPr>
          <a:xfrm>
            <a:off x="533326" y="8127578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8" name="Google Shape;2248;p46"/>
          <p:cNvSpPr/>
          <p:nvPr/>
        </p:nvSpPr>
        <p:spPr>
          <a:xfrm>
            <a:off x="895201" y="831800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9" name="Google Shape;2249;p46"/>
          <p:cNvSpPr/>
          <p:nvPr/>
        </p:nvSpPr>
        <p:spPr>
          <a:xfrm>
            <a:off x="895201" y="8679879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accept the first dictionary definition without checking that it fits the sentence.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0" name="Google Shape;2250;p46"/>
          <p:cNvSpPr/>
          <p:nvPr/>
        </p:nvSpPr>
        <p:spPr>
          <a:xfrm>
            <a:off x="533326" y="9407203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1" name="Google Shape;2251;p46"/>
          <p:cNvSpPr/>
          <p:nvPr/>
        </p:nvSpPr>
        <p:spPr>
          <a:xfrm>
            <a:off x="780901" y="9597628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2" name="Google Shape;2252;p46"/>
          <p:cNvSpPr/>
          <p:nvPr/>
        </p:nvSpPr>
        <p:spPr>
          <a:xfrm>
            <a:off x="780901" y="1002625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3" name="Google Shape;2253;p46"/>
          <p:cNvSpPr/>
          <p:nvPr/>
        </p:nvSpPr>
        <p:spPr>
          <a:xfrm>
            <a:off x="1218902" y="9997678"/>
            <a:ext cx="740677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use roots and context to find a meaning, then verify it.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4" name="Google Shape;2254;p46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5" name="Google Shape;2255;p46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6" name="Google Shape;2256;p46"/>
          <p:cNvSpPr/>
          <p:nvPr/>
        </p:nvSpPr>
        <p:spPr>
          <a:xfrm>
            <a:off x="11068571" y="14897174"/>
            <a:ext cx="6186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L.4.4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26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47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3" name="Google Shape;2263;p47"/>
          <p:cNvSpPr/>
          <p:nvPr/>
        </p:nvSpPr>
        <p:spPr>
          <a:xfrm>
            <a:off x="533326" y="533326"/>
            <a:ext cx="788022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LANGUAGE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4" name="Google Shape;2264;p47"/>
          <p:cNvSpPr/>
          <p:nvPr/>
        </p:nvSpPr>
        <p:spPr>
          <a:xfrm>
            <a:off x="533326" y="847651"/>
            <a:ext cx="788022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Knowledge and Vocabulary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5" name="Google Shape;2265;p47"/>
          <p:cNvSpPr/>
          <p:nvPr/>
        </p:nvSpPr>
        <p:spPr>
          <a:xfrm>
            <a:off x="10483900" y="533326"/>
            <a:ext cx="1127150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6" name="Google Shape;2266;p47"/>
          <p:cNvSpPr/>
          <p:nvPr/>
        </p:nvSpPr>
        <p:spPr>
          <a:xfrm>
            <a:off x="10693450" y="647626"/>
            <a:ext cx="784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L.4.5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7" name="Google Shape;2267;p47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8" name="Google Shape;2268;p47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9" name="Google Shape;2269;p47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0" name="Google Shape;2270;p47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Demonstrate understanding of figurative language, word relationships, and nuances in word meanings.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1" name="Google Shape;2271;p47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2" name="Google Shape;2272;p47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3" name="Google Shape;2273;p47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4" name="Google Shape;2274;p47"/>
          <p:cNvSpPr/>
          <p:nvPr/>
        </p:nvSpPr>
        <p:spPr>
          <a:xfrm>
            <a:off x="999902" y="4115470"/>
            <a:ext cx="472371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this figure of speech mean?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5" name="Google Shape;2275;p47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6" name="Google Shape;2276;p47"/>
          <p:cNvSpPr/>
          <p:nvPr/>
        </p:nvSpPr>
        <p:spPr>
          <a:xfrm>
            <a:off x="999902" y="4563963"/>
            <a:ext cx="502649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are these words related in meaning?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7" name="Google Shape;2277;p47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8" name="Google Shape;2278;p47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9" name="Google Shape;2279;p47"/>
          <p:cNvSpPr/>
          <p:nvPr/>
        </p:nvSpPr>
        <p:spPr>
          <a:xfrm>
            <a:off x="6424464" y="4115470"/>
            <a:ext cx="93203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0" name="Google Shape;2280;p47"/>
          <p:cNvSpPr/>
          <p:nvPr/>
        </p:nvSpPr>
        <p:spPr>
          <a:xfrm>
            <a:off x="6586389" y="4182145"/>
            <a:ext cx="68438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simile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1" name="Google Shape;2281;p47"/>
          <p:cNvSpPr/>
          <p:nvPr/>
        </p:nvSpPr>
        <p:spPr>
          <a:xfrm>
            <a:off x="7442225" y="4115470"/>
            <a:ext cx="132940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2" name="Google Shape;2282;p47"/>
          <p:cNvSpPr/>
          <p:nvPr/>
        </p:nvSpPr>
        <p:spPr>
          <a:xfrm>
            <a:off x="7604150" y="4182145"/>
            <a:ext cx="108175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metaphor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3" name="Google Shape;2283;p47"/>
          <p:cNvSpPr/>
          <p:nvPr/>
        </p:nvSpPr>
        <p:spPr>
          <a:xfrm>
            <a:off x="8857357" y="4115470"/>
            <a:ext cx="89252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4" name="Google Shape;2284;p47"/>
          <p:cNvSpPr/>
          <p:nvPr/>
        </p:nvSpPr>
        <p:spPr>
          <a:xfrm>
            <a:off x="9019282" y="4182145"/>
            <a:ext cx="64487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idiom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5" name="Google Shape;2285;p47"/>
          <p:cNvSpPr/>
          <p:nvPr/>
        </p:nvSpPr>
        <p:spPr>
          <a:xfrm>
            <a:off x="9835604" y="4115470"/>
            <a:ext cx="98561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6" name="Google Shape;2286;p47"/>
          <p:cNvSpPr/>
          <p:nvPr/>
        </p:nvSpPr>
        <p:spPr>
          <a:xfrm>
            <a:off x="9997529" y="4182145"/>
            <a:ext cx="73796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adage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7" name="Google Shape;2287;p47"/>
          <p:cNvSpPr/>
          <p:nvPr/>
        </p:nvSpPr>
        <p:spPr>
          <a:xfrm>
            <a:off x="6424464" y="4619997"/>
            <a:ext cx="113094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8" name="Google Shape;2288;p47"/>
          <p:cNvSpPr/>
          <p:nvPr/>
        </p:nvSpPr>
        <p:spPr>
          <a:xfrm>
            <a:off x="6586389" y="4686672"/>
            <a:ext cx="88329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proverb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9" name="Google Shape;2289;p47"/>
          <p:cNvSpPr/>
          <p:nvPr/>
        </p:nvSpPr>
        <p:spPr>
          <a:xfrm>
            <a:off x="7641134" y="4619997"/>
            <a:ext cx="123676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0" name="Google Shape;2290;p47"/>
          <p:cNvSpPr/>
          <p:nvPr/>
        </p:nvSpPr>
        <p:spPr>
          <a:xfrm>
            <a:off x="7803059" y="4686672"/>
            <a:ext cx="98911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antonym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1" name="Google Shape;2291;p47"/>
          <p:cNvSpPr/>
          <p:nvPr/>
        </p:nvSpPr>
        <p:spPr>
          <a:xfrm>
            <a:off x="8963620" y="4619997"/>
            <a:ext cx="127627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47"/>
          <p:cNvSpPr/>
          <p:nvPr/>
        </p:nvSpPr>
        <p:spPr>
          <a:xfrm>
            <a:off x="9125545" y="4686672"/>
            <a:ext cx="102862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synonym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3" name="Google Shape;2293;p47"/>
          <p:cNvSpPr/>
          <p:nvPr/>
        </p:nvSpPr>
        <p:spPr>
          <a:xfrm>
            <a:off x="533326" y="5448226"/>
            <a:ext cx="11077724" cy="2384227"/>
          </a:xfrm>
          <a:prstGeom prst="roundRect">
            <a:avLst>
              <a:gd fmla="val 5593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4" name="Google Shape;2294;p47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5" name="Google Shape;2295;p47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6" name="Google Shape;2296;p47"/>
          <p:cNvSpPr/>
          <p:nvPr/>
        </p:nvSpPr>
        <p:spPr>
          <a:xfrm>
            <a:off x="1247477" y="6067276"/>
            <a:ext cx="767566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the meaning of simple similes and metaphors in context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7" name="Google Shape;2297;p47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8" name="Google Shape;2298;p47"/>
          <p:cNvSpPr/>
          <p:nvPr/>
        </p:nvSpPr>
        <p:spPr>
          <a:xfrm>
            <a:off x="1247477" y="6506170"/>
            <a:ext cx="940224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Recognize and explain the meaning of common idioms, adages, and proverbs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9" name="Google Shape;2299;p47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0" name="Google Shape;2300;p47"/>
          <p:cNvSpPr/>
          <p:nvPr/>
        </p:nvSpPr>
        <p:spPr>
          <a:xfrm>
            <a:off x="1247477" y="6945064"/>
            <a:ext cx="10390044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Demonstrate understanding of words by relating them to their opposites and to words with similar but not identical meanings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1" name="Google Shape;2301;p47"/>
          <p:cNvSpPr/>
          <p:nvPr/>
        </p:nvSpPr>
        <p:spPr>
          <a:xfrm>
            <a:off x="533326" y="8022878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2" name="Google Shape;2302;p47"/>
          <p:cNvSpPr/>
          <p:nvPr/>
        </p:nvSpPr>
        <p:spPr>
          <a:xfrm>
            <a:off x="533326" y="8022878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3" name="Google Shape;2303;p47"/>
          <p:cNvSpPr/>
          <p:nvPr/>
        </p:nvSpPr>
        <p:spPr>
          <a:xfrm>
            <a:off x="895201" y="8213303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4" name="Google Shape;2304;p47"/>
          <p:cNvSpPr/>
          <p:nvPr/>
        </p:nvSpPr>
        <p:spPr>
          <a:xfrm>
            <a:off x="895201" y="8575179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Idioms are interpreted literally, producing confusion that students rarely flag out loud.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5" name="Google Shape;2305;p47"/>
          <p:cNvSpPr/>
          <p:nvPr/>
        </p:nvSpPr>
        <p:spPr>
          <a:xfrm>
            <a:off x="533326" y="9302502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6" name="Google Shape;2306;p47"/>
          <p:cNvSpPr/>
          <p:nvPr/>
        </p:nvSpPr>
        <p:spPr>
          <a:xfrm>
            <a:off x="780901" y="9492928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7" name="Google Shape;2307;p47"/>
          <p:cNvSpPr/>
          <p:nvPr/>
        </p:nvSpPr>
        <p:spPr>
          <a:xfrm>
            <a:off x="780901" y="992155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8" name="Google Shape;2308;p47"/>
          <p:cNvSpPr/>
          <p:nvPr/>
        </p:nvSpPr>
        <p:spPr>
          <a:xfrm>
            <a:off x="1218902" y="9892978"/>
            <a:ext cx="5629119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similes, metaphors, and idioms.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9" name="Google Shape;2309;p47"/>
          <p:cNvSpPr/>
          <p:nvPr/>
        </p:nvSpPr>
        <p:spPr>
          <a:xfrm>
            <a:off x="780901" y="1036379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0" name="Google Shape;2310;p47"/>
          <p:cNvSpPr/>
          <p:nvPr/>
        </p:nvSpPr>
        <p:spPr>
          <a:xfrm>
            <a:off x="1218902" y="10335220"/>
            <a:ext cx="710742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relate words to their opposites and near-synonyms.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1" name="Google Shape;2311;p47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2" name="Google Shape;2312;p47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3" name="Google Shape;2313;p47"/>
          <p:cNvSpPr/>
          <p:nvPr/>
        </p:nvSpPr>
        <p:spPr>
          <a:xfrm>
            <a:off x="11068571" y="14897174"/>
            <a:ext cx="6186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L.4.5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318" name="Shape 2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9" name="Google Shape;2319;p48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0" name="Google Shape;2320;p48"/>
          <p:cNvSpPr/>
          <p:nvPr/>
        </p:nvSpPr>
        <p:spPr>
          <a:xfrm>
            <a:off x="533326" y="533326"/>
            <a:ext cx="788022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4TH GRADE ELA · LANGUAGE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1" name="Google Shape;2321;p48"/>
          <p:cNvSpPr/>
          <p:nvPr/>
        </p:nvSpPr>
        <p:spPr>
          <a:xfrm>
            <a:off x="533326" y="847651"/>
            <a:ext cx="788022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Knowledge and Vocabulary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2" name="Google Shape;2322;p48"/>
          <p:cNvSpPr/>
          <p:nvPr/>
        </p:nvSpPr>
        <p:spPr>
          <a:xfrm>
            <a:off x="10483900" y="533326"/>
            <a:ext cx="1127150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3" name="Google Shape;2323;p48"/>
          <p:cNvSpPr/>
          <p:nvPr/>
        </p:nvSpPr>
        <p:spPr>
          <a:xfrm>
            <a:off x="10693450" y="647626"/>
            <a:ext cx="784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L.4.6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4" name="Google Shape;2324;p48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5" name="Google Shape;2325;p48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6" name="Google Shape;2326;p48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7" name="Google Shape;2327;p48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Acquire and use accurately grade-appropriate general academic and domain-specific words and phrases.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8" name="Google Shape;2328;p48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9" name="Google Shape;2329;p48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0" name="Google Shape;2330;p48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1" name="Google Shape;2331;p48"/>
          <p:cNvSpPr/>
          <p:nvPr/>
        </p:nvSpPr>
        <p:spPr>
          <a:xfrm>
            <a:off x="999902" y="4115470"/>
            <a:ext cx="408769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own an academic word?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2" name="Google Shape;2332;p48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48"/>
          <p:cNvSpPr/>
          <p:nvPr/>
        </p:nvSpPr>
        <p:spPr>
          <a:xfrm>
            <a:off x="999902" y="4563963"/>
            <a:ext cx="396663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Where do these words show up?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4" name="Google Shape;2334;p48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5" name="Google Shape;2335;p48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6" name="Google Shape;2336;p48"/>
          <p:cNvSpPr/>
          <p:nvPr/>
        </p:nvSpPr>
        <p:spPr>
          <a:xfrm>
            <a:off x="6424464" y="4115470"/>
            <a:ext cx="220273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7" name="Google Shape;2337;p48"/>
          <p:cNvSpPr/>
          <p:nvPr/>
        </p:nvSpPr>
        <p:spPr>
          <a:xfrm>
            <a:off x="6586389" y="4182145"/>
            <a:ext cx="195508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general academic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8" name="Google Shape;2338;p48"/>
          <p:cNvSpPr/>
          <p:nvPr/>
        </p:nvSpPr>
        <p:spPr>
          <a:xfrm>
            <a:off x="8712919" y="4115470"/>
            <a:ext cx="197747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9" name="Google Shape;2339;p48"/>
          <p:cNvSpPr/>
          <p:nvPr/>
        </p:nvSpPr>
        <p:spPr>
          <a:xfrm>
            <a:off x="8874844" y="4182145"/>
            <a:ext cx="172982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domain-specific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0" name="Google Shape;2340;p48"/>
          <p:cNvSpPr/>
          <p:nvPr/>
        </p:nvSpPr>
        <p:spPr>
          <a:xfrm>
            <a:off x="6424464" y="4619997"/>
            <a:ext cx="109120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1" name="Google Shape;2341;p48"/>
          <p:cNvSpPr/>
          <p:nvPr/>
        </p:nvSpPr>
        <p:spPr>
          <a:xfrm>
            <a:off x="6586389" y="4686672"/>
            <a:ext cx="843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precise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2" name="Google Shape;2342;p48"/>
          <p:cNvSpPr/>
          <p:nvPr/>
        </p:nvSpPr>
        <p:spPr>
          <a:xfrm>
            <a:off x="7601396" y="4619997"/>
            <a:ext cx="152787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3" name="Google Shape;2343;p48"/>
          <p:cNvSpPr/>
          <p:nvPr/>
        </p:nvSpPr>
        <p:spPr>
          <a:xfrm>
            <a:off x="7763321" y="4686672"/>
            <a:ext cx="128022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signal word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4" name="Google Shape;2344;p48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5" name="Google Shape;2345;p48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6" name="Google Shape;2346;p48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7" name="Google Shape;2347;p48"/>
          <p:cNvSpPr/>
          <p:nvPr/>
        </p:nvSpPr>
        <p:spPr>
          <a:xfrm>
            <a:off x="1247477" y="6067276"/>
            <a:ext cx="782767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Acquire and use grade-appropriate general academic vocabulary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8" name="Google Shape;2348;p48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9" name="Google Shape;2349;p48"/>
          <p:cNvSpPr/>
          <p:nvPr/>
        </p:nvSpPr>
        <p:spPr>
          <a:xfrm>
            <a:off x="1247477" y="6506170"/>
            <a:ext cx="526838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Acquire domain-specific words and phrases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0" name="Google Shape;2350;p48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1" name="Google Shape;2351;p48"/>
          <p:cNvSpPr/>
          <p:nvPr/>
        </p:nvSpPr>
        <p:spPr>
          <a:xfrm>
            <a:off x="1247477" y="6945064"/>
            <a:ext cx="799343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words that signal precise actions, emotions, or states of being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2" name="Google Shape;2352;p48"/>
          <p:cNvSpPr/>
          <p:nvPr/>
        </p:nvSpPr>
        <p:spPr>
          <a:xfrm>
            <a:off x="533326" y="7688684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3" name="Google Shape;2353;p48"/>
          <p:cNvSpPr/>
          <p:nvPr/>
        </p:nvSpPr>
        <p:spPr>
          <a:xfrm>
            <a:off x="533326" y="7688684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4" name="Google Shape;2354;p48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5" name="Google Shape;2355;p48"/>
          <p:cNvSpPr/>
          <p:nvPr/>
        </p:nvSpPr>
        <p:spPr>
          <a:xfrm>
            <a:off x="895201" y="8240985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Words are learned in isolation for a test and never transfer into student writing.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6" name="Google Shape;2356;p48"/>
          <p:cNvSpPr/>
          <p:nvPr/>
        </p:nvSpPr>
        <p:spPr>
          <a:xfrm>
            <a:off x="533326" y="8968308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7" name="Google Shape;2357;p48"/>
          <p:cNvSpPr/>
          <p:nvPr/>
        </p:nvSpPr>
        <p:spPr>
          <a:xfrm>
            <a:off x="780901" y="9158734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8" name="Google Shape;2358;p48"/>
          <p:cNvSpPr/>
          <p:nvPr/>
        </p:nvSpPr>
        <p:spPr>
          <a:xfrm>
            <a:off x="780901" y="958735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9" name="Google Shape;2359;p48"/>
          <p:cNvSpPr/>
          <p:nvPr/>
        </p:nvSpPr>
        <p:spPr>
          <a:xfrm>
            <a:off x="1218902" y="9558784"/>
            <a:ext cx="794014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use academic and subject-specific words in my own work.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0" name="Google Shape;2360;p48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1" name="Google Shape;2361;p48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2" name="Google Shape;2362;p48"/>
          <p:cNvSpPr/>
          <p:nvPr/>
        </p:nvSpPr>
        <p:spPr>
          <a:xfrm>
            <a:off x="11068571" y="14897174"/>
            <a:ext cx="6186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L.4.6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367" name="Shape 2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8" name="Google Shape;2368;p49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9" name="Google Shape;2369;p49"/>
          <p:cNvSpPr/>
          <p:nvPr/>
        </p:nvSpPr>
        <p:spPr>
          <a:xfrm>
            <a:off x="533326" y="533326"/>
            <a:ext cx="968906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4TH GRADE MATH · OPERATIONS AND ALGEBRAIC THINKING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0" name="Google Shape;2370;p49"/>
          <p:cNvSpPr/>
          <p:nvPr/>
        </p:nvSpPr>
        <p:spPr>
          <a:xfrm>
            <a:off x="533326" y="847651"/>
            <a:ext cx="9689068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the Four Operations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1" name="Google Shape;2371;p49"/>
          <p:cNvSpPr/>
          <p:nvPr/>
        </p:nvSpPr>
        <p:spPr>
          <a:xfrm>
            <a:off x="9909721" y="533326"/>
            <a:ext cx="170132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2" name="Google Shape;2372;p49"/>
          <p:cNvSpPr/>
          <p:nvPr/>
        </p:nvSpPr>
        <p:spPr>
          <a:xfrm>
            <a:off x="10119271" y="647626"/>
            <a:ext cx="135842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4.OA.A.1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3" name="Google Shape;2373;p49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4" name="Google Shape;2374;p49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5" name="Google Shape;2375;p49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6" name="Google Shape;2376;p49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Interpret a multiplication equation as a comparison; represent verbal statements of multiplicative comparisons as multiplication equations.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7" name="Google Shape;2377;p49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8" name="Google Shape;2378;p49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9" name="Google Shape;2379;p49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0" name="Google Shape;2380;p49"/>
          <p:cNvSpPr/>
          <p:nvPr/>
        </p:nvSpPr>
        <p:spPr>
          <a:xfrm>
            <a:off x="999902" y="4115470"/>
            <a:ext cx="423528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"times as many" mean?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1" name="Google Shape;2381;p49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2" name="Google Shape;2382;p49"/>
          <p:cNvSpPr/>
          <p:nvPr/>
        </p:nvSpPr>
        <p:spPr>
          <a:xfrm>
            <a:off x="999902" y="456396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is multiplicative comparison different from addition?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3" name="Google Shape;2383;p49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4" name="Google Shape;2384;p49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5" name="Google Shape;2385;p49"/>
          <p:cNvSpPr/>
          <p:nvPr/>
        </p:nvSpPr>
        <p:spPr>
          <a:xfrm>
            <a:off x="6424464" y="4115470"/>
            <a:ext cx="298273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6" name="Google Shape;2386;p49"/>
          <p:cNvSpPr/>
          <p:nvPr/>
        </p:nvSpPr>
        <p:spPr>
          <a:xfrm>
            <a:off x="6586389" y="4182145"/>
            <a:ext cx="274837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multiplicative comparison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7" name="Google Shape;2387;p49"/>
          <p:cNvSpPr/>
          <p:nvPr/>
        </p:nvSpPr>
        <p:spPr>
          <a:xfrm>
            <a:off x="9492928" y="4115470"/>
            <a:ext cx="185826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8" name="Google Shape;2388;p49"/>
          <p:cNvSpPr/>
          <p:nvPr/>
        </p:nvSpPr>
        <p:spPr>
          <a:xfrm>
            <a:off x="9654853" y="4182145"/>
            <a:ext cx="161061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times as many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9" name="Google Shape;2389;p49"/>
          <p:cNvSpPr/>
          <p:nvPr/>
        </p:nvSpPr>
        <p:spPr>
          <a:xfrm>
            <a:off x="6424464" y="4619997"/>
            <a:ext cx="91908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0" name="Google Shape;2390;p49"/>
          <p:cNvSpPr/>
          <p:nvPr/>
        </p:nvSpPr>
        <p:spPr>
          <a:xfrm>
            <a:off x="6586389" y="4686672"/>
            <a:ext cx="67143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factor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1" name="Google Shape;2391;p49"/>
          <p:cNvSpPr/>
          <p:nvPr/>
        </p:nvSpPr>
        <p:spPr>
          <a:xfrm>
            <a:off x="7429277" y="4619997"/>
            <a:ext cx="111777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2" name="Google Shape;2392;p49"/>
          <p:cNvSpPr/>
          <p:nvPr/>
        </p:nvSpPr>
        <p:spPr>
          <a:xfrm>
            <a:off x="7591202" y="4686672"/>
            <a:ext cx="8701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3" name="Google Shape;2393;p49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4" name="Google Shape;2394;p49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5" name="Google Shape;2395;p49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6" name="Google Shape;2396;p49"/>
          <p:cNvSpPr/>
          <p:nvPr/>
        </p:nvSpPr>
        <p:spPr>
          <a:xfrm>
            <a:off x="1247477" y="6260827"/>
            <a:ext cx="608636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Interpret a multiplication equation as a comparison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7" name="Google Shape;2397;p49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8" name="Google Shape;2398;p49"/>
          <p:cNvSpPr/>
          <p:nvPr/>
        </p:nvSpPr>
        <p:spPr>
          <a:xfrm>
            <a:off x="1247477" y="6699721"/>
            <a:ext cx="658584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Represent verbal comparison statements as equations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9" name="Google Shape;2399;p49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0" name="Google Shape;2400;p49"/>
          <p:cNvSpPr/>
          <p:nvPr/>
        </p:nvSpPr>
        <p:spPr>
          <a:xfrm>
            <a:off x="1247477" y="7138615"/>
            <a:ext cx="547269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Distinguish "times as many" from "more than"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1" name="Google Shape;2401;p49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2" name="Google Shape;2402;p49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3" name="Google Shape;2403;p49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4" name="Google Shape;2404;p49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read "4 times as many" as "4 more than". The two produce very different answers and require different operations.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5" name="Google Shape;2405;p49"/>
          <p:cNvSpPr/>
          <p:nvPr/>
        </p:nvSpPr>
        <p:spPr>
          <a:xfrm>
            <a:off x="533326" y="950833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6" name="Google Shape;2406;p49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7" name="Google Shape;2407;p49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8" name="Google Shape;2408;p49"/>
          <p:cNvSpPr/>
          <p:nvPr/>
        </p:nvSpPr>
        <p:spPr>
          <a:xfrm>
            <a:off x="1218902" y="10098807"/>
            <a:ext cx="6635695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write a comparison as a multiplication equation.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9" name="Google Shape;2409;p49"/>
          <p:cNvSpPr/>
          <p:nvPr/>
        </p:nvSpPr>
        <p:spPr>
          <a:xfrm>
            <a:off x="780901" y="105696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0" name="Google Shape;2410;p49"/>
          <p:cNvSpPr/>
          <p:nvPr/>
        </p:nvSpPr>
        <p:spPr>
          <a:xfrm>
            <a:off x="1218902" y="10541050"/>
            <a:ext cx="803886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know the difference between "times as many" and "more than".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1" name="Google Shape;2411;p49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2" name="Google Shape;2412;p49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3" name="Google Shape;2413;p49"/>
          <p:cNvSpPr/>
          <p:nvPr/>
        </p:nvSpPr>
        <p:spPr>
          <a:xfrm>
            <a:off x="10618738" y="14897174"/>
            <a:ext cx="10685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4.OA.A.1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418" name="Shape 2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9" name="Google Shape;2419;p50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0" name="Google Shape;2420;p50"/>
          <p:cNvSpPr/>
          <p:nvPr/>
        </p:nvSpPr>
        <p:spPr>
          <a:xfrm>
            <a:off x="533326" y="533326"/>
            <a:ext cx="968906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4TH GRADE MATH · OPERATIONS AND ALGEBRAIC THINKING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1" name="Google Shape;2421;p50"/>
          <p:cNvSpPr/>
          <p:nvPr/>
        </p:nvSpPr>
        <p:spPr>
          <a:xfrm>
            <a:off x="533326" y="847651"/>
            <a:ext cx="9689068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the Four Operations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2" name="Google Shape;2422;p50"/>
          <p:cNvSpPr/>
          <p:nvPr/>
        </p:nvSpPr>
        <p:spPr>
          <a:xfrm>
            <a:off x="9909721" y="533326"/>
            <a:ext cx="170132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3" name="Google Shape;2423;p50"/>
          <p:cNvSpPr/>
          <p:nvPr/>
        </p:nvSpPr>
        <p:spPr>
          <a:xfrm>
            <a:off x="10119271" y="647626"/>
            <a:ext cx="135842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4.OA.A.2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4" name="Google Shape;2424;p50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5" name="Google Shape;2425;p50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6" name="Google Shape;2426;p50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7" name="Google Shape;2427;p50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Multiply or divide to solve word problems involving multiplicative comparison, distinguishing multiplicative from additive comparison.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8" name="Google Shape;2428;p50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9" name="Google Shape;2429;p50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0" name="Google Shape;2430;p50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1" name="Google Shape;2431;p50"/>
          <p:cNvSpPr/>
          <p:nvPr/>
        </p:nvSpPr>
        <p:spPr>
          <a:xfrm>
            <a:off x="999902" y="4115470"/>
            <a:ext cx="488971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Is this problem additive or multiplicative?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2" name="Google Shape;2432;p50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3" name="Google Shape;2433;p50"/>
          <p:cNvSpPr/>
          <p:nvPr/>
        </p:nvSpPr>
        <p:spPr>
          <a:xfrm>
            <a:off x="999902" y="4563963"/>
            <a:ext cx="308848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is being compared?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4" name="Google Shape;2434;p50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50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6" name="Google Shape;2436;p50"/>
          <p:cNvSpPr/>
          <p:nvPr/>
        </p:nvSpPr>
        <p:spPr>
          <a:xfrm>
            <a:off x="6424464" y="4115470"/>
            <a:ext cx="155421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7" name="Google Shape;2437;p50"/>
          <p:cNvSpPr/>
          <p:nvPr/>
        </p:nvSpPr>
        <p:spPr>
          <a:xfrm>
            <a:off x="6586389" y="4182145"/>
            <a:ext cx="130656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8" name="Google Shape;2438;p50"/>
          <p:cNvSpPr/>
          <p:nvPr/>
        </p:nvSpPr>
        <p:spPr>
          <a:xfrm>
            <a:off x="8064401" y="4115470"/>
            <a:ext cx="127672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9" name="Google Shape;2439;p50"/>
          <p:cNvSpPr/>
          <p:nvPr/>
        </p:nvSpPr>
        <p:spPr>
          <a:xfrm>
            <a:off x="8226326" y="4182145"/>
            <a:ext cx="102907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0" name="Google Shape;2440;p50"/>
          <p:cNvSpPr/>
          <p:nvPr/>
        </p:nvSpPr>
        <p:spPr>
          <a:xfrm>
            <a:off x="9426848" y="4115470"/>
            <a:ext cx="123720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1" name="Google Shape;2441;p50"/>
          <p:cNvSpPr/>
          <p:nvPr/>
        </p:nvSpPr>
        <p:spPr>
          <a:xfrm>
            <a:off x="9588773" y="4182145"/>
            <a:ext cx="989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equation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2" name="Google Shape;2442;p50"/>
          <p:cNvSpPr/>
          <p:nvPr/>
        </p:nvSpPr>
        <p:spPr>
          <a:xfrm>
            <a:off x="6424464" y="4619997"/>
            <a:ext cx="114433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3" name="Google Shape;2443;p50"/>
          <p:cNvSpPr/>
          <p:nvPr/>
        </p:nvSpPr>
        <p:spPr>
          <a:xfrm>
            <a:off x="6586389" y="4686672"/>
            <a:ext cx="89668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additive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4" name="Google Shape;2444;p50"/>
          <p:cNvSpPr/>
          <p:nvPr/>
        </p:nvSpPr>
        <p:spPr>
          <a:xfrm>
            <a:off x="7654528" y="4619997"/>
            <a:ext cx="1686371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5" name="Google Shape;2445;p50"/>
          <p:cNvSpPr/>
          <p:nvPr/>
        </p:nvSpPr>
        <p:spPr>
          <a:xfrm>
            <a:off x="7816453" y="4686672"/>
            <a:ext cx="143872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multiplicative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6" name="Google Shape;2446;p50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7" name="Google Shape;2447;p50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8" name="Google Shape;2448;p50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9" name="Google Shape;2449;p50"/>
          <p:cNvSpPr/>
          <p:nvPr/>
        </p:nvSpPr>
        <p:spPr>
          <a:xfrm>
            <a:off x="1247477" y="6067276"/>
            <a:ext cx="638816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Multiply or divide to solve comparison word problems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0" name="Google Shape;2450;p50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1" name="Google Shape;2451;p50"/>
          <p:cNvSpPr/>
          <p:nvPr/>
        </p:nvSpPr>
        <p:spPr>
          <a:xfrm>
            <a:off x="1247477" y="6506170"/>
            <a:ext cx="717643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drawings and equations with a symbol for the unknown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2" name="Google Shape;2452;p50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3" name="Google Shape;2453;p50"/>
          <p:cNvSpPr/>
          <p:nvPr/>
        </p:nvSpPr>
        <p:spPr>
          <a:xfrm>
            <a:off x="1247477" y="6945064"/>
            <a:ext cx="608538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Distinguish multiplicative from additive comparison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4" name="Google Shape;2454;p50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5" name="Google Shape;2455;p50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6" name="Google Shape;2456;p50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7" name="Google Shape;2457;p50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default to the operation most recently taught rather than analyzing the relationship in the problem.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8" name="Google Shape;2458;p50"/>
          <p:cNvSpPr/>
          <p:nvPr/>
        </p:nvSpPr>
        <p:spPr>
          <a:xfrm>
            <a:off x="533326" y="9314780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9" name="Google Shape;2459;p50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0" name="Google Shape;2460;p50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1" name="Google Shape;2461;p50"/>
          <p:cNvSpPr/>
          <p:nvPr/>
        </p:nvSpPr>
        <p:spPr>
          <a:xfrm>
            <a:off x="1218902" y="9905256"/>
            <a:ext cx="4905680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solve comparison word problems.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2" name="Google Shape;2462;p50"/>
          <p:cNvSpPr/>
          <p:nvPr/>
        </p:nvSpPr>
        <p:spPr>
          <a:xfrm>
            <a:off x="780901" y="10376074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3" name="Google Shape;2463;p50"/>
          <p:cNvSpPr/>
          <p:nvPr/>
        </p:nvSpPr>
        <p:spPr>
          <a:xfrm>
            <a:off x="1218902" y="10347499"/>
            <a:ext cx="643138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tell if a problem is about adding or multiplying.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4" name="Google Shape;2464;p50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5" name="Google Shape;2465;p50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6" name="Google Shape;2466;p50"/>
          <p:cNvSpPr/>
          <p:nvPr/>
        </p:nvSpPr>
        <p:spPr>
          <a:xfrm>
            <a:off x="10618738" y="14897174"/>
            <a:ext cx="10685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4.OA.A.2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471" name="Shape 2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2" name="Google Shape;2472;p51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3" name="Google Shape;2473;p51"/>
          <p:cNvSpPr/>
          <p:nvPr/>
        </p:nvSpPr>
        <p:spPr>
          <a:xfrm>
            <a:off x="533326" y="533326"/>
            <a:ext cx="968906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4TH GRADE MATH · OPERATIONS AND ALGEBRAIC THINKING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4" name="Google Shape;2474;p51"/>
          <p:cNvSpPr/>
          <p:nvPr/>
        </p:nvSpPr>
        <p:spPr>
          <a:xfrm>
            <a:off x="533326" y="847651"/>
            <a:ext cx="9689068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the Four Operations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5" name="Google Shape;2475;p51"/>
          <p:cNvSpPr/>
          <p:nvPr/>
        </p:nvSpPr>
        <p:spPr>
          <a:xfrm>
            <a:off x="9909721" y="533326"/>
            <a:ext cx="170132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6" name="Google Shape;2476;p51"/>
          <p:cNvSpPr/>
          <p:nvPr/>
        </p:nvSpPr>
        <p:spPr>
          <a:xfrm>
            <a:off x="10119271" y="647626"/>
            <a:ext cx="135842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4.OA.A.3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7" name="Google Shape;2477;p51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8" name="Google Shape;2478;p51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9" name="Google Shape;2479;p51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0" name="Google Shape;2480;p51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Solve multistep word problems posed with whole numbers, including problems in which remainders must be interpreted.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1" name="Google Shape;2481;p51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2" name="Google Shape;2482;p51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3" name="Google Shape;2483;p51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4" name="Google Shape;2484;p51"/>
          <p:cNvSpPr/>
          <p:nvPr/>
        </p:nvSpPr>
        <p:spPr>
          <a:xfrm>
            <a:off x="999902" y="4115470"/>
            <a:ext cx="422423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plan a multistep solution?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5" name="Google Shape;2485;p51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6" name="Google Shape;2486;p51"/>
          <p:cNvSpPr/>
          <p:nvPr/>
        </p:nvSpPr>
        <p:spPr>
          <a:xfrm>
            <a:off x="999902" y="456396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the remainder mean in this situation?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7" name="Google Shape;2487;p51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8" name="Google Shape;2488;p51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9" name="Google Shape;2489;p51"/>
          <p:cNvSpPr/>
          <p:nvPr/>
        </p:nvSpPr>
        <p:spPr>
          <a:xfrm>
            <a:off x="6424464" y="4115470"/>
            <a:ext cx="1276276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0" name="Google Shape;2490;p51"/>
          <p:cNvSpPr/>
          <p:nvPr/>
        </p:nvSpPr>
        <p:spPr>
          <a:xfrm>
            <a:off x="6586389" y="4182145"/>
            <a:ext cx="102862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multistep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1" name="Google Shape;2491;p51"/>
          <p:cNvSpPr/>
          <p:nvPr/>
        </p:nvSpPr>
        <p:spPr>
          <a:xfrm>
            <a:off x="7786464" y="4115470"/>
            <a:ext cx="139548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2" name="Google Shape;2492;p51"/>
          <p:cNvSpPr/>
          <p:nvPr/>
        </p:nvSpPr>
        <p:spPr>
          <a:xfrm>
            <a:off x="7948389" y="4182145"/>
            <a:ext cx="114783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remainder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3" name="Google Shape;2493;p51"/>
          <p:cNvSpPr/>
          <p:nvPr/>
        </p:nvSpPr>
        <p:spPr>
          <a:xfrm>
            <a:off x="9267676" y="4115470"/>
            <a:ext cx="115728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4" name="Google Shape;2494;p51"/>
          <p:cNvSpPr/>
          <p:nvPr/>
        </p:nvSpPr>
        <p:spPr>
          <a:xfrm>
            <a:off x="9429601" y="4182145"/>
            <a:ext cx="90963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5" name="Google Shape;2495;p51"/>
          <p:cNvSpPr/>
          <p:nvPr/>
        </p:nvSpPr>
        <p:spPr>
          <a:xfrm>
            <a:off x="6424464" y="4619997"/>
            <a:ext cx="122336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6" name="Google Shape;2496;p51"/>
          <p:cNvSpPr/>
          <p:nvPr/>
        </p:nvSpPr>
        <p:spPr>
          <a:xfrm>
            <a:off x="6586389" y="4686672"/>
            <a:ext cx="97571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estimate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7" name="Google Shape;2497;p51"/>
          <p:cNvSpPr/>
          <p:nvPr/>
        </p:nvSpPr>
        <p:spPr>
          <a:xfrm>
            <a:off x="7733556" y="4619997"/>
            <a:ext cx="150175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8" name="Google Shape;2498;p51"/>
          <p:cNvSpPr/>
          <p:nvPr/>
        </p:nvSpPr>
        <p:spPr>
          <a:xfrm>
            <a:off x="7895481" y="4686672"/>
            <a:ext cx="125410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reasonable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9" name="Google Shape;2499;p51"/>
          <p:cNvSpPr/>
          <p:nvPr/>
        </p:nvSpPr>
        <p:spPr>
          <a:xfrm>
            <a:off x="533326" y="5641777"/>
            <a:ext cx="11077724" cy="2488927"/>
          </a:xfrm>
          <a:prstGeom prst="roundRect">
            <a:avLst>
              <a:gd fmla="val 535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0" name="Google Shape;2500;p51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1" name="Google Shape;2501;p51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2" name="Google Shape;2502;p51"/>
          <p:cNvSpPr/>
          <p:nvPr/>
        </p:nvSpPr>
        <p:spPr>
          <a:xfrm>
            <a:off x="1247477" y="6260827"/>
            <a:ext cx="661555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Solve multistep word problems with the four operations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3" name="Google Shape;2503;p51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4" name="Google Shape;2504;p51"/>
          <p:cNvSpPr/>
          <p:nvPr/>
        </p:nvSpPr>
        <p:spPr>
          <a:xfrm>
            <a:off x="1247477" y="6699721"/>
            <a:ext cx="605615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Represent problems with equations and a variable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5" name="Google Shape;2505;p51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6" name="Google Shape;2506;p51"/>
          <p:cNvSpPr/>
          <p:nvPr/>
        </p:nvSpPr>
        <p:spPr>
          <a:xfrm>
            <a:off x="1247477" y="7138615"/>
            <a:ext cx="369381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Interpret remainders in context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7" name="Google Shape;2507;p51"/>
          <p:cNvSpPr/>
          <p:nvPr/>
        </p:nvSpPr>
        <p:spPr>
          <a:xfrm>
            <a:off x="809476" y="760608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8" name="Google Shape;2508;p51"/>
          <p:cNvSpPr/>
          <p:nvPr/>
        </p:nvSpPr>
        <p:spPr>
          <a:xfrm>
            <a:off x="1247477" y="7577510"/>
            <a:ext cx="641959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Assess reasonableness with estimation and rounding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9" name="Google Shape;2509;p51"/>
          <p:cNvSpPr/>
          <p:nvPr/>
        </p:nvSpPr>
        <p:spPr>
          <a:xfrm>
            <a:off x="533326" y="8321129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0" name="Google Shape;2510;p51"/>
          <p:cNvSpPr/>
          <p:nvPr/>
        </p:nvSpPr>
        <p:spPr>
          <a:xfrm>
            <a:off x="533326" y="8321129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1" name="Google Shape;2511;p51"/>
          <p:cNvSpPr/>
          <p:nvPr/>
        </p:nvSpPr>
        <p:spPr>
          <a:xfrm>
            <a:off x="895201" y="8511555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2" name="Google Shape;2512;p51"/>
          <p:cNvSpPr/>
          <p:nvPr/>
        </p:nvSpPr>
        <p:spPr>
          <a:xfrm>
            <a:off x="895201" y="8873430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always drop the remainder, even when the situation requires rounding up (how many buses are needed?) or reporting it as a fraction.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3" name="Google Shape;2513;p51"/>
          <p:cNvSpPr/>
          <p:nvPr/>
        </p:nvSpPr>
        <p:spPr>
          <a:xfrm>
            <a:off x="533326" y="9947225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4" name="Google Shape;2514;p51"/>
          <p:cNvSpPr/>
          <p:nvPr/>
        </p:nvSpPr>
        <p:spPr>
          <a:xfrm>
            <a:off x="780901" y="10137651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5" name="Google Shape;2515;p51"/>
          <p:cNvSpPr/>
          <p:nvPr/>
        </p:nvSpPr>
        <p:spPr>
          <a:xfrm>
            <a:off x="780901" y="10566276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6" name="Google Shape;2516;p51"/>
          <p:cNvSpPr/>
          <p:nvPr/>
        </p:nvSpPr>
        <p:spPr>
          <a:xfrm>
            <a:off x="1218902" y="10537701"/>
            <a:ext cx="466993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solve a multistep word problem.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7" name="Google Shape;2517;p51"/>
          <p:cNvSpPr/>
          <p:nvPr/>
        </p:nvSpPr>
        <p:spPr>
          <a:xfrm>
            <a:off x="780901" y="1100851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8" name="Google Shape;2518;p51"/>
          <p:cNvSpPr/>
          <p:nvPr/>
        </p:nvSpPr>
        <p:spPr>
          <a:xfrm>
            <a:off x="1218902" y="10979944"/>
            <a:ext cx="509501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what the remainder means.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9" name="Google Shape;2519;p51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0" name="Google Shape;2520;p51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1" name="Google Shape;2521;p51"/>
          <p:cNvSpPr/>
          <p:nvPr/>
        </p:nvSpPr>
        <p:spPr>
          <a:xfrm>
            <a:off x="10618738" y="14897174"/>
            <a:ext cx="10685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4.OA.A.3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526" name="Shape 2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7" name="Google Shape;2527;p52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8" name="Google Shape;2528;p52"/>
          <p:cNvSpPr/>
          <p:nvPr/>
        </p:nvSpPr>
        <p:spPr>
          <a:xfrm>
            <a:off x="533326" y="533326"/>
            <a:ext cx="968906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4TH GRADE MATH · OPERATIONS AND ALGEBRAIC THINKING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9" name="Google Shape;2529;p52"/>
          <p:cNvSpPr/>
          <p:nvPr/>
        </p:nvSpPr>
        <p:spPr>
          <a:xfrm>
            <a:off x="533326" y="847651"/>
            <a:ext cx="9689068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Factors and Multiples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0" name="Google Shape;2530;p52"/>
          <p:cNvSpPr/>
          <p:nvPr/>
        </p:nvSpPr>
        <p:spPr>
          <a:xfrm>
            <a:off x="9909721" y="533326"/>
            <a:ext cx="170132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1" name="Google Shape;2531;p52"/>
          <p:cNvSpPr/>
          <p:nvPr/>
        </p:nvSpPr>
        <p:spPr>
          <a:xfrm>
            <a:off x="10119271" y="647626"/>
            <a:ext cx="135842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4.OA.B.4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2" name="Google Shape;2532;p52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3" name="Google Shape;2533;p52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4" name="Google Shape;2534;p52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5" name="Google Shape;2535;p52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Find all factor pairs for a whole number in the range 1-100; determine whether a given whole number is prime or composite.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6" name="Google Shape;2536;p52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7" name="Google Shape;2537;p52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8" name="Google Shape;2538;p52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9" name="Google Shape;2539;p52"/>
          <p:cNvSpPr/>
          <p:nvPr/>
        </p:nvSpPr>
        <p:spPr>
          <a:xfrm>
            <a:off x="999902" y="4115470"/>
            <a:ext cx="501127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know I have found every factor?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0" name="Google Shape;2540;p52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1" name="Google Shape;2541;p52"/>
          <p:cNvSpPr/>
          <p:nvPr/>
        </p:nvSpPr>
        <p:spPr>
          <a:xfrm>
            <a:off x="999902" y="4563963"/>
            <a:ext cx="364813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makes a number prime?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2" name="Google Shape;2542;p52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3" name="Google Shape;2543;p52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4" name="Google Shape;2544;p52"/>
          <p:cNvSpPr/>
          <p:nvPr/>
        </p:nvSpPr>
        <p:spPr>
          <a:xfrm>
            <a:off x="6424464" y="4115470"/>
            <a:ext cx="91908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5" name="Google Shape;2545;p52"/>
          <p:cNvSpPr/>
          <p:nvPr/>
        </p:nvSpPr>
        <p:spPr>
          <a:xfrm>
            <a:off x="6586389" y="4182145"/>
            <a:ext cx="67143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factor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6" name="Google Shape;2546;p52"/>
          <p:cNvSpPr/>
          <p:nvPr/>
        </p:nvSpPr>
        <p:spPr>
          <a:xfrm>
            <a:off x="7429277" y="4115470"/>
            <a:ext cx="138209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7" name="Google Shape;2547;p52"/>
          <p:cNvSpPr/>
          <p:nvPr/>
        </p:nvSpPr>
        <p:spPr>
          <a:xfrm>
            <a:off x="7591202" y="4182145"/>
            <a:ext cx="113444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factor pair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8" name="Google Shape;2548;p52"/>
          <p:cNvSpPr/>
          <p:nvPr/>
        </p:nvSpPr>
        <p:spPr>
          <a:xfrm>
            <a:off x="8897094" y="4115470"/>
            <a:ext cx="1144116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9" name="Google Shape;2549;p52"/>
          <p:cNvSpPr/>
          <p:nvPr/>
        </p:nvSpPr>
        <p:spPr>
          <a:xfrm>
            <a:off x="9059019" y="4182145"/>
            <a:ext cx="89646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multiple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0" name="Google Shape;2550;p52"/>
          <p:cNvSpPr/>
          <p:nvPr/>
        </p:nvSpPr>
        <p:spPr>
          <a:xfrm>
            <a:off x="10126935" y="4115470"/>
            <a:ext cx="91908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1" name="Google Shape;2551;p52"/>
          <p:cNvSpPr/>
          <p:nvPr/>
        </p:nvSpPr>
        <p:spPr>
          <a:xfrm>
            <a:off x="10288860" y="4182145"/>
            <a:ext cx="67143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prime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2" name="Google Shape;2552;p52"/>
          <p:cNvSpPr/>
          <p:nvPr/>
        </p:nvSpPr>
        <p:spPr>
          <a:xfrm>
            <a:off x="6424464" y="4619997"/>
            <a:ext cx="140865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3" name="Google Shape;2553;p52"/>
          <p:cNvSpPr/>
          <p:nvPr/>
        </p:nvSpPr>
        <p:spPr>
          <a:xfrm>
            <a:off x="6586389" y="4686672"/>
            <a:ext cx="116100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composite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4" name="Google Shape;2554;p52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5" name="Google Shape;2555;p52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6" name="Google Shape;2556;p52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7" name="Google Shape;2557;p52"/>
          <p:cNvSpPr/>
          <p:nvPr/>
        </p:nvSpPr>
        <p:spPr>
          <a:xfrm>
            <a:off x="1247477" y="6067276"/>
            <a:ext cx="460216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Find all factor pairs for numbers 1-100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8" name="Google Shape;2558;p52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9" name="Google Shape;2559;p52"/>
          <p:cNvSpPr/>
          <p:nvPr/>
        </p:nvSpPr>
        <p:spPr>
          <a:xfrm>
            <a:off x="1247477" y="6506170"/>
            <a:ext cx="469326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Recognize multiples of a given number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0" name="Google Shape;2560;p52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1" name="Google Shape;2561;p52"/>
          <p:cNvSpPr/>
          <p:nvPr/>
        </p:nvSpPr>
        <p:spPr>
          <a:xfrm>
            <a:off x="1247477" y="6945064"/>
            <a:ext cx="619122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whether a number is prime or composite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2" name="Google Shape;2562;p52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3" name="Google Shape;2563;p52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4" name="Google Shape;2564;p52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5" name="Google Shape;2565;p52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Factors and multiples are reversed constantly. Also, 1 is frequently misclassified as prime; it is neither prime nor composite.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6" name="Google Shape;2566;p52"/>
          <p:cNvSpPr/>
          <p:nvPr/>
        </p:nvSpPr>
        <p:spPr>
          <a:xfrm>
            <a:off x="533326" y="9314780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7" name="Google Shape;2567;p52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8" name="Google Shape;2568;p52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9" name="Google Shape;2569;p52"/>
          <p:cNvSpPr/>
          <p:nvPr/>
        </p:nvSpPr>
        <p:spPr>
          <a:xfrm>
            <a:off x="1218902" y="9905256"/>
            <a:ext cx="5000223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list all the factor pairs of a number.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0" name="Google Shape;2570;p52"/>
          <p:cNvSpPr/>
          <p:nvPr/>
        </p:nvSpPr>
        <p:spPr>
          <a:xfrm>
            <a:off x="780901" y="10376074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1" name="Google Shape;2571;p52"/>
          <p:cNvSpPr/>
          <p:nvPr/>
        </p:nvSpPr>
        <p:spPr>
          <a:xfrm>
            <a:off x="1218902" y="10347499"/>
            <a:ext cx="539288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tell if a number is prime or composite.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2" name="Google Shape;2572;p52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3" name="Google Shape;2573;p52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4" name="Google Shape;2574;p52"/>
          <p:cNvSpPr/>
          <p:nvPr/>
        </p:nvSpPr>
        <p:spPr>
          <a:xfrm>
            <a:off x="10618738" y="14897174"/>
            <a:ext cx="10685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4.OA.B.4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579" name="Shape 2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" name="Google Shape;2580;p53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1" name="Google Shape;2581;p53"/>
          <p:cNvSpPr/>
          <p:nvPr/>
        </p:nvSpPr>
        <p:spPr>
          <a:xfrm>
            <a:off x="533326" y="533326"/>
            <a:ext cx="968906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4TH GRADE MATH · OPERATIONS AND ALGEBRAIC THINKING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2" name="Google Shape;2582;p53"/>
          <p:cNvSpPr/>
          <p:nvPr/>
        </p:nvSpPr>
        <p:spPr>
          <a:xfrm>
            <a:off x="533326" y="847651"/>
            <a:ext cx="9689068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Generate and Analyze Patterns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3" name="Google Shape;2583;p53"/>
          <p:cNvSpPr/>
          <p:nvPr/>
        </p:nvSpPr>
        <p:spPr>
          <a:xfrm>
            <a:off x="9909721" y="533326"/>
            <a:ext cx="170132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4" name="Google Shape;2584;p53"/>
          <p:cNvSpPr/>
          <p:nvPr/>
        </p:nvSpPr>
        <p:spPr>
          <a:xfrm>
            <a:off x="10119271" y="647626"/>
            <a:ext cx="135842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4.OA.C.5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5" name="Google Shape;2585;p53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6" name="Google Shape;2586;p53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7" name="Google Shape;2587;p53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8" name="Google Shape;2588;p53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Generate a number or shape pattern that follows a given rule; identify apparent features of the pattern that were not explicit in the rule.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9" name="Google Shape;2589;p53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0" name="Google Shape;2590;p53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1" name="Google Shape;2591;p53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2" name="Google Shape;2592;p53"/>
          <p:cNvSpPr/>
          <p:nvPr/>
        </p:nvSpPr>
        <p:spPr>
          <a:xfrm>
            <a:off x="999902" y="4115470"/>
            <a:ext cx="204384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is the rule?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3" name="Google Shape;2593;p53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4" name="Google Shape;2594;p53"/>
          <p:cNvSpPr/>
          <p:nvPr/>
        </p:nvSpPr>
        <p:spPr>
          <a:xfrm>
            <a:off x="999902" y="456396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features appear that the rule did not state?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5" name="Google Shape;2595;p53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6" name="Google Shape;2596;p53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7" name="Google Shape;2597;p53"/>
          <p:cNvSpPr/>
          <p:nvPr/>
        </p:nvSpPr>
        <p:spPr>
          <a:xfrm>
            <a:off x="6424464" y="4115470"/>
            <a:ext cx="106486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8" name="Google Shape;2598;p53"/>
          <p:cNvSpPr/>
          <p:nvPr/>
        </p:nvSpPr>
        <p:spPr>
          <a:xfrm>
            <a:off x="6586389" y="4182145"/>
            <a:ext cx="81721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pattern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9" name="Google Shape;2599;p53"/>
          <p:cNvSpPr/>
          <p:nvPr/>
        </p:nvSpPr>
        <p:spPr>
          <a:xfrm>
            <a:off x="7575054" y="4115470"/>
            <a:ext cx="720626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0" name="Google Shape;2600;p53"/>
          <p:cNvSpPr/>
          <p:nvPr/>
        </p:nvSpPr>
        <p:spPr>
          <a:xfrm>
            <a:off x="7736979" y="4182145"/>
            <a:ext cx="47297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rule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1" name="Google Shape;2601;p53"/>
          <p:cNvSpPr/>
          <p:nvPr/>
        </p:nvSpPr>
        <p:spPr>
          <a:xfrm>
            <a:off x="8381405" y="4115470"/>
            <a:ext cx="79987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2" name="Google Shape;2602;p53"/>
          <p:cNvSpPr/>
          <p:nvPr/>
        </p:nvSpPr>
        <p:spPr>
          <a:xfrm>
            <a:off x="8543330" y="4182145"/>
            <a:ext cx="55222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term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3" name="Google Shape;2603;p53"/>
          <p:cNvSpPr/>
          <p:nvPr/>
        </p:nvSpPr>
        <p:spPr>
          <a:xfrm>
            <a:off x="9267006" y="4115470"/>
            <a:ext cx="1356196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4" name="Google Shape;2604;p53"/>
          <p:cNvSpPr/>
          <p:nvPr/>
        </p:nvSpPr>
        <p:spPr>
          <a:xfrm>
            <a:off x="9428931" y="4182145"/>
            <a:ext cx="110854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sequence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5" name="Google Shape;2605;p53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6" name="Google Shape;2606;p53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7" name="Google Shape;2607;p53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8" name="Google Shape;2608;p53"/>
          <p:cNvSpPr/>
          <p:nvPr/>
        </p:nvSpPr>
        <p:spPr>
          <a:xfrm>
            <a:off x="1247477" y="6260827"/>
            <a:ext cx="579856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Generate a number or shape pattern from a rule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9" name="Google Shape;2609;p53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0" name="Google Shape;2610;p53"/>
          <p:cNvSpPr/>
          <p:nvPr/>
        </p:nvSpPr>
        <p:spPr>
          <a:xfrm>
            <a:off x="1247477" y="6699721"/>
            <a:ext cx="625310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features of the pattern not explicit in the rule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1" name="Google Shape;2611;p53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2" name="Google Shape;2612;p53"/>
          <p:cNvSpPr/>
          <p:nvPr/>
        </p:nvSpPr>
        <p:spPr>
          <a:xfrm>
            <a:off x="1247477" y="7138615"/>
            <a:ext cx="354303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Extend and describe patterns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3" name="Google Shape;2613;p53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4" name="Google Shape;2614;p53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5" name="Google Shape;2615;p53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6" name="Google Shape;2616;p53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continue a pattern correctly but cannot articulate the rule, which blocks them when the pattern is presented in reverse.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7" name="Google Shape;2617;p53"/>
          <p:cNvSpPr/>
          <p:nvPr/>
        </p:nvSpPr>
        <p:spPr>
          <a:xfrm>
            <a:off x="533326" y="950833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8" name="Google Shape;2618;p53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9" name="Google Shape;2619;p53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0" name="Google Shape;2620;p53"/>
          <p:cNvSpPr/>
          <p:nvPr/>
        </p:nvSpPr>
        <p:spPr>
          <a:xfrm>
            <a:off x="1218902" y="10098807"/>
            <a:ext cx="4088190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make a pattern from a rule.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1" name="Google Shape;2621;p53"/>
          <p:cNvSpPr/>
          <p:nvPr/>
        </p:nvSpPr>
        <p:spPr>
          <a:xfrm>
            <a:off x="780901" y="105696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2" name="Google Shape;2622;p53"/>
          <p:cNvSpPr/>
          <p:nvPr/>
        </p:nvSpPr>
        <p:spPr>
          <a:xfrm>
            <a:off x="1218902" y="10541050"/>
            <a:ext cx="478093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describe a feature of the pattern.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3" name="Google Shape;2623;p53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4" name="Google Shape;2624;p53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5" name="Google Shape;2625;p53"/>
          <p:cNvSpPr/>
          <p:nvPr/>
        </p:nvSpPr>
        <p:spPr>
          <a:xfrm>
            <a:off x="10618738" y="14897174"/>
            <a:ext cx="10685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4.OA.C.5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630" name="Shape 2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" name="Google Shape;2631;p54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2" name="Google Shape;2632;p54"/>
          <p:cNvSpPr/>
          <p:nvPr/>
        </p:nvSpPr>
        <p:spPr>
          <a:xfrm>
            <a:off x="533326" y="533326"/>
            <a:ext cx="98474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4TH GRADE MATH · NUMBER AND OPERATIONS IN BASE TEN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3" name="Google Shape;2633;p54"/>
          <p:cNvSpPr/>
          <p:nvPr/>
        </p:nvSpPr>
        <p:spPr>
          <a:xfrm>
            <a:off x="533326" y="847651"/>
            <a:ext cx="9220802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Generalize Place Value Understanding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4" name="Google Shape;2634;p54"/>
          <p:cNvSpPr/>
          <p:nvPr/>
        </p:nvSpPr>
        <p:spPr>
          <a:xfrm>
            <a:off x="9771311" y="533326"/>
            <a:ext cx="183973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5" name="Google Shape;2635;p54"/>
          <p:cNvSpPr/>
          <p:nvPr/>
        </p:nvSpPr>
        <p:spPr>
          <a:xfrm>
            <a:off x="9980861" y="647626"/>
            <a:ext cx="149683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4.NBT.A.1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6" name="Google Shape;2636;p54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7" name="Google Shape;2637;p54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8" name="Google Shape;2638;p54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9" name="Google Shape;2639;p54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Recognize that in a multi-digit whole number, a digit in one place represents ten times what it represents in the place to its right.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0" name="Google Shape;2640;p54"/>
          <p:cNvSpPr/>
          <p:nvPr/>
        </p:nvSpPr>
        <p:spPr>
          <a:xfrm>
            <a:off x="533326" y="4016350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1" name="Google Shape;2641;p54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2" name="Google Shape;2642;p54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3" name="Google Shape;2643;p54"/>
          <p:cNvSpPr/>
          <p:nvPr/>
        </p:nvSpPr>
        <p:spPr>
          <a:xfrm>
            <a:off x="999902" y="4635401"/>
            <a:ext cx="443640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are neighboring places related?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4" name="Google Shape;2644;p54"/>
          <p:cNvSpPr/>
          <p:nvPr/>
        </p:nvSpPr>
        <p:spPr>
          <a:xfrm>
            <a:off x="790501" y="5188595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5" name="Google Shape;2645;p54"/>
          <p:cNvSpPr/>
          <p:nvPr/>
        </p:nvSpPr>
        <p:spPr>
          <a:xfrm>
            <a:off x="999902" y="5083894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Why is each place ten times the one to its right?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6" name="Google Shape;2646;p54"/>
          <p:cNvSpPr/>
          <p:nvPr/>
        </p:nvSpPr>
        <p:spPr>
          <a:xfrm>
            <a:off x="6167289" y="4016350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7" name="Google Shape;2647;p54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8" name="Google Shape;2648;p54"/>
          <p:cNvSpPr/>
          <p:nvPr/>
        </p:nvSpPr>
        <p:spPr>
          <a:xfrm>
            <a:off x="6424464" y="4635401"/>
            <a:ext cx="152809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9" name="Google Shape;2649;p54"/>
          <p:cNvSpPr/>
          <p:nvPr/>
        </p:nvSpPr>
        <p:spPr>
          <a:xfrm>
            <a:off x="6586389" y="4702076"/>
            <a:ext cx="128044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place value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0" name="Google Shape;2650;p54"/>
          <p:cNvSpPr/>
          <p:nvPr/>
        </p:nvSpPr>
        <p:spPr>
          <a:xfrm>
            <a:off x="8038281" y="4635401"/>
            <a:ext cx="128944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1" name="Google Shape;2651;p54"/>
          <p:cNvSpPr/>
          <p:nvPr/>
        </p:nvSpPr>
        <p:spPr>
          <a:xfrm>
            <a:off x="8200206" y="4702076"/>
            <a:ext cx="104179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ten times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2" name="Google Shape;2652;p54"/>
          <p:cNvSpPr/>
          <p:nvPr/>
        </p:nvSpPr>
        <p:spPr>
          <a:xfrm>
            <a:off x="9413453" y="4635401"/>
            <a:ext cx="76036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3" name="Google Shape;2653;p54"/>
          <p:cNvSpPr/>
          <p:nvPr/>
        </p:nvSpPr>
        <p:spPr>
          <a:xfrm>
            <a:off x="9575378" y="4702076"/>
            <a:ext cx="51271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digit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4" name="Google Shape;2654;p54"/>
          <p:cNvSpPr/>
          <p:nvPr/>
        </p:nvSpPr>
        <p:spPr>
          <a:xfrm>
            <a:off x="10259541" y="4635401"/>
            <a:ext cx="985391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5" name="Google Shape;2655;p54"/>
          <p:cNvSpPr/>
          <p:nvPr/>
        </p:nvSpPr>
        <p:spPr>
          <a:xfrm>
            <a:off x="10421466" y="4702076"/>
            <a:ext cx="73774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period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6" name="Google Shape;2656;p54"/>
          <p:cNvSpPr/>
          <p:nvPr/>
        </p:nvSpPr>
        <p:spPr>
          <a:xfrm>
            <a:off x="533326" y="6161708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7" name="Google Shape;2657;p54"/>
          <p:cNvSpPr/>
          <p:nvPr/>
        </p:nvSpPr>
        <p:spPr>
          <a:xfrm>
            <a:off x="809476" y="6380708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8" name="Google Shape;2658;p54"/>
          <p:cNvSpPr/>
          <p:nvPr/>
        </p:nvSpPr>
        <p:spPr>
          <a:xfrm>
            <a:off x="809476" y="680933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9" name="Google Shape;2659;p54"/>
          <p:cNvSpPr/>
          <p:nvPr/>
        </p:nvSpPr>
        <p:spPr>
          <a:xfrm>
            <a:off x="1247477" y="6780758"/>
            <a:ext cx="811425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Recognize a digit represents ten times what it represents to its right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0" name="Google Shape;2660;p54"/>
          <p:cNvSpPr/>
          <p:nvPr/>
        </p:nvSpPr>
        <p:spPr>
          <a:xfrm>
            <a:off x="809476" y="724822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1" name="Google Shape;2661;p54"/>
          <p:cNvSpPr/>
          <p:nvPr/>
        </p:nvSpPr>
        <p:spPr>
          <a:xfrm>
            <a:off x="1247477" y="7219652"/>
            <a:ext cx="395165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place value relationships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2" name="Google Shape;2662;p54"/>
          <p:cNvSpPr/>
          <p:nvPr/>
        </p:nvSpPr>
        <p:spPr>
          <a:xfrm>
            <a:off x="809476" y="768712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3" name="Google Shape;2663;p54"/>
          <p:cNvSpPr/>
          <p:nvPr/>
        </p:nvSpPr>
        <p:spPr>
          <a:xfrm>
            <a:off x="1247477" y="7658546"/>
            <a:ext cx="528360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Apply the relationship to multi-digit numbers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4" name="Google Shape;2664;p54"/>
          <p:cNvSpPr/>
          <p:nvPr/>
        </p:nvSpPr>
        <p:spPr>
          <a:xfrm>
            <a:off x="533326" y="8402166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5" name="Google Shape;2665;p54"/>
          <p:cNvSpPr/>
          <p:nvPr/>
        </p:nvSpPr>
        <p:spPr>
          <a:xfrm>
            <a:off x="533326" y="8402166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6" name="Google Shape;2666;p54"/>
          <p:cNvSpPr/>
          <p:nvPr/>
        </p:nvSpPr>
        <p:spPr>
          <a:xfrm>
            <a:off x="895201" y="8592592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7" name="Google Shape;2667;p54"/>
          <p:cNvSpPr/>
          <p:nvPr/>
        </p:nvSpPr>
        <p:spPr>
          <a:xfrm>
            <a:off x="895201" y="8954467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recite the rule but cannot apply it to explain why 700 is ten times 70.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8" name="Google Shape;2668;p54"/>
          <p:cNvSpPr/>
          <p:nvPr/>
        </p:nvSpPr>
        <p:spPr>
          <a:xfrm>
            <a:off x="533326" y="9681790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9" name="Google Shape;2669;p54"/>
          <p:cNvSpPr/>
          <p:nvPr/>
        </p:nvSpPr>
        <p:spPr>
          <a:xfrm>
            <a:off x="780901" y="987221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0" name="Google Shape;2670;p54"/>
          <p:cNvSpPr/>
          <p:nvPr/>
        </p:nvSpPr>
        <p:spPr>
          <a:xfrm>
            <a:off x="780901" y="1030084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1" name="Google Shape;2671;p54"/>
          <p:cNvSpPr/>
          <p:nvPr/>
        </p:nvSpPr>
        <p:spPr>
          <a:xfrm>
            <a:off x="1218902" y="10272266"/>
            <a:ext cx="7705383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that each place is ten times the place to its right.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2" name="Google Shape;2672;p54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3" name="Google Shape;2673;p54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4" name="Google Shape;2674;p54"/>
          <p:cNvSpPr/>
          <p:nvPr/>
        </p:nvSpPr>
        <p:spPr>
          <a:xfrm>
            <a:off x="10513144" y="14897174"/>
            <a:ext cx="11741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4.NBT.A.1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679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Google Shape;2680;p55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1" name="Google Shape;2681;p55"/>
          <p:cNvSpPr/>
          <p:nvPr/>
        </p:nvSpPr>
        <p:spPr>
          <a:xfrm>
            <a:off x="533326" y="533326"/>
            <a:ext cx="98474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4TH GRADE MATH · NUMBER AND OPERATIONS IN BASE TEN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2" name="Google Shape;2682;p55"/>
          <p:cNvSpPr/>
          <p:nvPr/>
        </p:nvSpPr>
        <p:spPr>
          <a:xfrm>
            <a:off x="533326" y="847651"/>
            <a:ext cx="9220802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Generalize Place Value Understanding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3" name="Google Shape;2683;p55"/>
          <p:cNvSpPr/>
          <p:nvPr/>
        </p:nvSpPr>
        <p:spPr>
          <a:xfrm>
            <a:off x="9771311" y="533326"/>
            <a:ext cx="183973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4" name="Google Shape;2684;p55"/>
          <p:cNvSpPr/>
          <p:nvPr/>
        </p:nvSpPr>
        <p:spPr>
          <a:xfrm>
            <a:off x="9980861" y="647626"/>
            <a:ext cx="149683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4.NBT.A.2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5" name="Google Shape;2685;p55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6" name="Google Shape;2686;p55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7" name="Google Shape;2687;p55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8" name="Google Shape;2688;p55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and write multi-digit whole numbers using base-ten numerals, number names, and expanded form; compare two numbers using &gt;, =, and &lt;.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9" name="Google Shape;2689;p55"/>
          <p:cNvSpPr/>
          <p:nvPr/>
        </p:nvSpPr>
        <p:spPr>
          <a:xfrm>
            <a:off x="533326" y="4016350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0" name="Google Shape;2690;p55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1" name="Google Shape;2691;p55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2" name="Google Shape;2692;p55"/>
          <p:cNvSpPr/>
          <p:nvPr/>
        </p:nvSpPr>
        <p:spPr>
          <a:xfrm>
            <a:off x="999902" y="4635401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many ways can I represent a large number?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3" name="Google Shape;2693;p55"/>
          <p:cNvSpPr/>
          <p:nvPr/>
        </p:nvSpPr>
        <p:spPr>
          <a:xfrm>
            <a:off x="790501" y="5522788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4" name="Google Shape;2694;p55"/>
          <p:cNvSpPr/>
          <p:nvPr/>
        </p:nvSpPr>
        <p:spPr>
          <a:xfrm>
            <a:off x="999902" y="5418088"/>
            <a:ext cx="473820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compare multi-digit numbers?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5" name="Google Shape;2695;p55"/>
          <p:cNvSpPr/>
          <p:nvPr/>
        </p:nvSpPr>
        <p:spPr>
          <a:xfrm>
            <a:off x="6167289" y="4016350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6" name="Google Shape;2696;p55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7" name="Google Shape;2697;p55"/>
          <p:cNvSpPr/>
          <p:nvPr/>
        </p:nvSpPr>
        <p:spPr>
          <a:xfrm>
            <a:off x="6424464" y="4635401"/>
            <a:ext cx="191162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8" name="Google Shape;2698;p55"/>
          <p:cNvSpPr/>
          <p:nvPr/>
        </p:nvSpPr>
        <p:spPr>
          <a:xfrm>
            <a:off x="6586389" y="4702076"/>
            <a:ext cx="166397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expanded form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9" name="Google Shape;2699;p55"/>
          <p:cNvSpPr/>
          <p:nvPr/>
        </p:nvSpPr>
        <p:spPr>
          <a:xfrm>
            <a:off x="8421812" y="4635401"/>
            <a:ext cx="179241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0" name="Google Shape;2700;p55"/>
          <p:cNvSpPr/>
          <p:nvPr/>
        </p:nvSpPr>
        <p:spPr>
          <a:xfrm>
            <a:off x="8583737" y="4702076"/>
            <a:ext cx="154476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standard form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1" name="Google Shape;2701;p55"/>
          <p:cNvSpPr/>
          <p:nvPr/>
        </p:nvSpPr>
        <p:spPr>
          <a:xfrm>
            <a:off x="6424464" y="5139928"/>
            <a:ext cx="179241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2" name="Google Shape;2702;p55"/>
          <p:cNvSpPr/>
          <p:nvPr/>
        </p:nvSpPr>
        <p:spPr>
          <a:xfrm>
            <a:off x="6586389" y="5206603"/>
            <a:ext cx="154476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number name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3" name="Google Shape;2703;p55"/>
          <p:cNvSpPr/>
          <p:nvPr/>
        </p:nvSpPr>
        <p:spPr>
          <a:xfrm>
            <a:off x="8302600" y="5139928"/>
            <a:ext cx="124993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4" name="Google Shape;2704;p55"/>
          <p:cNvSpPr/>
          <p:nvPr/>
        </p:nvSpPr>
        <p:spPr>
          <a:xfrm>
            <a:off x="8464525" y="5206603"/>
            <a:ext cx="100228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compare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5" name="Google Shape;2705;p55"/>
          <p:cNvSpPr/>
          <p:nvPr/>
        </p:nvSpPr>
        <p:spPr>
          <a:xfrm>
            <a:off x="9638258" y="5139928"/>
            <a:ext cx="985391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6" name="Google Shape;2706;p55"/>
          <p:cNvSpPr/>
          <p:nvPr/>
        </p:nvSpPr>
        <p:spPr>
          <a:xfrm>
            <a:off x="9800183" y="5206603"/>
            <a:ext cx="73774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period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7" name="Google Shape;2707;p55"/>
          <p:cNvSpPr/>
          <p:nvPr/>
        </p:nvSpPr>
        <p:spPr>
          <a:xfrm>
            <a:off x="533326" y="6161708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8" name="Google Shape;2708;p55"/>
          <p:cNvSpPr/>
          <p:nvPr/>
        </p:nvSpPr>
        <p:spPr>
          <a:xfrm>
            <a:off x="809476" y="6380708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9" name="Google Shape;2709;p55"/>
          <p:cNvSpPr/>
          <p:nvPr/>
        </p:nvSpPr>
        <p:spPr>
          <a:xfrm>
            <a:off x="809476" y="680933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0" name="Google Shape;2710;p55"/>
          <p:cNvSpPr/>
          <p:nvPr/>
        </p:nvSpPr>
        <p:spPr>
          <a:xfrm>
            <a:off x="1247477" y="6780758"/>
            <a:ext cx="906803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and write multi-digit numbers in numerals, words, and expanded form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1" name="Google Shape;2711;p55"/>
          <p:cNvSpPr/>
          <p:nvPr/>
        </p:nvSpPr>
        <p:spPr>
          <a:xfrm>
            <a:off x="809476" y="724822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2" name="Google Shape;2712;p55"/>
          <p:cNvSpPr/>
          <p:nvPr/>
        </p:nvSpPr>
        <p:spPr>
          <a:xfrm>
            <a:off x="1247477" y="7219652"/>
            <a:ext cx="610871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Compare two multi-digit numbers using &gt;, =, and &lt;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3" name="Google Shape;2713;p55"/>
          <p:cNvSpPr/>
          <p:nvPr/>
        </p:nvSpPr>
        <p:spPr>
          <a:xfrm>
            <a:off x="809476" y="768712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4" name="Google Shape;2714;p55"/>
          <p:cNvSpPr/>
          <p:nvPr/>
        </p:nvSpPr>
        <p:spPr>
          <a:xfrm>
            <a:off x="1247477" y="7658546"/>
            <a:ext cx="463236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place value to justify comparisons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5" name="Google Shape;2715;p55"/>
          <p:cNvSpPr/>
          <p:nvPr/>
        </p:nvSpPr>
        <p:spPr>
          <a:xfrm>
            <a:off x="533326" y="8402166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6" name="Google Shape;2716;p55"/>
          <p:cNvSpPr/>
          <p:nvPr/>
        </p:nvSpPr>
        <p:spPr>
          <a:xfrm>
            <a:off x="533326" y="8402166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7" name="Google Shape;2717;p55"/>
          <p:cNvSpPr/>
          <p:nvPr/>
        </p:nvSpPr>
        <p:spPr>
          <a:xfrm>
            <a:off x="895201" y="8592592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8" name="Google Shape;2718;p55"/>
          <p:cNvSpPr/>
          <p:nvPr/>
        </p:nvSpPr>
        <p:spPr>
          <a:xfrm>
            <a:off x="895201" y="8954467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insert "and" when writing whole number names. "And" indicates a decimal point and does not belong in a whole number.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9" name="Google Shape;2719;p55"/>
          <p:cNvSpPr/>
          <p:nvPr/>
        </p:nvSpPr>
        <p:spPr>
          <a:xfrm>
            <a:off x="533326" y="10028262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0" name="Google Shape;2720;p55"/>
          <p:cNvSpPr/>
          <p:nvPr/>
        </p:nvSpPr>
        <p:spPr>
          <a:xfrm>
            <a:off x="780901" y="10218688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1" name="Google Shape;2721;p55"/>
          <p:cNvSpPr/>
          <p:nvPr/>
        </p:nvSpPr>
        <p:spPr>
          <a:xfrm>
            <a:off x="780901" y="1064731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2" name="Google Shape;2722;p55"/>
          <p:cNvSpPr/>
          <p:nvPr/>
        </p:nvSpPr>
        <p:spPr>
          <a:xfrm>
            <a:off x="1218902" y="10618738"/>
            <a:ext cx="479566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write a large number three ways.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3" name="Google Shape;2723;p55"/>
          <p:cNvSpPr/>
          <p:nvPr/>
        </p:nvSpPr>
        <p:spPr>
          <a:xfrm>
            <a:off x="780901" y="11089556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4" name="Google Shape;2724;p55"/>
          <p:cNvSpPr/>
          <p:nvPr/>
        </p:nvSpPr>
        <p:spPr>
          <a:xfrm>
            <a:off x="1218902" y="11060981"/>
            <a:ext cx="485828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compare two multi-digit numbers.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5" name="Google Shape;2725;p55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6" name="Google Shape;2726;p55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7" name="Google Shape;2727;p55"/>
          <p:cNvSpPr/>
          <p:nvPr/>
        </p:nvSpPr>
        <p:spPr>
          <a:xfrm>
            <a:off x="10513144" y="14897174"/>
            <a:ext cx="11741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4.NBT.A.2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732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p56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4" name="Google Shape;2734;p56"/>
          <p:cNvSpPr/>
          <p:nvPr/>
        </p:nvSpPr>
        <p:spPr>
          <a:xfrm>
            <a:off x="533326" y="533326"/>
            <a:ext cx="98474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4TH GRADE MATH · NUMBER AND OPERATIONS IN BASE TEN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5" name="Google Shape;2735;p56"/>
          <p:cNvSpPr/>
          <p:nvPr/>
        </p:nvSpPr>
        <p:spPr>
          <a:xfrm>
            <a:off x="533326" y="847651"/>
            <a:ext cx="9220802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Generalize Place Value Understanding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6" name="Google Shape;2736;p56"/>
          <p:cNvSpPr/>
          <p:nvPr/>
        </p:nvSpPr>
        <p:spPr>
          <a:xfrm>
            <a:off x="9771311" y="533326"/>
            <a:ext cx="183973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7" name="Google Shape;2737;p56"/>
          <p:cNvSpPr/>
          <p:nvPr/>
        </p:nvSpPr>
        <p:spPr>
          <a:xfrm>
            <a:off x="9980861" y="647626"/>
            <a:ext cx="149683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4.NBT.A.3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8" name="Google Shape;2738;p56"/>
          <p:cNvSpPr/>
          <p:nvPr/>
        </p:nvSpPr>
        <p:spPr>
          <a:xfrm>
            <a:off x="533326" y="2325514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9" name="Google Shape;2739;p56"/>
          <p:cNvSpPr/>
          <p:nvPr/>
        </p:nvSpPr>
        <p:spPr>
          <a:xfrm>
            <a:off x="533326" y="2325514"/>
            <a:ext cx="114300" cy="1140544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0" name="Google Shape;2740;p56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1" name="Google Shape;2741;p56"/>
          <p:cNvSpPr/>
          <p:nvPr/>
        </p:nvSpPr>
        <p:spPr>
          <a:xfrm>
            <a:off x="914177" y="2896791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place value understanding to round multi-digit whole numbers to any place.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2" name="Google Shape;2742;p56"/>
          <p:cNvSpPr/>
          <p:nvPr/>
        </p:nvSpPr>
        <p:spPr>
          <a:xfrm>
            <a:off x="533326" y="3656484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3" name="Google Shape;2743;p56"/>
          <p:cNvSpPr/>
          <p:nvPr/>
        </p:nvSpPr>
        <p:spPr>
          <a:xfrm>
            <a:off x="790501" y="3875484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4" name="Google Shape;2744;p56"/>
          <p:cNvSpPr/>
          <p:nvPr/>
        </p:nvSpPr>
        <p:spPr>
          <a:xfrm>
            <a:off x="790501" y="4380235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5" name="Google Shape;2745;p56"/>
          <p:cNvSpPr/>
          <p:nvPr/>
        </p:nvSpPr>
        <p:spPr>
          <a:xfrm>
            <a:off x="999902" y="4275534"/>
            <a:ext cx="367907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Which place am I rounding to?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6" name="Google Shape;2746;p56"/>
          <p:cNvSpPr/>
          <p:nvPr/>
        </p:nvSpPr>
        <p:spPr>
          <a:xfrm>
            <a:off x="790501" y="4828729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7" name="Google Shape;2747;p56"/>
          <p:cNvSpPr/>
          <p:nvPr/>
        </p:nvSpPr>
        <p:spPr>
          <a:xfrm>
            <a:off x="999902" y="4724028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know which benchmark is closer?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8" name="Google Shape;2748;p56"/>
          <p:cNvSpPr/>
          <p:nvPr/>
        </p:nvSpPr>
        <p:spPr>
          <a:xfrm>
            <a:off x="6167289" y="3656484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9" name="Google Shape;2749;p56"/>
          <p:cNvSpPr/>
          <p:nvPr/>
        </p:nvSpPr>
        <p:spPr>
          <a:xfrm>
            <a:off x="6424464" y="3875484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0" name="Google Shape;2750;p56"/>
          <p:cNvSpPr/>
          <p:nvPr/>
        </p:nvSpPr>
        <p:spPr>
          <a:xfrm>
            <a:off x="6424464" y="4275534"/>
            <a:ext cx="932706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1" name="Google Shape;2751;p56"/>
          <p:cNvSpPr/>
          <p:nvPr/>
        </p:nvSpPr>
        <p:spPr>
          <a:xfrm>
            <a:off x="6586389" y="4342209"/>
            <a:ext cx="68505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round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2" name="Google Shape;2752;p56"/>
          <p:cNvSpPr/>
          <p:nvPr/>
        </p:nvSpPr>
        <p:spPr>
          <a:xfrm>
            <a:off x="7442895" y="4275534"/>
            <a:ext cx="152809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3" name="Google Shape;2753;p56"/>
          <p:cNvSpPr/>
          <p:nvPr/>
        </p:nvSpPr>
        <p:spPr>
          <a:xfrm>
            <a:off x="7604820" y="4342209"/>
            <a:ext cx="128044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place value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4" name="Google Shape;2754;p56"/>
          <p:cNvSpPr/>
          <p:nvPr/>
        </p:nvSpPr>
        <p:spPr>
          <a:xfrm>
            <a:off x="9056712" y="4275534"/>
            <a:ext cx="150130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5" name="Google Shape;2755;p56"/>
          <p:cNvSpPr/>
          <p:nvPr/>
        </p:nvSpPr>
        <p:spPr>
          <a:xfrm>
            <a:off x="9218637" y="4342209"/>
            <a:ext cx="125365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benchmark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6" name="Google Shape;2756;p56"/>
          <p:cNvSpPr/>
          <p:nvPr/>
        </p:nvSpPr>
        <p:spPr>
          <a:xfrm>
            <a:off x="6424464" y="4780062"/>
            <a:ext cx="122336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7" name="Google Shape;2757;p56"/>
          <p:cNvSpPr/>
          <p:nvPr/>
        </p:nvSpPr>
        <p:spPr>
          <a:xfrm>
            <a:off x="6586389" y="4846737"/>
            <a:ext cx="97571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estimate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8" name="Google Shape;2758;p56"/>
          <p:cNvSpPr/>
          <p:nvPr/>
        </p:nvSpPr>
        <p:spPr>
          <a:xfrm>
            <a:off x="533326" y="5801841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9" name="Google Shape;2759;p56"/>
          <p:cNvSpPr/>
          <p:nvPr/>
        </p:nvSpPr>
        <p:spPr>
          <a:xfrm>
            <a:off x="809476" y="6020842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0" name="Google Shape;2760;p56"/>
          <p:cNvSpPr/>
          <p:nvPr/>
        </p:nvSpPr>
        <p:spPr>
          <a:xfrm>
            <a:off x="809476" y="644946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1" name="Google Shape;2761;p56"/>
          <p:cNvSpPr/>
          <p:nvPr/>
        </p:nvSpPr>
        <p:spPr>
          <a:xfrm>
            <a:off x="1247477" y="6420892"/>
            <a:ext cx="472347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Round multi-digit numbers to any place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2" name="Google Shape;2762;p56"/>
          <p:cNvSpPr/>
          <p:nvPr/>
        </p:nvSpPr>
        <p:spPr>
          <a:xfrm>
            <a:off x="809476" y="688836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3" name="Google Shape;2763;p56"/>
          <p:cNvSpPr/>
          <p:nvPr/>
        </p:nvSpPr>
        <p:spPr>
          <a:xfrm>
            <a:off x="1247477" y="6859786"/>
            <a:ext cx="373997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place value understanding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4" name="Google Shape;2764;p56"/>
          <p:cNvSpPr/>
          <p:nvPr/>
        </p:nvSpPr>
        <p:spPr>
          <a:xfrm>
            <a:off x="809476" y="732725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5" name="Google Shape;2765;p56"/>
          <p:cNvSpPr/>
          <p:nvPr/>
        </p:nvSpPr>
        <p:spPr>
          <a:xfrm>
            <a:off x="1247477" y="7298680"/>
            <a:ext cx="549577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Apply rounding to estimate in problem solving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6" name="Google Shape;2766;p56"/>
          <p:cNvSpPr/>
          <p:nvPr/>
        </p:nvSpPr>
        <p:spPr>
          <a:xfrm>
            <a:off x="533326" y="8042300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7" name="Google Shape;2767;p56"/>
          <p:cNvSpPr/>
          <p:nvPr/>
        </p:nvSpPr>
        <p:spPr>
          <a:xfrm>
            <a:off x="533326" y="8042300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8" name="Google Shape;2768;p56"/>
          <p:cNvSpPr/>
          <p:nvPr/>
        </p:nvSpPr>
        <p:spPr>
          <a:xfrm>
            <a:off x="895201" y="8232725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9" name="Google Shape;2769;p56"/>
          <p:cNvSpPr/>
          <p:nvPr/>
        </p:nvSpPr>
        <p:spPr>
          <a:xfrm>
            <a:off x="895201" y="8594601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round every digit rather than the target place, or round left to right repeatedly, compounding the error.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0" name="Google Shape;2770;p56"/>
          <p:cNvSpPr/>
          <p:nvPr/>
        </p:nvSpPr>
        <p:spPr>
          <a:xfrm>
            <a:off x="533326" y="9668396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1" name="Google Shape;2771;p56"/>
          <p:cNvSpPr/>
          <p:nvPr/>
        </p:nvSpPr>
        <p:spPr>
          <a:xfrm>
            <a:off x="780901" y="9858821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2" name="Google Shape;2772;p56"/>
          <p:cNvSpPr/>
          <p:nvPr/>
        </p:nvSpPr>
        <p:spPr>
          <a:xfrm>
            <a:off x="780901" y="10287446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3" name="Google Shape;2773;p56"/>
          <p:cNvSpPr/>
          <p:nvPr/>
        </p:nvSpPr>
        <p:spPr>
          <a:xfrm>
            <a:off x="1218902" y="10258871"/>
            <a:ext cx="566104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round a multi-digit number to any place.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4" name="Google Shape;2774;p56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5" name="Google Shape;2775;p56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6" name="Google Shape;2776;p56"/>
          <p:cNvSpPr/>
          <p:nvPr/>
        </p:nvSpPr>
        <p:spPr>
          <a:xfrm>
            <a:off x="10513144" y="14897174"/>
            <a:ext cx="11741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4.NBT.A.3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781" name="Shape 2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2" name="Google Shape;2782;p57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3" name="Google Shape;2783;p57"/>
          <p:cNvSpPr/>
          <p:nvPr/>
        </p:nvSpPr>
        <p:spPr>
          <a:xfrm>
            <a:off x="533326" y="533326"/>
            <a:ext cx="96844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4TH GRADE MATH · NUMBER AND OPERATIONS IN BASE TEN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4" name="Google Shape;2784;p57"/>
          <p:cNvSpPr/>
          <p:nvPr/>
        </p:nvSpPr>
        <p:spPr>
          <a:xfrm>
            <a:off x="533326" y="847651"/>
            <a:ext cx="9684402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Multi-Digit Arithmetic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5" name="Google Shape;2785;p57"/>
          <p:cNvSpPr/>
          <p:nvPr/>
        </p:nvSpPr>
        <p:spPr>
          <a:xfrm>
            <a:off x="9771311" y="533326"/>
            <a:ext cx="183973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6" name="Google Shape;2786;p57"/>
          <p:cNvSpPr/>
          <p:nvPr/>
        </p:nvSpPr>
        <p:spPr>
          <a:xfrm>
            <a:off x="9980861" y="647626"/>
            <a:ext cx="149683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4.NBT.B.4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7" name="Google Shape;2787;p57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8" name="Google Shape;2788;p57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9" name="Google Shape;2789;p57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0" name="Google Shape;2790;p57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Fluently add and subtract multi-digit whole numbers using the standard algorithm.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1" name="Google Shape;2791;p57"/>
          <p:cNvSpPr/>
          <p:nvPr/>
        </p:nvSpPr>
        <p:spPr>
          <a:xfrm>
            <a:off x="533326" y="3136553"/>
            <a:ext cx="5443538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2" name="Google Shape;2792;p57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3" name="Google Shape;2793;p57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4" name="Google Shape;2794;p57"/>
          <p:cNvSpPr/>
          <p:nvPr/>
        </p:nvSpPr>
        <p:spPr>
          <a:xfrm>
            <a:off x="999902" y="3755603"/>
            <a:ext cx="479910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Why does the standard algorithm work?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5" name="Google Shape;2795;p57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6" name="Google Shape;2796;p57"/>
          <p:cNvSpPr/>
          <p:nvPr/>
        </p:nvSpPr>
        <p:spPr>
          <a:xfrm>
            <a:off x="999902" y="4204097"/>
            <a:ext cx="502600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know my answer is reasonable?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7" name="Google Shape;2797;p57"/>
          <p:cNvSpPr/>
          <p:nvPr/>
        </p:nvSpPr>
        <p:spPr>
          <a:xfrm>
            <a:off x="6167289" y="3136553"/>
            <a:ext cx="5443761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8" name="Google Shape;2798;p57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9" name="Google Shape;2799;p57"/>
          <p:cNvSpPr/>
          <p:nvPr/>
        </p:nvSpPr>
        <p:spPr>
          <a:xfrm>
            <a:off x="6424464" y="3755603"/>
            <a:ext cx="229515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0" name="Google Shape;2800;p57"/>
          <p:cNvSpPr/>
          <p:nvPr/>
        </p:nvSpPr>
        <p:spPr>
          <a:xfrm>
            <a:off x="6586389" y="3822278"/>
            <a:ext cx="204750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standard algorithm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1" name="Google Shape;2801;p57"/>
          <p:cNvSpPr/>
          <p:nvPr/>
        </p:nvSpPr>
        <p:spPr>
          <a:xfrm>
            <a:off x="8805342" y="3755603"/>
            <a:ext cx="114433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2" name="Google Shape;2802;p57"/>
          <p:cNvSpPr/>
          <p:nvPr/>
        </p:nvSpPr>
        <p:spPr>
          <a:xfrm>
            <a:off x="8967267" y="3822278"/>
            <a:ext cx="89668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regroup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3" name="Google Shape;2803;p57"/>
          <p:cNvSpPr/>
          <p:nvPr/>
        </p:nvSpPr>
        <p:spPr>
          <a:xfrm>
            <a:off x="10035406" y="3755603"/>
            <a:ext cx="107803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4" name="Google Shape;2804;p57"/>
          <p:cNvSpPr/>
          <p:nvPr/>
        </p:nvSpPr>
        <p:spPr>
          <a:xfrm>
            <a:off x="10197331" y="3822278"/>
            <a:ext cx="83038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fluently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5" name="Google Shape;2805;p57"/>
          <p:cNvSpPr/>
          <p:nvPr/>
        </p:nvSpPr>
        <p:spPr>
          <a:xfrm>
            <a:off x="533326" y="494771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6" name="Google Shape;2806;p57"/>
          <p:cNvSpPr/>
          <p:nvPr/>
        </p:nvSpPr>
        <p:spPr>
          <a:xfrm>
            <a:off x="809476" y="516671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7" name="Google Shape;2807;p57"/>
          <p:cNvSpPr/>
          <p:nvPr/>
        </p:nvSpPr>
        <p:spPr>
          <a:xfrm>
            <a:off x="809476" y="559534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8" name="Google Shape;2808;p57"/>
          <p:cNvSpPr/>
          <p:nvPr/>
        </p:nvSpPr>
        <p:spPr>
          <a:xfrm>
            <a:off x="1247477" y="5566767"/>
            <a:ext cx="537446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Add and subtract multi-digit numbers fluently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9" name="Google Shape;2809;p57"/>
          <p:cNvSpPr/>
          <p:nvPr/>
        </p:nvSpPr>
        <p:spPr>
          <a:xfrm>
            <a:off x="809476" y="603423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0" name="Google Shape;2810;p57"/>
          <p:cNvSpPr/>
          <p:nvPr/>
        </p:nvSpPr>
        <p:spPr>
          <a:xfrm>
            <a:off x="1247477" y="6005661"/>
            <a:ext cx="327020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the standard algorithm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1" name="Google Shape;2811;p57"/>
          <p:cNvSpPr/>
          <p:nvPr/>
        </p:nvSpPr>
        <p:spPr>
          <a:xfrm>
            <a:off x="809476" y="647313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2" name="Google Shape;2812;p57"/>
          <p:cNvSpPr/>
          <p:nvPr/>
        </p:nvSpPr>
        <p:spPr>
          <a:xfrm>
            <a:off x="1247477" y="6444555"/>
            <a:ext cx="414835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Estimate to check reasonableness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3" name="Google Shape;2813;p57"/>
          <p:cNvSpPr/>
          <p:nvPr/>
        </p:nvSpPr>
        <p:spPr>
          <a:xfrm>
            <a:off x="533326" y="718817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4" name="Google Shape;2814;p57"/>
          <p:cNvSpPr/>
          <p:nvPr/>
        </p:nvSpPr>
        <p:spPr>
          <a:xfrm>
            <a:off x="533326" y="718817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5" name="Google Shape;2815;p57"/>
          <p:cNvSpPr/>
          <p:nvPr/>
        </p:nvSpPr>
        <p:spPr>
          <a:xfrm>
            <a:off x="895201" y="737860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6" name="Google Shape;2816;p57"/>
          <p:cNvSpPr/>
          <p:nvPr/>
        </p:nvSpPr>
        <p:spPr>
          <a:xfrm>
            <a:off x="895201" y="774047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Subtraction across multiple zeros remains the highest-error case. Estimating first catches most of these mistakes.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7" name="Google Shape;2817;p57"/>
          <p:cNvSpPr/>
          <p:nvPr/>
        </p:nvSpPr>
        <p:spPr>
          <a:xfrm>
            <a:off x="533326" y="8814271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8" name="Google Shape;2818;p57"/>
          <p:cNvSpPr/>
          <p:nvPr/>
        </p:nvSpPr>
        <p:spPr>
          <a:xfrm>
            <a:off x="780901" y="900469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9" name="Google Shape;2819;p57"/>
          <p:cNvSpPr/>
          <p:nvPr/>
        </p:nvSpPr>
        <p:spPr>
          <a:xfrm>
            <a:off x="780901" y="943332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0" name="Google Shape;2820;p57"/>
          <p:cNvSpPr/>
          <p:nvPr/>
        </p:nvSpPr>
        <p:spPr>
          <a:xfrm>
            <a:off x="1218902" y="9404747"/>
            <a:ext cx="899460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add and subtract multi-digit numbers using the standard algorithm.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1" name="Google Shape;2821;p57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2" name="Google Shape;2822;p57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3" name="Google Shape;2823;p57"/>
          <p:cNvSpPr/>
          <p:nvPr/>
        </p:nvSpPr>
        <p:spPr>
          <a:xfrm>
            <a:off x="10513144" y="14897174"/>
            <a:ext cx="11741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4.NBT.B.4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828" name="Shape 2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9" name="Google Shape;2829;p58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0" name="Google Shape;2830;p58"/>
          <p:cNvSpPr/>
          <p:nvPr/>
        </p:nvSpPr>
        <p:spPr>
          <a:xfrm>
            <a:off x="533326" y="533326"/>
            <a:ext cx="96844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4TH GRADE MATH · NUMBER AND OPERATIONS IN BASE TEN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1" name="Google Shape;2831;p58"/>
          <p:cNvSpPr/>
          <p:nvPr/>
        </p:nvSpPr>
        <p:spPr>
          <a:xfrm>
            <a:off x="533326" y="847651"/>
            <a:ext cx="9684402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Multi-Digit Arithmetic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2" name="Google Shape;2832;p58"/>
          <p:cNvSpPr/>
          <p:nvPr/>
        </p:nvSpPr>
        <p:spPr>
          <a:xfrm>
            <a:off x="9771311" y="533326"/>
            <a:ext cx="183973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3" name="Google Shape;2833;p58"/>
          <p:cNvSpPr/>
          <p:nvPr/>
        </p:nvSpPr>
        <p:spPr>
          <a:xfrm>
            <a:off x="9980861" y="647626"/>
            <a:ext cx="149683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4.NBT.B.5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4" name="Google Shape;2834;p58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5" name="Google Shape;2835;p58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6" name="Google Shape;2836;p58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7" name="Google Shape;2837;p58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Multiply a whole number of up to four digits by a one-digit whole number, and multiply two two-digit numbers.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8" name="Google Shape;2838;p58"/>
          <p:cNvSpPr/>
          <p:nvPr/>
        </p:nvSpPr>
        <p:spPr>
          <a:xfrm>
            <a:off x="533326" y="3496419"/>
            <a:ext cx="5443538" cy="2289125"/>
          </a:xfrm>
          <a:prstGeom prst="roundRect">
            <a:avLst>
              <a:gd fmla="val 582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9" name="Google Shape;2839;p58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0" name="Google Shape;2840;p58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1" name="Google Shape;2841;p58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an area model show multiplication?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2" name="Google Shape;2842;p58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3" name="Google Shape;2843;p58"/>
          <p:cNvSpPr/>
          <p:nvPr/>
        </p:nvSpPr>
        <p:spPr>
          <a:xfrm>
            <a:off x="999902" y="4898157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place value organize partial products?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4" name="Google Shape;2844;p58"/>
          <p:cNvSpPr/>
          <p:nvPr/>
        </p:nvSpPr>
        <p:spPr>
          <a:xfrm>
            <a:off x="6167289" y="3496419"/>
            <a:ext cx="5443761" cy="2289125"/>
          </a:xfrm>
          <a:prstGeom prst="roundRect">
            <a:avLst>
              <a:gd fmla="val 582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5" name="Google Shape;2845;p58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6" name="Google Shape;2846;p58"/>
          <p:cNvSpPr/>
          <p:nvPr/>
        </p:nvSpPr>
        <p:spPr>
          <a:xfrm>
            <a:off x="6424464" y="4115470"/>
            <a:ext cx="183214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7" name="Google Shape;2847;p58"/>
          <p:cNvSpPr/>
          <p:nvPr/>
        </p:nvSpPr>
        <p:spPr>
          <a:xfrm>
            <a:off x="6586389" y="4182145"/>
            <a:ext cx="158449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partial product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8" name="Google Shape;2848;p58"/>
          <p:cNvSpPr/>
          <p:nvPr/>
        </p:nvSpPr>
        <p:spPr>
          <a:xfrm>
            <a:off x="8342337" y="4115470"/>
            <a:ext cx="151469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9" name="Google Shape;2849;p58"/>
          <p:cNvSpPr/>
          <p:nvPr/>
        </p:nvSpPr>
        <p:spPr>
          <a:xfrm>
            <a:off x="8504262" y="4182145"/>
            <a:ext cx="126704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area model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0" name="Google Shape;2850;p58"/>
          <p:cNvSpPr/>
          <p:nvPr/>
        </p:nvSpPr>
        <p:spPr>
          <a:xfrm>
            <a:off x="9942761" y="4115470"/>
            <a:ext cx="91908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1" name="Google Shape;2851;p58"/>
          <p:cNvSpPr/>
          <p:nvPr/>
        </p:nvSpPr>
        <p:spPr>
          <a:xfrm>
            <a:off x="10104686" y="4182145"/>
            <a:ext cx="67143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factor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2" name="Google Shape;2852;p58"/>
          <p:cNvSpPr/>
          <p:nvPr/>
        </p:nvSpPr>
        <p:spPr>
          <a:xfrm>
            <a:off x="6424464" y="4619997"/>
            <a:ext cx="111777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3" name="Google Shape;2853;p58"/>
          <p:cNvSpPr/>
          <p:nvPr/>
        </p:nvSpPr>
        <p:spPr>
          <a:xfrm>
            <a:off x="6586389" y="4686672"/>
            <a:ext cx="8701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4" name="Google Shape;2854;p58"/>
          <p:cNvSpPr/>
          <p:nvPr/>
        </p:nvSpPr>
        <p:spPr>
          <a:xfrm>
            <a:off x="7627962" y="4619997"/>
            <a:ext cx="152809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5" name="Google Shape;2855;p58"/>
          <p:cNvSpPr/>
          <p:nvPr/>
        </p:nvSpPr>
        <p:spPr>
          <a:xfrm>
            <a:off x="7789887" y="4686672"/>
            <a:ext cx="128044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place value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6" name="Google Shape;2856;p58"/>
          <p:cNvSpPr/>
          <p:nvPr/>
        </p:nvSpPr>
        <p:spPr>
          <a:xfrm>
            <a:off x="533326" y="5975970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7" name="Google Shape;2857;p58"/>
          <p:cNvSpPr/>
          <p:nvPr/>
        </p:nvSpPr>
        <p:spPr>
          <a:xfrm>
            <a:off x="809476" y="6194971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8" name="Google Shape;2858;p58"/>
          <p:cNvSpPr/>
          <p:nvPr/>
        </p:nvSpPr>
        <p:spPr>
          <a:xfrm>
            <a:off x="809476" y="66235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9" name="Google Shape;2859;p58"/>
          <p:cNvSpPr/>
          <p:nvPr/>
        </p:nvSpPr>
        <p:spPr>
          <a:xfrm>
            <a:off x="1247477" y="6595021"/>
            <a:ext cx="433007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Multiply up to four digits by one digit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0" name="Google Shape;2860;p58"/>
          <p:cNvSpPr/>
          <p:nvPr/>
        </p:nvSpPr>
        <p:spPr>
          <a:xfrm>
            <a:off x="809476" y="70624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1" name="Google Shape;2861;p58"/>
          <p:cNvSpPr/>
          <p:nvPr/>
        </p:nvSpPr>
        <p:spPr>
          <a:xfrm>
            <a:off x="1247477" y="7033915"/>
            <a:ext cx="364813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Multiply two two-digit numbers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2" name="Google Shape;2862;p58"/>
          <p:cNvSpPr/>
          <p:nvPr/>
        </p:nvSpPr>
        <p:spPr>
          <a:xfrm>
            <a:off x="809476" y="750138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3" name="Google Shape;2863;p58"/>
          <p:cNvSpPr/>
          <p:nvPr/>
        </p:nvSpPr>
        <p:spPr>
          <a:xfrm>
            <a:off x="1247477" y="7472809"/>
            <a:ext cx="900860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Illustrate and explain using equations, rectangular arrays, and area models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4" name="Google Shape;2864;p58"/>
          <p:cNvSpPr/>
          <p:nvPr/>
        </p:nvSpPr>
        <p:spPr>
          <a:xfrm>
            <a:off x="533326" y="8216429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5" name="Google Shape;2865;p58"/>
          <p:cNvSpPr/>
          <p:nvPr/>
        </p:nvSpPr>
        <p:spPr>
          <a:xfrm>
            <a:off x="533326" y="8216429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6" name="Google Shape;2866;p58"/>
          <p:cNvSpPr/>
          <p:nvPr/>
        </p:nvSpPr>
        <p:spPr>
          <a:xfrm>
            <a:off x="895201" y="840685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7" name="Google Shape;2867;p58"/>
          <p:cNvSpPr/>
          <p:nvPr/>
        </p:nvSpPr>
        <p:spPr>
          <a:xfrm>
            <a:off x="895201" y="8768730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 two-by-two digit multiplication, students forget the placeholder zero in the second partial product, losing a factor of ten.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8" name="Google Shape;2868;p58"/>
          <p:cNvSpPr/>
          <p:nvPr/>
        </p:nvSpPr>
        <p:spPr>
          <a:xfrm>
            <a:off x="533326" y="9842525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9" name="Google Shape;2869;p58"/>
          <p:cNvSpPr/>
          <p:nvPr/>
        </p:nvSpPr>
        <p:spPr>
          <a:xfrm>
            <a:off x="780901" y="10032950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0" name="Google Shape;2870;p58"/>
          <p:cNvSpPr/>
          <p:nvPr/>
        </p:nvSpPr>
        <p:spPr>
          <a:xfrm>
            <a:off x="780901" y="1046157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1" name="Google Shape;2871;p58"/>
          <p:cNvSpPr/>
          <p:nvPr/>
        </p:nvSpPr>
        <p:spPr>
          <a:xfrm>
            <a:off x="1218902" y="10433000"/>
            <a:ext cx="455943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multiply two two-digit numbers.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2" name="Google Shape;2872;p58"/>
          <p:cNvSpPr/>
          <p:nvPr/>
        </p:nvSpPr>
        <p:spPr>
          <a:xfrm>
            <a:off x="780901" y="10903818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3" name="Google Shape;2873;p58"/>
          <p:cNvSpPr/>
          <p:nvPr/>
        </p:nvSpPr>
        <p:spPr>
          <a:xfrm>
            <a:off x="1218902" y="10875243"/>
            <a:ext cx="5031410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show my work with an area model.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4" name="Google Shape;2874;p58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5" name="Google Shape;2875;p58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6" name="Google Shape;2876;p58"/>
          <p:cNvSpPr/>
          <p:nvPr/>
        </p:nvSpPr>
        <p:spPr>
          <a:xfrm>
            <a:off x="10513144" y="14897174"/>
            <a:ext cx="11741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4.NBT.B.5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881" name="Shape 2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2" name="Google Shape;2882;p59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3" name="Google Shape;2883;p59"/>
          <p:cNvSpPr/>
          <p:nvPr/>
        </p:nvSpPr>
        <p:spPr>
          <a:xfrm>
            <a:off x="533326" y="533326"/>
            <a:ext cx="96844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4TH GRADE MATH · NUMBER AND OPERATIONS IN BASE TEN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4" name="Google Shape;2884;p59"/>
          <p:cNvSpPr/>
          <p:nvPr/>
        </p:nvSpPr>
        <p:spPr>
          <a:xfrm>
            <a:off x="533326" y="847651"/>
            <a:ext cx="9684402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Multi-Digit Arithmetic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5" name="Google Shape;2885;p59"/>
          <p:cNvSpPr/>
          <p:nvPr/>
        </p:nvSpPr>
        <p:spPr>
          <a:xfrm>
            <a:off x="9771311" y="533326"/>
            <a:ext cx="183973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6" name="Google Shape;2886;p59"/>
          <p:cNvSpPr/>
          <p:nvPr/>
        </p:nvSpPr>
        <p:spPr>
          <a:xfrm>
            <a:off x="9980861" y="647626"/>
            <a:ext cx="149683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4.NBT.B.6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7" name="Google Shape;2887;p59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8" name="Google Shape;2888;p59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9" name="Google Shape;2889;p59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0" name="Google Shape;2890;p59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Find whole-number quotients and remainders with up to four-digit dividends and one-digit divisors.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1" name="Google Shape;2891;p59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2" name="Google Shape;2892;p59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3" name="Google Shape;2893;p59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4" name="Google Shape;2894;p59"/>
          <p:cNvSpPr/>
          <p:nvPr/>
        </p:nvSpPr>
        <p:spPr>
          <a:xfrm>
            <a:off x="999902" y="4115470"/>
            <a:ext cx="408745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the remainder tell me?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5" name="Google Shape;2895;p59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6" name="Google Shape;2896;p59"/>
          <p:cNvSpPr/>
          <p:nvPr/>
        </p:nvSpPr>
        <p:spPr>
          <a:xfrm>
            <a:off x="999902" y="4563963"/>
            <a:ext cx="431460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can I check a division answer?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7" name="Google Shape;2897;p59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8" name="Google Shape;2898;p59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9" name="Google Shape;2899;p59"/>
          <p:cNvSpPr/>
          <p:nvPr/>
        </p:nvSpPr>
        <p:spPr>
          <a:xfrm>
            <a:off x="6424464" y="4115470"/>
            <a:ext cx="121041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0" name="Google Shape;2900;p59"/>
          <p:cNvSpPr/>
          <p:nvPr/>
        </p:nvSpPr>
        <p:spPr>
          <a:xfrm>
            <a:off x="6586389" y="4182145"/>
            <a:ext cx="96276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dividend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1" name="Google Shape;2901;p59"/>
          <p:cNvSpPr/>
          <p:nvPr/>
        </p:nvSpPr>
        <p:spPr>
          <a:xfrm>
            <a:off x="7720608" y="4115470"/>
            <a:ext cx="101173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2" name="Google Shape;2902;p59"/>
          <p:cNvSpPr/>
          <p:nvPr/>
        </p:nvSpPr>
        <p:spPr>
          <a:xfrm>
            <a:off x="7882533" y="4182145"/>
            <a:ext cx="76408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divisor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3" name="Google Shape;2903;p59"/>
          <p:cNvSpPr/>
          <p:nvPr/>
        </p:nvSpPr>
        <p:spPr>
          <a:xfrm>
            <a:off x="8818066" y="4115470"/>
            <a:ext cx="117090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4" name="Google Shape;2904;p59"/>
          <p:cNvSpPr/>
          <p:nvPr/>
        </p:nvSpPr>
        <p:spPr>
          <a:xfrm>
            <a:off x="8979991" y="4182145"/>
            <a:ext cx="92325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quotient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5" name="Google Shape;2905;p59"/>
          <p:cNvSpPr/>
          <p:nvPr/>
        </p:nvSpPr>
        <p:spPr>
          <a:xfrm>
            <a:off x="6424464" y="4619997"/>
            <a:ext cx="139548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6" name="Google Shape;2906;p59"/>
          <p:cNvSpPr/>
          <p:nvPr/>
        </p:nvSpPr>
        <p:spPr>
          <a:xfrm>
            <a:off x="6586389" y="4686672"/>
            <a:ext cx="114783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remainder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7" name="Google Shape;2907;p59"/>
          <p:cNvSpPr/>
          <p:nvPr/>
        </p:nvSpPr>
        <p:spPr>
          <a:xfrm>
            <a:off x="7905676" y="4619997"/>
            <a:ext cx="188528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8" name="Google Shape;2908;p59"/>
          <p:cNvSpPr/>
          <p:nvPr/>
        </p:nvSpPr>
        <p:spPr>
          <a:xfrm>
            <a:off x="8067601" y="4686672"/>
            <a:ext cx="163763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partial quotient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9" name="Google Shape;2909;p59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0" name="Google Shape;2910;p59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1" name="Google Shape;2911;p59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2" name="Google Shape;2912;p59"/>
          <p:cNvSpPr/>
          <p:nvPr/>
        </p:nvSpPr>
        <p:spPr>
          <a:xfrm>
            <a:off x="1247477" y="6067276"/>
            <a:ext cx="993168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Find quotients and remainders with up to four-digit dividends and one-digit divisors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3" name="Google Shape;2913;p59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4" name="Google Shape;2914;p59"/>
          <p:cNvSpPr/>
          <p:nvPr/>
        </p:nvSpPr>
        <p:spPr>
          <a:xfrm>
            <a:off x="1247477" y="6506170"/>
            <a:ext cx="1009867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place value, properties, and the relationship between multiplication and division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5" name="Google Shape;2915;p59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6" name="Google Shape;2916;p59"/>
          <p:cNvSpPr/>
          <p:nvPr/>
        </p:nvSpPr>
        <p:spPr>
          <a:xfrm>
            <a:off x="1247477" y="6945064"/>
            <a:ext cx="719116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Illustrate and explain with equations, arrays, or area models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7" name="Google Shape;2917;p59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8" name="Google Shape;2918;p59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9" name="Google Shape;2919;p59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0" name="Google Shape;2920;p59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record a remainder larger than the divisor, which signals the quotient is too small. Teach that check as a self-correction.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1" name="Google Shape;2921;p59"/>
          <p:cNvSpPr/>
          <p:nvPr/>
        </p:nvSpPr>
        <p:spPr>
          <a:xfrm>
            <a:off x="533326" y="9314780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2" name="Google Shape;2922;p59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3" name="Google Shape;2923;p59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4" name="Google Shape;2924;p59"/>
          <p:cNvSpPr/>
          <p:nvPr/>
        </p:nvSpPr>
        <p:spPr>
          <a:xfrm>
            <a:off x="1218902" y="9905256"/>
            <a:ext cx="676191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divide a four-digit number by a one-digit number.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5" name="Google Shape;2925;p59"/>
          <p:cNvSpPr/>
          <p:nvPr/>
        </p:nvSpPr>
        <p:spPr>
          <a:xfrm>
            <a:off x="780901" y="10376074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6" name="Google Shape;2926;p59"/>
          <p:cNvSpPr/>
          <p:nvPr/>
        </p:nvSpPr>
        <p:spPr>
          <a:xfrm>
            <a:off x="1218902" y="10347499"/>
            <a:ext cx="525119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check my answer with multiplication.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7" name="Google Shape;2927;p59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8" name="Google Shape;2928;p59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9" name="Google Shape;2929;p59"/>
          <p:cNvSpPr/>
          <p:nvPr/>
        </p:nvSpPr>
        <p:spPr>
          <a:xfrm>
            <a:off x="10513144" y="14897174"/>
            <a:ext cx="11741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4.NBT.B.6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934" name="Shape 2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5" name="Google Shape;2935;p60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6" name="Google Shape;2936;p60"/>
          <p:cNvSpPr/>
          <p:nvPr/>
        </p:nvSpPr>
        <p:spPr>
          <a:xfrm>
            <a:off x="533326" y="533326"/>
            <a:ext cx="988797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4TH GRADE MATH · NUMBER AND OPERATIONS — FRACTIONS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7" name="Google Shape;2937;p60"/>
          <p:cNvSpPr/>
          <p:nvPr/>
        </p:nvSpPr>
        <p:spPr>
          <a:xfrm>
            <a:off x="533326" y="847651"/>
            <a:ext cx="9887977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Equivalence and Ordering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8" name="Google Shape;2938;p60"/>
          <p:cNvSpPr/>
          <p:nvPr/>
        </p:nvSpPr>
        <p:spPr>
          <a:xfrm>
            <a:off x="9989195" y="533326"/>
            <a:ext cx="1621854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9" name="Google Shape;2939;p60"/>
          <p:cNvSpPr/>
          <p:nvPr/>
        </p:nvSpPr>
        <p:spPr>
          <a:xfrm>
            <a:off x="10198745" y="647626"/>
            <a:ext cx="127895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4.NF.A.1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0" name="Google Shape;2940;p60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1" name="Google Shape;2941;p60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2" name="Google Shape;2942;p60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3" name="Google Shape;2943;p60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why a fraction a/b is equivalent to a fraction (n x a)/(n x b) using visual fraction models.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4" name="Google Shape;2944;p60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5" name="Google Shape;2945;p60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6" name="Google Shape;2946;p60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7" name="Google Shape;2947;p60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Why does multiplying the top and bottom keep the value the same?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8" name="Google Shape;2948;p60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9" name="Google Shape;2949;p60"/>
          <p:cNvSpPr/>
          <p:nvPr/>
        </p:nvSpPr>
        <p:spPr>
          <a:xfrm>
            <a:off x="999902" y="4898157"/>
            <a:ext cx="498106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stays the same and what changes?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0" name="Google Shape;2950;p60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1" name="Google Shape;2951;p60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2" name="Google Shape;2952;p60"/>
          <p:cNvSpPr/>
          <p:nvPr/>
        </p:nvSpPr>
        <p:spPr>
          <a:xfrm>
            <a:off x="6424464" y="4115470"/>
            <a:ext cx="140910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3" name="Google Shape;2953;p60"/>
          <p:cNvSpPr/>
          <p:nvPr/>
        </p:nvSpPr>
        <p:spPr>
          <a:xfrm>
            <a:off x="6586389" y="4182145"/>
            <a:ext cx="116145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equivalent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4" name="Google Shape;2954;p60"/>
          <p:cNvSpPr/>
          <p:nvPr/>
        </p:nvSpPr>
        <p:spPr>
          <a:xfrm>
            <a:off x="7919293" y="4115470"/>
            <a:ext cx="140865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5" name="Google Shape;2955;p60"/>
          <p:cNvSpPr/>
          <p:nvPr/>
        </p:nvSpPr>
        <p:spPr>
          <a:xfrm>
            <a:off x="8081218" y="4182145"/>
            <a:ext cx="116100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numerator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6" name="Google Shape;2956;p60"/>
          <p:cNvSpPr/>
          <p:nvPr/>
        </p:nvSpPr>
        <p:spPr>
          <a:xfrm>
            <a:off x="9413677" y="4115470"/>
            <a:ext cx="1647081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7" name="Google Shape;2957;p60"/>
          <p:cNvSpPr/>
          <p:nvPr/>
        </p:nvSpPr>
        <p:spPr>
          <a:xfrm>
            <a:off x="9575602" y="4182145"/>
            <a:ext cx="139943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denominator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8" name="Google Shape;2958;p60"/>
          <p:cNvSpPr/>
          <p:nvPr/>
        </p:nvSpPr>
        <p:spPr>
          <a:xfrm>
            <a:off x="6424464" y="4619997"/>
            <a:ext cx="106464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9" name="Google Shape;2959;p60"/>
          <p:cNvSpPr/>
          <p:nvPr/>
        </p:nvSpPr>
        <p:spPr>
          <a:xfrm>
            <a:off x="6586389" y="4686672"/>
            <a:ext cx="81699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scaling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0" name="Google Shape;2960;p60"/>
          <p:cNvSpPr/>
          <p:nvPr/>
        </p:nvSpPr>
        <p:spPr>
          <a:xfrm>
            <a:off x="7574831" y="4619997"/>
            <a:ext cx="97222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1" name="Google Shape;2961;p60"/>
          <p:cNvSpPr/>
          <p:nvPr/>
        </p:nvSpPr>
        <p:spPr>
          <a:xfrm>
            <a:off x="7736756" y="4686672"/>
            <a:ext cx="72457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2" name="Google Shape;2962;p60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3" name="Google Shape;2963;p60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4" name="Google Shape;2964;p60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5" name="Google Shape;2965;p60"/>
          <p:cNvSpPr/>
          <p:nvPr/>
        </p:nvSpPr>
        <p:spPr>
          <a:xfrm>
            <a:off x="1247477" y="6260827"/>
            <a:ext cx="448109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why a/b equals (n x a)/(n x b)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6" name="Google Shape;2966;p60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7" name="Google Shape;2967;p60"/>
          <p:cNvSpPr/>
          <p:nvPr/>
        </p:nvSpPr>
        <p:spPr>
          <a:xfrm>
            <a:off x="1247477" y="6699721"/>
            <a:ext cx="578308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visual fraction models to justify equivalence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8" name="Google Shape;2968;p60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9" name="Google Shape;2969;p60"/>
          <p:cNvSpPr/>
          <p:nvPr/>
        </p:nvSpPr>
        <p:spPr>
          <a:xfrm>
            <a:off x="1247477" y="7138615"/>
            <a:ext cx="355801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Generate equivalent fractions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0" name="Google Shape;2970;p60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1" name="Google Shape;2971;p60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2" name="Google Shape;2972;p60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3" name="Google Shape;2973;p60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believe multiplying by n/n makes the fraction larger, since both numbers get bigger. The model shows the same amount, cut into more pieces.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4" name="Google Shape;2974;p60"/>
          <p:cNvSpPr/>
          <p:nvPr/>
        </p:nvSpPr>
        <p:spPr>
          <a:xfrm>
            <a:off x="533326" y="950833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5" name="Google Shape;2975;p60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6" name="Google Shape;2976;p60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7" name="Google Shape;2977;p60"/>
          <p:cNvSpPr/>
          <p:nvPr/>
        </p:nvSpPr>
        <p:spPr>
          <a:xfrm>
            <a:off x="1218902" y="10098807"/>
            <a:ext cx="374267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find equivalent fractions.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8" name="Google Shape;2978;p60"/>
          <p:cNvSpPr/>
          <p:nvPr/>
        </p:nvSpPr>
        <p:spPr>
          <a:xfrm>
            <a:off x="780901" y="105696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9" name="Google Shape;2979;p60"/>
          <p:cNvSpPr/>
          <p:nvPr/>
        </p:nvSpPr>
        <p:spPr>
          <a:xfrm>
            <a:off x="1218902" y="10541050"/>
            <a:ext cx="4120359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why they are equal.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0" name="Google Shape;2980;p60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1" name="Google Shape;2981;p60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2" name="Google Shape;2982;p60"/>
          <p:cNvSpPr/>
          <p:nvPr/>
        </p:nvSpPr>
        <p:spPr>
          <a:xfrm>
            <a:off x="10685041" y="14897174"/>
            <a:ext cx="10022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4.NF.A.1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987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8" name="Google Shape;2988;p61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9" name="Google Shape;2989;p61"/>
          <p:cNvSpPr/>
          <p:nvPr/>
        </p:nvSpPr>
        <p:spPr>
          <a:xfrm>
            <a:off x="533326" y="533326"/>
            <a:ext cx="988797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4TH GRADE MATH · NUMBER AND OPERATIONS — FRACTIONS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0" name="Google Shape;2990;p61"/>
          <p:cNvSpPr/>
          <p:nvPr/>
        </p:nvSpPr>
        <p:spPr>
          <a:xfrm>
            <a:off x="533326" y="847651"/>
            <a:ext cx="9887977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Equivalence and Ordering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1" name="Google Shape;2991;p61"/>
          <p:cNvSpPr/>
          <p:nvPr/>
        </p:nvSpPr>
        <p:spPr>
          <a:xfrm>
            <a:off x="9989195" y="533326"/>
            <a:ext cx="1621854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2" name="Google Shape;2992;p61"/>
          <p:cNvSpPr/>
          <p:nvPr/>
        </p:nvSpPr>
        <p:spPr>
          <a:xfrm>
            <a:off x="10198745" y="647626"/>
            <a:ext cx="127895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4.NF.A.2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3" name="Google Shape;2993;p61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4" name="Google Shape;2994;p61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5" name="Google Shape;2995;p61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6" name="Google Shape;2996;p61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Compare two fractions with different numerators and different denominators; record the results with the symbols &gt;, =, or &lt;.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7" name="Google Shape;2997;p61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8" name="Google Shape;2998;p61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9" name="Google Shape;2999;p61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0" name="Google Shape;3000;p61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compare fractions with different denominators?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1" name="Google Shape;3001;p61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2" name="Google Shape;3002;p61"/>
          <p:cNvSpPr/>
          <p:nvPr/>
        </p:nvSpPr>
        <p:spPr>
          <a:xfrm>
            <a:off x="999902" y="4898157"/>
            <a:ext cx="377018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When is a benchmark enough?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3" name="Google Shape;3003;p61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4" name="Google Shape;3004;p61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5" name="Google Shape;3005;p61"/>
          <p:cNvSpPr/>
          <p:nvPr/>
        </p:nvSpPr>
        <p:spPr>
          <a:xfrm>
            <a:off x="6424464" y="4115470"/>
            <a:ext cx="262599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6" name="Google Shape;3006;p61"/>
          <p:cNvSpPr/>
          <p:nvPr/>
        </p:nvSpPr>
        <p:spPr>
          <a:xfrm>
            <a:off x="6586389" y="4182145"/>
            <a:ext cx="238092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common denominator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7" name="Google Shape;3007;p61"/>
          <p:cNvSpPr/>
          <p:nvPr/>
        </p:nvSpPr>
        <p:spPr>
          <a:xfrm>
            <a:off x="9136187" y="4115470"/>
            <a:ext cx="150130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8" name="Google Shape;3008;p61"/>
          <p:cNvSpPr/>
          <p:nvPr/>
        </p:nvSpPr>
        <p:spPr>
          <a:xfrm>
            <a:off x="9298112" y="4182145"/>
            <a:ext cx="125365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benchmark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9" name="Google Shape;3009;p61"/>
          <p:cNvSpPr/>
          <p:nvPr/>
        </p:nvSpPr>
        <p:spPr>
          <a:xfrm>
            <a:off x="6424464" y="4619997"/>
            <a:ext cx="124993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0" name="Google Shape;3010;p61"/>
          <p:cNvSpPr/>
          <p:nvPr/>
        </p:nvSpPr>
        <p:spPr>
          <a:xfrm>
            <a:off x="6586389" y="4686672"/>
            <a:ext cx="100228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compare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1" name="Google Shape;3011;p61"/>
          <p:cNvSpPr/>
          <p:nvPr/>
        </p:nvSpPr>
        <p:spPr>
          <a:xfrm>
            <a:off x="7760122" y="4619997"/>
            <a:ext cx="93225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2" name="Google Shape;3012;p61"/>
          <p:cNvSpPr/>
          <p:nvPr/>
        </p:nvSpPr>
        <p:spPr>
          <a:xfrm>
            <a:off x="7922047" y="4686672"/>
            <a:ext cx="68460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justify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3" name="Google Shape;3013;p61"/>
          <p:cNvSpPr/>
          <p:nvPr/>
        </p:nvSpPr>
        <p:spPr>
          <a:xfrm>
            <a:off x="533326" y="5641777"/>
            <a:ext cx="11077724" cy="2488927"/>
          </a:xfrm>
          <a:prstGeom prst="roundRect">
            <a:avLst>
              <a:gd fmla="val 535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4" name="Google Shape;3014;p61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5" name="Google Shape;3015;p61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6" name="Google Shape;3016;p61"/>
          <p:cNvSpPr/>
          <p:nvPr/>
        </p:nvSpPr>
        <p:spPr>
          <a:xfrm>
            <a:off x="1247477" y="6260827"/>
            <a:ext cx="754944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Compare fractions with different numerators and denominators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7" name="Google Shape;3017;p61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8" name="Google Shape;3018;p61"/>
          <p:cNvSpPr/>
          <p:nvPr/>
        </p:nvSpPr>
        <p:spPr>
          <a:xfrm>
            <a:off x="1247477" y="6699721"/>
            <a:ext cx="543463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Create common denominators or numerators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9" name="Google Shape;3019;p61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0" name="Google Shape;3020;p61"/>
          <p:cNvSpPr/>
          <p:nvPr/>
        </p:nvSpPr>
        <p:spPr>
          <a:xfrm>
            <a:off x="1247477" y="7138615"/>
            <a:ext cx="488971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Compare to benchmark fractions like 1/2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1" name="Google Shape;3021;p61"/>
          <p:cNvSpPr/>
          <p:nvPr/>
        </p:nvSpPr>
        <p:spPr>
          <a:xfrm>
            <a:off x="809476" y="760608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2" name="Google Shape;3022;p61"/>
          <p:cNvSpPr/>
          <p:nvPr/>
        </p:nvSpPr>
        <p:spPr>
          <a:xfrm>
            <a:off x="1247477" y="7577510"/>
            <a:ext cx="464734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Justify conclusions with a visual model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3" name="Google Shape;3023;p61"/>
          <p:cNvSpPr/>
          <p:nvPr/>
        </p:nvSpPr>
        <p:spPr>
          <a:xfrm>
            <a:off x="533326" y="8321129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4" name="Google Shape;3024;p61"/>
          <p:cNvSpPr/>
          <p:nvPr/>
        </p:nvSpPr>
        <p:spPr>
          <a:xfrm>
            <a:off x="533326" y="8321129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5" name="Google Shape;3025;p61"/>
          <p:cNvSpPr/>
          <p:nvPr/>
        </p:nvSpPr>
        <p:spPr>
          <a:xfrm>
            <a:off x="895201" y="8511555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6" name="Google Shape;3026;p61"/>
          <p:cNvSpPr/>
          <p:nvPr/>
        </p:nvSpPr>
        <p:spPr>
          <a:xfrm>
            <a:off x="895201" y="8873430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compare numerators and denominators separately, concluding 3/8 is greater than 1/2 because 3 is greater than 1.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7" name="Google Shape;3027;p61"/>
          <p:cNvSpPr/>
          <p:nvPr/>
        </p:nvSpPr>
        <p:spPr>
          <a:xfrm>
            <a:off x="533326" y="9947225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8" name="Google Shape;3028;p61"/>
          <p:cNvSpPr/>
          <p:nvPr/>
        </p:nvSpPr>
        <p:spPr>
          <a:xfrm>
            <a:off x="780901" y="10137651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9" name="Google Shape;3029;p61"/>
          <p:cNvSpPr/>
          <p:nvPr/>
        </p:nvSpPr>
        <p:spPr>
          <a:xfrm>
            <a:off x="780901" y="10566276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0" name="Google Shape;3030;p61"/>
          <p:cNvSpPr/>
          <p:nvPr/>
        </p:nvSpPr>
        <p:spPr>
          <a:xfrm>
            <a:off x="1218902" y="10537701"/>
            <a:ext cx="3537875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compare two fractions.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1" name="Google Shape;3031;p61"/>
          <p:cNvSpPr/>
          <p:nvPr/>
        </p:nvSpPr>
        <p:spPr>
          <a:xfrm>
            <a:off x="780901" y="1100851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2" name="Google Shape;3032;p61"/>
          <p:cNvSpPr/>
          <p:nvPr/>
        </p:nvSpPr>
        <p:spPr>
          <a:xfrm>
            <a:off x="1218902" y="10979944"/>
            <a:ext cx="511048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my reasoning with a model.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3" name="Google Shape;3033;p61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4" name="Google Shape;3034;p61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5" name="Google Shape;3035;p61"/>
          <p:cNvSpPr/>
          <p:nvPr/>
        </p:nvSpPr>
        <p:spPr>
          <a:xfrm>
            <a:off x="10685041" y="14897174"/>
            <a:ext cx="10022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4.NF.A.2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040" name="Shape 3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" name="Google Shape;3041;p62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2" name="Google Shape;3042;p62"/>
          <p:cNvSpPr/>
          <p:nvPr/>
        </p:nvSpPr>
        <p:spPr>
          <a:xfrm>
            <a:off x="533326" y="533326"/>
            <a:ext cx="988797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4TH GRADE MATH · NUMBER AND OPERATIONS — FRACTIONS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3" name="Google Shape;3043;p62"/>
          <p:cNvSpPr/>
          <p:nvPr/>
        </p:nvSpPr>
        <p:spPr>
          <a:xfrm>
            <a:off x="533326" y="847651"/>
            <a:ext cx="9887977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Operations with Fractions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4" name="Google Shape;3044;p62"/>
          <p:cNvSpPr/>
          <p:nvPr/>
        </p:nvSpPr>
        <p:spPr>
          <a:xfrm>
            <a:off x="9989195" y="533326"/>
            <a:ext cx="1621854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5" name="Google Shape;3045;p62"/>
          <p:cNvSpPr/>
          <p:nvPr/>
        </p:nvSpPr>
        <p:spPr>
          <a:xfrm>
            <a:off x="10198745" y="647626"/>
            <a:ext cx="127895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4.NF.B.3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6" name="Google Shape;3046;p62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7" name="Google Shape;3047;p62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8" name="Google Shape;3048;p62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9" name="Google Shape;3049;p62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Understand a fraction a/b with a &gt; 1 as a sum of fractions 1/b; add and subtract fractions and mixed numbers with like denominators.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0" name="Google Shape;3050;p62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1" name="Google Shape;3051;p62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2" name="Google Shape;3052;p62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3" name="Google Shape;3053;p62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Why do the denominators stay the same when I add?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4" name="Google Shape;3054;p62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5" name="Google Shape;3055;p62"/>
          <p:cNvSpPr/>
          <p:nvPr/>
        </p:nvSpPr>
        <p:spPr>
          <a:xfrm>
            <a:off x="999902" y="4898157"/>
            <a:ext cx="369405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add mixed numbers?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6" name="Google Shape;3056;p62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7" name="Google Shape;3057;p62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8" name="Google Shape;3058;p62"/>
          <p:cNvSpPr/>
          <p:nvPr/>
        </p:nvSpPr>
        <p:spPr>
          <a:xfrm>
            <a:off x="6424464" y="4115470"/>
            <a:ext cx="155421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9" name="Google Shape;3059;p62"/>
          <p:cNvSpPr/>
          <p:nvPr/>
        </p:nvSpPr>
        <p:spPr>
          <a:xfrm>
            <a:off x="6586389" y="4182145"/>
            <a:ext cx="130656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unit fraction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0" name="Google Shape;3060;p62"/>
          <p:cNvSpPr/>
          <p:nvPr/>
        </p:nvSpPr>
        <p:spPr>
          <a:xfrm>
            <a:off x="8064401" y="4115470"/>
            <a:ext cx="183192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1" name="Google Shape;3061;p62"/>
          <p:cNvSpPr/>
          <p:nvPr/>
        </p:nvSpPr>
        <p:spPr>
          <a:xfrm>
            <a:off x="8226326" y="4182145"/>
            <a:ext cx="158427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mixed number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2" name="Google Shape;3062;p62"/>
          <p:cNvSpPr/>
          <p:nvPr/>
        </p:nvSpPr>
        <p:spPr>
          <a:xfrm>
            <a:off x="6424464" y="4619997"/>
            <a:ext cx="155443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3" name="Google Shape;3063;p62"/>
          <p:cNvSpPr/>
          <p:nvPr/>
        </p:nvSpPr>
        <p:spPr>
          <a:xfrm>
            <a:off x="6586389" y="4686672"/>
            <a:ext cx="130678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decompose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4" name="Google Shape;3064;p62"/>
          <p:cNvSpPr/>
          <p:nvPr/>
        </p:nvSpPr>
        <p:spPr>
          <a:xfrm>
            <a:off x="8064624" y="4619997"/>
            <a:ext cx="2189336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5" name="Google Shape;3065;p62"/>
          <p:cNvSpPr/>
          <p:nvPr/>
        </p:nvSpPr>
        <p:spPr>
          <a:xfrm>
            <a:off x="8226549" y="4686672"/>
            <a:ext cx="194168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like denominators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6" name="Google Shape;3066;p62"/>
          <p:cNvSpPr/>
          <p:nvPr/>
        </p:nvSpPr>
        <p:spPr>
          <a:xfrm>
            <a:off x="533326" y="5641777"/>
            <a:ext cx="11077724" cy="2488927"/>
          </a:xfrm>
          <a:prstGeom prst="roundRect">
            <a:avLst>
              <a:gd fmla="val 535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7" name="Google Shape;3067;p62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8" name="Google Shape;3068;p62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9" name="Google Shape;3069;p62"/>
          <p:cNvSpPr/>
          <p:nvPr/>
        </p:nvSpPr>
        <p:spPr>
          <a:xfrm>
            <a:off x="1247477" y="6260827"/>
            <a:ext cx="496584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Understand a/b as a sum of unit fractions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0" name="Google Shape;3070;p62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1" name="Google Shape;3071;p62"/>
          <p:cNvSpPr/>
          <p:nvPr/>
        </p:nvSpPr>
        <p:spPr>
          <a:xfrm>
            <a:off x="1247477" y="6699721"/>
            <a:ext cx="593460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Add and subtract fractions with like denominators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2" name="Google Shape;3072;p62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3" name="Google Shape;3073;p62"/>
          <p:cNvSpPr/>
          <p:nvPr/>
        </p:nvSpPr>
        <p:spPr>
          <a:xfrm>
            <a:off x="1247477" y="7138615"/>
            <a:ext cx="399683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Add and subtract mixed numbers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4" name="Google Shape;3074;p62"/>
          <p:cNvSpPr/>
          <p:nvPr/>
        </p:nvSpPr>
        <p:spPr>
          <a:xfrm>
            <a:off x="809476" y="760608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5" name="Google Shape;3075;p62"/>
          <p:cNvSpPr/>
          <p:nvPr/>
        </p:nvSpPr>
        <p:spPr>
          <a:xfrm>
            <a:off x="1247477" y="7577510"/>
            <a:ext cx="755411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Solve word problems involving fractions with like denominators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6" name="Google Shape;3076;p62"/>
          <p:cNvSpPr/>
          <p:nvPr/>
        </p:nvSpPr>
        <p:spPr>
          <a:xfrm>
            <a:off x="533326" y="8321129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7" name="Google Shape;3077;p62"/>
          <p:cNvSpPr/>
          <p:nvPr/>
        </p:nvSpPr>
        <p:spPr>
          <a:xfrm>
            <a:off x="533326" y="8321129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8" name="Google Shape;3078;p62"/>
          <p:cNvSpPr/>
          <p:nvPr/>
        </p:nvSpPr>
        <p:spPr>
          <a:xfrm>
            <a:off x="895201" y="8511555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9" name="Google Shape;3079;p62"/>
          <p:cNvSpPr/>
          <p:nvPr/>
        </p:nvSpPr>
        <p:spPr>
          <a:xfrm>
            <a:off x="895201" y="8873430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add both numerators and denominators: 1/4 + 1/4 = 2/8. Unit-fraction language ("one fourth plus one fourth is two fourths") prevents this.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0" name="Google Shape;3080;p62"/>
          <p:cNvSpPr/>
          <p:nvPr/>
        </p:nvSpPr>
        <p:spPr>
          <a:xfrm>
            <a:off x="533326" y="9947225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1" name="Google Shape;3081;p62"/>
          <p:cNvSpPr/>
          <p:nvPr/>
        </p:nvSpPr>
        <p:spPr>
          <a:xfrm>
            <a:off x="780901" y="10137651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2" name="Google Shape;3082;p62"/>
          <p:cNvSpPr/>
          <p:nvPr/>
        </p:nvSpPr>
        <p:spPr>
          <a:xfrm>
            <a:off x="780901" y="10566276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3" name="Google Shape;3083;p62"/>
          <p:cNvSpPr/>
          <p:nvPr/>
        </p:nvSpPr>
        <p:spPr>
          <a:xfrm>
            <a:off x="1218902" y="10537701"/>
            <a:ext cx="7485355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add and subtract fractions with the same denominator.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4" name="Google Shape;3084;p62"/>
          <p:cNvSpPr/>
          <p:nvPr/>
        </p:nvSpPr>
        <p:spPr>
          <a:xfrm>
            <a:off x="780901" y="1100851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5" name="Google Shape;3085;p62"/>
          <p:cNvSpPr/>
          <p:nvPr/>
        </p:nvSpPr>
        <p:spPr>
          <a:xfrm>
            <a:off x="1218902" y="10979944"/>
            <a:ext cx="3254983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add mixed numbers.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6" name="Google Shape;3086;p62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7" name="Google Shape;3087;p62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8" name="Google Shape;3088;p62"/>
          <p:cNvSpPr/>
          <p:nvPr/>
        </p:nvSpPr>
        <p:spPr>
          <a:xfrm>
            <a:off x="10685041" y="14897174"/>
            <a:ext cx="10022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4.NF.B.3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093" name="Shape 3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4" name="Google Shape;3094;p63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5" name="Google Shape;3095;p63"/>
          <p:cNvSpPr/>
          <p:nvPr/>
        </p:nvSpPr>
        <p:spPr>
          <a:xfrm>
            <a:off x="533326" y="533326"/>
            <a:ext cx="988797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4TH GRADE MATH · NUMBER AND OPERATIONS — FRACTIONS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6" name="Google Shape;3096;p63"/>
          <p:cNvSpPr/>
          <p:nvPr/>
        </p:nvSpPr>
        <p:spPr>
          <a:xfrm>
            <a:off x="533326" y="847651"/>
            <a:ext cx="9887977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Operations with Fractions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7" name="Google Shape;3097;p63"/>
          <p:cNvSpPr/>
          <p:nvPr/>
        </p:nvSpPr>
        <p:spPr>
          <a:xfrm>
            <a:off x="9989195" y="533326"/>
            <a:ext cx="1621854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8" name="Google Shape;3098;p63"/>
          <p:cNvSpPr/>
          <p:nvPr/>
        </p:nvSpPr>
        <p:spPr>
          <a:xfrm>
            <a:off x="10198745" y="647626"/>
            <a:ext cx="127895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4.NF.B.4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9" name="Google Shape;3099;p63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0" name="Google Shape;3100;p63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1" name="Google Shape;3101;p63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2" name="Google Shape;3102;p63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Apply and extend previous understandings of multiplication to multiply a fraction by a whole number.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3" name="Google Shape;3103;p63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4" name="Google Shape;3104;p63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5" name="Google Shape;3105;p63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6" name="Google Shape;3106;p63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it mean to multiply a fraction by a whole number?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7" name="Google Shape;3107;p63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8" name="Google Shape;3108;p63"/>
          <p:cNvSpPr/>
          <p:nvPr/>
        </p:nvSpPr>
        <p:spPr>
          <a:xfrm>
            <a:off x="999902" y="4898157"/>
            <a:ext cx="364887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is this repeated addition?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9" name="Google Shape;3109;p63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0" name="Google Shape;3110;p63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1" name="Google Shape;3111;p63"/>
          <p:cNvSpPr/>
          <p:nvPr/>
        </p:nvSpPr>
        <p:spPr>
          <a:xfrm>
            <a:off x="6424464" y="4115470"/>
            <a:ext cx="1144116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2" name="Google Shape;3112;p63"/>
          <p:cNvSpPr/>
          <p:nvPr/>
        </p:nvSpPr>
        <p:spPr>
          <a:xfrm>
            <a:off x="6586389" y="4182145"/>
            <a:ext cx="89646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multiple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3" name="Google Shape;3113;p63"/>
          <p:cNvSpPr/>
          <p:nvPr/>
        </p:nvSpPr>
        <p:spPr>
          <a:xfrm>
            <a:off x="7654305" y="4115470"/>
            <a:ext cx="155421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4" name="Google Shape;3114;p63"/>
          <p:cNvSpPr/>
          <p:nvPr/>
        </p:nvSpPr>
        <p:spPr>
          <a:xfrm>
            <a:off x="7816230" y="4182145"/>
            <a:ext cx="130656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unit fraction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5" name="Google Shape;3115;p63"/>
          <p:cNvSpPr/>
          <p:nvPr/>
        </p:nvSpPr>
        <p:spPr>
          <a:xfrm>
            <a:off x="9294242" y="4115470"/>
            <a:ext cx="111777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6" name="Google Shape;3116;p63"/>
          <p:cNvSpPr/>
          <p:nvPr/>
        </p:nvSpPr>
        <p:spPr>
          <a:xfrm>
            <a:off x="9456167" y="4182145"/>
            <a:ext cx="8701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7" name="Google Shape;3117;p63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8" name="Google Shape;3118;p63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9" name="Google Shape;3119;p63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0" name="Google Shape;3120;p63"/>
          <p:cNvSpPr/>
          <p:nvPr/>
        </p:nvSpPr>
        <p:spPr>
          <a:xfrm>
            <a:off x="1247477" y="6260827"/>
            <a:ext cx="422423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Understand a/b as a multiple of 1/b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1" name="Google Shape;3121;p63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2" name="Google Shape;3122;p63"/>
          <p:cNvSpPr/>
          <p:nvPr/>
        </p:nvSpPr>
        <p:spPr>
          <a:xfrm>
            <a:off x="1247477" y="6699721"/>
            <a:ext cx="449632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Multiply a fraction by a whole number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3" name="Google Shape;3123;p63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4" name="Google Shape;3124;p63"/>
          <p:cNvSpPr/>
          <p:nvPr/>
        </p:nvSpPr>
        <p:spPr>
          <a:xfrm>
            <a:off x="1247477" y="7138615"/>
            <a:ext cx="920456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Solve word problems involving multiplication of a fraction by a whole number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5" name="Google Shape;3125;p63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6" name="Google Shape;3126;p63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7" name="Google Shape;3127;p63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8" name="Google Shape;3128;p63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multiply both the numerator and the denominator by the whole number, shrinking the result instead of growing it.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9" name="Google Shape;3129;p63"/>
          <p:cNvSpPr/>
          <p:nvPr/>
        </p:nvSpPr>
        <p:spPr>
          <a:xfrm>
            <a:off x="533326" y="950833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0" name="Google Shape;3130;p63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1" name="Google Shape;3131;p63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2" name="Google Shape;3132;p63"/>
          <p:cNvSpPr/>
          <p:nvPr/>
        </p:nvSpPr>
        <p:spPr>
          <a:xfrm>
            <a:off x="1218902" y="10098807"/>
            <a:ext cx="5425053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multiply a fraction by a whole number.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3" name="Google Shape;3133;p63"/>
          <p:cNvSpPr/>
          <p:nvPr/>
        </p:nvSpPr>
        <p:spPr>
          <a:xfrm>
            <a:off x="780901" y="105696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4" name="Google Shape;3134;p63"/>
          <p:cNvSpPr/>
          <p:nvPr/>
        </p:nvSpPr>
        <p:spPr>
          <a:xfrm>
            <a:off x="1218902" y="10541050"/>
            <a:ext cx="5094275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solve word problems with fractions.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5" name="Google Shape;3135;p63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6" name="Google Shape;3136;p63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7" name="Google Shape;3137;p63"/>
          <p:cNvSpPr/>
          <p:nvPr/>
        </p:nvSpPr>
        <p:spPr>
          <a:xfrm>
            <a:off x="10685041" y="14897174"/>
            <a:ext cx="10022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4.NF.B.4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142" name="Shape 3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" name="Google Shape;3143;p64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4" name="Google Shape;3144;p64"/>
          <p:cNvSpPr/>
          <p:nvPr/>
        </p:nvSpPr>
        <p:spPr>
          <a:xfrm>
            <a:off x="533326" y="533326"/>
            <a:ext cx="988797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4TH GRADE MATH · NUMBER AND OPERATIONS — FRACTIONS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5" name="Google Shape;3145;p64"/>
          <p:cNvSpPr/>
          <p:nvPr/>
        </p:nvSpPr>
        <p:spPr>
          <a:xfrm>
            <a:off x="533326" y="847651"/>
            <a:ext cx="9887977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Decimal Notation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6" name="Google Shape;3146;p64"/>
          <p:cNvSpPr/>
          <p:nvPr/>
        </p:nvSpPr>
        <p:spPr>
          <a:xfrm>
            <a:off x="9989195" y="533326"/>
            <a:ext cx="1621854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7" name="Google Shape;3147;p64"/>
          <p:cNvSpPr/>
          <p:nvPr/>
        </p:nvSpPr>
        <p:spPr>
          <a:xfrm>
            <a:off x="10198745" y="647626"/>
            <a:ext cx="127895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4.NF.C.5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8" name="Google Shape;3148;p64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9" name="Google Shape;3149;p64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0" name="Google Shape;3150;p64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1" name="Google Shape;3151;p64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Express a fraction with denominator 10 as an equivalent fraction with denominator 100, and use this to add two fractions with these denominators.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2" name="Google Shape;3152;p64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3" name="Google Shape;3153;p64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4" name="Google Shape;3154;p64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5" name="Google Shape;3155;p64"/>
          <p:cNvSpPr/>
          <p:nvPr/>
        </p:nvSpPr>
        <p:spPr>
          <a:xfrm>
            <a:off x="999902" y="4115470"/>
            <a:ext cx="486049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are tenths and hundredths related?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6" name="Google Shape;3156;p64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7" name="Google Shape;3157;p64"/>
          <p:cNvSpPr/>
          <p:nvPr/>
        </p:nvSpPr>
        <p:spPr>
          <a:xfrm>
            <a:off x="999902" y="4563963"/>
            <a:ext cx="487473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Why can I rewrite tenths as hundredths?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8" name="Google Shape;3158;p64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9" name="Google Shape;3159;p64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0" name="Google Shape;3160;p64"/>
          <p:cNvSpPr/>
          <p:nvPr/>
        </p:nvSpPr>
        <p:spPr>
          <a:xfrm>
            <a:off x="6424464" y="4115470"/>
            <a:ext cx="97222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1" name="Google Shape;3161;p64"/>
          <p:cNvSpPr/>
          <p:nvPr/>
        </p:nvSpPr>
        <p:spPr>
          <a:xfrm>
            <a:off x="6586389" y="4182145"/>
            <a:ext cx="72457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tenths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2" name="Google Shape;3162;p64"/>
          <p:cNvSpPr/>
          <p:nvPr/>
        </p:nvSpPr>
        <p:spPr>
          <a:xfrm>
            <a:off x="7482408" y="4115470"/>
            <a:ext cx="1514921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3" name="Google Shape;3163;p64"/>
          <p:cNvSpPr/>
          <p:nvPr/>
        </p:nvSpPr>
        <p:spPr>
          <a:xfrm>
            <a:off x="7644333" y="4182145"/>
            <a:ext cx="126727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hundredths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4" name="Google Shape;3164;p64"/>
          <p:cNvSpPr/>
          <p:nvPr/>
        </p:nvSpPr>
        <p:spPr>
          <a:xfrm>
            <a:off x="9083055" y="4115470"/>
            <a:ext cx="140910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5" name="Google Shape;3165;p64"/>
          <p:cNvSpPr/>
          <p:nvPr/>
        </p:nvSpPr>
        <p:spPr>
          <a:xfrm>
            <a:off x="9244980" y="4182145"/>
            <a:ext cx="116145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equivalent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6" name="Google Shape;3166;p64"/>
          <p:cNvSpPr/>
          <p:nvPr/>
        </p:nvSpPr>
        <p:spPr>
          <a:xfrm>
            <a:off x="6424464" y="4619997"/>
            <a:ext cx="1647081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7" name="Google Shape;3167;p64"/>
          <p:cNvSpPr/>
          <p:nvPr/>
        </p:nvSpPr>
        <p:spPr>
          <a:xfrm>
            <a:off x="6586389" y="4686672"/>
            <a:ext cx="139943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denominator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8" name="Google Shape;3168;p64"/>
          <p:cNvSpPr/>
          <p:nvPr/>
        </p:nvSpPr>
        <p:spPr>
          <a:xfrm>
            <a:off x="533326" y="5448226"/>
            <a:ext cx="11077724" cy="1611139"/>
          </a:xfrm>
          <a:prstGeom prst="roundRect">
            <a:avLst>
              <a:gd fmla="val 8277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9" name="Google Shape;3169;p64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0" name="Google Shape;3170;p64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1" name="Google Shape;3171;p64"/>
          <p:cNvSpPr/>
          <p:nvPr/>
        </p:nvSpPr>
        <p:spPr>
          <a:xfrm>
            <a:off x="1247477" y="6067276"/>
            <a:ext cx="1041643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Express a fraction with denominator 10 as an equivalent fraction with denominator 100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2" name="Google Shape;3172;p64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3" name="Google Shape;3173;p64"/>
          <p:cNvSpPr/>
          <p:nvPr/>
        </p:nvSpPr>
        <p:spPr>
          <a:xfrm>
            <a:off x="1247477" y="6506170"/>
            <a:ext cx="581403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Add two fractions with denominators 10 and 100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4" name="Google Shape;3174;p64"/>
          <p:cNvSpPr/>
          <p:nvPr/>
        </p:nvSpPr>
        <p:spPr>
          <a:xfrm>
            <a:off x="533326" y="7249790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5" name="Google Shape;3175;p64"/>
          <p:cNvSpPr/>
          <p:nvPr/>
        </p:nvSpPr>
        <p:spPr>
          <a:xfrm>
            <a:off x="533326" y="7249790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6" name="Google Shape;3176;p64"/>
          <p:cNvSpPr/>
          <p:nvPr/>
        </p:nvSpPr>
        <p:spPr>
          <a:xfrm>
            <a:off x="895201" y="7440216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7" name="Google Shape;3177;p64"/>
          <p:cNvSpPr/>
          <p:nvPr/>
        </p:nvSpPr>
        <p:spPr>
          <a:xfrm>
            <a:off x="895201" y="7802091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add 3/10 + 4/100 directly to get 7/110 without finding a common denominator.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8" name="Google Shape;3178;p64"/>
          <p:cNvSpPr/>
          <p:nvPr/>
        </p:nvSpPr>
        <p:spPr>
          <a:xfrm>
            <a:off x="533326" y="8529414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9" name="Google Shape;3179;p64"/>
          <p:cNvSpPr/>
          <p:nvPr/>
        </p:nvSpPr>
        <p:spPr>
          <a:xfrm>
            <a:off x="780901" y="8719840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0" name="Google Shape;3180;p64"/>
          <p:cNvSpPr/>
          <p:nvPr/>
        </p:nvSpPr>
        <p:spPr>
          <a:xfrm>
            <a:off x="780901" y="914846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1" name="Google Shape;3181;p64"/>
          <p:cNvSpPr/>
          <p:nvPr/>
        </p:nvSpPr>
        <p:spPr>
          <a:xfrm>
            <a:off x="1218902" y="9119890"/>
            <a:ext cx="434014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rewrite tenths as hundredths.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2" name="Google Shape;3182;p64"/>
          <p:cNvSpPr/>
          <p:nvPr/>
        </p:nvSpPr>
        <p:spPr>
          <a:xfrm>
            <a:off x="780901" y="9590708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3" name="Google Shape;3183;p64"/>
          <p:cNvSpPr/>
          <p:nvPr/>
        </p:nvSpPr>
        <p:spPr>
          <a:xfrm>
            <a:off x="1218902" y="9562133"/>
            <a:ext cx="413656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add tenths and hundredths.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4" name="Google Shape;3184;p64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5" name="Google Shape;3185;p64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6" name="Google Shape;3186;p64"/>
          <p:cNvSpPr/>
          <p:nvPr/>
        </p:nvSpPr>
        <p:spPr>
          <a:xfrm>
            <a:off x="10685041" y="14897174"/>
            <a:ext cx="10022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4.NF.C.5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191" name="Shape 3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2" name="Google Shape;3192;p65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3" name="Google Shape;3193;p65"/>
          <p:cNvSpPr/>
          <p:nvPr/>
        </p:nvSpPr>
        <p:spPr>
          <a:xfrm>
            <a:off x="533326" y="533326"/>
            <a:ext cx="988797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4TH GRADE MATH · NUMBER AND OPERATIONS — FRACTIONS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4" name="Google Shape;3194;p65"/>
          <p:cNvSpPr/>
          <p:nvPr/>
        </p:nvSpPr>
        <p:spPr>
          <a:xfrm>
            <a:off x="533326" y="847651"/>
            <a:ext cx="9887977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Decimal Notation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5" name="Google Shape;3195;p65"/>
          <p:cNvSpPr/>
          <p:nvPr/>
        </p:nvSpPr>
        <p:spPr>
          <a:xfrm>
            <a:off x="9989195" y="533326"/>
            <a:ext cx="1621854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6" name="Google Shape;3196;p65"/>
          <p:cNvSpPr/>
          <p:nvPr/>
        </p:nvSpPr>
        <p:spPr>
          <a:xfrm>
            <a:off x="10198745" y="647626"/>
            <a:ext cx="127895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4.NF.C.6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7" name="Google Shape;3197;p65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8" name="Google Shape;3198;p65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9" name="Google Shape;3199;p65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0" name="Google Shape;3200;p65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decimal notation for fractions with denominators 10 or 100.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1" name="Google Shape;3201;p65"/>
          <p:cNvSpPr/>
          <p:nvPr/>
        </p:nvSpPr>
        <p:spPr>
          <a:xfrm>
            <a:off x="533326" y="3136553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2" name="Google Shape;3202;p65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3" name="Google Shape;3203;p65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4" name="Google Shape;3204;p65"/>
          <p:cNvSpPr/>
          <p:nvPr/>
        </p:nvSpPr>
        <p:spPr>
          <a:xfrm>
            <a:off x="999902" y="375560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is a decimal another name for a fraction?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5" name="Google Shape;3205;p65"/>
          <p:cNvSpPr/>
          <p:nvPr/>
        </p:nvSpPr>
        <p:spPr>
          <a:xfrm>
            <a:off x="790501" y="4642991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6" name="Google Shape;3206;p65"/>
          <p:cNvSpPr/>
          <p:nvPr/>
        </p:nvSpPr>
        <p:spPr>
          <a:xfrm>
            <a:off x="999902" y="4538290"/>
            <a:ext cx="461787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each decimal place mean?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7" name="Google Shape;3207;p65"/>
          <p:cNvSpPr/>
          <p:nvPr/>
        </p:nvSpPr>
        <p:spPr>
          <a:xfrm>
            <a:off x="6167289" y="3136553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8" name="Google Shape;3208;p65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9" name="Google Shape;3209;p65"/>
          <p:cNvSpPr/>
          <p:nvPr/>
        </p:nvSpPr>
        <p:spPr>
          <a:xfrm>
            <a:off x="6424464" y="3755603"/>
            <a:ext cx="1144116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0" name="Google Shape;3210;p65"/>
          <p:cNvSpPr/>
          <p:nvPr/>
        </p:nvSpPr>
        <p:spPr>
          <a:xfrm>
            <a:off x="6586389" y="3822278"/>
            <a:ext cx="89646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decimal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1" name="Google Shape;3211;p65"/>
          <p:cNvSpPr/>
          <p:nvPr/>
        </p:nvSpPr>
        <p:spPr>
          <a:xfrm>
            <a:off x="7654305" y="3755603"/>
            <a:ext cx="97222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2" name="Google Shape;3212;p65"/>
          <p:cNvSpPr/>
          <p:nvPr/>
        </p:nvSpPr>
        <p:spPr>
          <a:xfrm>
            <a:off x="7816230" y="3822278"/>
            <a:ext cx="72457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tenths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3" name="Google Shape;3213;p65"/>
          <p:cNvSpPr/>
          <p:nvPr/>
        </p:nvSpPr>
        <p:spPr>
          <a:xfrm>
            <a:off x="8712250" y="3755603"/>
            <a:ext cx="1514921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4" name="Google Shape;3214;p65"/>
          <p:cNvSpPr/>
          <p:nvPr/>
        </p:nvSpPr>
        <p:spPr>
          <a:xfrm>
            <a:off x="8874175" y="3822278"/>
            <a:ext cx="126727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hundredths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5" name="Google Shape;3215;p65"/>
          <p:cNvSpPr/>
          <p:nvPr/>
        </p:nvSpPr>
        <p:spPr>
          <a:xfrm>
            <a:off x="6424464" y="4260131"/>
            <a:ext cx="172633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6" name="Google Shape;3216;p65"/>
          <p:cNvSpPr/>
          <p:nvPr/>
        </p:nvSpPr>
        <p:spPr>
          <a:xfrm>
            <a:off x="6586389" y="4326806"/>
            <a:ext cx="147868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decimal point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7" name="Google Shape;3217;p65"/>
          <p:cNvSpPr/>
          <p:nvPr/>
        </p:nvSpPr>
        <p:spPr>
          <a:xfrm>
            <a:off x="8236521" y="4260131"/>
            <a:ext cx="152809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8" name="Google Shape;3218;p65"/>
          <p:cNvSpPr/>
          <p:nvPr/>
        </p:nvSpPr>
        <p:spPr>
          <a:xfrm>
            <a:off x="8398446" y="4326806"/>
            <a:ext cx="128044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place value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9" name="Google Shape;3219;p65"/>
          <p:cNvSpPr/>
          <p:nvPr/>
        </p:nvSpPr>
        <p:spPr>
          <a:xfrm>
            <a:off x="533326" y="5281910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0" name="Google Shape;3220;p65"/>
          <p:cNvSpPr/>
          <p:nvPr/>
        </p:nvSpPr>
        <p:spPr>
          <a:xfrm>
            <a:off x="809476" y="5500911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1" name="Google Shape;3221;p65"/>
          <p:cNvSpPr/>
          <p:nvPr/>
        </p:nvSpPr>
        <p:spPr>
          <a:xfrm>
            <a:off x="809476" y="592953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2" name="Google Shape;3222;p65"/>
          <p:cNvSpPr/>
          <p:nvPr/>
        </p:nvSpPr>
        <p:spPr>
          <a:xfrm>
            <a:off x="1247477" y="5900961"/>
            <a:ext cx="755460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decimal notation for fractions with denominators 10 or 100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3" name="Google Shape;3223;p65"/>
          <p:cNvSpPr/>
          <p:nvPr/>
        </p:nvSpPr>
        <p:spPr>
          <a:xfrm>
            <a:off x="809476" y="636843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4" name="Google Shape;3224;p65"/>
          <p:cNvSpPr/>
          <p:nvPr/>
        </p:nvSpPr>
        <p:spPr>
          <a:xfrm>
            <a:off x="1247477" y="6339855"/>
            <a:ext cx="407271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Locate decimals on a number line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5" name="Google Shape;3225;p65"/>
          <p:cNvSpPr/>
          <p:nvPr/>
        </p:nvSpPr>
        <p:spPr>
          <a:xfrm>
            <a:off x="809476" y="680732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6" name="Google Shape;3226;p65"/>
          <p:cNvSpPr/>
          <p:nvPr/>
        </p:nvSpPr>
        <p:spPr>
          <a:xfrm>
            <a:off x="1247477" y="6778749"/>
            <a:ext cx="536415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Translate between fraction and decimal form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7" name="Google Shape;3227;p65"/>
          <p:cNvSpPr/>
          <p:nvPr/>
        </p:nvSpPr>
        <p:spPr>
          <a:xfrm>
            <a:off x="533326" y="7522369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8" name="Google Shape;3228;p65"/>
          <p:cNvSpPr/>
          <p:nvPr/>
        </p:nvSpPr>
        <p:spPr>
          <a:xfrm>
            <a:off x="533326" y="7522369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9" name="Google Shape;3229;p65"/>
          <p:cNvSpPr/>
          <p:nvPr/>
        </p:nvSpPr>
        <p:spPr>
          <a:xfrm>
            <a:off x="895201" y="771279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0" name="Google Shape;3230;p65"/>
          <p:cNvSpPr/>
          <p:nvPr/>
        </p:nvSpPr>
        <p:spPr>
          <a:xfrm>
            <a:off x="895201" y="8074670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read 0.7 as "point seven" rather than "seven tenths", which hides the connection to fractions.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1" name="Google Shape;3231;p65"/>
          <p:cNvSpPr/>
          <p:nvPr/>
        </p:nvSpPr>
        <p:spPr>
          <a:xfrm>
            <a:off x="533326" y="9148465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2" name="Google Shape;3232;p65"/>
          <p:cNvSpPr/>
          <p:nvPr/>
        </p:nvSpPr>
        <p:spPr>
          <a:xfrm>
            <a:off x="780901" y="9338890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3" name="Google Shape;3233;p65"/>
          <p:cNvSpPr/>
          <p:nvPr/>
        </p:nvSpPr>
        <p:spPr>
          <a:xfrm>
            <a:off x="780901" y="976751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4" name="Google Shape;3234;p65"/>
          <p:cNvSpPr/>
          <p:nvPr/>
        </p:nvSpPr>
        <p:spPr>
          <a:xfrm>
            <a:off x="1218902" y="9738940"/>
            <a:ext cx="4276785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write a fraction as a decimal.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5" name="Google Shape;3235;p65"/>
          <p:cNvSpPr/>
          <p:nvPr/>
        </p:nvSpPr>
        <p:spPr>
          <a:xfrm>
            <a:off x="780901" y="10209758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6" name="Google Shape;3236;p65"/>
          <p:cNvSpPr/>
          <p:nvPr/>
        </p:nvSpPr>
        <p:spPr>
          <a:xfrm>
            <a:off x="1218902" y="10181183"/>
            <a:ext cx="572390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read decimals using place value names.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7" name="Google Shape;3237;p65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8" name="Google Shape;3238;p65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9" name="Google Shape;3239;p65"/>
          <p:cNvSpPr/>
          <p:nvPr/>
        </p:nvSpPr>
        <p:spPr>
          <a:xfrm>
            <a:off x="10685041" y="14897174"/>
            <a:ext cx="10022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4.NF.C.6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244" name="Shape 3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p66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6" name="Google Shape;3246;p66"/>
          <p:cNvSpPr/>
          <p:nvPr/>
        </p:nvSpPr>
        <p:spPr>
          <a:xfrm>
            <a:off x="533326" y="533326"/>
            <a:ext cx="988797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4TH GRADE MATH · NUMBER AND OPERATIONS — FRACTIONS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7" name="Google Shape;3247;p66"/>
          <p:cNvSpPr/>
          <p:nvPr/>
        </p:nvSpPr>
        <p:spPr>
          <a:xfrm>
            <a:off x="533326" y="847651"/>
            <a:ext cx="9887977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Decimal Notation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8" name="Google Shape;3248;p66"/>
          <p:cNvSpPr/>
          <p:nvPr/>
        </p:nvSpPr>
        <p:spPr>
          <a:xfrm>
            <a:off x="9989195" y="533326"/>
            <a:ext cx="1621854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9" name="Google Shape;3249;p66"/>
          <p:cNvSpPr/>
          <p:nvPr/>
        </p:nvSpPr>
        <p:spPr>
          <a:xfrm>
            <a:off x="10198745" y="647626"/>
            <a:ext cx="127895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4.NF.C.7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0" name="Google Shape;3250;p66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1" name="Google Shape;3251;p66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2" name="Google Shape;3252;p66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3" name="Google Shape;3253;p66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Compare two decimals to hundredths by reasoning about their size; record the results with the symbols &gt;, =, or &lt;.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4" name="Google Shape;3254;p66"/>
          <p:cNvSpPr/>
          <p:nvPr/>
        </p:nvSpPr>
        <p:spPr>
          <a:xfrm>
            <a:off x="533326" y="3496419"/>
            <a:ext cx="5443538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5" name="Google Shape;3255;p66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6" name="Google Shape;3256;p66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7" name="Google Shape;3257;p66"/>
          <p:cNvSpPr/>
          <p:nvPr/>
        </p:nvSpPr>
        <p:spPr>
          <a:xfrm>
            <a:off x="999902" y="4115470"/>
            <a:ext cx="401157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compare two decimals?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8" name="Google Shape;3258;p66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9" name="Google Shape;3259;p66"/>
          <p:cNvSpPr/>
          <p:nvPr/>
        </p:nvSpPr>
        <p:spPr>
          <a:xfrm>
            <a:off x="999902" y="4563963"/>
            <a:ext cx="495037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Does more digits mean a larger number?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0" name="Google Shape;3260;p66"/>
          <p:cNvSpPr/>
          <p:nvPr/>
        </p:nvSpPr>
        <p:spPr>
          <a:xfrm>
            <a:off x="6167289" y="3496419"/>
            <a:ext cx="5443761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1" name="Google Shape;3261;p66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2" name="Google Shape;3262;p66"/>
          <p:cNvSpPr/>
          <p:nvPr/>
        </p:nvSpPr>
        <p:spPr>
          <a:xfrm>
            <a:off x="6424464" y="4115470"/>
            <a:ext cx="124993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3" name="Google Shape;3263;p66"/>
          <p:cNvSpPr/>
          <p:nvPr/>
        </p:nvSpPr>
        <p:spPr>
          <a:xfrm>
            <a:off x="6586389" y="4182145"/>
            <a:ext cx="100228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compare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4" name="Google Shape;3264;p66"/>
          <p:cNvSpPr/>
          <p:nvPr/>
        </p:nvSpPr>
        <p:spPr>
          <a:xfrm>
            <a:off x="7760122" y="4115470"/>
            <a:ext cx="97222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5" name="Google Shape;3265;p66"/>
          <p:cNvSpPr/>
          <p:nvPr/>
        </p:nvSpPr>
        <p:spPr>
          <a:xfrm>
            <a:off x="7922047" y="4182145"/>
            <a:ext cx="72457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tenths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6" name="Google Shape;3266;p66"/>
          <p:cNvSpPr/>
          <p:nvPr/>
        </p:nvSpPr>
        <p:spPr>
          <a:xfrm>
            <a:off x="8818066" y="4115470"/>
            <a:ext cx="1514921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7" name="Google Shape;3267;p66"/>
          <p:cNvSpPr/>
          <p:nvPr/>
        </p:nvSpPr>
        <p:spPr>
          <a:xfrm>
            <a:off x="8979991" y="4182145"/>
            <a:ext cx="126727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hundredths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8" name="Google Shape;3268;p66"/>
          <p:cNvSpPr/>
          <p:nvPr/>
        </p:nvSpPr>
        <p:spPr>
          <a:xfrm>
            <a:off x="10418713" y="4115470"/>
            <a:ext cx="93225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9" name="Google Shape;3269;p66"/>
          <p:cNvSpPr/>
          <p:nvPr/>
        </p:nvSpPr>
        <p:spPr>
          <a:xfrm>
            <a:off x="10580638" y="4182145"/>
            <a:ext cx="68460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justify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0" name="Google Shape;3270;p66"/>
          <p:cNvSpPr/>
          <p:nvPr/>
        </p:nvSpPr>
        <p:spPr>
          <a:xfrm>
            <a:off x="533326" y="5307583"/>
            <a:ext cx="11077724" cy="2488927"/>
          </a:xfrm>
          <a:prstGeom prst="roundRect">
            <a:avLst>
              <a:gd fmla="val 535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1" name="Google Shape;3271;p66"/>
          <p:cNvSpPr/>
          <p:nvPr/>
        </p:nvSpPr>
        <p:spPr>
          <a:xfrm>
            <a:off x="809476" y="5526584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2" name="Google Shape;3272;p66"/>
          <p:cNvSpPr/>
          <p:nvPr/>
        </p:nvSpPr>
        <p:spPr>
          <a:xfrm>
            <a:off x="809476" y="595520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3" name="Google Shape;3273;p66"/>
          <p:cNvSpPr/>
          <p:nvPr/>
        </p:nvSpPr>
        <p:spPr>
          <a:xfrm>
            <a:off x="1247477" y="5926634"/>
            <a:ext cx="451154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Compare two decimals to hundredths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4" name="Google Shape;3274;p66"/>
          <p:cNvSpPr/>
          <p:nvPr/>
        </p:nvSpPr>
        <p:spPr>
          <a:xfrm>
            <a:off x="809476" y="639410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5" name="Google Shape;3275;p66"/>
          <p:cNvSpPr/>
          <p:nvPr/>
        </p:nvSpPr>
        <p:spPr>
          <a:xfrm>
            <a:off x="1247477" y="6365528"/>
            <a:ext cx="440644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Reason about the size of each place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6" name="Google Shape;3276;p66"/>
          <p:cNvSpPr/>
          <p:nvPr/>
        </p:nvSpPr>
        <p:spPr>
          <a:xfrm>
            <a:off x="809476" y="683299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7" name="Google Shape;3277;p66"/>
          <p:cNvSpPr/>
          <p:nvPr/>
        </p:nvSpPr>
        <p:spPr>
          <a:xfrm>
            <a:off x="1247477" y="6804422"/>
            <a:ext cx="444352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Record comparisons with &gt;, =, and &lt;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8" name="Google Shape;3278;p66"/>
          <p:cNvSpPr/>
          <p:nvPr/>
        </p:nvSpPr>
        <p:spPr>
          <a:xfrm>
            <a:off x="809476" y="727189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9" name="Google Shape;3279;p66"/>
          <p:cNvSpPr/>
          <p:nvPr/>
        </p:nvSpPr>
        <p:spPr>
          <a:xfrm>
            <a:off x="1247477" y="7243316"/>
            <a:ext cx="314865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Justify with a visual model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0" name="Google Shape;3280;p66"/>
          <p:cNvSpPr/>
          <p:nvPr/>
        </p:nvSpPr>
        <p:spPr>
          <a:xfrm>
            <a:off x="533326" y="7986936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1" name="Google Shape;3281;p66"/>
          <p:cNvSpPr/>
          <p:nvPr/>
        </p:nvSpPr>
        <p:spPr>
          <a:xfrm>
            <a:off x="533326" y="7986936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2" name="Google Shape;3282;p66"/>
          <p:cNvSpPr/>
          <p:nvPr/>
        </p:nvSpPr>
        <p:spPr>
          <a:xfrm>
            <a:off x="895201" y="81773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3" name="Google Shape;3283;p66"/>
          <p:cNvSpPr/>
          <p:nvPr/>
        </p:nvSpPr>
        <p:spPr>
          <a:xfrm>
            <a:off x="895201" y="8539237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apply whole-number thinking and judge 0.45 as greater than 0.5 because 45 is greater than 5.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4" name="Google Shape;3284;p66"/>
          <p:cNvSpPr/>
          <p:nvPr/>
        </p:nvSpPr>
        <p:spPr>
          <a:xfrm>
            <a:off x="533326" y="9613032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5" name="Google Shape;3285;p66"/>
          <p:cNvSpPr/>
          <p:nvPr/>
        </p:nvSpPr>
        <p:spPr>
          <a:xfrm>
            <a:off x="780901" y="98034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6" name="Google Shape;3286;p66"/>
          <p:cNvSpPr/>
          <p:nvPr/>
        </p:nvSpPr>
        <p:spPr>
          <a:xfrm>
            <a:off x="780901" y="102320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7" name="Google Shape;3287;p66"/>
          <p:cNvSpPr/>
          <p:nvPr/>
        </p:nvSpPr>
        <p:spPr>
          <a:xfrm>
            <a:off x="1218902" y="10203507"/>
            <a:ext cx="358477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compare two decimals.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8" name="Google Shape;3288;p66"/>
          <p:cNvSpPr/>
          <p:nvPr/>
        </p:nvSpPr>
        <p:spPr>
          <a:xfrm>
            <a:off x="780901" y="106743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9" name="Google Shape;3289;p66"/>
          <p:cNvSpPr/>
          <p:nvPr/>
        </p:nvSpPr>
        <p:spPr>
          <a:xfrm>
            <a:off x="1218902" y="10645750"/>
            <a:ext cx="503190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how I know which is larger.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0" name="Google Shape;3290;p66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1" name="Google Shape;3291;p66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2" name="Google Shape;3292;p66"/>
          <p:cNvSpPr/>
          <p:nvPr/>
        </p:nvSpPr>
        <p:spPr>
          <a:xfrm>
            <a:off x="10685041" y="14897174"/>
            <a:ext cx="10022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4.NF.C.7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297" name="Shape 3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8" name="Google Shape;3298;p67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9" name="Google Shape;3299;p67"/>
          <p:cNvSpPr/>
          <p:nvPr/>
        </p:nvSpPr>
        <p:spPr>
          <a:xfrm>
            <a:off x="533326" y="533326"/>
            <a:ext cx="854792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4TH GRADE MATH · MEASUREMENT AND 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0" name="Google Shape;3300;p67"/>
          <p:cNvSpPr/>
          <p:nvPr/>
        </p:nvSpPr>
        <p:spPr>
          <a:xfrm>
            <a:off x="533326" y="847651"/>
            <a:ext cx="854792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Measurement and Conversion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1" name="Google Shape;3301;p67"/>
          <p:cNvSpPr/>
          <p:nvPr/>
        </p:nvSpPr>
        <p:spPr>
          <a:xfrm>
            <a:off x="9893871" y="533326"/>
            <a:ext cx="171717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2" name="Google Shape;3302;p67"/>
          <p:cNvSpPr/>
          <p:nvPr/>
        </p:nvSpPr>
        <p:spPr>
          <a:xfrm>
            <a:off x="10103421" y="647626"/>
            <a:ext cx="137427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4.MD.A.1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3" name="Google Shape;3303;p67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4" name="Google Shape;3304;p67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5" name="Google Shape;3305;p67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6" name="Google Shape;3306;p67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Know relative sizes of measurement units within one system of units; express measurements in a larger unit in terms of a smaller unit.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7" name="Google Shape;3307;p67"/>
          <p:cNvSpPr/>
          <p:nvPr/>
        </p:nvSpPr>
        <p:spPr>
          <a:xfrm>
            <a:off x="533326" y="3496419"/>
            <a:ext cx="5443538" cy="2289125"/>
          </a:xfrm>
          <a:prstGeom prst="roundRect">
            <a:avLst>
              <a:gd fmla="val 582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8" name="Google Shape;3308;p67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9" name="Google Shape;3309;p67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0" name="Google Shape;3310;p67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convert from a larger unit to a smaller one?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1" name="Google Shape;3311;p67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2" name="Google Shape;3312;p67"/>
          <p:cNvSpPr/>
          <p:nvPr/>
        </p:nvSpPr>
        <p:spPr>
          <a:xfrm>
            <a:off x="999902" y="4898157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Why does the number get bigger when the unit gets smaller?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3" name="Google Shape;3313;p67"/>
          <p:cNvSpPr/>
          <p:nvPr/>
        </p:nvSpPr>
        <p:spPr>
          <a:xfrm>
            <a:off x="6167289" y="3496419"/>
            <a:ext cx="5443761" cy="2289125"/>
          </a:xfrm>
          <a:prstGeom prst="roundRect">
            <a:avLst>
              <a:gd fmla="val 582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4" name="Google Shape;3314;p67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5" name="Google Shape;3315;p67"/>
          <p:cNvSpPr/>
          <p:nvPr/>
        </p:nvSpPr>
        <p:spPr>
          <a:xfrm>
            <a:off x="6424464" y="4115470"/>
            <a:ext cx="110437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6" name="Google Shape;3316;p67"/>
          <p:cNvSpPr/>
          <p:nvPr/>
        </p:nvSpPr>
        <p:spPr>
          <a:xfrm>
            <a:off x="6586389" y="4182145"/>
            <a:ext cx="85672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convert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7" name="Google Shape;3317;p67"/>
          <p:cNvSpPr/>
          <p:nvPr/>
        </p:nvSpPr>
        <p:spPr>
          <a:xfrm>
            <a:off x="7614568" y="4115470"/>
            <a:ext cx="70767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8" name="Google Shape;3318;p67"/>
          <p:cNvSpPr/>
          <p:nvPr/>
        </p:nvSpPr>
        <p:spPr>
          <a:xfrm>
            <a:off x="7776493" y="4182145"/>
            <a:ext cx="46002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unit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9" name="Google Shape;3319;p67"/>
          <p:cNvSpPr/>
          <p:nvPr/>
        </p:nvSpPr>
        <p:spPr>
          <a:xfrm>
            <a:off x="8407971" y="4115470"/>
            <a:ext cx="97177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0" name="Google Shape;3320;p67"/>
          <p:cNvSpPr/>
          <p:nvPr/>
        </p:nvSpPr>
        <p:spPr>
          <a:xfrm>
            <a:off x="8569896" y="4182145"/>
            <a:ext cx="72412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metric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1" name="Google Shape;3321;p67"/>
          <p:cNvSpPr/>
          <p:nvPr/>
        </p:nvSpPr>
        <p:spPr>
          <a:xfrm>
            <a:off x="9465469" y="4115470"/>
            <a:ext cx="1421606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2" name="Google Shape;3322;p67"/>
          <p:cNvSpPr/>
          <p:nvPr/>
        </p:nvSpPr>
        <p:spPr>
          <a:xfrm>
            <a:off x="9627394" y="4182145"/>
            <a:ext cx="117395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customary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3" name="Google Shape;3323;p67"/>
          <p:cNvSpPr/>
          <p:nvPr/>
        </p:nvSpPr>
        <p:spPr>
          <a:xfrm>
            <a:off x="6424464" y="4619997"/>
            <a:ext cx="140910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4" name="Google Shape;3324;p67"/>
          <p:cNvSpPr/>
          <p:nvPr/>
        </p:nvSpPr>
        <p:spPr>
          <a:xfrm>
            <a:off x="6586389" y="4686672"/>
            <a:ext cx="116145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equivalent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5" name="Google Shape;3325;p67"/>
          <p:cNvSpPr/>
          <p:nvPr/>
        </p:nvSpPr>
        <p:spPr>
          <a:xfrm>
            <a:off x="533326" y="5975970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6" name="Google Shape;3326;p67"/>
          <p:cNvSpPr/>
          <p:nvPr/>
        </p:nvSpPr>
        <p:spPr>
          <a:xfrm>
            <a:off x="809476" y="6194971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7" name="Google Shape;3327;p67"/>
          <p:cNvSpPr/>
          <p:nvPr/>
        </p:nvSpPr>
        <p:spPr>
          <a:xfrm>
            <a:off x="809476" y="66235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8" name="Google Shape;3328;p67"/>
          <p:cNvSpPr/>
          <p:nvPr/>
        </p:nvSpPr>
        <p:spPr>
          <a:xfrm>
            <a:off x="1247477" y="6595021"/>
            <a:ext cx="552549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Know relative sizes of units within one system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9" name="Google Shape;3329;p67"/>
          <p:cNvSpPr/>
          <p:nvPr/>
        </p:nvSpPr>
        <p:spPr>
          <a:xfrm>
            <a:off x="809476" y="70624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0" name="Google Shape;3330;p67"/>
          <p:cNvSpPr/>
          <p:nvPr/>
        </p:nvSpPr>
        <p:spPr>
          <a:xfrm>
            <a:off x="1247477" y="7033915"/>
            <a:ext cx="554022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Express a larger unit in terms of a smaller unit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1" name="Google Shape;3331;p67"/>
          <p:cNvSpPr/>
          <p:nvPr/>
        </p:nvSpPr>
        <p:spPr>
          <a:xfrm>
            <a:off x="809476" y="750138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2" name="Google Shape;3332;p67"/>
          <p:cNvSpPr/>
          <p:nvPr/>
        </p:nvSpPr>
        <p:spPr>
          <a:xfrm>
            <a:off x="1247477" y="7472809"/>
            <a:ext cx="611632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Record equivalent measures in a two-column table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3" name="Google Shape;3333;p67"/>
          <p:cNvSpPr/>
          <p:nvPr/>
        </p:nvSpPr>
        <p:spPr>
          <a:xfrm>
            <a:off x="533326" y="8216429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4" name="Google Shape;3334;p67"/>
          <p:cNvSpPr/>
          <p:nvPr/>
        </p:nvSpPr>
        <p:spPr>
          <a:xfrm>
            <a:off x="533326" y="8216429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5" name="Google Shape;3335;p67"/>
          <p:cNvSpPr/>
          <p:nvPr/>
        </p:nvSpPr>
        <p:spPr>
          <a:xfrm>
            <a:off x="895201" y="840685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6" name="Google Shape;3336;p67"/>
          <p:cNvSpPr/>
          <p:nvPr/>
        </p:nvSpPr>
        <p:spPr>
          <a:xfrm>
            <a:off x="895201" y="8768730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divide when they should multiply, because they associate "converting down" with getting smaller. Reasoning about the size of the unit fixes the direction.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7" name="Google Shape;3337;p67"/>
          <p:cNvSpPr/>
          <p:nvPr/>
        </p:nvSpPr>
        <p:spPr>
          <a:xfrm>
            <a:off x="533326" y="9842525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8" name="Google Shape;3338;p67"/>
          <p:cNvSpPr/>
          <p:nvPr/>
        </p:nvSpPr>
        <p:spPr>
          <a:xfrm>
            <a:off x="780901" y="10032950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9" name="Google Shape;3339;p67"/>
          <p:cNvSpPr/>
          <p:nvPr/>
        </p:nvSpPr>
        <p:spPr>
          <a:xfrm>
            <a:off x="780901" y="1046157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0" name="Google Shape;3340;p67"/>
          <p:cNvSpPr/>
          <p:nvPr/>
        </p:nvSpPr>
        <p:spPr>
          <a:xfrm>
            <a:off x="1218902" y="10433000"/>
            <a:ext cx="564532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convert between units of measurement.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1" name="Google Shape;3341;p67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2" name="Google Shape;3342;p67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3" name="Google Shape;3343;p67"/>
          <p:cNvSpPr/>
          <p:nvPr/>
        </p:nvSpPr>
        <p:spPr>
          <a:xfrm>
            <a:off x="10605790" y="14897174"/>
            <a:ext cx="10814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4.MD.A.1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348" name="Shape 3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9" name="Google Shape;3349;p68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0" name="Google Shape;3350;p68"/>
          <p:cNvSpPr/>
          <p:nvPr/>
        </p:nvSpPr>
        <p:spPr>
          <a:xfrm>
            <a:off x="533326" y="533326"/>
            <a:ext cx="854792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4TH GRADE MATH · MEASUREMENT AND 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1" name="Google Shape;3351;p68"/>
          <p:cNvSpPr/>
          <p:nvPr/>
        </p:nvSpPr>
        <p:spPr>
          <a:xfrm>
            <a:off x="533326" y="847651"/>
            <a:ext cx="854792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Measurement and Conversion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2" name="Google Shape;3352;p68"/>
          <p:cNvSpPr/>
          <p:nvPr/>
        </p:nvSpPr>
        <p:spPr>
          <a:xfrm>
            <a:off x="9893871" y="533326"/>
            <a:ext cx="171717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3" name="Google Shape;3353;p68"/>
          <p:cNvSpPr/>
          <p:nvPr/>
        </p:nvSpPr>
        <p:spPr>
          <a:xfrm>
            <a:off x="10103421" y="647626"/>
            <a:ext cx="137427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4.MD.A.2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4" name="Google Shape;3354;p68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5" name="Google Shape;3355;p68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6" name="Google Shape;3356;p68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7" name="Google Shape;3357;p68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the four operations to solve word problems involving distances, intervals of time, liquid volumes, masses of objects, and money.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8" name="Google Shape;3358;p68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9" name="Google Shape;3359;p68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0" name="Google Shape;3360;p68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1" name="Google Shape;3361;p68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handle mixed units in one problem?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2" name="Google Shape;3362;p68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3" name="Google Shape;3363;p68"/>
          <p:cNvSpPr/>
          <p:nvPr/>
        </p:nvSpPr>
        <p:spPr>
          <a:xfrm>
            <a:off x="999902" y="4898157"/>
            <a:ext cx="513209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diagram helps me see the structure?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4" name="Google Shape;3364;p68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5" name="Google Shape;3365;p68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6" name="Google Shape;3366;p68"/>
          <p:cNvSpPr/>
          <p:nvPr/>
        </p:nvSpPr>
        <p:spPr>
          <a:xfrm>
            <a:off x="6424464" y="4115470"/>
            <a:ext cx="187166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7" name="Google Shape;3367;p68"/>
          <p:cNvSpPr/>
          <p:nvPr/>
        </p:nvSpPr>
        <p:spPr>
          <a:xfrm>
            <a:off x="6586389" y="4182145"/>
            <a:ext cx="162401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interval of time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8" name="Google Shape;3368;p68"/>
          <p:cNvSpPr/>
          <p:nvPr/>
        </p:nvSpPr>
        <p:spPr>
          <a:xfrm>
            <a:off x="8381851" y="4115470"/>
            <a:ext cx="1713161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9" name="Google Shape;3369;p68"/>
          <p:cNvSpPr/>
          <p:nvPr/>
        </p:nvSpPr>
        <p:spPr>
          <a:xfrm>
            <a:off x="8543776" y="4182145"/>
            <a:ext cx="146551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liquid volume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0" name="Google Shape;3370;p68"/>
          <p:cNvSpPr/>
          <p:nvPr/>
        </p:nvSpPr>
        <p:spPr>
          <a:xfrm>
            <a:off x="10180737" y="4115470"/>
            <a:ext cx="89252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1" name="Google Shape;3371;p68"/>
          <p:cNvSpPr/>
          <p:nvPr/>
        </p:nvSpPr>
        <p:spPr>
          <a:xfrm>
            <a:off x="10342662" y="4182145"/>
            <a:ext cx="64487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mass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2" name="Google Shape;3372;p68"/>
          <p:cNvSpPr/>
          <p:nvPr/>
        </p:nvSpPr>
        <p:spPr>
          <a:xfrm>
            <a:off x="6424464" y="4619997"/>
            <a:ext cx="87957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3" name="Google Shape;3373;p68"/>
          <p:cNvSpPr/>
          <p:nvPr/>
        </p:nvSpPr>
        <p:spPr>
          <a:xfrm>
            <a:off x="6586389" y="4686672"/>
            <a:ext cx="6319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4" name="Google Shape;3374;p68"/>
          <p:cNvSpPr/>
          <p:nvPr/>
        </p:nvSpPr>
        <p:spPr>
          <a:xfrm>
            <a:off x="7389763" y="4619997"/>
            <a:ext cx="118385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5" name="Google Shape;3375;p68"/>
          <p:cNvSpPr/>
          <p:nvPr/>
        </p:nvSpPr>
        <p:spPr>
          <a:xfrm>
            <a:off x="7551688" y="4686672"/>
            <a:ext cx="93620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diagram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6" name="Google Shape;3376;p68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7" name="Google Shape;3377;p68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8" name="Google Shape;3378;p68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9" name="Google Shape;3379;p68"/>
          <p:cNvSpPr/>
          <p:nvPr/>
        </p:nvSpPr>
        <p:spPr>
          <a:xfrm>
            <a:off x="1247477" y="6260827"/>
            <a:ext cx="876500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Solve word problems involving distance, time, volume, mass, and money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0" name="Google Shape;3380;p68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1" name="Google Shape;3381;p68"/>
          <p:cNvSpPr/>
          <p:nvPr/>
        </p:nvSpPr>
        <p:spPr>
          <a:xfrm>
            <a:off x="1247477" y="6699721"/>
            <a:ext cx="695787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Work with problems involving simple fractions or decimals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2" name="Google Shape;3382;p68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3" name="Google Shape;3383;p68"/>
          <p:cNvSpPr/>
          <p:nvPr/>
        </p:nvSpPr>
        <p:spPr>
          <a:xfrm>
            <a:off x="1247477" y="7138615"/>
            <a:ext cx="766044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Represent measurement quantities using diagrams with a scale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4" name="Google Shape;3384;p68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5" name="Google Shape;3385;p68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6" name="Google Shape;3386;p68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7" name="Google Shape;3387;p68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combine quantities without converting to a common unit first, adding 3 feet and 8 inches to get 11.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8" name="Google Shape;3388;p68"/>
          <p:cNvSpPr/>
          <p:nvPr/>
        </p:nvSpPr>
        <p:spPr>
          <a:xfrm>
            <a:off x="533326" y="950833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9" name="Google Shape;3389;p68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0" name="Google Shape;3390;p68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1" name="Google Shape;3391;p68"/>
          <p:cNvSpPr/>
          <p:nvPr/>
        </p:nvSpPr>
        <p:spPr>
          <a:xfrm>
            <a:off x="1218902" y="10098807"/>
            <a:ext cx="517310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solve measurement word problems.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2" name="Google Shape;3392;p68"/>
          <p:cNvSpPr/>
          <p:nvPr/>
        </p:nvSpPr>
        <p:spPr>
          <a:xfrm>
            <a:off x="780901" y="105696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3" name="Google Shape;3393;p68"/>
          <p:cNvSpPr/>
          <p:nvPr/>
        </p:nvSpPr>
        <p:spPr>
          <a:xfrm>
            <a:off x="1218902" y="10541050"/>
            <a:ext cx="5189309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use a diagram to show the problem.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4" name="Google Shape;3394;p68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5" name="Google Shape;3395;p68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6" name="Google Shape;3396;p68"/>
          <p:cNvSpPr/>
          <p:nvPr/>
        </p:nvSpPr>
        <p:spPr>
          <a:xfrm>
            <a:off x="10605790" y="14897174"/>
            <a:ext cx="10814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4.MD.A.2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401" name="Shape 3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2" name="Google Shape;3402;p69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3" name="Google Shape;3403;p69"/>
          <p:cNvSpPr/>
          <p:nvPr/>
        </p:nvSpPr>
        <p:spPr>
          <a:xfrm>
            <a:off x="533326" y="533326"/>
            <a:ext cx="854792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4TH GRADE MATH · MEASUREMENT AND 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4" name="Google Shape;3404;p69"/>
          <p:cNvSpPr/>
          <p:nvPr/>
        </p:nvSpPr>
        <p:spPr>
          <a:xfrm>
            <a:off x="533326" y="847651"/>
            <a:ext cx="854792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Measurement and Conversion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5" name="Google Shape;3405;p69"/>
          <p:cNvSpPr/>
          <p:nvPr/>
        </p:nvSpPr>
        <p:spPr>
          <a:xfrm>
            <a:off x="9893871" y="533326"/>
            <a:ext cx="171717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6" name="Google Shape;3406;p69"/>
          <p:cNvSpPr/>
          <p:nvPr/>
        </p:nvSpPr>
        <p:spPr>
          <a:xfrm>
            <a:off x="10103421" y="647626"/>
            <a:ext cx="137427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4.MD.A.3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7" name="Google Shape;3407;p69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8" name="Google Shape;3408;p69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9" name="Google Shape;3409;p69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0" name="Google Shape;3410;p69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Apply the area and perimeter formulas for rectangles in real world and mathematical problems.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1" name="Google Shape;3411;p69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2" name="Google Shape;3412;p69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3" name="Google Shape;3413;p69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4" name="Google Shape;3414;p69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When do I use the area formula and when the perimeter formula?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5" name="Google Shape;3415;p69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6" name="Google Shape;3416;p69"/>
          <p:cNvSpPr/>
          <p:nvPr/>
        </p:nvSpPr>
        <p:spPr>
          <a:xfrm>
            <a:off x="999902" y="4898157"/>
            <a:ext cx="428439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find a missing dimension?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7" name="Google Shape;3417;p69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8" name="Google Shape;3418;p69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9" name="Google Shape;3419;p69"/>
          <p:cNvSpPr/>
          <p:nvPr/>
        </p:nvSpPr>
        <p:spPr>
          <a:xfrm>
            <a:off x="6424464" y="4115470"/>
            <a:ext cx="80032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0" name="Google Shape;3420;p69"/>
          <p:cNvSpPr/>
          <p:nvPr/>
        </p:nvSpPr>
        <p:spPr>
          <a:xfrm>
            <a:off x="6586389" y="4182145"/>
            <a:ext cx="55267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area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1" name="Google Shape;3421;p69"/>
          <p:cNvSpPr/>
          <p:nvPr/>
        </p:nvSpPr>
        <p:spPr>
          <a:xfrm>
            <a:off x="7310512" y="4115470"/>
            <a:ext cx="132918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2" name="Google Shape;3422;p69"/>
          <p:cNvSpPr/>
          <p:nvPr/>
        </p:nvSpPr>
        <p:spPr>
          <a:xfrm>
            <a:off x="7472437" y="4182145"/>
            <a:ext cx="108153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perimeter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3" name="Google Shape;3423;p69"/>
          <p:cNvSpPr/>
          <p:nvPr/>
        </p:nvSpPr>
        <p:spPr>
          <a:xfrm>
            <a:off x="8725421" y="4115470"/>
            <a:ext cx="111755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4" name="Google Shape;3424;p69"/>
          <p:cNvSpPr/>
          <p:nvPr/>
        </p:nvSpPr>
        <p:spPr>
          <a:xfrm>
            <a:off x="8887346" y="4182145"/>
            <a:ext cx="86990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formula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5" name="Google Shape;3425;p69"/>
          <p:cNvSpPr/>
          <p:nvPr/>
        </p:nvSpPr>
        <p:spPr>
          <a:xfrm>
            <a:off x="9928696" y="4115470"/>
            <a:ext cx="1408881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6" name="Google Shape;3426;p69"/>
          <p:cNvSpPr/>
          <p:nvPr/>
        </p:nvSpPr>
        <p:spPr>
          <a:xfrm>
            <a:off x="10090621" y="4182145"/>
            <a:ext cx="116123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dimension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7" name="Google Shape;3427;p69"/>
          <p:cNvSpPr/>
          <p:nvPr/>
        </p:nvSpPr>
        <p:spPr>
          <a:xfrm>
            <a:off x="6424464" y="4619997"/>
            <a:ext cx="97244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8" name="Google Shape;3428;p69"/>
          <p:cNvSpPr/>
          <p:nvPr/>
        </p:nvSpPr>
        <p:spPr>
          <a:xfrm>
            <a:off x="6586389" y="4686672"/>
            <a:ext cx="72479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length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9" name="Google Shape;3429;p69"/>
          <p:cNvSpPr/>
          <p:nvPr/>
        </p:nvSpPr>
        <p:spPr>
          <a:xfrm>
            <a:off x="7482632" y="4619997"/>
            <a:ext cx="87957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0" name="Google Shape;3430;p69"/>
          <p:cNvSpPr/>
          <p:nvPr/>
        </p:nvSpPr>
        <p:spPr>
          <a:xfrm>
            <a:off x="7644557" y="4686672"/>
            <a:ext cx="6319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width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1" name="Google Shape;3431;p69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2" name="Google Shape;3432;p69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3" name="Google Shape;3433;p69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4" name="Google Shape;3434;p69"/>
          <p:cNvSpPr/>
          <p:nvPr/>
        </p:nvSpPr>
        <p:spPr>
          <a:xfrm>
            <a:off x="1247477" y="6260827"/>
            <a:ext cx="446611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Apply the area formula for rectangles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5" name="Google Shape;3435;p69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6" name="Google Shape;3436;p69"/>
          <p:cNvSpPr/>
          <p:nvPr/>
        </p:nvSpPr>
        <p:spPr>
          <a:xfrm>
            <a:off x="1247477" y="6699721"/>
            <a:ext cx="507143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Apply the perimeter formula for rectangles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7" name="Google Shape;3437;p69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8" name="Google Shape;3438;p69"/>
          <p:cNvSpPr/>
          <p:nvPr/>
        </p:nvSpPr>
        <p:spPr>
          <a:xfrm>
            <a:off x="1247477" y="7138615"/>
            <a:ext cx="599550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Find an unknown side given the area or perimeter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9" name="Google Shape;3439;p69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0" name="Google Shape;3440;p69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1" name="Google Shape;3441;p69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2" name="Google Shape;3442;p69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Formulas are memorized without meaning, so students cannot work backward from a known area to a missing side.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3" name="Google Shape;3443;p69"/>
          <p:cNvSpPr/>
          <p:nvPr/>
        </p:nvSpPr>
        <p:spPr>
          <a:xfrm>
            <a:off x="533326" y="950833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4" name="Google Shape;3444;p69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5" name="Google Shape;3445;p69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6" name="Google Shape;3446;p69"/>
          <p:cNvSpPr/>
          <p:nvPr/>
        </p:nvSpPr>
        <p:spPr>
          <a:xfrm>
            <a:off x="1218902" y="10098807"/>
            <a:ext cx="533075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use the area and perimeter formulas.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7" name="Google Shape;3447;p69"/>
          <p:cNvSpPr/>
          <p:nvPr/>
        </p:nvSpPr>
        <p:spPr>
          <a:xfrm>
            <a:off x="780901" y="105696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8" name="Google Shape;3448;p69"/>
          <p:cNvSpPr/>
          <p:nvPr/>
        </p:nvSpPr>
        <p:spPr>
          <a:xfrm>
            <a:off x="1218902" y="10541050"/>
            <a:ext cx="3946989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find a missing side length.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9" name="Google Shape;3449;p69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0" name="Google Shape;3450;p69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1" name="Google Shape;3451;p69"/>
          <p:cNvSpPr/>
          <p:nvPr/>
        </p:nvSpPr>
        <p:spPr>
          <a:xfrm>
            <a:off x="10605790" y="14897174"/>
            <a:ext cx="10814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4.MD.A.3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456" name="Shape 3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7" name="Google Shape;3457;p70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8" name="Google Shape;3458;p70"/>
          <p:cNvSpPr/>
          <p:nvPr/>
        </p:nvSpPr>
        <p:spPr>
          <a:xfrm>
            <a:off x="533326" y="533326"/>
            <a:ext cx="842882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4TH GRADE MATH · MEASUREMENT AND 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9" name="Google Shape;3459;p70"/>
          <p:cNvSpPr/>
          <p:nvPr/>
        </p:nvSpPr>
        <p:spPr>
          <a:xfrm>
            <a:off x="533326" y="847651"/>
            <a:ext cx="842882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Represent and Interpret Data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0" name="Google Shape;3460;p70"/>
          <p:cNvSpPr/>
          <p:nvPr/>
        </p:nvSpPr>
        <p:spPr>
          <a:xfrm>
            <a:off x="9893871" y="533326"/>
            <a:ext cx="171717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1" name="Google Shape;3461;p70"/>
          <p:cNvSpPr/>
          <p:nvPr/>
        </p:nvSpPr>
        <p:spPr>
          <a:xfrm>
            <a:off x="10103421" y="647626"/>
            <a:ext cx="137427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4.MD.B.4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2" name="Google Shape;3462;p70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3" name="Google Shape;3463;p70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4" name="Google Shape;3464;p70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5" name="Google Shape;3465;p70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Make a line plot to display a data set of measurements in fractions of a unit; solve problems involving addition and subtraction of fractions.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6" name="Google Shape;3466;p70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7" name="Google Shape;3467;p70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8" name="Google Shape;3468;p70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9" name="Google Shape;3469;p70"/>
          <p:cNvSpPr/>
          <p:nvPr/>
        </p:nvSpPr>
        <p:spPr>
          <a:xfrm>
            <a:off x="999902" y="4115470"/>
            <a:ext cx="479910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plot fractional measurements?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0" name="Google Shape;3470;p70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1" name="Google Shape;3471;p70"/>
          <p:cNvSpPr/>
          <p:nvPr/>
        </p:nvSpPr>
        <p:spPr>
          <a:xfrm>
            <a:off x="999902" y="456396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can I learn from the spread of the data?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2" name="Google Shape;3472;p70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3" name="Google Shape;3473;p70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4" name="Google Shape;3474;p70"/>
          <p:cNvSpPr/>
          <p:nvPr/>
        </p:nvSpPr>
        <p:spPr>
          <a:xfrm>
            <a:off x="6424464" y="4115470"/>
            <a:ext cx="114433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5" name="Google Shape;3475;p70"/>
          <p:cNvSpPr/>
          <p:nvPr/>
        </p:nvSpPr>
        <p:spPr>
          <a:xfrm>
            <a:off x="6586389" y="4182145"/>
            <a:ext cx="89668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line plot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6" name="Google Shape;3476;p70"/>
          <p:cNvSpPr/>
          <p:nvPr/>
        </p:nvSpPr>
        <p:spPr>
          <a:xfrm>
            <a:off x="7654528" y="4115470"/>
            <a:ext cx="201744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7" name="Google Shape;3477;p70"/>
          <p:cNvSpPr/>
          <p:nvPr/>
        </p:nvSpPr>
        <p:spPr>
          <a:xfrm>
            <a:off x="7816453" y="4182145"/>
            <a:ext cx="176979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fraction of a unit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8" name="Google Shape;3478;p70"/>
          <p:cNvSpPr/>
          <p:nvPr/>
        </p:nvSpPr>
        <p:spPr>
          <a:xfrm>
            <a:off x="9757693" y="4115470"/>
            <a:ext cx="78715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9" name="Google Shape;3479;p70"/>
          <p:cNvSpPr/>
          <p:nvPr/>
        </p:nvSpPr>
        <p:spPr>
          <a:xfrm>
            <a:off x="9919618" y="4182145"/>
            <a:ext cx="53950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0" name="Google Shape;3480;p70"/>
          <p:cNvSpPr/>
          <p:nvPr/>
        </p:nvSpPr>
        <p:spPr>
          <a:xfrm>
            <a:off x="6424464" y="4619997"/>
            <a:ext cx="932706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1" name="Google Shape;3481;p70"/>
          <p:cNvSpPr/>
          <p:nvPr/>
        </p:nvSpPr>
        <p:spPr>
          <a:xfrm>
            <a:off x="6586389" y="4686672"/>
            <a:ext cx="68505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range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2" name="Google Shape;3482;p70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3" name="Google Shape;3483;p70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4" name="Google Shape;3484;p70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5" name="Google Shape;3485;p70"/>
          <p:cNvSpPr/>
          <p:nvPr/>
        </p:nvSpPr>
        <p:spPr>
          <a:xfrm>
            <a:off x="1247477" y="6260827"/>
            <a:ext cx="631302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Make a line plot with fractions of a unit (1/2, 1/4, 1/8)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6" name="Google Shape;3486;p70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7" name="Google Shape;3487;p70"/>
          <p:cNvSpPr/>
          <p:nvPr/>
        </p:nvSpPr>
        <p:spPr>
          <a:xfrm>
            <a:off x="1247477" y="6699721"/>
            <a:ext cx="719214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Solve addition and subtraction problems using line plot data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8" name="Google Shape;3488;p70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9" name="Google Shape;3489;p70"/>
          <p:cNvSpPr/>
          <p:nvPr/>
        </p:nvSpPr>
        <p:spPr>
          <a:xfrm>
            <a:off x="1247477" y="7138615"/>
            <a:ext cx="239230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Interpret the display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0" name="Google Shape;3490;p70"/>
          <p:cNvSpPr/>
          <p:nvPr/>
        </p:nvSpPr>
        <p:spPr>
          <a:xfrm>
            <a:off x="533326" y="7882235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1" name="Google Shape;3491;p70"/>
          <p:cNvSpPr/>
          <p:nvPr/>
        </p:nvSpPr>
        <p:spPr>
          <a:xfrm>
            <a:off x="533326" y="7882235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2" name="Google Shape;3492;p70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3" name="Google Shape;3493;p70"/>
          <p:cNvSpPr/>
          <p:nvPr/>
        </p:nvSpPr>
        <p:spPr>
          <a:xfrm>
            <a:off x="895201" y="8434536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space the fractional intervals unevenly, which misrepresents the data.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4" name="Google Shape;3494;p70"/>
          <p:cNvSpPr/>
          <p:nvPr/>
        </p:nvSpPr>
        <p:spPr>
          <a:xfrm>
            <a:off x="533326" y="9161859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5" name="Google Shape;3495;p70"/>
          <p:cNvSpPr/>
          <p:nvPr/>
        </p:nvSpPr>
        <p:spPr>
          <a:xfrm>
            <a:off x="780901" y="9352285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6" name="Google Shape;3496;p70"/>
          <p:cNvSpPr/>
          <p:nvPr/>
        </p:nvSpPr>
        <p:spPr>
          <a:xfrm>
            <a:off x="780901" y="9780910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7" name="Google Shape;3497;p70"/>
          <p:cNvSpPr/>
          <p:nvPr/>
        </p:nvSpPr>
        <p:spPr>
          <a:xfrm>
            <a:off x="1218902" y="9752335"/>
            <a:ext cx="448134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make a line plot with fractions.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8" name="Google Shape;3498;p70"/>
          <p:cNvSpPr/>
          <p:nvPr/>
        </p:nvSpPr>
        <p:spPr>
          <a:xfrm>
            <a:off x="780901" y="1022315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9" name="Google Shape;3499;p70"/>
          <p:cNvSpPr/>
          <p:nvPr/>
        </p:nvSpPr>
        <p:spPr>
          <a:xfrm>
            <a:off x="1218902" y="10194578"/>
            <a:ext cx="452898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solve problems using the data.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0" name="Google Shape;3500;p70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1" name="Google Shape;3501;p70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2" name="Google Shape;3502;p70"/>
          <p:cNvSpPr/>
          <p:nvPr/>
        </p:nvSpPr>
        <p:spPr>
          <a:xfrm>
            <a:off x="10605790" y="14897174"/>
            <a:ext cx="10814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4.MD.B.4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507" name="Shape 3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8" name="Google Shape;3508;p71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9" name="Google Shape;3509;p71"/>
          <p:cNvSpPr/>
          <p:nvPr/>
        </p:nvSpPr>
        <p:spPr>
          <a:xfrm>
            <a:off x="533326" y="533326"/>
            <a:ext cx="944251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4TH GRADE MATH · MEASUREMENT AND 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0" name="Google Shape;3510;p71"/>
          <p:cNvSpPr/>
          <p:nvPr/>
        </p:nvSpPr>
        <p:spPr>
          <a:xfrm>
            <a:off x="533326" y="847651"/>
            <a:ext cx="9442519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Geometric Measurement: Angles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1" name="Google Shape;3511;p71"/>
          <p:cNvSpPr/>
          <p:nvPr/>
        </p:nvSpPr>
        <p:spPr>
          <a:xfrm>
            <a:off x="9893871" y="533326"/>
            <a:ext cx="171717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2" name="Google Shape;3512;p71"/>
          <p:cNvSpPr/>
          <p:nvPr/>
        </p:nvSpPr>
        <p:spPr>
          <a:xfrm>
            <a:off x="10103421" y="647626"/>
            <a:ext cx="137427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4.MD.C.5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3" name="Google Shape;3513;p71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4" name="Google Shape;3514;p71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5" name="Google Shape;3515;p71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6" name="Google Shape;3516;p71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Recognize angles as geometric shapes formed wherever two rays share a common endpoint, and understand concepts of angle measurement.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7" name="Google Shape;3517;p71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8" name="Google Shape;3518;p71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9" name="Google Shape;3519;p71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0" name="Google Shape;3520;p71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exactly is being measured when we measure an angle?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1" name="Google Shape;3521;p71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2" name="Google Shape;3522;p71"/>
          <p:cNvSpPr/>
          <p:nvPr/>
        </p:nvSpPr>
        <p:spPr>
          <a:xfrm>
            <a:off x="999902" y="4898157"/>
            <a:ext cx="411790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Why is a degree 1/360 of a circle?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3" name="Google Shape;3523;p71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4" name="Google Shape;3524;p71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5" name="Google Shape;3525;p71"/>
          <p:cNvSpPr/>
          <p:nvPr/>
        </p:nvSpPr>
        <p:spPr>
          <a:xfrm>
            <a:off x="6424464" y="4115470"/>
            <a:ext cx="90614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6" name="Google Shape;3526;p71"/>
          <p:cNvSpPr/>
          <p:nvPr/>
        </p:nvSpPr>
        <p:spPr>
          <a:xfrm>
            <a:off x="6586389" y="4182145"/>
            <a:ext cx="65849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angle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7" name="Google Shape;3527;p71"/>
          <p:cNvSpPr/>
          <p:nvPr/>
        </p:nvSpPr>
        <p:spPr>
          <a:xfrm>
            <a:off x="7416329" y="4115470"/>
            <a:ext cx="654546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8" name="Google Shape;3528;p71"/>
          <p:cNvSpPr/>
          <p:nvPr/>
        </p:nvSpPr>
        <p:spPr>
          <a:xfrm>
            <a:off x="7578254" y="4182145"/>
            <a:ext cx="40689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ray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9" name="Google Shape;3529;p71"/>
          <p:cNvSpPr/>
          <p:nvPr/>
        </p:nvSpPr>
        <p:spPr>
          <a:xfrm>
            <a:off x="8156600" y="4115470"/>
            <a:ext cx="971996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0" name="Google Shape;3530;p71"/>
          <p:cNvSpPr/>
          <p:nvPr/>
        </p:nvSpPr>
        <p:spPr>
          <a:xfrm>
            <a:off x="8318525" y="4182145"/>
            <a:ext cx="72434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vertex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1" name="Google Shape;3531;p71"/>
          <p:cNvSpPr/>
          <p:nvPr/>
        </p:nvSpPr>
        <p:spPr>
          <a:xfrm>
            <a:off x="9214321" y="4115470"/>
            <a:ext cx="106508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2" name="Google Shape;3532;p71"/>
          <p:cNvSpPr/>
          <p:nvPr/>
        </p:nvSpPr>
        <p:spPr>
          <a:xfrm>
            <a:off x="9376246" y="4182145"/>
            <a:ext cx="81743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degree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3" name="Google Shape;3533;p71"/>
          <p:cNvSpPr/>
          <p:nvPr/>
        </p:nvSpPr>
        <p:spPr>
          <a:xfrm>
            <a:off x="6424464" y="4619997"/>
            <a:ext cx="1487686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4" name="Google Shape;3534;p71"/>
          <p:cNvSpPr/>
          <p:nvPr/>
        </p:nvSpPr>
        <p:spPr>
          <a:xfrm>
            <a:off x="6586389" y="4686672"/>
            <a:ext cx="124003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circular arc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5" name="Google Shape;3535;p71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6" name="Google Shape;3536;p71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7" name="Google Shape;3537;p71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8" name="Google Shape;3538;p71"/>
          <p:cNvSpPr/>
          <p:nvPr/>
        </p:nvSpPr>
        <p:spPr>
          <a:xfrm>
            <a:off x="1247477" y="6260827"/>
            <a:ext cx="706961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Recognize angles as geometric figures formed by two rays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9" name="Google Shape;3539;p71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0" name="Google Shape;3540;p71"/>
          <p:cNvSpPr/>
          <p:nvPr/>
        </p:nvSpPr>
        <p:spPr>
          <a:xfrm>
            <a:off x="1247477" y="6699721"/>
            <a:ext cx="711553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Understand an angle is measured with reference to a circle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1" name="Google Shape;3541;p71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2" name="Google Shape;3542;p71"/>
          <p:cNvSpPr/>
          <p:nvPr/>
        </p:nvSpPr>
        <p:spPr>
          <a:xfrm>
            <a:off x="1247477" y="7138615"/>
            <a:ext cx="620816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Understand a one-degree angle as 1/360 of a circle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3" name="Google Shape;3543;p71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4" name="Google Shape;3544;p71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5" name="Google Shape;3545;p71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6" name="Google Shape;3546;p71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believe an angle with longer rays is larger. The measure depends on the opening, not the length of the rays.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7" name="Google Shape;3547;p71"/>
          <p:cNvSpPr/>
          <p:nvPr/>
        </p:nvSpPr>
        <p:spPr>
          <a:xfrm>
            <a:off x="533326" y="950833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8" name="Google Shape;3548;p71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9" name="Google Shape;3549;p71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0" name="Google Shape;3550;p71"/>
          <p:cNvSpPr/>
          <p:nvPr/>
        </p:nvSpPr>
        <p:spPr>
          <a:xfrm>
            <a:off x="1218902" y="10098807"/>
            <a:ext cx="482783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what an angle measures.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1" name="Google Shape;3551;p71"/>
          <p:cNvSpPr/>
          <p:nvPr/>
        </p:nvSpPr>
        <p:spPr>
          <a:xfrm>
            <a:off x="780901" y="105696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2" name="Google Shape;3552;p71"/>
          <p:cNvSpPr/>
          <p:nvPr/>
        </p:nvSpPr>
        <p:spPr>
          <a:xfrm>
            <a:off x="1218902" y="10541050"/>
            <a:ext cx="424559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know a full circle is 360 degrees.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3" name="Google Shape;3553;p71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4" name="Google Shape;3554;p71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5" name="Google Shape;3555;p71"/>
          <p:cNvSpPr/>
          <p:nvPr/>
        </p:nvSpPr>
        <p:spPr>
          <a:xfrm>
            <a:off x="10605790" y="14897174"/>
            <a:ext cx="10814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4.MD.C.5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560" name="Shape 3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1" name="Google Shape;3561;p72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2" name="Google Shape;3562;p72"/>
          <p:cNvSpPr/>
          <p:nvPr/>
        </p:nvSpPr>
        <p:spPr>
          <a:xfrm>
            <a:off x="533326" y="533326"/>
            <a:ext cx="944251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4TH GRADE MATH · MEASUREMENT AND 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3" name="Google Shape;3563;p72"/>
          <p:cNvSpPr/>
          <p:nvPr/>
        </p:nvSpPr>
        <p:spPr>
          <a:xfrm>
            <a:off x="533326" y="847651"/>
            <a:ext cx="9442519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Geometric Measurement: Angles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4" name="Google Shape;3564;p72"/>
          <p:cNvSpPr/>
          <p:nvPr/>
        </p:nvSpPr>
        <p:spPr>
          <a:xfrm>
            <a:off x="9893871" y="533326"/>
            <a:ext cx="171717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5" name="Google Shape;3565;p72"/>
          <p:cNvSpPr/>
          <p:nvPr/>
        </p:nvSpPr>
        <p:spPr>
          <a:xfrm>
            <a:off x="10103421" y="647626"/>
            <a:ext cx="137427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4.MD.C.6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6" name="Google Shape;3566;p72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7" name="Google Shape;3567;p72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8" name="Google Shape;3568;p72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9" name="Google Shape;3569;p72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Measure angles in whole-number degrees using a protractor; sketch angles of specified measure.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0" name="Google Shape;3570;p72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1" name="Google Shape;3571;p72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2" name="Google Shape;3572;p72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3" name="Google Shape;3573;p72"/>
          <p:cNvSpPr/>
          <p:nvPr/>
        </p:nvSpPr>
        <p:spPr>
          <a:xfrm>
            <a:off x="999902" y="4115470"/>
            <a:ext cx="442019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read a protractor correctly?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4" name="Google Shape;3574;p72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5" name="Google Shape;3575;p72"/>
          <p:cNvSpPr/>
          <p:nvPr/>
        </p:nvSpPr>
        <p:spPr>
          <a:xfrm>
            <a:off x="999902" y="4563963"/>
            <a:ext cx="266464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Which scale do I use?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6" name="Google Shape;3576;p72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7" name="Google Shape;3577;p72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8" name="Google Shape;3578;p72"/>
          <p:cNvSpPr/>
          <p:nvPr/>
        </p:nvSpPr>
        <p:spPr>
          <a:xfrm>
            <a:off x="6424464" y="4115470"/>
            <a:ext cx="134235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9" name="Google Shape;3579;p72"/>
          <p:cNvSpPr/>
          <p:nvPr/>
        </p:nvSpPr>
        <p:spPr>
          <a:xfrm>
            <a:off x="6586389" y="4182145"/>
            <a:ext cx="109470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protractor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0" name="Google Shape;3580;p72"/>
          <p:cNvSpPr/>
          <p:nvPr/>
        </p:nvSpPr>
        <p:spPr>
          <a:xfrm>
            <a:off x="7852544" y="4115470"/>
            <a:ext cx="106508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1" name="Google Shape;3581;p72"/>
          <p:cNvSpPr/>
          <p:nvPr/>
        </p:nvSpPr>
        <p:spPr>
          <a:xfrm>
            <a:off x="8014469" y="4182145"/>
            <a:ext cx="81743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degree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2" name="Google Shape;3582;p72"/>
          <p:cNvSpPr/>
          <p:nvPr/>
        </p:nvSpPr>
        <p:spPr>
          <a:xfrm>
            <a:off x="9003357" y="4115470"/>
            <a:ext cx="90614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3" name="Google Shape;3583;p72"/>
          <p:cNvSpPr/>
          <p:nvPr/>
        </p:nvSpPr>
        <p:spPr>
          <a:xfrm>
            <a:off x="9165282" y="4182145"/>
            <a:ext cx="65849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acute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4" name="Google Shape;3584;p72"/>
          <p:cNvSpPr/>
          <p:nvPr/>
        </p:nvSpPr>
        <p:spPr>
          <a:xfrm>
            <a:off x="9995222" y="4115470"/>
            <a:ext cx="78692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5" name="Google Shape;3585;p72"/>
          <p:cNvSpPr/>
          <p:nvPr/>
        </p:nvSpPr>
        <p:spPr>
          <a:xfrm>
            <a:off x="10157147" y="4182145"/>
            <a:ext cx="53927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right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6" name="Google Shape;3586;p72"/>
          <p:cNvSpPr/>
          <p:nvPr/>
        </p:nvSpPr>
        <p:spPr>
          <a:xfrm>
            <a:off x="6424464" y="4619997"/>
            <a:ext cx="103852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7" name="Google Shape;3587;p72"/>
          <p:cNvSpPr/>
          <p:nvPr/>
        </p:nvSpPr>
        <p:spPr>
          <a:xfrm>
            <a:off x="6586389" y="4686672"/>
            <a:ext cx="79087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obtuse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8" name="Google Shape;3588;p72"/>
          <p:cNvSpPr/>
          <p:nvPr/>
        </p:nvSpPr>
        <p:spPr>
          <a:xfrm>
            <a:off x="7548711" y="4619997"/>
            <a:ext cx="110437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9" name="Google Shape;3589;p72"/>
          <p:cNvSpPr/>
          <p:nvPr/>
        </p:nvSpPr>
        <p:spPr>
          <a:xfrm>
            <a:off x="7710636" y="4686672"/>
            <a:ext cx="85672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straight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0" name="Google Shape;3590;p72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1" name="Google Shape;3591;p72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2" name="Google Shape;3592;p72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3" name="Google Shape;3593;p72"/>
          <p:cNvSpPr/>
          <p:nvPr/>
        </p:nvSpPr>
        <p:spPr>
          <a:xfrm>
            <a:off x="1247477" y="6067276"/>
            <a:ext cx="728227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Measure angles in whole-number degrees using a protractor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4" name="Google Shape;3594;p72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5" name="Google Shape;3595;p72"/>
          <p:cNvSpPr/>
          <p:nvPr/>
        </p:nvSpPr>
        <p:spPr>
          <a:xfrm>
            <a:off x="1247477" y="6506170"/>
            <a:ext cx="452701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Sketch angles of a specified measure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6" name="Google Shape;3596;p72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7" name="Google Shape;3597;p72"/>
          <p:cNvSpPr/>
          <p:nvPr/>
        </p:nvSpPr>
        <p:spPr>
          <a:xfrm>
            <a:off x="1247477" y="6945064"/>
            <a:ext cx="460240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Align the vertex and baseline correctly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8" name="Google Shape;3598;p72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9" name="Google Shape;3599;p72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0" name="Google Shape;3600;p72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1" name="Google Shape;3601;p72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read the wrong scale on the protractor, reporting 130 degrees for a 50-degree angle. Estimating acute or obtuse first catches the error.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2" name="Google Shape;3602;p72"/>
          <p:cNvSpPr/>
          <p:nvPr/>
        </p:nvSpPr>
        <p:spPr>
          <a:xfrm>
            <a:off x="533326" y="9314780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3" name="Google Shape;3603;p72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4" name="Google Shape;3604;p72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5" name="Google Shape;3605;p72"/>
          <p:cNvSpPr/>
          <p:nvPr/>
        </p:nvSpPr>
        <p:spPr>
          <a:xfrm>
            <a:off x="1218902" y="9905256"/>
            <a:ext cx="512644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measure an angle with a protractor.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6" name="Google Shape;3606;p72"/>
          <p:cNvSpPr/>
          <p:nvPr/>
        </p:nvSpPr>
        <p:spPr>
          <a:xfrm>
            <a:off x="780901" y="10376074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7" name="Google Shape;3607;p72"/>
          <p:cNvSpPr/>
          <p:nvPr/>
        </p:nvSpPr>
        <p:spPr>
          <a:xfrm>
            <a:off x="1218902" y="10347499"/>
            <a:ext cx="4434929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draw an angle of a given size.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8" name="Google Shape;3608;p72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9" name="Google Shape;3609;p72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0" name="Google Shape;3610;p72"/>
          <p:cNvSpPr/>
          <p:nvPr/>
        </p:nvSpPr>
        <p:spPr>
          <a:xfrm>
            <a:off x="10605790" y="14897174"/>
            <a:ext cx="10814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4.MD.C.6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615" name="Shape 3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6" name="Google Shape;3616;p73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7" name="Google Shape;3617;p73"/>
          <p:cNvSpPr/>
          <p:nvPr/>
        </p:nvSpPr>
        <p:spPr>
          <a:xfrm>
            <a:off x="533326" y="533326"/>
            <a:ext cx="944251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4TH GRADE MATH · MEASUREMENT AND 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8" name="Google Shape;3618;p73"/>
          <p:cNvSpPr/>
          <p:nvPr/>
        </p:nvSpPr>
        <p:spPr>
          <a:xfrm>
            <a:off x="533326" y="847651"/>
            <a:ext cx="9442519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Geometric Measurement: Angles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9" name="Google Shape;3619;p73"/>
          <p:cNvSpPr/>
          <p:nvPr/>
        </p:nvSpPr>
        <p:spPr>
          <a:xfrm>
            <a:off x="9893871" y="533326"/>
            <a:ext cx="171717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0" name="Google Shape;3620;p73"/>
          <p:cNvSpPr/>
          <p:nvPr/>
        </p:nvSpPr>
        <p:spPr>
          <a:xfrm>
            <a:off x="10103421" y="647626"/>
            <a:ext cx="137427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4.MD.C.7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1" name="Google Shape;3621;p73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2" name="Google Shape;3622;p73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3" name="Google Shape;3623;p73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4" name="Google Shape;3624;p73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Recognize angle measure as additive; solve addition and subtraction problems to find unknown angles on a diagram.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5" name="Google Shape;3625;p73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6" name="Google Shape;3626;p73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7" name="Google Shape;3627;p73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8" name="Google Shape;3628;p73"/>
          <p:cNvSpPr/>
          <p:nvPr/>
        </p:nvSpPr>
        <p:spPr>
          <a:xfrm>
            <a:off x="999902" y="4115470"/>
            <a:ext cx="305853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angles combine?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9" name="Google Shape;3629;p73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0" name="Google Shape;3630;p73"/>
          <p:cNvSpPr/>
          <p:nvPr/>
        </p:nvSpPr>
        <p:spPr>
          <a:xfrm>
            <a:off x="999902" y="4563963"/>
            <a:ext cx="402778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find an unknown angle?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1" name="Google Shape;3631;p73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2" name="Google Shape;3632;p73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3" name="Google Shape;3633;p73"/>
          <p:cNvSpPr/>
          <p:nvPr/>
        </p:nvSpPr>
        <p:spPr>
          <a:xfrm>
            <a:off x="6424464" y="4115470"/>
            <a:ext cx="114433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4" name="Google Shape;3634;p73"/>
          <p:cNvSpPr/>
          <p:nvPr/>
        </p:nvSpPr>
        <p:spPr>
          <a:xfrm>
            <a:off x="6586389" y="4182145"/>
            <a:ext cx="89668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additive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5" name="Google Shape;3635;p73"/>
          <p:cNvSpPr/>
          <p:nvPr/>
        </p:nvSpPr>
        <p:spPr>
          <a:xfrm>
            <a:off x="7654528" y="4115470"/>
            <a:ext cx="155443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6" name="Google Shape;3636;p73"/>
          <p:cNvSpPr/>
          <p:nvPr/>
        </p:nvSpPr>
        <p:spPr>
          <a:xfrm>
            <a:off x="7816453" y="4182145"/>
            <a:ext cx="130678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decompose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7" name="Google Shape;3637;p73"/>
          <p:cNvSpPr/>
          <p:nvPr/>
        </p:nvSpPr>
        <p:spPr>
          <a:xfrm>
            <a:off x="9294688" y="4115470"/>
            <a:ext cx="1925241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8" name="Google Shape;3638;p73"/>
          <p:cNvSpPr/>
          <p:nvPr/>
        </p:nvSpPr>
        <p:spPr>
          <a:xfrm>
            <a:off x="9456613" y="4182145"/>
            <a:ext cx="167759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unknown angle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9" name="Google Shape;3639;p73"/>
          <p:cNvSpPr/>
          <p:nvPr/>
        </p:nvSpPr>
        <p:spPr>
          <a:xfrm>
            <a:off x="6424464" y="4619997"/>
            <a:ext cx="122381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0" name="Google Shape;3640;p73"/>
          <p:cNvSpPr/>
          <p:nvPr/>
        </p:nvSpPr>
        <p:spPr>
          <a:xfrm>
            <a:off x="6586389" y="4686672"/>
            <a:ext cx="97616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adjacent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1" name="Google Shape;3641;p73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2" name="Google Shape;3642;p73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3" name="Google Shape;3643;p73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4" name="Google Shape;3644;p73"/>
          <p:cNvSpPr/>
          <p:nvPr/>
        </p:nvSpPr>
        <p:spPr>
          <a:xfrm>
            <a:off x="1247477" y="6067276"/>
            <a:ext cx="454224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Recognize angle measure as additive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5" name="Google Shape;3645;p73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6" name="Google Shape;3646;p73"/>
          <p:cNvSpPr/>
          <p:nvPr/>
        </p:nvSpPr>
        <p:spPr>
          <a:xfrm>
            <a:off x="1247477" y="6506170"/>
            <a:ext cx="579905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Decompose an angle into non-overlapping parts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7" name="Google Shape;3647;p73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8" name="Google Shape;3648;p73"/>
          <p:cNvSpPr/>
          <p:nvPr/>
        </p:nvSpPr>
        <p:spPr>
          <a:xfrm>
            <a:off x="1247477" y="6945064"/>
            <a:ext cx="770685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Solve addition and subtraction problems to find unknown angles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9" name="Google Shape;3649;p73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0" name="Google Shape;3650;p73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1" name="Google Shape;3651;p73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2" name="Google Shape;3652;p73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add angle measures that are not adjacent, or assume any two angles in a figure must sum to 90 or 180 degrees.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3" name="Google Shape;3653;p73"/>
          <p:cNvSpPr/>
          <p:nvPr/>
        </p:nvSpPr>
        <p:spPr>
          <a:xfrm>
            <a:off x="533326" y="9314780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4" name="Google Shape;3654;p73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5" name="Google Shape;3655;p73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6" name="Google Shape;3656;p73"/>
          <p:cNvSpPr/>
          <p:nvPr/>
        </p:nvSpPr>
        <p:spPr>
          <a:xfrm>
            <a:off x="1218902" y="9905256"/>
            <a:ext cx="496952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add and subtract angle measures.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7" name="Google Shape;3657;p73"/>
          <p:cNvSpPr/>
          <p:nvPr/>
        </p:nvSpPr>
        <p:spPr>
          <a:xfrm>
            <a:off x="780901" y="10376074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8" name="Google Shape;3658;p73"/>
          <p:cNvSpPr/>
          <p:nvPr/>
        </p:nvSpPr>
        <p:spPr>
          <a:xfrm>
            <a:off x="1218902" y="10347499"/>
            <a:ext cx="5237195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find an unknown angle in a diagram.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9" name="Google Shape;3659;p73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0" name="Google Shape;3660;p73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1" name="Google Shape;3661;p73"/>
          <p:cNvSpPr/>
          <p:nvPr/>
        </p:nvSpPr>
        <p:spPr>
          <a:xfrm>
            <a:off x="10605790" y="14897174"/>
            <a:ext cx="10814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4.MD.C.7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666" name="Shape 3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7" name="Google Shape;3667;p74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8" name="Google Shape;3668;p74"/>
          <p:cNvSpPr/>
          <p:nvPr/>
        </p:nvSpPr>
        <p:spPr>
          <a:xfrm>
            <a:off x="533326" y="533326"/>
            <a:ext cx="101772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4TH GRADE MATH · GEOMETRY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9" name="Google Shape;3669;p74"/>
          <p:cNvSpPr/>
          <p:nvPr/>
        </p:nvSpPr>
        <p:spPr>
          <a:xfrm>
            <a:off x="533326" y="847651"/>
            <a:ext cx="10177254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Draw and Identify Lines and Angles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0" name="Google Shape;3670;p74"/>
          <p:cNvSpPr/>
          <p:nvPr/>
        </p:nvSpPr>
        <p:spPr>
          <a:xfrm>
            <a:off x="10127382" y="533326"/>
            <a:ext cx="1483668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1" name="Google Shape;3671;p74"/>
          <p:cNvSpPr/>
          <p:nvPr/>
        </p:nvSpPr>
        <p:spPr>
          <a:xfrm>
            <a:off x="10336932" y="647626"/>
            <a:ext cx="114076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4.G.A.1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2" name="Google Shape;3672;p74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3" name="Google Shape;3673;p74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4" name="Google Shape;3674;p74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5" name="Google Shape;3675;p74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Draw points, lines, line segments, rays, angles, and perpendicular and parallel lines; identify these in two-dimensional figures.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6" name="Google Shape;3676;p74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7" name="Google Shape;3677;p74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8" name="Google Shape;3678;p74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9" name="Google Shape;3679;p74"/>
          <p:cNvSpPr/>
          <p:nvPr/>
        </p:nvSpPr>
        <p:spPr>
          <a:xfrm>
            <a:off x="999902" y="4115470"/>
            <a:ext cx="385563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are these figures different?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0" name="Google Shape;3680;p74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1" name="Google Shape;3681;p74"/>
          <p:cNvSpPr/>
          <p:nvPr/>
        </p:nvSpPr>
        <p:spPr>
          <a:xfrm>
            <a:off x="999902" y="456396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makes lines parallel or perpendicular?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2" name="Google Shape;3682;p74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3" name="Google Shape;3683;p74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4" name="Google Shape;3684;p74"/>
          <p:cNvSpPr/>
          <p:nvPr/>
        </p:nvSpPr>
        <p:spPr>
          <a:xfrm>
            <a:off x="6424464" y="4115470"/>
            <a:ext cx="84006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5" name="Google Shape;3685;p74"/>
          <p:cNvSpPr/>
          <p:nvPr/>
        </p:nvSpPr>
        <p:spPr>
          <a:xfrm>
            <a:off x="6586389" y="4182145"/>
            <a:ext cx="59241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6" name="Google Shape;3686;p74"/>
          <p:cNvSpPr/>
          <p:nvPr/>
        </p:nvSpPr>
        <p:spPr>
          <a:xfrm>
            <a:off x="7350249" y="4115470"/>
            <a:ext cx="69428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7" name="Google Shape;3687;p74"/>
          <p:cNvSpPr/>
          <p:nvPr/>
        </p:nvSpPr>
        <p:spPr>
          <a:xfrm>
            <a:off x="7512174" y="4182145"/>
            <a:ext cx="44663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line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8" name="Google Shape;3688;p74"/>
          <p:cNvSpPr/>
          <p:nvPr/>
        </p:nvSpPr>
        <p:spPr>
          <a:xfrm>
            <a:off x="8130257" y="4115470"/>
            <a:ext cx="167342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9" name="Google Shape;3689;p74"/>
          <p:cNvSpPr/>
          <p:nvPr/>
        </p:nvSpPr>
        <p:spPr>
          <a:xfrm>
            <a:off x="8292182" y="4182145"/>
            <a:ext cx="142577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line segment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0" name="Google Shape;3690;p74"/>
          <p:cNvSpPr/>
          <p:nvPr/>
        </p:nvSpPr>
        <p:spPr>
          <a:xfrm>
            <a:off x="9889406" y="4115470"/>
            <a:ext cx="654546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1" name="Google Shape;3691;p74"/>
          <p:cNvSpPr/>
          <p:nvPr/>
        </p:nvSpPr>
        <p:spPr>
          <a:xfrm>
            <a:off x="10051331" y="4182145"/>
            <a:ext cx="40689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ray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2" name="Google Shape;3692;p74"/>
          <p:cNvSpPr/>
          <p:nvPr/>
        </p:nvSpPr>
        <p:spPr>
          <a:xfrm>
            <a:off x="6424464" y="4619997"/>
            <a:ext cx="109120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3" name="Google Shape;3693;p74"/>
          <p:cNvSpPr/>
          <p:nvPr/>
        </p:nvSpPr>
        <p:spPr>
          <a:xfrm>
            <a:off x="6586389" y="4686672"/>
            <a:ext cx="843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parallel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4" name="Google Shape;3694;p74"/>
          <p:cNvSpPr/>
          <p:nvPr/>
        </p:nvSpPr>
        <p:spPr>
          <a:xfrm>
            <a:off x="7601396" y="4619997"/>
            <a:ext cx="176606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5" name="Google Shape;3695;p74"/>
          <p:cNvSpPr/>
          <p:nvPr/>
        </p:nvSpPr>
        <p:spPr>
          <a:xfrm>
            <a:off x="7763321" y="4686672"/>
            <a:ext cx="151841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perpendicular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6" name="Google Shape;3696;p74"/>
          <p:cNvSpPr/>
          <p:nvPr/>
        </p:nvSpPr>
        <p:spPr>
          <a:xfrm>
            <a:off x="9453190" y="4619997"/>
            <a:ext cx="971996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7" name="Google Shape;3697;p74"/>
          <p:cNvSpPr/>
          <p:nvPr/>
        </p:nvSpPr>
        <p:spPr>
          <a:xfrm>
            <a:off x="9615115" y="4686672"/>
            <a:ext cx="72434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vertex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8" name="Google Shape;3698;p74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9" name="Google Shape;3699;p74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0" name="Google Shape;3700;p74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1" name="Google Shape;3701;p74"/>
          <p:cNvSpPr/>
          <p:nvPr/>
        </p:nvSpPr>
        <p:spPr>
          <a:xfrm>
            <a:off x="1247477" y="6260827"/>
            <a:ext cx="613130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Draw points, lines, line segments, rays, and angles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2" name="Google Shape;3702;p74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3" name="Google Shape;3703;p74"/>
          <p:cNvSpPr/>
          <p:nvPr/>
        </p:nvSpPr>
        <p:spPr>
          <a:xfrm>
            <a:off x="1247477" y="6699721"/>
            <a:ext cx="448158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Draw parallel and perpendicular lines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4" name="Google Shape;3704;p74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5" name="Google Shape;3705;p74"/>
          <p:cNvSpPr/>
          <p:nvPr/>
        </p:nvSpPr>
        <p:spPr>
          <a:xfrm>
            <a:off x="1247477" y="7138615"/>
            <a:ext cx="579856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these figures in two-dimensional shapes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6" name="Google Shape;3706;p74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7" name="Google Shape;3707;p74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8" name="Google Shape;3708;p74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9" name="Google Shape;3709;p74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Line, line segment, and ray are used interchangeably. The distinction is about endpoints, and it matters in later geometry.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0" name="Google Shape;3710;p74"/>
          <p:cNvSpPr/>
          <p:nvPr/>
        </p:nvSpPr>
        <p:spPr>
          <a:xfrm>
            <a:off x="533326" y="950833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1" name="Google Shape;3711;p74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2" name="Google Shape;3712;p74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3" name="Google Shape;3713;p74"/>
          <p:cNvSpPr/>
          <p:nvPr/>
        </p:nvSpPr>
        <p:spPr>
          <a:xfrm>
            <a:off x="1218902" y="10098807"/>
            <a:ext cx="6997660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draw and name lines, rays, segments, and angles.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4" name="Google Shape;3714;p74"/>
          <p:cNvSpPr/>
          <p:nvPr/>
        </p:nvSpPr>
        <p:spPr>
          <a:xfrm>
            <a:off x="780901" y="105696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5" name="Google Shape;3715;p74"/>
          <p:cNvSpPr/>
          <p:nvPr/>
        </p:nvSpPr>
        <p:spPr>
          <a:xfrm>
            <a:off x="1218902" y="10541050"/>
            <a:ext cx="5661533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identify parallel and perpendicular lines.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6" name="Google Shape;3716;p74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7" name="Google Shape;3717;p74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8" name="Google Shape;3718;p74"/>
          <p:cNvSpPr/>
          <p:nvPr/>
        </p:nvSpPr>
        <p:spPr>
          <a:xfrm>
            <a:off x="10790634" y="14897174"/>
            <a:ext cx="89661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4.G.A.1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723" name="Shape 3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4" name="Google Shape;3724;p75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5" name="Google Shape;3725;p75"/>
          <p:cNvSpPr/>
          <p:nvPr/>
        </p:nvSpPr>
        <p:spPr>
          <a:xfrm>
            <a:off x="533326" y="533326"/>
            <a:ext cx="101772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4TH GRADE MATH · GEOMETRY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6" name="Google Shape;3726;p75"/>
          <p:cNvSpPr/>
          <p:nvPr/>
        </p:nvSpPr>
        <p:spPr>
          <a:xfrm>
            <a:off x="533326" y="847651"/>
            <a:ext cx="10177254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Draw and Identify Lines and Angles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7" name="Google Shape;3727;p75"/>
          <p:cNvSpPr/>
          <p:nvPr/>
        </p:nvSpPr>
        <p:spPr>
          <a:xfrm>
            <a:off x="10127382" y="533326"/>
            <a:ext cx="1483668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8" name="Google Shape;3728;p75"/>
          <p:cNvSpPr/>
          <p:nvPr/>
        </p:nvSpPr>
        <p:spPr>
          <a:xfrm>
            <a:off x="10336932" y="647626"/>
            <a:ext cx="114076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4.G.A.2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9" name="Google Shape;3729;p75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0" name="Google Shape;3730;p75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1" name="Google Shape;3731;p75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2" name="Google Shape;3732;p75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Classify two-dimensional figures based on the presence or absence of parallel or perpendicular lines, or the presence or absence of angles of a specified size.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3" name="Google Shape;3733;p75"/>
          <p:cNvSpPr/>
          <p:nvPr/>
        </p:nvSpPr>
        <p:spPr>
          <a:xfrm>
            <a:off x="533326" y="3496419"/>
            <a:ext cx="5443538" cy="2265908"/>
          </a:xfrm>
          <a:prstGeom prst="roundRect">
            <a:avLst>
              <a:gd fmla="val 588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4" name="Google Shape;3734;p75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5" name="Google Shape;3735;p75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6" name="Google Shape;3736;p75"/>
          <p:cNvSpPr/>
          <p:nvPr/>
        </p:nvSpPr>
        <p:spPr>
          <a:xfrm>
            <a:off x="999902" y="4115470"/>
            <a:ext cx="420827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attributes classify this figure?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7" name="Google Shape;3737;p75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8" name="Google Shape;3738;p75"/>
          <p:cNvSpPr/>
          <p:nvPr/>
        </p:nvSpPr>
        <p:spPr>
          <a:xfrm>
            <a:off x="999902" y="456396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Can a shape belong to more than one category?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9" name="Google Shape;3739;p75"/>
          <p:cNvSpPr/>
          <p:nvPr/>
        </p:nvSpPr>
        <p:spPr>
          <a:xfrm>
            <a:off x="6167289" y="3496419"/>
            <a:ext cx="5443761" cy="2265908"/>
          </a:xfrm>
          <a:prstGeom prst="roundRect">
            <a:avLst>
              <a:gd fmla="val 588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0" name="Google Shape;3740;p75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1" name="Google Shape;3741;p75"/>
          <p:cNvSpPr/>
          <p:nvPr/>
        </p:nvSpPr>
        <p:spPr>
          <a:xfrm>
            <a:off x="6424464" y="4115470"/>
            <a:ext cx="1104156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2" name="Google Shape;3742;p75"/>
          <p:cNvSpPr/>
          <p:nvPr/>
        </p:nvSpPr>
        <p:spPr>
          <a:xfrm>
            <a:off x="6586389" y="4182145"/>
            <a:ext cx="85650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classify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3" name="Google Shape;3743;p75"/>
          <p:cNvSpPr/>
          <p:nvPr/>
        </p:nvSpPr>
        <p:spPr>
          <a:xfrm>
            <a:off x="7614345" y="4115470"/>
            <a:ext cx="109120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4" name="Google Shape;3744;p75"/>
          <p:cNvSpPr/>
          <p:nvPr/>
        </p:nvSpPr>
        <p:spPr>
          <a:xfrm>
            <a:off x="7776270" y="4182145"/>
            <a:ext cx="843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parallel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5" name="Google Shape;3745;p75"/>
          <p:cNvSpPr/>
          <p:nvPr/>
        </p:nvSpPr>
        <p:spPr>
          <a:xfrm>
            <a:off x="8791277" y="4115470"/>
            <a:ext cx="176606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6" name="Google Shape;3746;p75"/>
          <p:cNvSpPr/>
          <p:nvPr/>
        </p:nvSpPr>
        <p:spPr>
          <a:xfrm>
            <a:off x="8953202" y="4182145"/>
            <a:ext cx="151841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perpendicular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7" name="Google Shape;3747;p75"/>
          <p:cNvSpPr/>
          <p:nvPr/>
        </p:nvSpPr>
        <p:spPr>
          <a:xfrm>
            <a:off x="6424464" y="4619997"/>
            <a:ext cx="90614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8" name="Google Shape;3748;p75"/>
          <p:cNvSpPr/>
          <p:nvPr/>
        </p:nvSpPr>
        <p:spPr>
          <a:xfrm>
            <a:off x="6586389" y="4686672"/>
            <a:ext cx="65849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acute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9" name="Google Shape;3749;p75"/>
          <p:cNvSpPr/>
          <p:nvPr/>
        </p:nvSpPr>
        <p:spPr>
          <a:xfrm>
            <a:off x="7416329" y="4619997"/>
            <a:ext cx="103852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0" name="Google Shape;3750;p75"/>
          <p:cNvSpPr/>
          <p:nvPr/>
        </p:nvSpPr>
        <p:spPr>
          <a:xfrm>
            <a:off x="7578254" y="4686672"/>
            <a:ext cx="79087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obtuse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1" name="Google Shape;3751;p75"/>
          <p:cNvSpPr/>
          <p:nvPr/>
        </p:nvSpPr>
        <p:spPr>
          <a:xfrm>
            <a:off x="8540576" y="4619997"/>
            <a:ext cx="1633686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2" name="Google Shape;3752;p75"/>
          <p:cNvSpPr/>
          <p:nvPr/>
        </p:nvSpPr>
        <p:spPr>
          <a:xfrm>
            <a:off x="8702501" y="4686672"/>
            <a:ext cx="138603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right triangle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3" name="Google Shape;3753;p75"/>
          <p:cNvSpPr/>
          <p:nvPr/>
        </p:nvSpPr>
        <p:spPr>
          <a:xfrm>
            <a:off x="6424464" y="5124524"/>
            <a:ext cx="130306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4" name="Google Shape;3754;p75"/>
          <p:cNvSpPr/>
          <p:nvPr/>
        </p:nvSpPr>
        <p:spPr>
          <a:xfrm>
            <a:off x="6586389" y="5191199"/>
            <a:ext cx="105541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trapezoid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5" name="Google Shape;3755;p75"/>
          <p:cNvSpPr/>
          <p:nvPr/>
        </p:nvSpPr>
        <p:spPr>
          <a:xfrm>
            <a:off x="533326" y="5952753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6" name="Google Shape;3756;p75"/>
          <p:cNvSpPr/>
          <p:nvPr/>
        </p:nvSpPr>
        <p:spPr>
          <a:xfrm>
            <a:off x="809476" y="6171754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7" name="Google Shape;3757;p75"/>
          <p:cNvSpPr/>
          <p:nvPr/>
        </p:nvSpPr>
        <p:spPr>
          <a:xfrm>
            <a:off x="809476" y="660037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8" name="Google Shape;3758;p75"/>
          <p:cNvSpPr/>
          <p:nvPr/>
        </p:nvSpPr>
        <p:spPr>
          <a:xfrm>
            <a:off x="1247477" y="6571804"/>
            <a:ext cx="788710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Classify two-dimensional figures by parallel or perpendicular lines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9" name="Google Shape;3759;p75"/>
          <p:cNvSpPr/>
          <p:nvPr/>
        </p:nvSpPr>
        <p:spPr>
          <a:xfrm>
            <a:off x="809476" y="703927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0" name="Google Shape;3760;p75"/>
          <p:cNvSpPr/>
          <p:nvPr/>
        </p:nvSpPr>
        <p:spPr>
          <a:xfrm>
            <a:off x="1247477" y="7010698"/>
            <a:ext cx="261896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Classify by angle size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1" name="Google Shape;3761;p75"/>
          <p:cNvSpPr/>
          <p:nvPr/>
        </p:nvSpPr>
        <p:spPr>
          <a:xfrm>
            <a:off x="809476" y="747816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2" name="Google Shape;3762;p75"/>
          <p:cNvSpPr/>
          <p:nvPr/>
        </p:nvSpPr>
        <p:spPr>
          <a:xfrm>
            <a:off x="1247477" y="7449592"/>
            <a:ext cx="470849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Recognize right triangles as a category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3" name="Google Shape;3763;p75"/>
          <p:cNvSpPr/>
          <p:nvPr/>
        </p:nvSpPr>
        <p:spPr>
          <a:xfrm>
            <a:off x="533326" y="8193212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4" name="Google Shape;3764;p75"/>
          <p:cNvSpPr/>
          <p:nvPr/>
        </p:nvSpPr>
        <p:spPr>
          <a:xfrm>
            <a:off x="533326" y="8193212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5" name="Google Shape;3765;p75"/>
          <p:cNvSpPr/>
          <p:nvPr/>
        </p:nvSpPr>
        <p:spPr>
          <a:xfrm>
            <a:off x="895201" y="8383637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6" name="Google Shape;3766;p75"/>
          <p:cNvSpPr/>
          <p:nvPr/>
        </p:nvSpPr>
        <p:spPr>
          <a:xfrm>
            <a:off x="895201" y="8745513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classify by overall appearance rather than by checking attributes one at a time.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7" name="Google Shape;3767;p75"/>
          <p:cNvSpPr/>
          <p:nvPr/>
        </p:nvSpPr>
        <p:spPr>
          <a:xfrm>
            <a:off x="533326" y="9472836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8" name="Google Shape;3768;p75"/>
          <p:cNvSpPr/>
          <p:nvPr/>
        </p:nvSpPr>
        <p:spPr>
          <a:xfrm>
            <a:off x="780901" y="9663261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9" name="Google Shape;3769;p75"/>
          <p:cNvSpPr/>
          <p:nvPr/>
        </p:nvSpPr>
        <p:spPr>
          <a:xfrm>
            <a:off x="780901" y="10091886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0" name="Google Shape;3770;p75"/>
          <p:cNvSpPr/>
          <p:nvPr/>
        </p:nvSpPr>
        <p:spPr>
          <a:xfrm>
            <a:off x="1218902" y="10063311"/>
            <a:ext cx="589703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classify shapes by their sides and angles.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1" name="Google Shape;3771;p75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2" name="Google Shape;3772;p75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3" name="Google Shape;3773;p75"/>
          <p:cNvSpPr/>
          <p:nvPr/>
        </p:nvSpPr>
        <p:spPr>
          <a:xfrm>
            <a:off x="10790634" y="14897174"/>
            <a:ext cx="89661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4.G.A.2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778" name="Shape 3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9" name="Google Shape;3779;p76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0" name="Google Shape;3780;p76"/>
          <p:cNvSpPr/>
          <p:nvPr/>
        </p:nvSpPr>
        <p:spPr>
          <a:xfrm>
            <a:off x="533326" y="533326"/>
            <a:ext cx="101772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4TH GRADE MATH · GEOMETRY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1" name="Google Shape;3781;p76"/>
          <p:cNvSpPr/>
          <p:nvPr/>
        </p:nvSpPr>
        <p:spPr>
          <a:xfrm>
            <a:off x="533326" y="847651"/>
            <a:ext cx="10177254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Draw and Identify Lines and Angles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2" name="Google Shape;3782;p76"/>
          <p:cNvSpPr/>
          <p:nvPr/>
        </p:nvSpPr>
        <p:spPr>
          <a:xfrm>
            <a:off x="10127382" y="533326"/>
            <a:ext cx="1483668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3" name="Google Shape;3783;p76"/>
          <p:cNvSpPr/>
          <p:nvPr/>
        </p:nvSpPr>
        <p:spPr>
          <a:xfrm>
            <a:off x="10336932" y="647626"/>
            <a:ext cx="114076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4.G.A.3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4" name="Google Shape;3784;p76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5" name="Google Shape;3785;p76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6" name="Google Shape;3786;p76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7" name="Google Shape;3787;p76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Recognize a line of symmetry for a two-dimensional figure; identify line-symmetric figures and draw lines of symmetry.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8" name="Google Shape;3788;p76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9" name="Google Shape;3789;p76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0" name="Google Shape;3790;p76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1" name="Google Shape;3791;p76"/>
          <p:cNvSpPr/>
          <p:nvPr/>
        </p:nvSpPr>
        <p:spPr>
          <a:xfrm>
            <a:off x="999902" y="4115470"/>
            <a:ext cx="441995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test for a line of symmetry?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2" name="Google Shape;3792;p76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3" name="Google Shape;3793;p76"/>
          <p:cNvSpPr/>
          <p:nvPr/>
        </p:nvSpPr>
        <p:spPr>
          <a:xfrm>
            <a:off x="999902" y="4563963"/>
            <a:ext cx="413361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Can a figure have more than one?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4" name="Google Shape;3794;p76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5" name="Google Shape;3795;p76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6" name="Google Shape;3796;p76"/>
          <p:cNvSpPr/>
          <p:nvPr/>
        </p:nvSpPr>
        <p:spPr>
          <a:xfrm>
            <a:off x="6424464" y="4115470"/>
            <a:ext cx="205650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7" name="Google Shape;3797;p76"/>
          <p:cNvSpPr/>
          <p:nvPr/>
        </p:nvSpPr>
        <p:spPr>
          <a:xfrm>
            <a:off x="6586389" y="4182145"/>
            <a:ext cx="180885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line of symmetry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8" name="Google Shape;3798;p76"/>
          <p:cNvSpPr/>
          <p:nvPr/>
        </p:nvSpPr>
        <p:spPr>
          <a:xfrm>
            <a:off x="8566696" y="4115470"/>
            <a:ext cx="140798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9" name="Google Shape;3799;p76"/>
          <p:cNvSpPr/>
          <p:nvPr/>
        </p:nvSpPr>
        <p:spPr>
          <a:xfrm>
            <a:off x="8728621" y="4182145"/>
            <a:ext cx="116033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symmetric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0" name="Google Shape;3800;p76"/>
          <p:cNvSpPr/>
          <p:nvPr/>
        </p:nvSpPr>
        <p:spPr>
          <a:xfrm>
            <a:off x="10060409" y="4115470"/>
            <a:ext cx="70767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1" name="Google Shape;3801;p76"/>
          <p:cNvSpPr/>
          <p:nvPr/>
        </p:nvSpPr>
        <p:spPr>
          <a:xfrm>
            <a:off x="10222334" y="4182145"/>
            <a:ext cx="46002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fold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2" name="Google Shape;3802;p76"/>
          <p:cNvSpPr/>
          <p:nvPr/>
        </p:nvSpPr>
        <p:spPr>
          <a:xfrm>
            <a:off x="6424464" y="4619997"/>
            <a:ext cx="971996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3" name="Google Shape;3803;p76"/>
          <p:cNvSpPr/>
          <p:nvPr/>
        </p:nvSpPr>
        <p:spPr>
          <a:xfrm>
            <a:off x="6586389" y="4686672"/>
            <a:ext cx="72434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reflect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4" name="Google Shape;3804;p76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5" name="Google Shape;3805;p76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6" name="Google Shape;3806;p76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7" name="Google Shape;3807;p76"/>
          <p:cNvSpPr/>
          <p:nvPr/>
        </p:nvSpPr>
        <p:spPr>
          <a:xfrm>
            <a:off x="1247477" y="6067276"/>
            <a:ext cx="357250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Recognize a line of symmetry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8" name="Google Shape;3808;p76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9" name="Google Shape;3809;p76"/>
          <p:cNvSpPr/>
          <p:nvPr/>
        </p:nvSpPr>
        <p:spPr>
          <a:xfrm>
            <a:off x="1247477" y="6506170"/>
            <a:ext cx="360245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line-symmetric figures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0" name="Google Shape;3810;p76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1" name="Google Shape;3811;p76"/>
          <p:cNvSpPr/>
          <p:nvPr/>
        </p:nvSpPr>
        <p:spPr>
          <a:xfrm>
            <a:off x="1247477" y="6945064"/>
            <a:ext cx="455599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Draw all lines of symmetry for a figure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2" name="Google Shape;3812;p76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3" name="Google Shape;3813;p76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4" name="Google Shape;3814;p76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5" name="Google Shape;3815;p76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draw a diagonal as a line of symmetry on a non-square rectangle. Folding tests the claim physically.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6" name="Google Shape;3816;p76"/>
          <p:cNvSpPr/>
          <p:nvPr/>
        </p:nvSpPr>
        <p:spPr>
          <a:xfrm>
            <a:off x="533326" y="9314780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7" name="Google Shape;3817;p76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8" name="Google Shape;3818;p76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9" name="Google Shape;3819;p76"/>
          <p:cNvSpPr/>
          <p:nvPr/>
        </p:nvSpPr>
        <p:spPr>
          <a:xfrm>
            <a:off x="1218902" y="9905256"/>
            <a:ext cx="529883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find the lines of symmetry in a figure.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0" name="Google Shape;3820;p76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1" name="Google Shape;3821;p76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2" name="Google Shape;3822;p76"/>
          <p:cNvSpPr/>
          <p:nvPr/>
        </p:nvSpPr>
        <p:spPr>
          <a:xfrm>
            <a:off x="10790634" y="14897174"/>
            <a:ext cx="89661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4.G.A.3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