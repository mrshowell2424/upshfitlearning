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</p:sldIdLst>
  <p:sldSz cy="15716250" cx="12144375"/>
  <p:notesSz cx="15716250" cy="121443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4" name="Google Shape;10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0" name="Google Shape;116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7" name="Google Shape;120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4" name="Google Shape;125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7" name="Google Shape;130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6" name="Google Shape;135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1" name="Google Shape;141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6" name="Google Shape;146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1" name="Google Shape;152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2" name="Google Shape;157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3" name="Google Shape;162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2" name="Google Shape;167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1" name="Google Shape;172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2" name="Google Shape;177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1" name="Google Shape;182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4" name="Google Shape;187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3" name="Google Shape;192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2" name="Google Shape;197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3" name="Google Shape;202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2" name="Google Shape;207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9" name="Google Shape;211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0" name="Google Shape;218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5" name="Google Shape;22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6" name="Google Shape;228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1" name="Google Shape;234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4" name="Google Shape;239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5" name="Google Shape;244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6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Google Shape;249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8" name="Google Shape;249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9" name="Shape 2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0" name="Google Shape;255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1" name="Google Shape;255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2" name="Google Shape;255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2" name="Shape 2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Google Shape;260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4" name="Google Shape;260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3" name="Google Shape;265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4" name="Shape 2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5" name="Google Shape;270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6" name="Google Shape;270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3" name="Google Shape;275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2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4" name="Google Shape;280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5" name="Google Shape;280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3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5" name="Google Shape;285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6" name="Google Shape;2856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4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6" name="Google Shape;290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7" name="Google Shape;2907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5" name="Shape 2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6" name="Google Shape;2956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7" name="Google Shape;295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8" name="Google Shape;2958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6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8" name="Google Shape;300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9" name="Google Shape;3009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7" name="Google Shape;305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2" name="Google Shape;3112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9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0" name="Google Shape;316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1" name="Google Shape;316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4" name="Shape 3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" name="Google Shape;3215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6" name="Google Shape;3216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7" name="Google Shape;3217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7" name="Shape 3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8" name="Google Shape;326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9" name="Google Shape;326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0" name="Google Shape;3270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2" name="Shape 3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3" name="Google Shape;3323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4" name="Google Shape;3324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5" name="Google Shape;3325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5" name="Shape 3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6" name="Google Shape;337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7" name="Google Shape;337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8" name="Google Shape;3378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8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0" name="Google Shape;3430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1" name="Google Shape;3431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1" name="Shape 3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" name="Google Shape;3482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3" name="Google Shape;3483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4" name="Google Shape;3484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0" name="Shape 3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1" name="Google Shape;353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2" name="Google Shape;3532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3" name="Google Shape;3533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Google Shape;3582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3" name="Google Shape;3583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4" name="Google Shape;3584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2" name="Shape 3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3" name="Google Shape;3633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4" name="Google Shape;3634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5" name="Google Shape;3635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7" name="Shape 3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" name="Google Shape;3688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9" name="Google Shape;368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0" name="Google Shape;3690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023914" cy="342900"/>
          </a:xfrm>
          <a:prstGeom prst="rect">
            <a:avLst/>
          </a:prstGeom>
          <a:solidFill>
            <a:srgbClr val="7F9C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023914" y="0"/>
            <a:ext cx="2024137" cy="342900"/>
          </a:xfrm>
          <a:prstGeom prst="rect">
            <a:avLst/>
          </a:prstGeom>
          <a:solidFill>
            <a:srgbClr val="D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048051" y="0"/>
            <a:ext cx="2023914" cy="34290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71964" y="0"/>
            <a:ext cx="2024137" cy="342900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096101" y="0"/>
            <a:ext cx="2024137" cy="342900"/>
          </a:xfrm>
          <a:prstGeom prst="rect">
            <a:avLst/>
          </a:prstGeom>
          <a:solidFill>
            <a:srgbClr val="8A6A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120238" y="0"/>
            <a:ext cx="2024137" cy="34290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61576" y="901201"/>
            <a:ext cx="11892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CLEAR LEARNING TARGETS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66601" y="1495276"/>
            <a:ext cx="11135508" cy="2141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133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Unpacked Standards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66601" y="3788643"/>
            <a:ext cx="1189229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89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64789F"/>
                </a:solidFill>
                <a:latin typeface="Arial"/>
                <a:ea typeface="Arial"/>
                <a:cs typeface="Arial"/>
                <a:sym typeface="Arial"/>
              </a:rPr>
              <a:t>ELA &amp; Math · 3rd Grade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66601" y="4888781"/>
            <a:ext cx="10811173" cy="2256979"/>
          </a:xfrm>
          <a:prstGeom prst="roundRect">
            <a:avLst>
              <a:gd fmla="val 675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28477" y="5212482"/>
            <a:ext cx="11096164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WHAT IS ON EACH PAGE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28477" y="5664771"/>
            <a:ext cx="10390044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One standard per page, broken down into the parts you teach from: the essential questions that frame the lesson, the skills a student has to be able to do, the vocabulary they need, the misconception to watch for, and the student-facing "I can" targets.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66601" y="7450485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942752" y="7688461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42752" y="8050337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What the lesson is really asking.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157913" y="7450485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434063" y="7688461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434063" y="8050337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What the student must be able to do.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66601" y="8793063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942752" y="9031039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42752" y="9392915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The words to teach explicitly.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157913" y="8793063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434063" y="9031039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434063" y="9392915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Where students reliably go wrong.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66601" y="14447118"/>
            <a:ext cx="10811173" cy="28575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66601" y="14704293"/>
            <a:ext cx="11135508" cy="383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72 standards unpacked — 47 ELA, 25 Math · School Year 2026–2027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RL.3.1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and answer questions to demonstrate understanding of a text, referring explicitly to the text as the basis for the answers.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999902" y="4115470"/>
            <a:ext cx="49046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prove my answer with the text?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difference between stated and implied?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424464" y="4115470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586389" y="4182145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explicitly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733556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895481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9096003" y="4115470"/>
            <a:ext cx="81327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9257928" y="4182145"/>
            <a:ext cx="5656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refer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994999" y="4115470"/>
            <a:ext cx="78692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0156924" y="4182145"/>
            <a:ext cx="53927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24464" y="4619997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586389" y="4686672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247477" y="6260827"/>
            <a:ext cx="46785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and answer questions about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247477" y="6699721"/>
            <a:ext cx="60551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Refer explicitly to the text as the basis for answers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247477" y="7138615"/>
            <a:ext cx="46186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Locate and quote supporting evidence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answer correctly from memory but cannot locate the supporting line. Requiring a page and line reference builds the habit.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218902" y="10098807"/>
            <a:ext cx="473353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answer questions using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218902" y="10541050"/>
            <a:ext cx="595965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show where in the text I found my answer.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RL.3.1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RL.3.2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Recount stories, including fables, folktales, and myths; determine the central message, lesson, or moral and explain how it is conveyed.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999902" y="4115470"/>
            <a:ext cx="41785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lesson does the story teach?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999902" y="4563963"/>
            <a:ext cx="48600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the events reveal the message?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24464" y="4115470"/>
            <a:ext cx="20701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586389" y="4182145"/>
            <a:ext cx="18224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central message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580313" y="4115470"/>
            <a:ext cx="91908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742238" y="4182145"/>
            <a:ext cx="6714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585127" y="4115470"/>
            <a:ext cx="8396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9747052" y="4182145"/>
            <a:ext cx="5919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myth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424464" y="4619997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586389" y="4686672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folktale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588225" y="4619997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750150" y="4686672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convey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751987" y="4619997"/>
            <a:ext cx="148768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8913912" y="4686672"/>
            <a:ext cx="12400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summarize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247477" y="6067276"/>
            <a:ext cx="69787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Recount fables, folktales, and myths from diverse cultures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247477" y="6506170"/>
            <a:ext cx="58737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central message, lesson, or moral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1247477" y="6945064"/>
            <a:ext cx="697973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the message is conveyed through key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state a generic moral ("be nice") that could apply to any story rather than one grounded in these events.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218902" y="9905256"/>
            <a:ext cx="381610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lesson of a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1218902" y="10347499"/>
            <a:ext cx="575534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how the story shows that lesson.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RL.3.2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RL.3.3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characters in a story and explain how their actions contribute to the sequence of events.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a character’s actions drive the story?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999902" y="4898157"/>
            <a:ext cx="48496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the character’s choices reveal?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424464" y="4115470"/>
            <a:ext cx="72062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586389" y="4182145"/>
            <a:ext cx="47297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trait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230814" y="4115470"/>
            <a:ext cx="14086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7392739" y="4182145"/>
            <a:ext cx="11610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725198" y="4115470"/>
            <a:ext cx="13561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8887123" y="4182145"/>
            <a:ext cx="1108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424464" y="4619997"/>
            <a:ext cx="136914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586389" y="4686672"/>
            <a:ext cx="112149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contribute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879333" y="4619997"/>
            <a:ext cx="95904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8041258" y="4686672"/>
            <a:ext cx="71139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247477" y="6260827"/>
            <a:ext cx="628723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characters’ traits, motivations, and feelings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1247477" y="6699721"/>
            <a:ext cx="687414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actions contribute to the sequence of events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1247477" y="7138615"/>
            <a:ext cx="472420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Trace cause and effect through the plot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33326" y="788223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33326" y="788223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95201" y="843453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describe appearance rather than traits and motivations, which are the drivers of plot.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33326" y="9161859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780901" y="935228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80901" y="978091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1218902" y="9752335"/>
            <a:ext cx="331809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describe a character.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80901" y="1022315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1218902" y="10194578"/>
            <a:ext cx="623787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how what they do changes the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RL.3.3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RL.3.4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words and phrases as they are used in a text, distinguishing literal from nonliteral language.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999902" y="4115470"/>
            <a:ext cx="42694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Does the author mean this literally?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999902" y="4563963"/>
            <a:ext cx="43450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this phrase really mean?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424464" y="4115470"/>
            <a:ext cx="8925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586389" y="4182145"/>
            <a:ext cx="6448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literal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402711" y="4115470"/>
            <a:ext cx="128967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7564636" y="4182145"/>
            <a:ext cx="104202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nonliteral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8778106" y="4115470"/>
            <a:ext cx="128967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8940031" y="4182145"/>
            <a:ext cx="104202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figurative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0153501" y="4115470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10315426" y="4182145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phrase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424464" y="4619997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6586389" y="4686672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1247477" y="6067276"/>
            <a:ext cx="654041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words and phrases in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1247477" y="6506170"/>
            <a:ext cx="50567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literal from nonliteral language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1247477" y="6945064"/>
            <a:ext cx="50412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to interpret figurative phrases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interpret idioms literally and become confused, or dismiss them as errors in the text.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33326" y="8968308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1218902" y="9558784"/>
            <a:ext cx="548251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when words are not meant literally.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780901" y="1002960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1218902" y="10001027"/>
            <a:ext cx="544101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the phrase really means.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RL.3.4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RL.3.5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Refer to parts of stories, dramas, and poems when writing or speaking about a text, using terms such as chapter, scene, and stanza.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999902" y="4115470"/>
            <a:ext cx="325498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this text organized?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each part build on the one before?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424464" y="4115470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6586389" y="4182145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chapter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7627962" y="4115470"/>
            <a:ext cx="95904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7789887" y="4182145"/>
            <a:ext cx="71139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scene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8672736" y="4115470"/>
            <a:ext cx="10251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8834661" y="4182145"/>
            <a:ext cx="7774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stanza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9783589" y="4115470"/>
            <a:ext cx="124971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9945514" y="4182145"/>
            <a:ext cx="100206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424464" y="4619997"/>
            <a:ext cx="148790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6586389" y="4686672"/>
            <a:ext cx="124025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successive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1247477" y="6260827"/>
            <a:ext cx="929591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Refer to chapters, scenes, and stanzas when writing or speaking about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1247477" y="6699721"/>
            <a:ext cx="73424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how each successive part builds on earlier sections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1247477" y="7138615"/>
            <a:ext cx="43899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structural vocabulary accurately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33326" y="788223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533326" y="788223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895201" y="843453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use "paragraph" for every text part regardless of genre.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33326" y="916185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780901" y="935228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780901" y="978091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1218902" y="9752335"/>
            <a:ext cx="720663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the right word for parts of a story, play, or poem.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RL.3.5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RL.3.6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their own point of view from that of the narrator or those of the characters.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999902" y="3755603"/>
            <a:ext cx="463285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Whose eyes am I seeing this through?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999902" y="420409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my view different from the narrator’s?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6424464" y="3755603"/>
            <a:ext cx="16468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6586389" y="3822278"/>
            <a:ext cx="13992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point of view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8157046" y="3755603"/>
            <a:ext cx="115728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8318971" y="3822278"/>
            <a:ext cx="9096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9400059" y="3755603"/>
            <a:ext cx="154104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9561984" y="3822278"/>
            <a:ext cx="129339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perspective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424464" y="4260131"/>
            <a:ext cx="150108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6586389" y="4326806"/>
            <a:ext cx="125343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first person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011269" y="4260131"/>
            <a:ext cx="15807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8173194" y="4326806"/>
            <a:ext cx="13331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third person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1247477" y="5900961"/>
            <a:ext cx="809902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own point of view from that of the narrator or characters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247477" y="6339855"/>
            <a:ext cx="23618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narrator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1247477" y="6778749"/>
            <a:ext cx="58543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differing perspectives on the same event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conflate point of view with opinion, or assume the narrator always speaks for the author.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33326" y="914846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1218902" y="9738940"/>
            <a:ext cx="551935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whose point of view the story uses.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780901" y="1020975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1218902" y="10181183"/>
            <a:ext cx="530374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my view with the narrator’s.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RL.3.6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RL.3.7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specific aspects of a text’s illustrations contribute to what is conveyed by the words in a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999902" y="4115470"/>
            <a:ext cx="358821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the illustrations add?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999902" y="4563963"/>
            <a:ext cx="325522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they create mood?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6424464" y="4115470"/>
            <a:ext cx="139548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6586389" y="4182145"/>
            <a:ext cx="114783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illustration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7905676" y="4115470"/>
            <a:ext cx="91931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8067601" y="4182145"/>
            <a:ext cx="6716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mood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8910712" y="4115470"/>
            <a:ext cx="147496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9072637" y="4182145"/>
            <a:ext cx="12273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emphasize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6424464" y="4619997"/>
            <a:ext cx="136914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6586389" y="4686672"/>
            <a:ext cx="112149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contribute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7879333" y="4619997"/>
            <a:ext cx="10251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8041258" y="4686672"/>
            <a:ext cx="7774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setting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1247477" y="6067276"/>
            <a:ext cx="691858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illustrations contribute to the words in a story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1247477" y="6506170"/>
            <a:ext cx="700944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Analyze how images create mood or emphasize character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1247477" y="6945064"/>
            <a:ext cx="47534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Connect specific images to specific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say the picture "shows what happened" without analyzing what it adds beyond the words.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1218902" y="9905256"/>
            <a:ext cx="589187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the pictures add to the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RL.3.7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RL.3.9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the themes, settings, and plots of stories written by the same author about the same or similar characters.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one author write the same character twice?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999902" y="4898157"/>
            <a:ext cx="43752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patterns repeat across books?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6424464" y="4115470"/>
            <a:ext cx="98539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6586389" y="4182145"/>
            <a:ext cx="73774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7495580" y="4115470"/>
            <a:ext cx="10251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7657505" y="4182145"/>
            <a:ext cx="7774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setting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8606433" y="4115470"/>
            <a:ext cx="7076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8768358" y="4182145"/>
            <a:ext cx="4600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plot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9399836" y="4115470"/>
            <a:ext cx="9588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9561761" y="4182145"/>
            <a:ext cx="7111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series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6424464" y="4619997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6586389" y="4686672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1247477" y="6260827"/>
            <a:ext cx="601048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themes, settings, and plots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1247477" y="6699721"/>
            <a:ext cx="722112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Analyze stories by the same author about similar characters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1247477" y="7138615"/>
            <a:ext cx="384532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patterns across a series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533326" y="788223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533326" y="788223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895201" y="843453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recount both stories separately instead of comparing them on a shared dimension.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533326" y="916185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780901" y="935228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780901" y="978091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1218902" y="9752335"/>
            <a:ext cx="710767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the theme, setting, and plot of two stories.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RL.3.9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2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533326" y="533326"/>
            <a:ext cx="102042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533326" y="847651"/>
            <a:ext cx="955490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10095681" y="533326"/>
            <a:ext cx="1515368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10305231" y="647626"/>
            <a:ext cx="11724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RL.3.10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By the end of the year, read and comprehend literature at the high end of the grades 2-3 text complexity band independently and proficiently.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strategies keep me going in a hard text?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999902" y="5418088"/>
            <a:ext cx="352780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I understand?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6424464" y="4635401"/>
            <a:ext cx="146156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6586389" y="4702076"/>
            <a:ext cx="12139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proficiently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7971755" y="4635401"/>
            <a:ext cx="180625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8133680" y="4702076"/>
            <a:ext cx="15586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independently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9863733" y="4635401"/>
            <a:ext cx="144817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10025658" y="4702076"/>
            <a:ext cx="120052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6424464" y="5139928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6586389" y="5206603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1247477" y="6780758"/>
            <a:ext cx="746472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and comprehend literature at the high end of grades 2-3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1247477" y="7219652"/>
            <a:ext cx="43305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independently and proficiently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1247477" y="7658546"/>
            <a:ext cx="472347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Self-monitor and apply fix-up strategies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select only easy books during independent reading, never building stamina in the grade band.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533326" y="1002826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1218902" y="10618738"/>
            <a:ext cx="721793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and understand grade-level stories on my own.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10764292" y="14897174"/>
            <a:ext cx="9229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RL.3.10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3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3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RI.3.1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and answer questions to demonstrate understanding of a text, referring explicitly to the text as the basis for the answers.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999902" y="4115470"/>
            <a:ext cx="237683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is the proof?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text say versus what do I infer?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6424464" y="4115470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6586389" y="4182145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explicitly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7733556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7895481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9096003" y="4115470"/>
            <a:ext cx="78692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9257928" y="4182145"/>
            <a:ext cx="53927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9968657" y="4115470"/>
            <a:ext cx="81327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10130582" y="4182145"/>
            <a:ext cx="5656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refer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1247477" y="6260827"/>
            <a:ext cx="60863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and answer questions about informational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1247477" y="6699721"/>
            <a:ext cx="30428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Refer explicitly to the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1247477" y="7138615"/>
            <a:ext cx="53894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stated information from inference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blend prior knowledge into their answers without distinguishing it from what the text stated.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1218902" y="10098807"/>
            <a:ext cx="658879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answer questions using evidence from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3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RI.3.1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4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4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RI.3.2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main idea of a text; recount the key details and explain how they support the main idea.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4"/>
          <p:cNvSpPr/>
          <p:nvPr/>
        </p:nvSpPr>
        <p:spPr>
          <a:xfrm>
            <a:off x="999902" y="4115470"/>
            <a:ext cx="27704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main idea?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4"/>
          <p:cNvSpPr/>
          <p:nvPr/>
        </p:nvSpPr>
        <p:spPr>
          <a:xfrm>
            <a:off x="999902" y="4563963"/>
            <a:ext cx="35734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the details hold it up?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6424464" y="4115470"/>
            <a:ext cx="135597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6586389" y="4182145"/>
            <a:ext cx="110832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main idea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7866162" y="4115470"/>
            <a:ext cx="132940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8028087" y="4182145"/>
            <a:ext cx="108175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key 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9281294" y="4115470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9443219" y="4182145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6424464" y="4619997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6586389" y="4686672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recount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1247477" y="6067276"/>
            <a:ext cx="40120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main idea of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1247477" y="6506170"/>
            <a:ext cx="28313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Recount the key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1247477" y="6945064"/>
            <a:ext cx="548104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the details support the main idea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4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name the topic ("bees") instead of the main idea ("bees help gardens grow more food").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4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4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1218902" y="9905256"/>
            <a:ext cx="300376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main idea.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4"/>
          <p:cNvSpPr/>
          <p:nvPr/>
        </p:nvSpPr>
        <p:spPr>
          <a:xfrm>
            <a:off x="1218902" y="10347499"/>
            <a:ext cx="487498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how the details support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4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RI.3.2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5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5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RI.3.3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the relationship between a series of historical events, scientific ideas, or steps in technical procedures, using time and cause language.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5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999902" y="4115470"/>
            <a:ext cx="411839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are these events connected?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999902" y="4563963"/>
            <a:ext cx="47546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language signals the connection?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5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5"/>
          <p:cNvSpPr/>
          <p:nvPr/>
        </p:nvSpPr>
        <p:spPr>
          <a:xfrm>
            <a:off x="6424464" y="4115470"/>
            <a:ext cx="13561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5"/>
          <p:cNvSpPr/>
          <p:nvPr/>
        </p:nvSpPr>
        <p:spPr>
          <a:xfrm>
            <a:off x="6586389" y="4182145"/>
            <a:ext cx="1108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7866385" y="4115470"/>
            <a:ext cx="95904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5"/>
          <p:cNvSpPr/>
          <p:nvPr/>
        </p:nvSpPr>
        <p:spPr>
          <a:xfrm>
            <a:off x="8028310" y="4182145"/>
            <a:ext cx="71139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5"/>
          <p:cNvSpPr/>
          <p:nvPr/>
        </p:nvSpPr>
        <p:spPr>
          <a:xfrm>
            <a:off x="8911158" y="4115470"/>
            <a:ext cx="90167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9073083" y="4182145"/>
            <a:ext cx="65402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effect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5"/>
          <p:cNvSpPr/>
          <p:nvPr/>
        </p:nvSpPr>
        <p:spPr>
          <a:xfrm>
            <a:off x="6424464" y="4619997"/>
            <a:ext cx="154126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6586389" y="4686672"/>
            <a:ext cx="129361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8051453" y="4619997"/>
            <a:ext cx="139571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8213378" y="4686672"/>
            <a:ext cx="114806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procedure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5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5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>
            <a:off x="1247477" y="6067276"/>
            <a:ext cx="885610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relationships between historical events, scientific ideas, or steps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5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>
            <a:off x="1247477" y="6506170"/>
            <a:ext cx="658167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language of time, sequence, and cause and effect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5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5"/>
          <p:cNvSpPr/>
          <p:nvPr/>
        </p:nvSpPr>
        <p:spPr>
          <a:xfrm>
            <a:off x="1247477" y="6945064"/>
            <a:ext cx="36839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Trace a process through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5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5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5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describe events as a list, missing the causal chain the author built.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5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>
            <a:off x="1218902" y="9558784"/>
            <a:ext cx="533100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how events or steps connect.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RI.3.3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6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6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RI.3.4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general academic and domain-specific words and phrases in a text relevant to a grade 3 topic or subject area.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6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6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this subject-specific word mean?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6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6"/>
          <p:cNvSpPr/>
          <p:nvPr/>
        </p:nvSpPr>
        <p:spPr>
          <a:xfrm>
            <a:off x="999902" y="4898157"/>
            <a:ext cx="337629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the text help 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6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6"/>
          <p:cNvSpPr/>
          <p:nvPr/>
        </p:nvSpPr>
        <p:spPr>
          <a:xfrm>
            <a:off x="6424464" y="4115470"/>
            <a:ext cx="197747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6"/>
          <p:cNvSpPr/>
          <p:nvPr/>
        </p:nvSpPr>
        <p:spPr>
          <a:xfrm>
            <a:off x="6586389" y="4182145"/>
            <a:ext cx="17298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domain-specific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6"/>
          <p:cNvSpPr/>
          <p:nvPr/>
        </p:nvSpPr>
        <p:spPr>
          <a:xfrm>
            <a:off x="8487668" y="4115470"/>
            <a:ext cx="255969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6"/>
          <p:cNvSpPr/>
          <p:nvPr/>
        </p:nvSpPr>
        <p:spPr>
          <a:xfrm>
            <a:off x="8649593" y="4182145"/>
            <a:ext cx="23126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academic 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6424464" y="4619997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6"/>
          <p:cNvSpPr/>
          <p:nvPr/>
        </p:nvSpPr>
        <p:spPr>
          <a:xfrm>
            <a:off x="6586389" y="4686672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7601396" y="4619997"/>
            <a:ext cx="12101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6"/>
          <p:cNvSpPr/>
          <p:nvPr/>
        </p:nvSpPr>
        <p:spPr>
          <a:xfrm>
            <a:off x="7763321" y="4686672"/>
            <a:ext cx="962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glossary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6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6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6"/>
          <p:cNvSpPr/>
          <p:nvPr/>
        </p:nvSpPr>
        <p:spPr>
          <a:xfrm>
            <a:off x="1247477" y="6260827"/>
            <a:ext cx="86596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general academic and domain-specific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6"/>
          <p:cNvSpPr/>
          <p:nvPr/>
        </p:nvSpPr>
        <p:spPr>
          <a:xfrm>
            <a:off x="1247477" y="6699721"/>
            <a:ext cx="61010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context, text features, and reference materials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6"/>
          <p:cNvSpPr/>
          <p:nvPr/>
        </p:nvSpPr>
        <p:spPr>
          <a:xfrm>
            <a:off x="1247477" y="7138615"/>
            <a:ext cx="44361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the word in speech and writing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6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6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6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substitute a familiar everyday meaning for the technical one, as with "chamber" or "current".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6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6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6"/>
          <p:cNvSpPr/>
          <p:nvPr/>
        </p:nvSpPr>
        <p:spPr>
          <a:xfrm>
            <a:off x="1218902" y="10098807"/>
            <a:ext cx="551959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figure out subject words using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6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RI.3.4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7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7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7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7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RI.3.5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7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7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7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text features and search tools to locate information relevant to a given topic efficiently.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7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7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7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7"/>
          <p:cNvSpPr/>
          <p:nvPr/>
        </p:nvSpPr>
        <p:spPr>
          <a:xfrm>
            <a:off x="999902" y="3755603"/>
            <a:ext cx="46579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locate information efficiently?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7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7"/>
          <p:cNvSpPr/>
          <p:nvPr/>
        </p:nvSpPr>
        <p:spPr>
          <a:xfrm>
            <a:off x="999902" y="4204097"/>
            <a:ext cx="339102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tool fits my question?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7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7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7"/>
          <p:cNvSpPr/>
          <p:nvPr/>
        </p:nvSpPr>
        <p:spPr>
          <a:xfrm>
            <a:off x="6424464" y="3755603"/>
            <a:ext cx="127627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7"/>
          <p:cNvSpPr/>
          <p:nvPr/>
        </p:nvSpPr>
        <p:spPr>
          <a:xfrm>
            <a:off x="6586389" y="3822278"/>
            <a:ext cx="102862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key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7"/>
          <p:cNvSpPr/>
          <p:nvPr/>
        </p:nvSpPr>
        <p:spPr>
          <a:xfrm>
            <a:off x="7786464" y="3755603"/>
            <a:ext cx="110460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7"/>
          <p:cNvSpPr/>
          <p:nvPr/>
        </p:nvSpPr>
        <p:spPr>
          <a:xfrm>
            <a:off x="7948389" y="3822278"/>
            <a:ext cx="85695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sidebar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7"/>
          <p:cNvSpPr/>
          <p:nvPr/>
        </p:nvSpPr>
        <p:spPr>
          <a:xfrm>
            <a:off x="8976792" y="3755603"/>
            <a:ext cx="127649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7"/>
          <p:cNvSpPr/>
          <p:nvPr/>
        </p:nvSpPr>
        <p:spPr>
          <a:xfrm>
            <a:off x="9138717" y="3822278"/>
            <a:ext cx="10288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hyperlink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7"/>
          <p:cNvSpPr/>
          <p:nvPr/>
        </p:nvSpPr>
        <p:spPr>
          <a:xfrm>
            <a:off x="6424464" y="4260131"/>
            <a:ext cx="148813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7"/>
          <p:cNvSpPr/>
          <p:nvPr/>
        </p:nvSpPr>
        <p:spPr>
          <a:xfrm>
            <a:off x="6586389" y="4326806"/>
            <a:ext cx="124048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search tool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7"/>
          <p:cNvSpPr/>
          <p:nvPr/>
        </p:nvSpPr>
        <p:spPr>
          <a:xfrm>
            <a:off x="7998321" y="4260131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7"/>
          <p:cNvSpPr/>
          <p:nvPr/>
        </p:nvSpPr>
        <p:spPr>
          <a:xfrm>
            <a:off x="8160246" y="4326806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7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7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7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7"/>
          <p:cNvSpPr/>
          <p:nvPr/>
        </p:nvSpPr>
        <p:spPr>
          <a:xfrm>
            <a:off x="1247477" y="5707410"/>
            <a:ext cx="74632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text features such as key words, sidebars, and hyperlinks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7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7"/>
          <p:cNvSpPr/>
          <p:nvPr/>
        </p:nvSpPr>
        <p:spPr>
          <a:xfrm>
            <a:off x="1247477" y="6146304"/>
            <a:ext cx="45569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search tools to locate information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7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7"/>
          <p:cNvSpPr/>
          <p:nvPr/>
        </p:nvSpPr>
        <p:spPr>
          <a:xfrm>
            <a:off x="1247477" y="6585198"/>
            <a:ext cx="487547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Choose the right feature for the question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7"/>
          <p:cNvSpPr/>
          <p:nvPr/>
        </p:nvSpPr>
        <p:spPr>
          <a:xfrm>
            <a:off x="533326" y="732881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7"/>
          <p:cNvSpPr/>
          <p:nvPr/>
        </p:nvSpPr>
        <p:spPr>
          <a:xfrm>
            <a:off x="533326" y="732881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7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7"/>
          <p:cNvSpPr/>
          <p:nvPr/>
        </p:nvSpPr>
        <p:spPr>
          <a:xfrm>
            <a:off x="895201" y="788111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search using full sentences rather than key words, and skim past sidebars entirely.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7"/>
          <p:cNvSpPr/>
          <p:nvPr/>
        </p:nvSpPr>
        <p:spPr>
          <a:xfrm>
            <a:off x="533326" y="860844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7"/>
          <p:cNvSpPr/>
          <p:nvPr/>
        </p:nvSpPr>
        <p:spPr>
          <a:xfrm>
            <a:off x="780901" y="879886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7"/>
          <p:cNvSpPr/>
          <p:nvPr/>
        </p:nvSpPr>
        <p:spPr>
          <a:xfrm>
            <a:off x="780901" y="922749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7"/>
          <p:cNvSpPr/>
          <p:nvPr/>
        </p:nvSpPr>
        <p:spPr>
          <a:xfrm>
            <a:off x="1218902" y="9198918"/>
            <a:ext cx="734366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text features and search tools to find information.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7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7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RI.3.5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8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8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8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8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RI.3.6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8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8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8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their own point of view from that of the author of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8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8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8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8"/>
          <p:cNvSpPr/>
          <p:nvPr/>
        </p:nvSpPr>
        <p:spPr>
          <a:xfrm>
            <a:off x="999902" y="3755603"/>
            <a:ext cx="340674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author think?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8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8"/>
          <p:cNvSpPr/>
          <p:nvPr/>
        </p:nvSpPr>
        <p:spPr>
          <a:xfrm>
            <a:off x="999902" y="4204097"/>
            <a:ext cx="308284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my view different?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8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8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8"/>
          <p:cNvSpPr/>
          <p:nvPr/>
        </p:nvSpPr>
        <p:spPr>
          <a:xfrm>
            <a:off x="6424464" y="3755603"/>
            <a:ext cx="16468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8"/>
          <p:cNvSpPr/>
          <p:nvPr/>
        </p:nvSpPr>
        <p:spPr>
          <a:xfrm>
            <a:off x="6586389" y="3822278"/>
            <a:ext cx="13992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point of view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8"/>
          <p:cNvSpPr/>
          <p:nvPr/>
        </p:nvSpPr>
        <p:spPr>
          <a:xfrm>
            <a:off x="8157046" y="3755603"/>
            <a:ext cx="99878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8"/>
          <p:cNvSpPr/>
          <p:nvPr/>
        </p:nvSpPr>
        <p:spPr>
          <a:xfrm>
            <a:off x="8318971" y="3822278"/>
            <a:ext cx="7511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author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8"/>
          <p:cNvSpPr/>
          <p:nvPr/>
        </p:nvSpPr>
        <p:spPr>
          <a:xfrm>
            <a:off x="9241557" y="3755603"/>
            <a:ext cx="10251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8"/>
          <p:cNvSpPr/>
          <p:nvPr/>
        </p:nvSpPr>
        <p:spPr>
          <a:xfrm>
            <a:off x="9403482" y="3822278"/>
            <a:ext cx="7774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stance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8"/>
          <p:cNvSpPr/>
          <p:nvPr/>
        </p:nvSpPr>
        <p:spPr>
          <a:xfrm>
            <a:off x="6424464" y="4260131"/>
            <a:ext cx="1091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8"/>
          <p:cNvSpPr/>
          <p:nvPr/>
        </p:nvSpPr>
        <p:spPr>
          <a:xfrm>
            <a:off x="6586389" y="4326806"/>
            <a:ext cx="843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opinion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8"/>
          <p:cNvSpPr/>
          <p:nvPr/>
        </p:nvSpPr>
        <p:spPr>
          <a:xfrm>
            <a:off x="7601620" y="4260131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8"/>
          <p:cNvSpPr/>
          <p:nvPr/>
        </p:nvSpPr>
        <p:spPr>
          <a:xfrm>
            <a:off x="7763545" y="4326806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8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8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8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8"/>
          <p:cNvSpPr/>
          <p:nvPr/>
        </p:nvSpPr>
        <p:spPr>
          <a:xfrm>
            <a:off x="1247477" y="5707410"/>
            <a:ext cx="62526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own point of view from that of the author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8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8"/>
          <p:cNvSpPr/>
          <p:nvPr/>
        </p:nvSpPr>
        <p:spPr>
          <a:xfrm>
            <a:off x="1247477" y="6146304"/>
            <a:ext cx="451719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author’s stance on a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8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8"/>
          <p:cNvSpPr/>
          <p:nvPr/>
        </p:nvSpPr>
        <p:spPr>
          <a:xfrm>
            <a:off x="1247477" y="6585198"/>
            <a:ext cx="493563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Support the distinction with text evidence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8"/>
          <p:cNvSpPr/>
          <p:nvPr/>
        </p:nvSpPr>
        <p:spPr>
          <a:xfrm>
            <a:off x="533326" y="732881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8"/>
          <p:cNvSpPr/>
          <p:nvPr/>
        </p:nvSpPr>
        <p:spPr>
          <a:xfrm>
            <a:off x="533326" y="732881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8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8"/>
          <p:cNvSpPr/>
          <p:nvPr/>
        </p:nvSpPr>
        <p:spPr>
          <a:xfrm>
            <a:off x="895201" y="788111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assume anything printed is neutral fact and do not look for the author’s position.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8"/>
          <p:cNvSpPr/>
          <p:nvPr/>
        </p:nvSpPr>
        <p:spPr>
          <a:xfrm>
            <a:off x="533326" y="860844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8"/>
          <p:cNvSpPr/>
          <p:nvPr/>
        </p:nvSpPr>
        <p:spPr>
          <a:xfrm>
            <a:off x="780901" y="879886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8"/>
          <p:cNvSpPr/>
          <p:nvPr/>
        </p:nvSpPr>
        <p:spPr>
          <a:xfrm>
            <a:off x="780901" y="922749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8"/>
          <p:cNvSpPr/>
          <p:nvPr/>
        </p:nvSpPr>
        <p:spPr>
          <a:xfrm>
            <a:off x="1218902" y="9198918"/>
            <a:ext cx="707083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what the author thinks and how my view differs.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8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8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RI.3.6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9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9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9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9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RI.3.7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information gained from illustrations and the words in a text to demonstrate understanding of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9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9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visual show that the words do not?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9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9"/>
          <p:cNvSpPr/>
          <p:nvPr/>
        </p:nvSpPr>
        <p:spPr>
          <a:xfrm>
            <a:off x="999902" y="4898157"/>
            <a:ext cx="33912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they work together?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9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9"/>
          <p:cNvSpPr/>
          <p:nvPr/>
        </p:nvSpPr>
        <p:spPr>
          <a:xfrm>
            <a:off x="6424464" y="4115470"/>
            <a:ext cx="139548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9"/>
          <p:cNvSpPr/>
          <p:nvPr/>
        </p:nvSpPr>
        <p:spPr>
          <a:xfrm>
            <a:off x="6586389" y="4182145"/>
            <a:ext cx="114783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illustration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9"/>
          <p:cNvSpPr/>
          <p:nvPr/>
        </p:nvSpPr>
        <p:spPr>
          <a:xfrm>
            <a:off x="7905676" y="4115470"/>
            <a:ext cx="78692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9"/>
          <p:cNvSpPr/>
          <p:nvPr/>
        </p:nvSpPr>
        <p:spPr>
          <a:xfrm>
            <a:off x="8067601" y="4182145"/>
            <a:ext cx="53927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9"/>
          <p:cNvSpPr/>
          <p:nvPr/>
        </p:nvSpPr>
        <p:spPr>
          <a:xfrm>
            <a:off x="8778329" y="4115470"/>
            <a:ext cx="152831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9"/>
          <p:cNvSpPr/>
          <p:nvPr/>
        </p:nvSpPr>
        <p:spPr>
          <a:xfrm>
            <a:off x="8940254" y="4182145"/>
            <a:ext cx="128066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photograph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6424464" y="4619997"/>
            <a:ext cx="16468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9"/>
          <p:cNvSpPr/>
          <p:nvPr/>
        </p:nvSpPr>
        <p:spPr>
          <a:xfrm>
            <a:off x="6586389" y="4686672"/>
            <a:ext cx="13992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demonstrate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9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9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9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9"/>
          <p:cNvSpPr/>
          <p:nvPr/>
        </p:nvSpPr>
        <p:spPr>
          <a:xfrm>
            <a:off x="1247477" y="6260827"/>
            <a:ext cx="69789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information from illustrations, maps, and photographs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9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9"/>
          <p:cNvSpPr/>
          <p:nvPr/>
        </p:nvSpPr>
        <p:spPr>
          <a:xfrm>
            <a:off x="1247477" y="6699721"/>
            <a:ext cx="46932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Combine visual and textual information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9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9"/>
          <p:cNvSpPr/>
          <p:nvPr/>
        </p:nvSpPr>
        <p:spPr>
          <a:xfrm>
            <a:off x="1247477" y="7138615"/>
            <a:ext cx="642917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where, when, why, and how key events occur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9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9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9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9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treat diagrams as illustrations rather than as information sources requiring interpretation.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9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9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9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9"/>
          <p:cNvSpPr/>
          <p:nvPr/>
        </p:nvSpPr>
        <p:spPr>
          <a:xfrm>
            <a:off x="1218902" y="10098807"/>
            <a:ext cx="737558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pictures and words together to understand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9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RI.3.7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0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0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0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0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RI.3.8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0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0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the logical connection between particular sentences and paragraphs in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0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20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0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0"/>
          <p:cNvSpPr/>
          <p:nvPr/>
        </p:nvSpPr>
        <p:spPr>
          <a:xfrm>
            <a:off x="999902" y="3755603"/>
            <a:ext cx="35123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this text put together?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0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0"/>
          <p:cNvSpPr/>
          <p:nvPr/>
        </p:nvSpPr>
        <p:spPr>
          <a:xfrm>
            <a:off x="999902" y="4204097"/>
            <a:ext cx="51483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one paragraph lead to the next?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0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0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0"/>
          <p:cNvSpPr/>
          <p:nvPr/>
        </p:nvSpPr>
        <p:spPr>
          <a:xfrm>
            <a:off x="6424464" y="3755603"/>
            <a:ext cx="22161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0"/>
          <p:cNvSpPr/>
          <p:nvPr/>
        </p:nvSpPr>
        <p:spPr>
          <a:xfrm>
            <a:off x="6586389" y="3822278"/>
            <a:ext cx="19684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logical connection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0"/>
          <p:cNvSpPr/>
          <p:nvPr/>
        </p:nvSpPr>
        <p:spPr>
          <a:xfrm>
            <a:off x="8726314" y="3755603"/>
            <a:ext cx="155421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0"/>
          <p:cNvSpPr/>
          <p:nvPr/>
        </p:nvSpPr>
        <p:spPr>
          <a:xfrm>
            <a:off x="8888239" y="3822278"/>
            <a:ext cx="1306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0"/>
          <p:cNvSpPr/>
          <p:nvPr/>
        </p:nvSpPr>
        <p:spPr>
          <a:xfrm>
            <a:off x="10366251" y="3755603"/>
            <a:ext cx="95904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0"/>
          <p:cNvSpPr/>
          <p:nvPr/>
        </p:nvSpPr>
        <p:spPr>
          <a:xfrm>
            <a:off x="10528176" y="3822278"/>
            <a:ext cx="71139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0"/>
          <p:cNvSpPr/>
          <p:nvPr/>
        </p:nvSpPr>
        <p:spPr>
          <a:xfrm>
            <a:off x="6424464" y="4260131"/>
            <a:ext cx="90167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0"/>
          <p:cNvSpPr/>
          <p:nvPr/>
        </p:nvSpPr>
        <p:spPr>
          <a:xfrm>
            <a:off x="6586389" y="4326806"/>
            <a:ext cx="65402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effect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0"/>
          <p:cNvSpPr/>
          <p:nvPr/>
        </p:nvSpPr>
        <p:spPr>
          <a:xfrm>
            <a:off x="7411864" y="4260131"/>
            <a:ext cx="7072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0"/>
          <p:cNvSpPr/>
          <p:nvPr/>
        </p:nvSpPr>
        <p:spPr>
          <a:xfrm>
            <a:off x="7573789" y="4326806"/>
            <a:ext cx="4595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8204820" y="4260131"/>
            <a:ext cx="1091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0"/>
          <p:cNvSpPr/>
          <p:nvPr/>
        </p:nvSpPr>
        <p:spPr>
          <a:xfrm>
            <a:off x="8366745" y="4326806"/>
            <a:ext cx="843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second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0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0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0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0"/>
          <p:cNvSpPr/>
          <p:nvPr/>
        </p:nvSpPr>
        <p:spPr>
          <a:xfrm>
            <a:off x="1247477" y="5707410"/>
            <a:ext cx="78581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logical connections between sentences and paragraphs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0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0"/>
          <p:cNvSpPr/>
          <p:nvPr/>
        </p:nvSpPr>
        <p:spPr>
          <a:xfrm>
            <a:off x="1247477" y="6146304"/>
            <a:ext cx="76407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comparison, cause and effect, and sequence structures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0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0"/>
          <p:cNvSpPr/>
          <p:nvPr/>
        </p:nvSpPr>
        <p:spPr>
          <a:xfrm>
            <a:off x="1247477" y="6585198"/>
            <a:ext cx="39570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the author’s organization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0"/>
          <p:cNvSpPr/>
          <p:nvPr/>
        </p:nvSpPr>
        <p:spPr>
          <a:xfrm>
            <a:off x="533326" y="732881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0"/>
          <p:cNvSpPr/>
          <p:nvPr/>
        </p:nvSpPr>
        <p:spPr>
          <a:xfrm>
            <a:off x="533326" y="732881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0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0"/>
          <p:cNvSpPr/>
          <p:nvPr/>
        </p:nvSpPr>
        <p:spPr>
          <a:xfrm>
            <a:off x="895201" y="788111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see paragraphs as independent chunks rather than as parts of an argument.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0"/>
          <p:cNvSpPr/>
          <p:nvPr/>
        </p:nvSpPr>
        <p:spPr>
          <a:xfrm>
            <a:off x="533326" y="860844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0"/>
          <p:cNvSpPr/>
          <p:nvPr/>
        </p:nvSpPr>
        <p:spPr>
          <a:xfrm>
            <a:off x="780901" y="879886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0"/>
          <p:cNvSpPr/>
          <p:nvPr/>
        </p:nvSpPr>
        <p:spPr>
          <a:xfrm>
            <a:off x="780901" y="922749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0"/>
          <p:cNvSpPr/>
          <p:nvPr/>
        </p:nvSpPr>
        <p:spPr>
          <a:xfrm>
            <a:off x="1218902" y="9198918"/>
            <a:ext cx="559842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how the parts of a text connect.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0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RI.3.8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1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1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1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1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RI.3.9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the most important points and key details presented in two texts on the same topic.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1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1"/>
          <p:cNvSpPr/>
          <p:nvPr/>
        </p:nvSpPr>
        <p:spPr>
          <a:xfrm>
            <a:off x="999902" y="4115470"/>
            <a:ext cx="35734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both texts agree 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1"/>
          <p:cNvSpPr/>
          <p:nvPr/>
        </p:nvSpPr>
        <p:spPr>
          <a:xfrm>
            <a:off x="999902" y="4563963"/>
            <a:ext cx="259907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 they differ?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1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1"/>
          <p:cNvSpPr/>
          <p:nvPr/>
        </p:nvSpPr>
        <p:spPr>
          <a:xfrm>
            <a:off x="6424464" y="4115470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1"/>
          <p:cNvSpPr/>
          <p:nvPr/>
        </p:nvSpPr>
        <p:spPr>
          <a:xfrm>
            <a:off x="6586389" y="4182145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1"/>
          <p:cNvSpPr/>
          <p:nvPr/>
        </p:nvSpPr>
        <p:spPr>
          <a:xfrm>
            <a:off x="7760122" y="4115470"/>
            <a:ext cx="117045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1"/>
          <p:cNvSpPr/>
          <p:nvPr/>
        </p:nvSpPr>
        <p:spPr>
          <a:xfrm>
            <a:off x="7922047" y="4182145"/>
            <a:ext cx="922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contrast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1"/>
          <p:cNvSpPr/>
          <p:nvPr/>
        </p:nvSpPr>
        <p:spPr>
          <a:xfrm>
            <a:off x="9016305" y="4115470"/>
            <a:ext cx="132940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1"/>
          <p:cNvSpPr/>
          <p:nvPr/>
        </p:nvSpPr>
        <p:spPr>
          <a:xfrm>
            <a:off x="9178230" y="4182145"/>
            <a:ext cx="108175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key 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1"/>
          <p:cNvSpPr/>
          <p:nvPr/>
        </p:nvSpPr>
        <p:spPr>
          <a:xfrm>
            <a:off x="6424464" y="4619997"/>
            <a:ext cx="103829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1"/>
          <p:cNvSpPr/>
          <p:nvPr/>
        </p:nvSpPr>
        <p:spPr>
          <a:xfrm>
            <a:off x="6586389" y="4686672"/>
            <a:ext cx="7906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1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1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1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1"/>
          <p:cNvSpPr/>
          <p:nvPr/>
        </p:nvSpPr>
        <p:spPr>
          <a:xfrm>
            <a:off x="1247477" y="6067276"/>
            <a:ext cx="726655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the most important points in two texts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1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1"/>
          <p:cNvSpPr/>
          <p:nvPr/>
        </p:nvSpPr>
        <p:spPr>
          <a:xfrm>
            <a:off x="1247477" y="6506170"/>
            <a:ext cx="470824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key details on the same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1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1"/>
          <p:cNvSpPr/>
          <p:nvPr/>
        </p:nvSpPr>
        <p:spPr>
          <a:xfrm>
            <a:off x="1247477" y="6945064"/>
            <a:ext cx="32395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Synthesize across sources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1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1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1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1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summarize each text separately and never place them side by side.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1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1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1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1"/>
          <p:cNvSpPr/>
          <p:nvPr/>
        </p:nvSpPr>
        <p:spPr>
          <a:xfrm>
            <a:off x="1218902" y="9558784"/>
            <a:ext cx="537765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two texts on the same topic.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1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1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RI.3.9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2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2"/>
          <p:cNvSpPr/>
          <p:nvPr/>
        </p:nvSpPr>
        <p:spPr>
          <a:xfrm>
            <a:off x="533326" y="533326"/>
            <a:ext cx="103088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2"/>
          <p:cNvSpPr/>
          <p:nvPr/>
        </p:nvSpPr>
        <p:spPr>
          <a:xfrm>
            <a:off x="533326" y="847651"/>
            <a:ext cx="9652858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2"/>
          <p:cNvSpPr/>
          <p:nvPr/>
        </p:nvSpPr>
        <p:spPr>
          <a:xfrm>
            <a:off x="10190783" y="533326"/>
            <a:ext cx="1420267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2"/>
          <p:cNvSpPr/>
          <p:nvPr/>
        </p:nvSpPr>
        <p:spPr>
          <a:xfrm>
            <a:off x="10400333" y="647626"/>
            <a:ext cx="107736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RI.3.10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2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2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2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2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By the end of the year, read and comprehend informational texts at the high end of the grades 2-3 text complexity band independently and proficiently.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2"/>
          <p:cNvSpPr/>
          <p:nvPr/>
        </p:nvSpPr>
        <p:spPr>
          <a:xfrm>
            <a:off x="533326" y="4016350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2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2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2"/>
          <p:cNvSpPr/>
          <p:nvPr/>
        </p:nvSpPr>
        <p:spPr>
          <a:xfrm>
            <a:off x="999902" y="4635401"/>
            <a:ext cx="417929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handle dense nonfiction?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2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2"/>
          <p:cNvSpPr/>
          <p:nvPr/>
        </p:nvSpPr>
        <p:spPr>
          <a:xfrm>
            <a:off x="999902" y="5083894"/>
            <a:ext cx="38458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I do when it gets hard?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2"/>
          <p:cNvSpPr/>
          <p:nvPr/>
        </p:nvSpPr>
        <p:spPr>
          <a:xfrm>
            <a:off x="6167289" y="4016350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2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2"/>
          <p:cNvSpPr/>
          <p:nvPr/>
        </p:nvSpPr>
        <p:spPr>
          <a:xfrm>
            <a:off x="6424464" y="4635401"/>
            <a:ext cx="146156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2"/>
          <p:cNvSpPr/>
          <p:nvPr/>
        </p:nvSpPr>
        <p:spPr>
          <a:xfrm>
            <a:off x="6586389" y="4702076"/>
            <a:ext cx="12139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proficiently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2"/>
          <p:cNvSpPr/>
          <p:nvPr/>
        </p:nvSpPr>
        <p:spPr>
          <a:xfrm>
            <a:off x="7971755" y="4635401"/>
            <a:ext cx="180625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2"/>
          <p:cNvSpPr/>
          <p:nvPr/>
        </p:nvSpPr>
        <p:spPr>
          <a:xfrm>
            <a:off x="8133680" y="4702076"/>
            <a:ext cx="15586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independently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2"/>
          <p:cNvSpPr/>
          <p:nvPr/>
        </p:nvSpPr>
        <p:spPr>
          <a:xfrm>
            <a:off x="9863733" y="4635401"/>
            <a:ext cx="144817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2"/>
          <p:cNvSpPr/>
          <p:nvPr/>
        </p:nvSpPr>
        <p:spPr>
          <a:xfrm>
            <a:off x="10025658" y="4702076"/>
            <a:ext cx="120052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2"/>
          <p:cNvSpPr/>
          <p:nvPr/>
        </p:nvSpPr>
        <p:spPr>
          <a:xfrm>
            <a:off x="533326" y="5827514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2"/>
          <p:cNvSpPr/>
          <p:nvPr/>
        </p:nvSpPr>
        <p:spPr>
          <a:xfrm>
            <a:off x="809476" y="6046515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2"/>
          <p:cNvSpPr/>
          <p:nvPr/>
        </p:nvSpPr>
        <p:spPr>
          <a:xfrm>
            <a:off x="809476" y="647514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2"/>
          <p:cNvSpPr/>
          <p:nvPr/>
        </p:nvSpPr>
        <p:spPr>
          <a:xfrm>
            <a:off x="1247477" y="6446565"/>
            <a:ext cx="847916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and comprehend informational text at the high end of grades 2-3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2"/>
          <p:cNvSpPr/>
          <p:nvPr/>
        </p:nvSpPr>
        <p:spPr>
          <a:xfrm>
            <a:off x="809476" y="69140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2"/>
          <p:cNvSpPr/>
          <p:nvPr/>
        </p:nvSpPr>
        <p:spPr>
          <a:xfrm>
            <a:off x="1247477" y="6885459"/>
            <a:ext cx="43305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independently and proficiently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2"/>
          <p:cNvSpPr/>
          <p:nvPr/>
        </p:nvSpPr>
        <p:spPr>
          <a:xfrm>
            <a:off x="809476" y="7352928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2"/>
          <p:cNvSpPr/>
          <p:nvPr/>
        </p:nvSpPr>
        <p:spPr>
          <a:xfrm>
            <a:off x="1247477" y="7324353"/>
            <a:ext cx="26796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fix-up strategies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2"/>
          <p:cNvSpPr/>
          <p:nvPr/>
        </p:nvSpPr>
        <p:spPr>
          <a:xfrm>
            <a:off x="533326" y="8067973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2"/>
          <p:cNvSpPr/>
          <p:nvPr/>
        </p:nvSpPr>
        <p:spPr>
          <a:xfrm>
            <a:off x="533326" y="8067973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2"/>
          <p:cNvSpPr/>
          <p:nvPr/>
        </p:nvSpPr>
        <p:spPr>
          <a:xfrm>
            <a:off x="895201" y="8258398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2"/>
          <p:cNvSpPr/>
          <p:nvPr/>
        </p:nvSpPr>
        <p:spPr>
          <a:xfrm>
            <a:off x="895201" y="8620274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avoid nonfiction in independent reading, so stamina never develops in this genre.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2"/>
          <p:cNvSpPr/>
          <p:nvPr/>
        </p:nvSpPr>
        <p:spPr>
          <a:xfrm>
            <a:off x="533326" y="9347597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2"/>
          <p:cNvSpPr/>
          <p:nvPr/>
        </p:nvSpPr>
        <p:spPr>
          <a:xfrm>
            <a:off x="780901" y="9538022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2"/>
          <p:cNvSpPr/>
          <p:nvPr/>
        </p:nvSpPr>
        <p:spPr>
          <a:xfrm>
            <a:off x="780901" y="9966647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2"/>
          <p:cNvSpPr/>
          <p:nvPr/>
        </p:nvSpPr>
        <p:spPr>
          <a:xfrm>
            <a:off x="1218902" y="9938072"/>
            <a:ext cx="759586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and understand grade-level nonfiction on my own.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2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2"/>
          <p:cNvSpPr/>
          <p:nvPr/>
        </p:nvSpPr>
        <p:spPr>
          <a:xfrm>
            <a:off x="10843543" y="14897174"/>
            <a:ext cx="8437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RI.3.10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3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3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3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3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RF.3.3.A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3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3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3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and know the meaning of the most common prefixes and derivational suffixes.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3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3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3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3"/>
          <p:cNvSpPr/>
          <p:nvPr/>
        </p:nvSpPr>
        <p:spPr>
          <a:xfrm>
            <a:off x="999902" y="3755603"/>
            <a:ext cx="392095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this word part mean?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3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3"/>
          <p:cNvSpPr/>
          <p:nvPr/>
        </p:nvSpPr>
        <p:spPr>
          <a:xfrm>
            <a:off x="999902" y="4204097"/>
            <a:ext cx="43303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it change the base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3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23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3"/>
          <p:cNvSpPr/>
          <p:nvPr/>
        </p:nvSpPr>
        <p:spPr>
          <a:xfrm>
            <a:off x="6424464" y="3755603"/>
            <a:ext cx="90591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23"/>
          <p:cNvSpPr/>
          <p:nvPr/>
        </p:nvSpPr>
        <p:spPr>
          <a:xfrm>
            <a:off x="6586389" y="3822278"/>
            <a:ext cx="65826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prefix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3"/>
          <p:cNvSpPr/>
          <p:nvPr/>
        </p:nvSpPr>
        <p:spPr>
          <a:xfrm>
            <a:off x="7416105" y="3755603"/>
            <a:ext cx="87510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3"/>
          <p:cNvSpPr/>
          <p:nvPr/>
        </p:nvSpPr>
        <p:spPr>
          <a:xfrm>
            <a:off x="7578030" y="3822278"/>
            <a:ext cx="62745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suffix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3"/>
          <p:cNvSpPr/>
          <p:nvPr/>
        </p:nvSpPr>
        <p:spPr>
          <a:xfrm>
            <a:off x="8376940" y="3755603"/>
            <a:ext cx="154126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23"/>
          <p:cNvSpPr/>
          <p:nvPr/>
        </p:nvSpPr>
        <p:spPr>
          <a:xfrm>
            <a:off x="8538865" y="3822278"/>
            <a:ext cx="129361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derivational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3"/>
          <p:cNvSpPr/>
          <p:nvPr/>
        </p:nvSpPr>
        <p:spPr>
          <a:xfrm>
            <a:off x="6424464" y="4260131"/>
            <a:ext cx="142205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3"/>
          <p:cNvSpPr/>
          <p:nvPr/>
        </p:nvSpPr>
        <p:spPr>
          <a:xfrm>
            <a:off x="6586389" y="4326806"/>
            <a:ext cx="11744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base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3"/>
          <p:cNvSpPr/>
          <p:nvPr/>
        </p:nvSpPr>
        <p:spPr>
          <a:xfrm>
            <a:off x="7932241" y="4260131"/>
            <a:ext cx="75612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3"/>
          <p:cNvSpPr/>
          <p:nvPr/>
        </p:nvSpPr>
        <p:spPr>
          <a:xfrm>
            <a:off x="8094166" y="4326806"/>
            <a:ext cx="5084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affix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3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3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3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3"/>
          <p:cNvSpPr/>
          <p:nvPr/>
        </p:nvSpPr>
        <p:spPr>
          <a:xfrm>
            <a:off x="1247477" y="5707410"/>
            <a:ext cx="726704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and know the meaning of the most common prefixes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3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3"/>
          <p:cNvSpPr/>
          <p:nvPr/>
        </p:nvSpPr>
        <p:spPr>
          <a:xfrm>
            <a:off x="1247477" y="6146304"/>
            <a:ext cx="33409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derivational suffixes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3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3"/>
          <p:cNvSpPr/>
          <p:nvPr/>
        </p:nvSpPr>
        <p:spPr>
          <a:xfrm>
            <a:off x="1247477" y="6585198"/>
            <a:ext cx="479517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affix meaning to decode and define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3"/>
          <p:cNvSpPr/>
          <p:nvPr/>
        </p:nvSpPr>
        <p:spPr>
          <a:xfrm>
            <a:off x="533326" y="732881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3"/>
          <p:cNvSpPr/>
          <p:nvPr/>
        </p:nvSpPr>
        <p:spPr>
          <a:xfrm>
            <a:off x="533326" y="732881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23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3"/>
          <p:cNvSpPr/>
          <p:nvPr/>
        </p:nvSpPr>
        <p:spPr>
          <a:xfrm>
            <a:off x="895201" y="788111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strip letters that resemble prefixes from words that have none, as in "return" versus "reason".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3"/>
          <p:cNvSpPr/>
          <p:nvPr/>
        </p:nvSpPr>
        <p:spPr>
          <a:xfrm>
            <a:off x="533326" y="895491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3"/>
          <p:cNvSpPr/>
          <p:nvPr/>
        </p:nvSpPr>
        <p:spPr>
          <a:xfrm>
            <a:off x="780901" y="9145339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3"/>
          <p:cNvSpPr/>
          <p:nvPr/>
        </p:nvSpPr>
        <p:spPr>
          <a:xfrm>
            <a:off x="780901" y="957396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3"/>
          <p:cNvSpPr/>
          <p:nvPr/>
        </p:nvSpPr>
        <p:spPr>
          <a:xfrm>
            <a:off x="1218902" y="9545389"/>
            <a:ext cx="757449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a prefix or suffix and use it to understand the word.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3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3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RF.3.3.A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2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4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4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4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4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RF.3.3.B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4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4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4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Decode words with common Latin suffixes.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4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4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4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4"/>
          <p:cNvSpPr/>
          <p:nvPr/>
        </p:nvSpPr>
        <p:spPr>
          <a:xfrm>
            <a:off x="999902" y="3755603"/>
            <a:ext cx="45068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Latin suffixes change words?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4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24"/>
          <p:cNvSpPr/>
          <p:nvPr/>
        </p:nvSpPr>
        <p:spPr>
          <a:xfrm>
            <a:off x="999902" y="4204097"/>
            <a:ext cx="42087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part of speech does it make?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4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24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4"/>
          <p:cNvSpPr/>
          <p:nvPr/>
        </p:nvSpPr>
        <p:spPr>
          <a:xfrm>
            <a:off x="6424464" y="3755603"/>
            <a:ext cx="14573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4"/>
          <p:cNvSpPr/>
          <p:nvPr/>
        </p:nvSpPr>
        <p:spPr>
          <a:xfrm>
            <a:off x="6586389" y="3822278"/>
            <a:ext cx="12096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Latin suffix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4"/>
          <p:cNvSpPr/>
          <p:nvPr/>
        </p:nvSpPr>
        <p:spPr>
          <a:xfrm>
            <a:off x="7967514" y="3755603"/>
            <a:ext cx="110482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4"/>
          <p:cNvSpPr/>
          <p:nvPr/>
        </p:nvSpPr>
        <p:spPr>
          <a:xfrm>
            <a:off x="8129439" y="3822278"/>
            <a:ext cx="85717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decode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4"/>
          <p:cNvSpPr/>
          <p:nvPr/>
        </p:nvSpPr>
        <p:spPr>
          <a:xfrm>
            <a:off x="9158064" y="3755603"/>
            <a:ext cx="183237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4"/>
          <p:cNvSpPr/>
          <p:nvPr/>
        </p:nvSpPr>
        <p:spPr>
          <a:xfrm>
            <a:off x="9319989" y="3822278"/>
            <a:ext cx="158472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part of speech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4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4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4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24"/>
          <p:cNvSpPr/>
          <p:nvPr/>
        </p:nvSpPr>
        <p:spPr>
          <a:xfrm>
            <a:off x="1247477" y="5566767"/>
            <a:ext cx="508150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Decode words with common Latin suffixes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4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4"/>
          <p:cNvSpPr/>
          <p:nvPr/>
        </p:nvSpPr>
        <p:spPr>
          <a:xfrm>
            <a:off x="1247477" y="6005661"/>
            <a:ext cx="49046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-tion, -sion, -able, -ible, -ment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4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4"/>
          <p:cNvSpPr/>
          <p:nvPr/>
        </p:nvSpPr>
        <p:spPr>
          <a:xfrm>
            <a:off x="1247477" y="6444555"/>
            <a:ext cx="59304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Connect the suffix to meaning and part of speech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4"/>
          <p:cNvSpPr/>
          <p:nvPr/>
        </p:nvSpPr>
        <p:spPr>
          <a:xfrm>
            <a:off x="533326" y="718817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4"/>
          <p:cNvSpPr/>
          <p:nvPr/>
        </p:nvSpPr>
        <p:spPr>
          <a:xfrm>
            <a:off x="533326" y="718817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4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4"/>
          <p:cNvSpPr/>
          <p:nvPr/>
        </p:nvSpPr>
        <p:spPr>
          <a:xfrm>
            <a:off x="895201" y="774047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try to sound out -tion letter by letter instead of recognizing it as a unit that says "shun".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4"/>
          <p:cNvSpPr/>
          <p:nvPr/>
        </p:nvSpPr>
        <p:spPr>
          <a:xfrm>
            <a:off x="533326" y="846779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4"/>
          <p:cNvSpPr/>
          <p:nvPr/>
        </p:nvSpPr>
        <p:spPr>
          <a:xfrm>
            <a:off x="780901" y="865822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4"/>
          <p:cNvSpPr/>
          <p:nvPr/>
        </p:nvSpPr>
        <p:spPr>
          <a:xfrm>
            <a:off x="780901" y="908685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4"/>
          <p:cNvSpPr/>
          <p:nvPr/>
        </p:nvSpPr>
        <p:spPr>
          <a:xfrm>
            <a:off x="1218902" y="9058275"/>
            <a:ext cx="447618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words with Latin suffixes.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4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4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RF.3.3.B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2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5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5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5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5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RF.3.3.C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5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5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5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Decode multisyllable words.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5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5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5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5"/>
          <p:cNvSpPr/>
          <p:nvPr/>
        </p:nvSpPr>
        <p:spPr>
          <a:xfrm>
            <a:off x="999902" y="3755603"/>
            <a:ext cx="35125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attack a long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5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5"/>
          <p:cNvSpPr/>
          <p:nvPr/>
        </p:nvSpPr>
        <p:spPr>
          <a:xfrm>
            <a:off x="999902" y="4204097"/>
            <a:ext cx="248292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 I divide it?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5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5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5"/>
          <p:cNvSpPr/>
          <p:nvPr/>
        </p:nvSpPr>
        <p:spPr>
          <a:xfrm>
            <a:off x="6424464" y="3755603"/>
            <a:ext cx="162029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5"/>
          <p:cNvSpPr/>
          <p:nvPr/>
        </p:nvSpPr>
        <p:spPr>
          <a:xfrm>
            <a:off x="6586389" y="3822278"/>
            <a:ext cx="137264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multisyllable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5"/>
          <p:cNvSpPr/>
          <p:nvPr/>
        </p:nvSpPr>
        <p:spPr>
          <a:xfrm>
            <a:off x="8130480" y="3755603"/>
            <a:ext cx="197747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5"/>
          <p:cNvSpPr/>
          <p:nvPr/>
        </p:nvSpPr>
        <p:spPr>
          <a:xfrm>
            <a:off x="8292405" y="3822278"/>
            <a:ext cx="17298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syllable division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5"/>
          <p:cNvSpPr/>
          <p:nvPr/>
        </p:nvSpPr>
        <p:spPr>
          <a:xfrm>
            <a:off x="10193685" y="3755603"/>
            <a:ext cx="95904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5"/>
          <p:cNvSpPr/>
          <p:nvPr/>
        </p:nvSpPr>
        <p:spPr>
          <a:xfrm>
            <a:off x="10355610" y="3822278"/>
            <a:ext cx="71139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chunk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5"/>
          <p:cNvSpPr/>
          <p:nvPr/>
        </p:nvSpPr>
        <p:spPr>
          <a:xfrm>
            <a:off x="6424464" y="4260131"/>
            <a:ext cx="90614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5"/>
          <p:cNvSpPr/>
          <p:nvPr/>
        </p:nvSpPr>
        <p:spPr>
          <a:xfrm>
            <a:off x="6586389" y="4326806"/>
            <a:ext cx="6584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blend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5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5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5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5"/>
          <p:cNvSpPr/>
          <p:nvPr/>
        </p:nvSpPr>
        <p:spPr>
          <a:xfrm>
            <a:off x="1247477" y="5707410"/>
            <a:ext cx="330016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Decode multisyllable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5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5"/>
          <p:cNvSpPr/>
          <p:nvPr/>
        </p:nvSpPr>
        <p:spPr>
          <a:xfrm>
            <a:off x="1247477" y="6146304"/>
            <a:ext cx="37092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syllable division patterns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5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5"/>
          <p:cNvSpPr/>
          <p:nvPr/>
        </p:nvSpPr>
        <p:spPr>
          <a:xfrm>
            <a:off x="1247477" y="6585198"/>
            <a:ext cx="275550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Blend syllables fluently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5"/>
          <p:cNvSpPr/>
          <p:nvPr/>
        </p:nvSpPr>
        <p:spPr>
          <a:xfrm>
            <a:off x="533326" y="732881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5"/>
          <p:cNvSpPr/>
          <p:nvPr/>
        </p:nvSpPr>
        <p:spPr>
          <a:xfrm>
            <a:off x="533326" y="732881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5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5"/>
          <p:cNvSpPr/>
          <p:nvPr/>
        </p:nvSpPr>
        <p:spPr>
          <a:xfrm>
            <a:off x="895201" y="788111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guess a long word from the first syllable rather than decoding all the way through.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5"/>
          <p:cNvSpPr/>
          <p:nvPr/>
        </p:nvSpPr>
        <p:spPr>
          <a:xfrm>
            <a:off x="533326" y="860844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5"/>
          <p:cNvSpPr/>
          <p:nvPr/>
        </p:nvSpPr>
        <p:spPr>
          <a:xfrm>
            <a:off x="780901" y="879886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5"/>
          <p:cNvSpPr/>
          <p:nvPr/>
        </p:nvSpPr>
        <p:spPr>
          <a:xfrm>
            <a:off x="780901" y="922749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5"/>
          <p:cNvSpPr/>
          <p:nvPr/>
        </p:nvSpPr>
        <p:spPr>
          <a:xfrm>
            <a:off x="1218902" y="9198918"/>
            <a:ext cx="484379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break apart and read long words.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5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5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RF.3.3.C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2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6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6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6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26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RF.3.3.D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6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6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26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grade-appropriate irregularly spelled words.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26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6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6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6"/>
          <p:cNvSpPr/>
          <p:nvPr/>
        </p:nvSpPr>
        <p:spPr>
          <a:xfrm>
            <a:off x="999902" y="3755603"/>
            <a:ext cx="443566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words do not follow the rules?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6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26"/>
          <p:cNvSpPr/>
          <p:nvPr/>
        </p:nvSpPr>
        <p:spPr>
          <a:xfrm>
            <a:off x="999902" y="4204097"/>
            <a:ext cx="32242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remember them?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6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6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6"/>
          <p:cNvSpPr/>
          <p:nvPr/>
        </p:nvSpPr>
        <p:spPr>
          <a:xfrm>
            <a:off x="6424464" y="3755603"/>
            <a:ext cx="119680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6"/>
          <p:cNvSpPr/>
          <p:nvPr/>
        </p:nvSpPr>
        <p:spPr>
          <a:xfrm>
            <a:off x="6586389" y="3822278"/>
            <a:ext cx="94915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irregular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6"/>
          <p:cNvSpPr/>
          <p:nvPr/>
        </p:nvSpPr>
        <p:spPr>
          <a:xfrm>
            <a:off x="7706990" y="3755603"/>
            <a:ext cx="13557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26"/>
          <p:cNvSpPr/>
          <p:nvPr/>
        </p:nvSpPr>
        <p:spPr>
          <a:xfrm>
            <a:off x="7868915" y="3822278"/>
            <a:ext cx="11081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automatic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6"/>
          <p:cNvSpPr/>
          <p:nvPr/>
        </p:nvSpPr>
        <p:spPr>
          <a:xfrm>
            <a:off x="9148465" y="3755603"/>
            <a:ext cx="189845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6"/>
          <p:cNvSpPr/>
          <p:nvPr/>
        </p:nvSpPr>
        <p:spPr>
          <a:xfrm>
            <a:off x="9310390" y="3822278"/>
            <a:ext cx="165080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high-frequency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6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6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6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6"/>
          <p:cNvSpPr/>
          <p:nvPr/>
        </p:nvSpPr>
        <p:spPr>
          <a:xfrm>
            <a:off x="1247477" y="5566767"/>
            <a:ext cx="59043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grade-appropriate irregularly spelled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6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6"/>
          <p:cNvSpPr/>
          <p:nvPr/>
        </p:nvSpPr>
        <p:spPr>
          <a:xfrm>
            <a:off x="1247477" y="6005661"/>
            <a:ext cx="21347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Build automaticity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6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6"/>
          <p:cNvSpPr/>
          <p:nvPr/>
        </p:nvSpPr>
        <p:spPr>
          <a:xfrm>
            <a:off x="1247477" y="6444555"/>
            <a:ext cx="38605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the irregular element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6"/>
          <p:cNvSpPr/>
          <p:nvPr/>
        </p:nvSpPr>
        <p:spPr>
          <a:xfrm>
            <a:off x="533326" y="718817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6"/>
          <p:cNvSpPr/>
          <p:nvPr/>
        </p:nvSpPr>
        <p:spPr>
          <a:xfrm>
            <a:off x="533326" y="718817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6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26"/>
          <p:cNvSpPr/>
          <p:nvPr/>
        </p:nvSpPr>
        <p:spPr>
          <a:xfrm>
            <a:off x="895201" y="774047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over-apply phonics and produce nonwords for irregular spellings like "island" or "answer".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6"/>
          <p:cNvSpPr/>
          <p:nvPr/>
        </p:nvSpPr>
        <p:spPr>
          <a:xfrm>
            <a:off x="533326" y="881427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6"/>
          <p:cNvSpPr/>
          <p:nvPr/>
        </p:nvSpPr>
        <p:spPr>
          <a:xfrm>
            <a:off x="780901" y="900469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6"/>
          <p:cNvSpPr/>
          <p:nvPr/>
        </p:nvSpPr>
        <p:spPr>
          <a:xfrm>
            <a:off x="780901" y="943332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26"/>
          <p:cNvSpPr/>
          <p:nvPr/>
        </p:nvSpPr>
        <p:spPr>
          <a:xfrm>
            <a:off x="1218902" y="9404747"/>
            <a:ext cx="420851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irregular words quickly.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26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6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RF.3.3.D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7"/>
          <p:cNvSpPr/>
          <p:nvPr/>
        </p:nvSpPr>
        <p:spPr>
          <a:xfrm>
            <a:off x="533326" y="533326"/>
            <a:ext cx="8292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27"/>
          <p:cNvSpPr/>
          <p:nvPr/>
        </p:nvSpPr>
        <p:spPr>
          <a:xfrm>
            <a:off x="533326" y="847651"/>
            <a:ext cx="829277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27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27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RF.3.4.A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27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27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7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grade-level text with purpose and understanding.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27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27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27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27"/>
          <p:cNvSpPr/>
          <p:nvPr/>
        </p:nvSpPr>
        <p:spPr>
          <a:xfrm>
            <a:off x="999902" y="3755603"/>
            <a:ext cx="27704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am I reading for?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7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7"/>
          <p:cNvSpPr/>
          <p:nvPr/>
        </p:nvSpPr>
        <p:spPr>
          <a:xfrm>
            <a:off x="999902" y="4204097"/>
            <a:ext cx="310346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Did I get what I came for?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7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7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7"/>
          <p:cNvSpPr/>
          <p:nvPr/>
        </p:nvSpPr>
        <p:spPr>
          <a:xfrm>
            <a:off x="6424464" y="3755603"/>
            <a:ext cx="118407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27"/>
          <p:cNvSpPr/>
          <p:nvPr/>
        </p:nvSpPr>
        <p:spPr>
          <a:xfrm>
            <a:off x="6586389" y="3822278"/>
            <a:ext cx="9364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27"/>
          <p:cNvSpPr/>
          <p:nvPr/>
        </p:nvSpPr>
        <p:spPr>
          <a:xfrm>
            <a:off x="7694265" y="3755603"/>
            <a:ext cx="195136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7"/>
          <p:cNvSpPr/>
          <p:nvPr/>
        </p:nvSpPr>
        <p:spPr>
          <a:xfrm>
            <a:off x="7856190" y="3822278"/>
            <a:ext cx="17037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comprehension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7"/>
          <p:cNvSpPr/>
          <p:nvPr/>
        </p:nvSpPr>
        <p:spPr>
          <a:xfrm>
            <a:off x="9731350" y="3755603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27"/>
          <p:cNvSpPr/>
          <p:nvPr/>
        </p:nvSpPr>
        <p:spPr>
          <a:xfrm>
            <a:off x="9893275" y="3822278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7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7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7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27"/>
          <p:cNvSpPr/>
          <p:nvPr/>
        </p:nvSpPr>
        <p:spPr>
          <a:xfrm>
            <a:off x="1247477" y="5566767"/>
            <a:ext cx="65411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grade-level text with purpose and understanding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27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27"/>
          <p:cNvSpPr/>
          <p:nvPr/>
        </p:nvSpPr>
        <p:spPr>
          <a:xfrm>
            <a:off x="1247477" y="6005661"/>
            <a:ext cx="30131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Set and revisit a purpose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7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7"/>
          <p:cNvSpPr/>
          <p:nvPr/>
        </p:nvSpPr>
        <p:spPr>
          <a:xfrm>
            <a:off x="1247477" y="6444555"/>
            <a:ext cx="28461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Monitor comprehension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27"/>
          <p:cNvSpPr/>
          <p:nvPr/>
        </p:nvSpPr>
        <p:spPr>
          <a:xfrm>
            <a:off x="533326" y="718817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27"/>
          <p:cNvSpPr/>
          <p:nvPr/>
        </p:nvSpPr>
        <p:spPr>
          <a:xfrm>
            <a:off x="533326" y="718817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7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7"/>
          <p:cNvSpPr/>
          <p:nvPr/>
        </p:nvSpPr>
        <p:spPr>
          <a:xfrm>
            <a:off x="895201" y="774047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every text the same way regardless of purpose, whether skimming for a fact or reading closely.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7"/>
          <p:cNvSpPr/>
          <p:nvPr/>
        </p:nvSpPr>
        <p:spPr>
          <a:xfrm>
            <a:off x="533326" y="881427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7"/>
          <p:cNvSpPr/>
          <p:nvPr/>
        </p:nvSpPr>
        <p:spPr>
          <a:xfrm>
            <a:off x="780901" y="900469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27"/>
          <p:cNvSpPr/>
          <p:nvPr/>
        </p:nvSpPr>
        <p:spPr>
          <a:xfrm>
            <a:off x="780901" y="943332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7"/>
          <p:cNvSpPr/>
          <p:nvPr/>
        </p:nvSpPr>
        <p:spPr>
          <a:xfrm>
            <a:off x="1218902" y="9404747"/>
            <a:ext cx="424584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with a purpose in mind.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2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27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7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RF.3.4.A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2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28"/>
          <p:cNvSpPr/>
          <p:nvPr/>
        </p:nvSpPr>
        <p:spPr>
          <a:xfrm>
            <a:off x="533326" y="533326"/>
            <a:ext cx="8292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28"/>
          <p:cNvSpPr/>
          <p:nvPr/>
        </p:nvSpPr>
        <p:spPr>
          <a:xfrm>
            <a:off x="533326" y="847651"/>
            <a:ext cx="829277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28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28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RF.3.4.B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2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2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2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2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grade-level prose and poetry orally with accuracy, appropriate rate, and expression on successive readings.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8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28"/>
          <p:cNvSpPr/>
          <p:nvPr/>
        </p:nvSpPr>
        <p:spPr>
          <a:xfrm>
            <a:off x="999902" y="4115470"/>
            <a:ext cx="44818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fluent reading sound like?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2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8"/>
          <p:cNvSpPr/>
          <p:nvPr/>
        </p:nvSpPr>
        <p:spPr>
          <a:xfrm>
            <a:off x="999902" y="4563963"/>
            <a:ext cx="458742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expression show meaning?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28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28"/>
          <p:cNvSpPr/>
          <p:nvPr/>
        </p:nvSpPr>
        <p:spPr>
          <a:xfrm>
            <a:off x="6424464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8"/>
          <p:cNvSpPr/>
          <p:nvPr/>
        </p:nvSpPr>
        <p:spPr>
          <a:xfrm>
            <a:off x="6586389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28"/>
          <p:cNvSpPr/>
          <p:nvPr/>
        </p:nvSpPr>
        <p:spPr>
          <a:xfrm>
            <a:off x="7588225" y="4115470"/>
            <a:ext cx="91931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8"/>
          <p:cNvSpPr/>
          <p:nvPr/>
        </p:nvSpPr>
        <p:spPr>
          <a:xfrm>
            <a:off x="7750150" y="4182145"/>
            <a:ext cx="6716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8"/>
          <p:cNvSpPr/>
          <p:nvPr/>
        </p:nvSpPr>
        <p:spPr>
          <a:xfrm>
            <a:off x="8593262" y="4115470"/>
            <a:ext cx="98539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28"/>
          <p:cNvSpPr/>
          <p:nvPr/>
        </p:nvSpPr>
        <p:spPr>
          <a:xfrm>
            <a:off x="8755187" y="4182145"/>
            <a:ext cx="73774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poetry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28"/>
          <p:cNvSpPr/>
          <p:nvPr/>
        </p:nvSpPr>
        <p:spPr>
          <a:xfrm>
            <a:off x="9664378" y="4115470"/>
            <a:ext cx="147496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8"/>
          <p:cNvSpPr/>
          <p:nvPr/>
        </p:nvSpPr>
        <p:spPr>
          <a:xfrm>
            <a:off x="9826303" y="4182145"/>
            <a:ext cx="12273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28"/>
          <p:cNvSpPr/>
          <p:nvPr/>
        </p:nvSpPr>
        <p:spPr>
          <a:xfrm>
            <a:off x="6424464" y="4619997"/>
            <a:ext cx="123698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8"/>
          <p:cNvSpPr/>
          <p:nvPr/>
        </p:nvSpPr>
        <p:spPr>
          <a:xfrm>
            <a:off x="6586389" y="4686672"/>
            <a:ext cx="98933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phrasing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28"/>
          <p:cNvSpPr/>
          <p:nvPr/>
        </p:nvSpPr>
        <p:spPr>
          <a:xfrm>
            <a:off x="7747174" y="4619997"/>
            <a:ext cx="73402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28"/>
          <p:cNvSpPr/>
          <p:nvPr/>
        </p:nvSpPr>
        <p:spPr>
          <a:xfrm>
            <a:off x="7909099" y="4686672"/>
            <a:ext cx="4863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28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8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28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28"/>
          <p:cNvSpPr/>
          <p:nvPr/>
        </p:nvSpPr>
        <p:spPr>
          <a:xfrm>
            <a:off x="1247477" y="6067276"/>
            <a:ext cx="782202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prose and poetry orally with accuracy, rate, and expression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28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28"/>
          <p:cNvSpPr/>
          <p:nvPr/>
        </p:nvSpPr>
        <p:spPr>
          <a:xfrm>
            <a:off x="1247477" y="6506170"/>
            <a:ext cx="43899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Improve across successive readings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28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8"/>
          <p:cNvSpPr/>
          <p:nvPr/>
        </p:nvSpPr>
        <p:spPr>
          <a:xfrm>
            <a:off x="1247477" y="6945064"/>
            <a:ext cx="41338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punctuation to guide phrasing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8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28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28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8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Speed is mistaken for fluency. Accuracy and prosody carry equal weight.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28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28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28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8"/>
          <p:cNvSpPr/>
          <p:nvPr/>
        </p:nvSpPr>
        <p:spPr>
          <a:xfrm>
            <a:off x="1218902" y="9558784"/>
            <a:ext cx="738025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aloud smoothly, accurately, and with expression.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2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28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8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RF.3.4.B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2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9"/>
          <p:cNvSpPr/>
          <p:nvPr/>
        </p:nvSpPr>
        <p:spPr>
          <a:xfrm>
            <a:off x="533326" y="533326"/>
            <a:ext cx="8292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29"/>
          <p:cNvSpPr/>
          <p:nvPr/>
        </p:nvSpPr>
        <p:spPr>
          <a:xfrm>
            <a:off x="533326" y="847651"/>
            <a:ext cx="829277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29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29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RF.3.4.C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2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2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2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to confirm or self-correct word recognition and understanding, rereading as necessary.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9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2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2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29"/>
          <p:cNvSpPr/>
          <p:nvPr/>
        </p:nvSpPr>
        <p:spPr>
          <a:xfrm>
            <a:off x="999902" y="4115470"/>
            <a:ext cx="473869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something went wrong?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29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29"/>
          <p:cNvSpPr/>
          <p:nvPr/>
        </p:nvSpPr>
        <p:spPr>
          <a:xfrm>
            <a:off x="999902" y="4563963"/>
            <a:ext cx="26648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I do about it?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29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2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29"/>
          <p:cNvSpPr/>
          <p:nvPr/>
        </p:nvSpPr>
        <p:spPr>
          <a:xfrm>
            <a:off x="6424464" y="4115470"/>
            <a:ext cx="15008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29"/>
          <p:cNvSpPr/>
          <p:nvPr/>
        </p:nvSpPr>
        <p:spPr>
          <a:xfrm>
            <a:off x="6586389" y="4182145"/>
            <a:ext cx="12532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self-correct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29"/>
          <p:cNvSpPr/>
          <p:nvPr/>
        </p:nvSpPr>
        <p:spPr>
          <a:xfrm>
            <a:off x="8011046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29"/>
          <p:cNvSpPr/>
          <p:nvPr/>
        </p:nvSpPr>
        <p:spPr>
          <a:xfrm>
            <a:off x="8172971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29"/>
          <p:cNvSpPr/>
          <p:nvPr/>
        </p:nvSpPr>
        <p:spPr>
          <a:xfrm>
            <a:off x="9187979" y="4115470"/>
            <a:ext cx="10119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29"/>
          <p:cNvSpPr/>
          <p:nvPr/>
        </p:nvSpPr>
        <p:spPr>
          <a:xfrm>
            <a:off x="9349904" y="4182145"/>
            <a:ext cx="7643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reread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9"/>
          <p:cNvSpPr/>
          <p:nvPr/>
        </p:nvSpPr>
        <p:spPr>
          <a:xfrm>
            <a:off x="6424464" y="4619997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9"/>
          <p:cNvSpPr/>
          <p:nvPr/>
        </p:nvSpPr>
        <p:spPr>
          <a:xfrm>
            <a:off x="6586389" y="4686672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29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29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29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29"/>
          <p:cNvSpPr/>
          <p:nvPr/>
        </p:nvSpPr>
        <p:spPr>
          <a:xfrm>
            <a:off x="1247477" y="6067276"/>
            <a:ext cx="44501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to confirm or self-correct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9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29"/>
          <p:cNvSpPr/>
          <p:nvPr/>
        </p:nvSpPr>
        <p:spPr>
          <a:xfrm>
            <a:off x="1247477" y="6506170"/>
            <a:ext cx="25737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Reread as necessary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29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29"/>
          <p:cNvSpPr/>
          <p:nvPr/>
        </p:nvSpPr>
        <p:spPr>
          <a:xfrm>
            <a:off x="1247477" y="6945064"/>
            <a:ext cx="40120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Monitor for meaning continuously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29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9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29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29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self-correct only when a word is decoded wrong, not when meaning breaks down.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29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29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29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9"/>
          <p:cNvSpPr/>
          <p:nvPr/>
        </p:nvSpPr>
        <p:spPr>
          <a:xfrm>
            <a:off x="1218902" y="9558784"/>
            <a:ext cx="635231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catch and fix my own mistakes while reading.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9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9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RF.3.4.C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3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30"/>
          <p:cNvSpPr/>
          <p:nvPr/>
        </p:nvSpPr>
        <p:spPr>
          <a:xfrm>
            <a:off x="533326" y="533326"/>
            <a:ext cx="72525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0"/>
          <p:cNvSpPr/>
          <p:nvPr/>
        </p:nvSpPr>
        <p:spPr>
          <a:xfrm>
            <a:off x="533326" y="847651"/>
            <a:ext cx="725255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Text Types and Purposes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30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30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W.3.1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30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30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3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30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opinion pieces on topics or texts, supporting a point of view with reasons.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30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30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30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30"/>
          <p:cNvSpPr/>
          <p:nvPr/>
        </p:nvSpPr>
        <p:spPr>
          <a:xfrm>
            <a:off x="999902" y="3755603"/>
            <a:ext cx="354254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my opinion and why?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30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30"/>
          <p:cNvSpPr/>
          <p:nvPr/>
        </p:nvSpPr>
        <p:spPr>
          <a:xfrm>
            <a:off x="999902" y="4204097"/>
            <a:ext cx="38300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organize my reasons?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30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30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30"/>
          <p:cNvSpPr/>
          <p:nvPr/>
        </p:nvSpPr>
        <p:spPr>
          <a:xfrm>
            <a:off x="6424464" y="3755603"/>
            <a:ext cx="1091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30"/>
          <p:cNvSpPr/>
          <p:nvPr/>
        </p:nvSpPr>
        <p:spPr>
          <a:xfrm>
            <a:off x="6586389" y="3822278"/>
            <a:ext cx="843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opinion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30"/>
          <p:cNvSpPr/>
          <p:nvPr/>
        </p:nvSpPr>
        <p:spPr>
          <a:xfrm>
            <a:off x="7601620" y="3755603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30"/>
          <p:cNvSpPr/>
          <p:nvPr/>
        </p:nvSpPr>
        <p:spPr>
          <a:xfrm>
            <a:off x="7763545" y="3822278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30"/>
          <p:cNvSpPr/>
          <p:nvPr/>
        </p:nvSpPr>
        <p:spPr>
          <a:xfrm>
            <a:off x="8739039" y="3755603"/>
            <a:ext cx="15807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30"/>
          <p:cNvSpPr/>
          <p:nvPr/>
        </p:nvSpPr>
        <p:spPr>
          <a:xfrm>
            <a:off x="8900964" y="3822278"/>
            <a:ext cx="13331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linking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30"/>
          <p:cNvSpPr/>
          <p:nvPr/>
        </p:nvSpPr>
        <p:spPr>
          <a:xfrm>
            <a:off x="6424464" y="4260131"/>
            <a:ext cx="279811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30"/>
          <p:cNvSpPr/>
          <p:nvPr/>
        </p:nvSpPr>
        <p:spPr>
          <a:xfrm>
            <a:off x="6586389" y="4326806"/>
            <a:ext cx="25582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organizational structure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30"/>
          <p:cNvSpPr/>
          <p:nvPr/>
        </p:nvSpPr>
        <p:spPr>
          <a:xfrm>
            <a:off x="9308306" y="4260131"/>
            <a:ext cx="144861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30"/>
          <p:cNvSpPr/>
          <p:nvPr/>
        </p:nvSpPr>
        <p:spPr>
          <a:xfrm>
            <a:off x="9470231" y="4326806"/>
            <a:ext cx="12009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0"/>
          <p:cNvSpPr/>
          <p:nvPr/>
        </p:nvSpPr>
        <p:spPr>
          <a:xfrm>
            <a:off x="533326" y="5088359"/>
            <a:ext cx="11077724" cy="2927821"/>
          </a:xfrm>
          <a:prstGeom prst="roundRect">
            <a:avLst>
              <a:gd fmla="val 455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30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0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30"/>
          <p:cNvSpPr/>
          <p:nvPr/>
        </p:nvSpPr>
        <p:spPr>
          <a:xfrm>
            <a:off x="1247477" y="5707410"/>
            <a:ext cx="47698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Introduce the topic and state an opinion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0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30"/>
          <p:cNvSpPr/>
          <p:nvPr/>
        </p:nvSpPr>
        <p:spPr>
          <a:xfrm>
            <a:off x="1247477" y="6146304"/>
            <a:ext cx="591962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Create an organizational structure listing reasons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0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30"/>
          <p:cNvSpPr/>
          <p:nvPr/>
        </p:nvSpPr>
        <p:spPr>
          <a:xfrm>
            <a:off x="1247477" y="6585198"/>
            <a:ext cx="489070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reasons that support the opinion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30"/>
          <p:cNvSpPr/>
          <p:nvPr/>
        </p:nvSpPr>
        <p:spPr>
          <a:xfrm>
            <a:off x="809476" y="70526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30"/>
          <p:cNvSpPr/>
          <p:nvPr/>
        </p:nvSpPr>
        <p:spPr>
          <a:xfrm>
            <a:off x="1247477" y="7024092"/>
            <a:ext cx="37092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linking words and phrases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30"/>
          <p:cNvSpPr/>
          <p:nvPr/>
        </p:nvSpPr>
        <p:spPr>
          <a:xfrm>
            <a:off x="809476" y="749156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30"/>
          <p:cNvSpPr/>
          <p:nvPr/>
        </p:nvSpPr>
        <p:spPr>
          <a:xfrm>
            <a:off x="1247477" y="7462986"/>
            <a:ext cx="38003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a concluding statement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0"/>
          <p:cNvSpPr/>
          <p:nvPr/>
        </p:nvSpPr>
        <p:spPr>
          <a:xfrm>
            <a:off x="533326" y="8206606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30"/>
          <p:cNvSpPr/>
          <p:nvPr/>
        </p:nvSpPr>
        <p:spPr>
          <a:xfrm>
            <a:off x="533326" y="8206606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30"/>
          <p:cNvSpPr/>
          <p:nvPr/>
        </p:nvSpPr>
        <p:spPr>
          <a:xfrm>
            <a:off x="895201" y="839703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30"/>
          <p:cNvSpPr/>
          <p:nvPr/>
        </p:nvSpPr>
        <p:spPr>
          <a:xfrm>
            <a:off x="895201" y="8758907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restate the opinion as a reason. Reasons must answer "why", not repeat the claim.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0"/>
          <p:cNvSpPr/>
          <p:nvPr/>
        </p:nvSpPr>
        <p:spPr>
          <a:xfrm>
            <a:off x="533326" y="948623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30"/>
          <p:cNvSpPr/>
          <p:nvPr/>
        </p:nvSpPr>
        <p:spPr>
          <a:xfrm>
            <a:off x="780901" y="967665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30"/>
          <p:cNvSpPr/>
          <p:nvPr/>
        </p:nvSpPr>
        <p:spPr>
          <a:xfrm>
            <a:off x="780901" y="1010528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30"/>
          <p:cNvSpPr/>
          <p:nvPr/>
        </p:nvSpPr>
        <p:spPr>
          <a:xfrm>
            <a:off x="1218902" y="10076706"/>
            <a:ext cx="619588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an opinion piece with reasons in order.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3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30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30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W.3.1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3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31"/>
          <p:cNvSpPr/>
          <p:nvPr/>
        </p:nvSpPr>
        <p:spPr>
          <a:xfrm>
            <a:off x="533326" y="533326"/>
            <a:ext cx="72525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31"/>
          <p:cNvSpPr/>
          <p:nvPr/>
        </p:nvSpPr>
        <p:spPr>
          <a:xfrm>
            <a:off x="533326" y="847651"/>
            <a:ext cx="725255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Text Types and Purposes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31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31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W.3.2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3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3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3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3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informative/explanatory texts to examine a topic and convey ideas and information clearly.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31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3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3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31"/>
          <p:cNvSpPr/>
          <p:nvPr/>
        </p:nvSpPr>
        <p:spPr>
          <a:xfrm>
            <a:off x="999902" y="4115470"/>
            <a:ext cx="452677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teach my reader about this?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3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31"/>
          <p:cNvSpPr/>
          <p:nvPr/>
        </p:nvSpPr>
        <p:spPr>
          <a:xfrm>
            <a:off x="999902" y="4563963"/>
            <a:ext cx="38603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organization fits my topic?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31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3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31"/>
          <p:cNvSpPr/>
          <p:nvPr/>
        </p:nvSpPr>
        <p:spPr>
          <a:xfrm>
            <a:off x="6424464" y="4115470"/>
            <a:ext cx="148790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31"/>
          <p:cNvSpPr/>
          <p:nvPr/>
        </p:nvSpPr>
        <p:spPr>
          <a:xfrm>
            <a:off x="6586389" y="4182145"/>
            <a:ext cx="124025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informative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31"/>
          <p:cNvSpPr/>
          <p:nvPr/>
        </p:nvSpPr>
        <p:spPr>
          <a:xfrm>
            <a:off x="7998098" y="4115470"/>
            <a:ext cx="155443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31"/>
          <p:cNvSpPr/>
          <p:nvPr/>
        </p:nvSpPr>
        <p:spPr>
          <a:xfrm>
            <a:off x="8160023" y="4182145"/>
            <a:ext cx="13067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explanatory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31"/>
          <p:cNvSpPr/>
          <p:nvPr/>
        </p:nvSpPr>
        <p:spPr>
          <a:xfrm>
            <a:off x="9638258" y="4115470"/>
            <a:ext cx="93270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31"/>
          <p:cNvSpPr/>
          <p:nvPr/>
        </p:nvSpPr>
        <p:spPr>
          <a:xfrm>
            <a:off x="9800183" y="4182145"/>
            <a:ext cx="68505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31"/>
          <p:cNvSpPr/>
          <p:nvPr/>
        </p:nvSpPr>
        <p:spPr>
          <a:xfrm>
            <a:off x="6424464" y="4619997"/>
            <a:ext cx="15807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31"/>
          <p:cNvSpPr/>
          <p:nvPr/>
        </p:nvSpPr>
        <p:spPr>
          <a:xfrm>
            <a:off x="6586389" y="4686672"/>
            <a:ext cx="13331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linking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31"/>
          <p:cNvSpPr/>
          <p:nvPr/>
        </p:nvSpPr>
        <p:spPr>
          <a:xfrm>
            <a:off x="8090967" y="4619997"/>
            <a:ext cx="139548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1"/>
          <p:cNvSpPr/>
          <p:nvPr/>
        </p:nvSpPr>
        <p:spPr>
          <a:xfrm>
            <a:off x="8252892" y="4686672"/>
            <a:ext cx="114783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illustration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31"/>
          <p:cNvSpPr/>
          <p:nvPr/>
        </p:nvSpPr>
        <p:spPr>
          <a:xfrm>
            <a:off x="533326" y="5448226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31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31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31"/>
          <p:cNvSpPr/>
          <p:nvPr/>
        </p:nvSpPr>
        <p:spPr>
          <a:xfrm>
            <a:off x="1247477" y="6067276"/>
            <a:ext cx="56475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Introduce a topic and group related information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31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31"/>
          <p:cNvSpPr/>
          <p:nvPr/>
        </p:nvSpPr>
        <p:spPr>
          <a:xfrm>
            <a:off x="1247477" y="6506170"/>
            <a:ext cx="61619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Develop the topic with facts, definitions, and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31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31"/>
          <p:cNvSpPr/>
          <p:nvPr/>
        </p:nvSpPr>
        <p:spPr>
          <a:xfrm>
            <a:off x="1247477" y="6945064"/>
            <a:ext cx="419378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linking words to connect ideas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1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31"/>
          <p:cNvSpPr/>
          <p:nvPr/>
        </p:nvSpPr>
        <p:spPr>
          <a:xfrm>
            <a:off x="1247477" y="7383959"/>
            <a:ext cx="50567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a concluding statement or section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31"/>
          <p:cNvSpPr/>
          <p:nvPr/>
        </p:nvSpPr>
        <p:spPr>
          <a:xfrm>
            <a:off x="533326" y="812757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1"/>
          <p:cNvSpPr/>
          <p:nvPr/>
        </p:nvSpPr>
        <p:spPr>
          <a:xfrm>
            <a:off x="533326" y="812757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31"/>
          <p:cNvSpPr/>
          <p:nvPr/>
        </p:nvSpPr>
        <p:spPr>
          <a:xfrm>
            <a:off x="895201" y="831800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31"/>
          <p:cNvSpPr/>
          <p:nvPr/>
        </p:nvSpPr>
        <p:spPr>
          <a:xfrm>
            <a:off x="895201" y="867987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list facts in random order rather than grouping related information into paragraphs.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31"/>
          <p:cNvSpPr/>
          <p:nvPr/>
        </p:nvSpPr>
        <p:spPr>
          <a:xfrm>
            <a:off x="533326" y="9407203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31"/>
          <p:cNvSpPr/>
          <p:nvPr/>
        </p:nvSpPr>
        <p:spPr>
          <a:xfrm>
            <a:off x="780901" y="959762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31"/>
          <p:cNvSpPr/>
          <p:nvPr/>
        </p:nvSpPr>
        <p:spPr>
          <a:xfrm>
            <a:off x="780901" y="1002625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31"/>
          <p:cNvSpPr/>
          <p:nvPr/>
        </p:nvSpPr>
        <p:spPr>
          <a:xfrm>
            <a:off x="1218902" y="9997678"/>
            <a:ext cx="444450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to explain a topic clearly.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31"/>
          <p:cNvSpPr/>
          <p:nvPr/>
        </p:nvSpPr>
        <p:spPr>
          <a:xfrm>
            <a:off x="780901" y="1046849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31"/>
          <p:cNvSpPr/>
          <p:nvPr/>
        </p:nvSpPr>
        <p:spPr>
          <a:xfrm>
            <a:off x="1218902" y="10439921"/>
            <a:ext cx="467042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group my facts into paragraphs.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3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3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31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W.3.2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3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32"/>
          <p:cNvSpPr/>
          <p:nvPr/>
        </p:nvSpPr>
        <p:spPr>
          <a:xfrm>
            <a:off x="533326" y="533326"/>
            <a:ext cx="72525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32"/>
          <p:cNvSpPr/>
          <p:nvPr/>
        </p:nvSpPr>
        <p:spPr>
          <a:xfrm>
            <a:off x="533326" y="847651"/>
            <a:ext cx="725255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Text Types and Purposes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32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2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W.3.3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32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2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32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narratives to develop real or imagined experiences using effective technique, descriptive details, and clear event sequences.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32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32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32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32"/>
          <p:cNvSpPr/>
          <p:nvPr/>
        </p:nvSpPr>
        <p:spPr>
          <a:xfrm>
            <a:off x="999902" y="4115470"/>
            <a:ext cx="442117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bring an experience to life?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32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32"/>
          <p:cNvSpPr/>
          <p:nvPr/>
        </p:nvSpPr>
        <p:spPr>
          <a:xfrm>
            <a:off x="999902" y="4563963"/>
            <a:ext cx="46940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dialogue and description help?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32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32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32"/>
          <p:cNvSpPr/>
          <p:nvPr/>
        </p:nvSpPr>
        <p:spPr>
          <a:xfrm>
            <a:off x="6424464" y="4115470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32"/>
          <p:cNvSpPr/>
          <p:nvPr/>
        </p:nvSpPr>
        <p:spPr>
          <a:xfrm>
            <a:off x="6586389" y="4182145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narrative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32"/>
          <p:cNvSpPr/>
          <p:nvPr/>
        </p:nvSpPr>
        <p:spPr>
          <a:xfrm>
            <a:off x="7760122" y="4115470"/>
            <a:ext cx="12238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32"/>
          <p:cNvSpPr/>
          <p:nvPr/>
        </p:nvSpPr>
        <p:spPr>
          <a:xfrm>
            <a:off x="7922047" y="4182145"/>
            <a:ext cx="9761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32"/>
          <p:cNvSpPr/>
          <p:nvPr/>
        </p:nvSpPr>
        <p:spPr>
          <a:xfrm>
            <a:off x="9069660" y="4115470"/>
            <a:ext cx="147496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32"/>
          <p:cNvSpPr/>
          <p:nvPr/>
        </p:nvSpPr>
        <p:spPr>
          <a:xfrm>
            <a:off x="9231585" y="4182145"/>
            <a:ext cx="12273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32"/>
          <p:cNvSpPr/>
          <p:nvPr/>
        </p:nvSpPr>
        <p:spPr>
          <a:xfrm>
            <a:off x="6424464" y="4619997"/>
            <a:ext cx="18319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32"/>
          <p:cNvSpPr/>
          <p:nvPr/>
        </p:nvSpPr>
        <p:spPr>
          <a:xfrm>
            <a:off x="6586389" y="4686672"/>
            <a:ext cx="15842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temporal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32"/>
          <p:cNvSpPr/>
          <p:nvPr/>
        </p:nvSpPr>
        <p:spPr>
          <a:xfrm>
            <a:off x="8342114" y="4619997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32"/>
          <p:cNvSpPr/>
          <p:nvPr/>
        </p:nvSpPr>
        <p:spPr>
          <a:xfrm>
            <a:off x="8504039" y="4686672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closure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32"/>
          <p:cNvSpPr/>
          <p:nvPr/>
        </p:nvSpPr>
        <p:spPr>
          <a:xfrm>
            <a:off x="9519047" y="4619997"/>
            <a:ext cx="13561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2"/>
          <p:cNvSpPr/>
          <p:nvPr/>
        </p:nvSpPr>
        <p:spPr>
          <a:xfrm>
            <a:off x="9680972" y="4686672"/>
            <a:ext cx="1108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2"/>
          <p:cNvSpPr/>
          <p:nvPr/>
        </p:nvSpPr>
        <p:spPr>
          <a:xfrm>
            <a:off x="533326" y="5448226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32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32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32"/>
          <p:cNvSpPr/>
          <p:nvPr/>
        </p:nvSpPr>
        <p:spPr>
          <a:xfrm>
            <a:off x="1247477" y="6067276"/>
            <a:ext cx="707034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Establish a situation and introduce a narrator or characters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2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32"/>
          <p:cNvSpPr/>
          <p:nvPr/>
        </p:nvSpPr>
        <p:spPr>
          <a:xfrm>
            <a:off x="1247477" y="6506170"/>
            <a:ext cx="572366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dialogue and description to develop events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2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32"/>
          <p:cNvSpPr/>
          <p:nvPr/>
        </p:nvSpPr>
        <p:spPr>
          <a:xfrm>
            <a:off x="1247477" y="6945064"/>
            <a:ext cx="42234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temporal words to signal order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32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32"/>
          <p:cNvSpPr/>
          <p:nvPr/>
        </p:nvSpPr>
        <p:spPr>
          <a:xfrm>
            <a:off x="1247477" y="7383959"/>
            <a:ext cx="32097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a sense of closure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32"/>
          <p:cNvSpPr/>
          <p:nvPr/>
        </p:nvSpPr>
        <p:spPr>
          <a:xfrm>
            <a:off x="533326" y="812757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32"/>
          <p:cNvSpPr/>
          <p:nvPr/>
        </p:nvSpPr>
        <p:spPr>
          <a:xfrm>
            <a:off x="533326" y="812757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32"/>
          <p:cNvSpPr/>
          <p:nvPr/>
        </p:nvSpPr>
        <p:spPr>
          <a:xfrm>
            <a:off x="895201" y="831800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32"/>
          <p:cNvSpPr/>
          <p:nvPr/>
        </p:nvSpPr>
        <p:spPr>
          <a:xfrm>
            <a:off x="895201" y="867987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write dialogue without punctuation or speaker tags, so the reader cannot tell who is talking.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32"/>
          <p:cNvSpPr/>
          <p:nvPr/>
        </p:nvSpPr>
        <p:spPr>
          <a:xfrm>
            <a:off x="533326" y="975367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2"/>
          <p:cNvSpPr/>
          <p:nvPr/>
        </p:nvSpPr>
        <p:spPr>
          <a:xfrm>
            <a:off x="780901" y="994410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2"/>
          <p:cNvSpPr/>
          <p:nvPr/>
        </p:nvSpPr>
        <p:spPr>
          <a:xfrm>
            <a:off x="780901" y="103727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2"/>
          <p:cNvSpPr/>
          <p:nvPr/>
        </p:nvSpPr>
        <p:spPr>
          <a:xfrm>
            <a:off x="1218902" y="10344150"/>
            <a:ext cx="547220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 story with dialogue and details.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3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3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32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W.3.3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3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33"/>
          <p:cNvSpPr/>
          <p:nvPr/>
        </p:nvSpPr>
        <p:spPr>
          <a:xfrm>
            <a:off x="533326" y="533326"/>
            <a:ext cx="7885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33"/>
          <p:cNvSpPr/>
          <p:nvPr/>
        </p:nvSpPr>
        <p:spPr>
          <a:xfrm>
            <a:off x="533326" y="847651"/>
            <a:ext cx="788562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Production and Distribution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33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33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W.3.4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3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3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3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3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With guidance and support, produce writing in which the development and organization are appropriate to task and purpose.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33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3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3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33"/>
          <p:cNvSpPr/>
          <p:nvPr/>
        </p:nvSpPr>
        <p:spPr>
          <a:xfrm>
            <a:off x="999902" y="4115470"/>
            <a:ext cx="22857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Who is my reader?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33"/>
          <p:cNvSpPr/>
          <p:nvPr/>
        </p:nvSpPr>
        <p:spPr>
          <a:xfrm>
            <a:off x="999902" y="4563963"/>
            <a:ext cx="34057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Does my writing fit the task?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3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3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3"/>
          <p:cNvSpPr/>
          <p:nvPr/>
        </p:nvSpPr>
        <p:spPr>
          <a:xfrm>
            <a:off x="6424464" y="4115470"/>
            <a:ext cx="76036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33"/>
          <p:cNvSpPr/>
          <p:nvPr/>
        </p:nvSpPr>
        <p:spPr>
          <a:xfrm>
            <a:off x="6586389" y="4182145"/>
            <a:ext cx="51271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33"/>
          <p:cNvSpPr/>
          <p:nvPr/>
        </p:nvSpPr>
        <p:spPr>
          <a:xfrm>
            <a:off x="7270552" y="4115470"/>
            <a:ext cx="118407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33"/>
          <p:cNvSpPr/>
          <p:nvPr/>
        </p:nvSpPr>
        <p:spPr>
          <a:xfrm>
            <a:off x="7432477" y="4182145"/>
            <a:ext cx="9364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33"/>
          <p:cNvSpPr/>
          <p:nvPr/>
        </p:nvSpPr>
        <p:spPr>
          <a:xfrm>
            <a:off x="8540353" y="4115470"/>
            <a:ext cx="128989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33"/>
          <p:cNvSpPr/>
          <p:nvPr/>
        </p:nvSpPr>
        <p:spPr>
          <a:xfrm>
            <a:off x="8702278" y="4182145"/>
            <a:ext cx="10422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audience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3"/>
          <p:cNvSpPr/>
          <p:nvPr/>
        </p:nvSpPr>
        <p:spPr>
          <a:xfrm>
            <a:off x="6424464" y="4619997"/>
            <a:ext cx="168681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33"/>
          <p:cNvSpPr/>
          <p:nvPr/>
        </p:nvSpPr>
        <p:spPr>
          <a:xfrm>
            <a:off x="6586389" y="4686672"/>
            <a:ext cx="143916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33"/>
          <p:cNvSpPr/>
          <p:nvPr/>
        </p:nvSpPr>
        <p:spPr>
          <a:xfrm>
            <a:off x="8197007" y="4619997"/>
            <a:ext cx="162073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33"/>
          <p:cNvSpPr/>
          <p:nvPr/>
        </p:nvSpPr>
        <p:spPr>
          <a:xfrm>
            <a:off x="8358932" y="4686672"/>
            <a:ext cx="137308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organization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33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33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33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33"/>
          <p:cNvSpPr/>
          <p:nvPr/>
        </p:nvSpPr>
        <p:spPr>
          <a:xfrm>
            <a:off x="1247477" y="6067276"/>
            <a:ext cx="57988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Produce writing appropriate to task and purpose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33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3"/>
          <p:cNvSpPr/>
          <p:nvPr/>
        </p:nvSpPr>
        <p:spPr>
          <a:xfrm>
            <a:off x="1247477" y="6506170"/>
            <a:ext cx="64051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Match development and organization to the audience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33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3"/>
          <p:cNvSpPr/>
          <p:nvPr/>
        </p:nvSpPr>
        <p:spPr>
          <a:xfrm>
            <a:off x="1247477" y="6945064"/>
            <a:ext cx="25737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Revise for coherence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33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33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33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33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write the same way for every assignment because audience is never specified.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33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33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33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33"/>
          <p:cNvSpPr/>
          <p:nvPr/>
        </p:nvSpPr>
        <p:spPr>
          <a:xfrm>
            <a:off x="1218902" y="9558784"/>
            <a:ext cx="646281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in a way that fits my purpose and reader.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3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3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33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W.3.4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3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4"/>
          <p:cNvSpPr/>
          <p:nvPr/>
        </p:nvSpPr>
        <p:spPr>
          <a:xfrm>
            <a:off x="533326" y="533326"/>
            <a:ext cx="7885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34"/>
          <p:cNvSpPr/>
          <p:nvPr/>
        </p:nvSpPr>
        <p:spPr>
          <a:xfrm>
            <a:off x="533326" y="847651"/>
            <a:ext cx="788562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Production and Distribution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34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34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W.3.5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3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3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3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3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With guidance and support from peers and adults, develop and strengthen writing by planning, revising, and editing.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34"/>
          <p:cNvSpPr/>
          <p:nvPr/>
        </p:nvSpPr>
        <p:spPr>
          <a:xfrm>
            <a:off x="533326" y="3496419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3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3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34"/>
          <p:cNvSpPr/>
          <p:nvPr/>
        </p:nvSpPr>
        <p:spPr>
          <a:xfrm>
            <a:off x="999902" y="4115470"/>
            <a:ext cx="249790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can I improve?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3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4"/>
          <p:cNvSpPr/>
          <p:nvPr/>
        </p:nvSpPr>
        <p:spPr>
          <a:xfrm>
            <a:off x="999902" y="4563963"/>
            <a:ext cx="292224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use feedback?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34"/>
          <p:cNvSpPr/>
          <p:nvPr/>
        </p:nvSpPr>
        <p:spPr>
          <a:xfrm>
            <a:off x="6167289" y="3496419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34"/>
          <p:cNvSpPr/>
          <p:nvPr/>
        </p:nvSpPr>
        <p:spPr>
          <a:xfrm>
            <a:off x="6424464" y="4115470"/>
            <a:ext cx="7737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34"/>
          <p:cNvSpPr/>
          <p:nvPr/>
        </p:nvSpPr>
        <p:spPr>
          <a:xfrm>
            <a:off x="6586389" y="4182145"/>
            <a:ext cx="5261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34"/>
          <p:cNvSpPr/>
          <p:nvPr/>
        </p:nvSpPr>
        <p:spPr>
          <a:xfrm>
            <a:off x="7283946" y="4115470"/>
            <a:ext cx="9588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34"/>
          <p:cNvSpPr/>
          <p:nvPr/>
        </p:nvSpPr>
        <p:spPr>
          <a:xfrm>
            <a:off x="7445871" y="4182145"/>
            <a:ext cx="7111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revise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34"/>
          <p:cNvSpPr/>
          <p:nvPr/>
        </p:nvSpPr>
        <p:spPr>
          <a:xfrm>
            <a:off x="8328496" y="4115470"/>
            <a:ext cx="7076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4"/>
          <p:cNvSpPr/>
          <p:nvPr/>
        </p:nvSpPr>
        <p:spPr>
          <a:xfrm>
            <a:off x="8490421" y="4182145"/>
            <a:ext cx="4600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edit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34"/>
          <p:cNvSpPr/>
          <p:nvPr/>
        </p:nvSpPr>
        <p:spPr>
          <a:xfrm>
            <a:off x="9121899" y="4115470"/>
            <a:ext cx="128989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34"/>
          <p:cNvSpPr/>
          <p:nvPr/>
        </p:nvSpPr>
        <p:spPr>
          <a:xfrm>
            <a:off x="9283824" y="4182145"/>
            <a:ext cx="10422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4"/>
          <p:cNvSpPr/>
          <p:nvPr/>
        </p:nvSpPr>
        <p:spPr>
          <a:xfrm>
            <a:off x="10497517" y="4115470"/>
            <a:ext cx="80010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34"/>
          <p:cNvSpPr/>
          <p:nvPr/>
        </p:nvSpPr>
        <p:spPr>
          <a:xfrm>
            <a:off x="10659442" y="4182145"/>
            <a:ext cx="55245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draft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34"/>
          <p:cNvSpPr/>
          <p:nvPr/>
        </p:nvSpPr>
        <p:spPr>
          <a:xfrm>
            <a:off x="533326" y="5307583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4"/>
          <p:cNvSpPr/>
          <p:nvPr/>
        </p:nvSpPr>
        <p:spPr>
          <a:xfrm>
            <a:off x="809476" y="552658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34"/>
          <p:cNvSpPr/>
          <p:nvPr/>
        </p:nvSpPr>
        <p:spPr>
          <a:xfrm>
            <a:off x="809476" y="595520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34"/>
          <p:cNvSpPr/>
          <p:nvPr/>
        </p:nvSpPr>
        <p:spPr>
          <a:xfrm>
            <a:off x="1247477" y="5926634"/>
            <a:ext cx="579905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Plan, revise, and edit with guidance and support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34"/>
          <p:cNvSpPr/>
          <p:nvPr/>
        </p:nvSpPr>
        <p:spPr>
          <a:xfrm>
            <a:off x="809476" y="639410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4"/>
          <p:cNvSpPr/>
          <p:nvPr/>
        </p:nvSpPr>
        <p:spPr>
          <a:xfrm>
            <a:off x="1247477" y="6365528"/>
            <a:ext cx="348262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peer and adult feedback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34"/>
          <p:cNvSpPr/>
          <p:nvPr/>
        </p:nvSpPr>
        <p:spPr>
          <a:xfrm>
            <a:off x="809476" y="683299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4"/>
          <p:cNvSpPr/>
          <p:nvPr/>
        </p:nvSpPr>
        <p:spPr>
          <a:xfrm>
            <a:off x="1247477" y="6804422"/>
            <a:ext cx="354327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Strengthen writing as needed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34"/>
          <p:cNvSpPr/>
          <p:nvPr/>
        </p:nvSpPr>
        <p:spPr>
          <a:xfrm>
            <a:off x="533326" y="7548042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4"/>
          <p:cNvSpPr/>
          <p:nvPr/>
        </p:nvSpPr>
        <p:spPr>
          <a:xfrm>
            <a:off x="533326" y="7548042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34"/>
          <p:cNvSpPr/>
          <p:nvPr/>
        </p:nvSpPr>
        <p:spPr>
          <a:xfrm>
            <a:off x="895201" y="7738467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34"/>
          <p:cNvSpPr/>
          <p:nvPr/>
        </p:nvSpPr>
        <p:spPr>
          <a:xfrm>
            <a:off x="895201" y="8100343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accept every suggestion without judgment, or reject all of them. Both avoid the actual work of revising.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4"/>
          <p:cNvSpPr/>
          <p:nvPr/>
        </p:nvSpPr>
        <p:spPr>
          <a:xfrm>
            <a:off x="533326" y="917413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4"/>
          <p:cNvSpPr/>
          <p:nvPr/>
        </p:nvSpPr>
        <p:spPr>
          <a:xfrm>
            <a:off x="780901" y="9364563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34"/>
          <p:cNvSpPr/>
          <p:nvPr/>
        </p:nvSpPr>
        <p:spPr>
          <a:xfrm>
            <a:off x="780901" y="979318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4"/>
          <p:cNvSpPr/>
          <p:nvPr/>
        </p:nvSpPr>
        <p:spPr>
          <a:xfrm>
            <a:off x="1218902" y="9764613"/>
            <a:ext cx="511023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improve my writing using feedback.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34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W.3.5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3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35"/>
          <p:cNvSpPr/>
          <p:nvPr/>
        </p:nvSpPr>
        <p:spPr>
          <a:xfrm>
            <a:off x="533326" y="533326"/>
            <a:ext cx="7885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35"/>
          <p:cNvSpPr/>
          <p:nvPr/>
        </p:nvSpPr>
        <p:spPr>
          <a:xfrm>
            <a:off x="533326" y="847651"/>
            <a:ext cx="788562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Production and Distribution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35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35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W.3.6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3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3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3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3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With guidance and support from adults, use technology to produce and publish writing and to interact and collaborate with others.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35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3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3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5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technology help me write and share?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35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35"/>
          <p:cNvSpPr/>
          <p:nvPr/>
        </p:nvSpPr>
        <p:spPr>
          <a:xfrm>
            <a:off x="999902" y="4898157"/>
            <a:ext cx="343719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collaborate online?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35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3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35"/>
          <p:cNvSpPr/>
          <p:nvPr/>
        </p:nvSpPr>
        <p:spPr>
          <a:xfrm>
            <a:off x="6424464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35"/>
          <p:cNvSpPr/>
          <p:nvPr/>
        </p:nvSpPr>
        <p:spPr>
          <a:xfrm>
            <a:off x="6586389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publish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35"/>
          <p:cNvSpPr/>
          <p:nvPr/>
        </p:nvSpPr>
        <p:spPr>
          <a:xfrm>
            <a:off x="7588225" y="4115470"/>
            <a:ext cx="148835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35"/>
          <p:cNvSpPr/>
          <p:nvPr/>
        </p:nvSpPr>
        <p:spPr>
          <a:xfrm>
            <a:off x="7750150" y="4182145"/>
            <a:ext cx="124070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collaborate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35"/>
          <p:cNvSpPr/>
          <p:nvPr/>
        </p:nvSpPr>
        <p:spPr>
          <a:xfrm>
            <a:off x="9162306" y="4115470"/>
            <a:ext cx="147518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35"/>
          <p:cNvSpPr/>
          <p:nvPr/>
        </p:nvSpPr>
        <p:spPr>
          <a:xfrm>
            <a:off x="9324231" y="4182145"/>
            <a:ext cx="122753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technology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35"/>
          <p:cNvSpPr/>
          <p:nvPr/>
        </p:nvSpPr>
        <p:spPr>
          <a:xfrm>
            <a:off x="6424464" y="4619997"/>
            <a:ext cx="162073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5"/>
          <p:cNvSpPr/>
          <p:nvPr/>
        </p:nvSpPr>
        <p:spPr>
          <a:xfrm>
            <a:off x="6586389" y="4686672"/>
            <a:ext cx="137308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keyboarding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35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5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35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35"/>
          <p:cNvSpPr/>
          <p:nvPr/>
        </p:nvSpPr>
        <p:spPr>
          <a:xfrm>
            <a:off x="1247477" y="6260827"/>
            <a:ext cx="55719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technology to produce and publish writing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35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35"/>
          <p:cNvSpPr/>
          <p:nvPr/>
        </p:nvSpPr>
        <p:spPr>
          <a:xfrm>
            <a:off x="1247477" y="6699721"/>
            <a:ext cx="42392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Interact and collaborate with others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35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35"/>
          <p:cNvSpPr/>
          <p:nvPr/>
        </p:nvSpPr>
        <p:spPr>
          <a:xfrm>
            <a:off x="1247477" y="7138615"/>
            <a:ext cx="27098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keyboarding skills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35"/>
          <p:cNvSpPr/>
          <p:nvPr/>
        </p:nvSpPr>
        <p:spPr>
          <a:xfrm>
            <a:off x="533326" y="788223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35"/>
          <p:cNvSpPr/>
          <p:nvPr/>
        </p:nvSpPr>
        <p:spPr>
          <a:xfrm>
            <a:off x="533326" y="788223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5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35"/>
          <p:cNvSpPr/>
          <p:nvPr/>
        </p:nvSpPr>
        <p:spPr>
          <a:xfrm>
            <a:off x="895201" y="843453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Slow keyboarding shortens the writing itself. Composing by hand first can protect the content.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35"/>
          <p:cNvSpPr/>
          <p:nvPr/>
        </p:nvSpPr>
        <p:spPr>
          <a:xfrm>
            <a:off x="533326" y="916185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35"/>
          <p:cNvSpPr/>
          <p:nvPr/>
        </p:nvSpPr>
        <p:spPr>
          <a:xfrm>
            <a:off x="780901" y="935228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35"/>
          <p:cNvSpPr/>
          <p:nvPr/>
        </p:nvSpPr>
        <p:spPr>
          <a:xfrm>
            <a:off x="780901" y="978091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5"/>
          <p:cNvSpPr/>
          <p:nvPr/>
        </p:nvSpPr>
        <p:spPr>
          <a:xfrm>
            <a:off x="1218902" y="9752335"/>
            <a:ext cx="613253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technology to write and share my work.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3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35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W.3.6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3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36"/>
          <p:cNvSpPr/>
          <p:nvPr/>
        </p:nvSpPr>
        <p:spPr>
          <a:xfrm>
            <a:off x="533326" y="533326"/>
            <a:ext cx="59355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36"/>
          <p:cNvSpPr/>
          <p:nvPr/>
        </p:nvSpPr>
        <p:spPr>
          <a:xfrm>
            <a:off x="533326" y="847651"/>
            <a:ext cx="593558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Research and Range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36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36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W.3.7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36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36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36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Conduct short research projects that build knowledge about a topic.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36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36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36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6"/>
          <p:cNvSpPr/>
          <p:nvPr/>
        </p:nvSpPr>
        <p:spPr>
          <a:xfrm>
            <a:off x="999902" y="3755603"/>
            <a:ext cx="32402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I want to find out?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36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6"/>
          <p:cNvSpPr/>
          <p:nvPr/>
        </p:nvSpPr>
        <p:spPr>
          <a:xfrm>
            <a:off x="999902" y="4204097"/>
            <a:ext cx="451228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build knowledge on a topic?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36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36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36"/>
          <p:cNvSpPr/>
          <p:nvPr/>
        </p:nvSpPr>
        <p:spPr>
          <a:xfrm>
            <a:off x="6424464" y="3755603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36"/>
          <p:cNvSpPr/>
          <p:nvPr/>
        </p:nvSpPr>
        <p:spPr>
          <a:xfrm>
            <a:off x="6586389" y="3822278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36"/>
          <p:cNvSpPr/>
          <p:nvPr/>
        </p:nvSpPr>
        <p:spPr>
          <a:xfrm>
            <a:off x="7760122" y="3755603"/>
            <a:ext cx="103829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36"/>
          <p:cNvSpPr/>
          <p:nvPr/>
        </p:nvSpPr>
        <p:spPr>
          <a:xfrm>
            <a:off x="7922047" y="3822278"/>
            <a:ext cx="7906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36"/>
          <p:cNvSpPr/>
          <p:nvPr/>
        </p:nvSpPr>
        <p:spPr>
          <a:xfrm>
            <a:off x="8884146" y="3755603"/>
            <a:ext cx="82666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36"/>
          <p:cNvSpPr/>
          <p:nvPr/>
        </p:nvSpPr>
        <p:spPr>
          <a:xfrm>
            <a:off x="9046071" y="3822278"/>
            <a:ext cx="57901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36"/>
          <p:cNvSpPr/>
          <p:nvPr/>
        </p:nvSpPr>
        <p:spPr>
          <a:xfrm>
            <a:off x="9796537" y="3755603"/>
            <a:ext cx="146179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36"/>
          <p:cNvSpPr/>
          <p:nvPr/>
        </p:nvSpPr>
        <p:spPr>
          <a:xfrm>
            <a:off x="9958462" y="3822278"/>
            <a:ext cx="121414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investigate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36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6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36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36"/>
          <p:cNvSpPr/>
          <p:nvPr/>
        </p:nvSpPr>
        <p:spPr>
          <a:xfrm>
            <a:off x="1247477" y="5566767"/>
            <a:ext cx="38603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Conduct short research projects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36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36"/>
          <p:cNvSpPr/>
          <p:nvPr/>
        </p:nvSpPr>
        <p:spPr>
          <a:xfrm>
            <a:off x="1247477" y="6005661"/>
            <a:ext cx="36189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Build knowledge about a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36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6"/>
          <p:cNvSpPr/>
          <p:nvPr/>
        </p:nvSpPr>
        <p:spPr>
          <a:xfrm>
            <a:off x="1247477" y="6444555"/>
            <a:ext cx="252810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multiple sources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6"/>
          <p:cNvSpPr/>
          <p:nvPr/>
        </p:nvSpPr>
        <p:spPr>
          <a:xfrm>
            <a:off x="533326" y="718817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6"/>
          <p:cNvSpPr/>
          <p:nvPr/>
        </p:nvSpPr>
        <p:spPr>
          <a:xfrm>
            <a:off x="533326" y="718817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36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36"/>
          <p:cNvSpPr/>
          <p:nvPr/>
        </p:nvSpPr>
        <p:spPr>
          <a:xfrm>
            <a:off x="895201" y="774047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choose a topic too broad to research in the time available. Narrowing the question is part of the skill.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36"/>
          <p:cNvSpPr/>
          <p:nvPr/>
        </p:nvSpPr>
        <p:spPr>
          <a:xfrm>
            <a:off x="533326" y="881427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6"/>
          <p:cNvSpPr/>
          <p:nvPr/>
        </p:nvSpPr>
        <p:spPr>
          <a:xfrm>
            <a:off x="780901" y="900469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36"/>
          <p:cNvSpPr/>
          <p:nvPr/>
        </p:nvSpPr>
        <p:spPr>
          <a:xfrm>
            <a:off x="780901" y="943332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6"/>
          <p:cNvSpPr/>
          <p:nvPr/>
        </p:nvSpPr>
        <p:spPr>
          <a:xfrm>
            <a:off x="1218902" y="9404747"/>
            <a:ext cx="413558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do a short research project.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3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3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36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W.3.7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3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7"/>
          <p:cNvSpPr/>
          <p:nvPr/>
        </p:nvSpPr>
        <p:spPr>
          <a:xfrm>
            <a:off x="533326" y="533326"/>
            <a:ext cx="59355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37"/>
          <p:cNvSpPr/>
          <p:nvPr/>
        </p:nvSpPr>
        <p:spPr>
          <a:xfrm>
            <a:off x="533326" y="847651"/>
            <a:ext cx="593558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Research and Range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37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37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W.3.8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3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3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3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3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Recall information from experiences or gather information from print and digital sources; take brief notes and sort evidence into categories.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37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3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3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7"/>
          <p:cNvSpPr/>
          <p:nvPr/>
        </p:nvSpPr>
        <p:spPr>
          <a:xfrm>
            <a:off x="999902" y="4115470"/>
            <a:ext cx="451203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take notes without copying?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37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7"/>
          <p:cNvSpPr/>
          <p:nvPr/>
        </p:nvSpPr>
        <p:spPr>
          <a:xfrm>
            <a:off x="999902" y="4563963"/>
            <a:ext cx="366409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organize what I find?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37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3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37"/>
          <p:cNvSpPr/>
          <p:nvPr/>
        </p:nvSpPr>
        <p:spPr>
          <a:xfrm>
            <a:off x="6424464" y="4115470"/>
            <a:ext cx="99878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7"/>
          <p:cNvSpPr/>
          <p:nvPr/>
        </p:nvSpPr>
        <p:spPr>
          <a:xfrm>
            <a:off x="6586389" y="4182145"/>
            <a:ext cx="7511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gather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37"/>
          <p:cNvSpPr/>
          <p:nvPr/>
        </p:nvSpPr>
        <p:spPr>
          <a:xfrm>
            <a:off x="7508974" y="4115470"/>
            <a:ext cx="143522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37"/>
          <p:cNvSpPr/>
          <p:nvPr/>
        </p:nvSpPr>
        <p:spPr>
          <a:xfrm>
            <a:off x="7670899" y="4182145"/>
            <a:ext cx="118757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brief notes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37"/>
          <p:cNvSpPr/>
          <p:nvPr/>
        </p:nvSpPr>
        <p:spPr>
          <a:xfrm>
            <a:off x="9029923" y="4115470"/>
            <a:ext cx="123676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7"/>
          <p:cNvSpPr/>
          <p:nvPr/>
        </p:nvSpPr>
        <p:spPr>
          <a:xfrm>
            <a:off x="9191848" y="4182145"/>
            <a:ext cx="98911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37"/>
          <p:cNvSpPr/>
          <p:nvPr/>
        </p:nvSpPr>
        <p:spPr>
          <a:xfrm>
            <a:off x="6424464" y="4619997"/>
            <a:ext cx="103829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37"/>
          <p:cNvSpPr/>
          <p:nvPr/>
        </p:nvSpPr>
        <p:spPr>
          <a:xfrm>
            <a:off x="6586389" y="4686672"/>
            <a:ext cx="7906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37"/>
          <p:cNvSpPr/>
          <p:nvPr/>
        </p:nvSpPr>
        <p:spPr>
          <a:xfrm>
            <a:off x="7548488" y="4619997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7"/>
          <p:cNvSpPr/>
          <p:nvPr/>
        </p:nvSpPr>
        <p:spPr>
          <a:xfrm>
            <a:off x="7710413" y="4686672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37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7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37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37"/>
          <p:cNvSpPr/>
          <p:nvPr/>
        </p:nvSpPr>
        <p:spPr>
          <a:xfrm>
            <a:off x="1247477" y="6067276"/>
            <a:ext cx="420851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Recall information from experience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37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7"/>
          <p:cNvSpPr/>
          <p:nvPr/>
        </p:nvSpPr>
        <p:spPr>
          <a:xfrm>
            <a:off x="1247477" y="6506170"/>
            <a:ext cx="58282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Gather information from print and digital sources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37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7"/>
          <p:cNvSpPr/>
          <p:nvPr/>
        </p:nvSpPr>
        <p:spPr>
          <a:xfrm>
            <a:off x="1247477" y="6945064"/>
            <a:ext cx="59957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Take brief notes and sort evidence into categories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37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37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37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37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copy full sentences rather than noting key words, which leads directly to plagiarism later.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37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7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37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7"/>
          <p:cNvSpPr/>
          <p:nvPr/>
        </p:nvSpPr>
        <p:spPr>
          <a:xfrm>
            <a:off x="1218902" y="9905256"/>
            <a:ext cx="606941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take notes in my own words and sort them.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3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7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37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W.3.8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3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8"/>
          <p:cNvSpPr/>
          <p:nvPr/>
        </p:nvSpPr>
        <p:spPr>
          <a:xfrm>
            <a:off x="533326" y="533326"/>
            <a:ext cx="59355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38"/>
          <p:cNvSpPr/>
          <p:nvPr/>
        </p:nvSpPr>
        <p:spPr>
          <a:xfrm>
            <a:off x="533326" y="847651"/>
            <a:ext cx="593558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Research and Range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38"/>
          <p:cNvSpPr/>
          <p:nvPr/>
        </p:nvSpPr>
        <p:spPr>
          <a:xfrm>
            <a:off x="10234092" y="533326"/>
            <a:ext cx="1376958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38"/>
          <p:cNvSpPr/>
          <p:nvPr/>
        </p:nvSpPr>
        <p:spPr>
          <a:xfrm>
            <a:off x="10443642" y="647626"/>
            <a:ext cx="10340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W.3.10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3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3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3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3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routinely over extended and shorter time frames for a range of discipline-specific tasks, purposes, and audiences.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38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3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38"/>
          <p:cNvSpPr/>
          <p:nvPr/>
        </p:nvSpPr>
        <p:spPr>
          <a:xfrm>
            <a:off x="999902" y="4115470"/>
            <a:ext cx="43295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regular writing build skill?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3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38"/>
          <p:cNvSpPr/>
          <p:nvPr/>
        </p:nvSpPr>
        <p:spPr>
          <a:xfrm>
            <a:off x="999902" y="4563963"/>
            <a:ext cx="419378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adjust to the time I have?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38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3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38"/>
          <p:cNvSpPr/>
          <p:nvPr/>
        </p:nvSpPr>
        <p:spPr>
          <a:xfrm>
            <a:off x="6424464" y="4115470"/>
            <a:ext cx="122359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38"/>
          <p:cNvSpPr/>
          <p:nvPr/>
        </p:nvSpPr>
        <p:spPr>
          <a:xfrm>
            <a:off x="6586389" y="4182145"/>
            <a:ext cx="97594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routinely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38"/>
          <p:cNvSpPr/>
          <p:nvPr/>
        </p:nvSpPr>
        <p:spPr>
          <a:xfrm>
            <a:off x="7733779" y="4115470"/>
            <a:ext cx="130328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38"/>
          <p:cNvSpPr/>
          <p:nvPr/>
        </p:nvSpPr>
        <p:spPr>
          <a:xfrm>
            <a:off x="7895704" y="4182145"/>
            <a:ext cx="10556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extended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38"/>
          <p:cNvSpPr/>
          <p:nvPr/>
        </p:nvSpPr>
        <p:spPr>
          <a:xfrm>
            <a:off x="9122792" y="4115470"/>
            <a:ext cx="144794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38"/>
          <p:cNvSpPr/>
          <p:nvPr/>
        </p:nvSpPr>
        <p:spPr>
          <a:xfrm>
            <a:off x="9284717" y="4182145"/>
            <a:ext cx="12002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time frame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38"/>
          <p:cNvSpPr/>
          <p:nvPr/>
        </p:nvSpPr>
        <p:spPr>
          <a:xfrm>
            <a:off x="6424464" y="4619997"/>
            <a:ext cx="114411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38"/>
          <p:cNvSpPr/>
          <p:nvPr/>
        </p:nvSpPr>
        <p:spPr>
          <a:xfrm>
            <a:off x="6586389" y="4686672"/>
            <a:ext cx="89646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revision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38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8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38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8"/>
          <p:cNvSpPr/>
          <p:nvPr/>
        </p:nvSpPr>
        <p:spPr>
          <a:xfrm>
            <a:off x="1247477" y="6067276"/>
            <a:ext cx="503583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routinely over extended time frames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38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38"/>
          <p:cNvSpPr/>
          <p:nvPr/>
        </p:nvSpPr>
        <p:spPr>
          <a:xfrm>
            <a:off x="1247477" y="6506170"/>
            <a:ext cx="36577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over shorter time frames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38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38"/>
          <p:cNvSpPr/>
          <p:nvPr/>
        </p:nvSpPr>
        <p:spPr>
          <a:xfrm>
            <a:off x="1247477" y="6945064"/>
            <a:ext cx="558712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Adjust process to task, purpose, and audience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38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38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38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38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approach a timed on-demand piece the same way as a multi-week project, and run out of time planning.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38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38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38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8"/>
          <p:cNvSpPr/>
          <p:nvPr/>
        </p:nvSpPr>
        <p:spPr>
          <a:xfrm>
            <a:off x="1218902" y="9905256"/>
            <a:ext cx="638399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for long projects and short assignments.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3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38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38"/>
          <p:cNvSpPr/>
          <p:nvPr/>
        </p:nvSpPr>
        <p:spPr>
          <a:xfrm>
            <a:off x="10870109" y="14897174"/>
            <a:ext cx="8171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W.3.10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3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39"/>
          <p:cNvSpPr/>
          <p:nvPr/>
        </p:nvSpPr>
        <p:spPr>
          <a:xfrm>
            <a:off x="533326" y="533326"/>
            <a:ext cx="97553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39"/>
          <p:cNvSpPr/>
          <p:nvPr/>
        </p:nvSpPr>
        <p:spPr>
          <a:xfrm>
            <a:off x="533326" y="847651"/>
            <a:ext cx="975537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Comprehension and Collaboration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39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39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SL.3.1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3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3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3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3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Engage effectively in a range of collaborative discussions on grade 3 topics and texts, building on others’ ideas and expressing their own clearly.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39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3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3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39"/>
          <p:cNvSpPr/>
          <p:nvPr/>
        </p:nvSpPr>
        <p:spPr>
          <a:xfrm>
            <a:off x="999902" y="4115470"/>
            <a:ext cx="423454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build on someone’s idea?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39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39"/>
          <p:cNvSpPr/>
          <p:nvPr/>
        </p:nvSpPr>
        <p:spPr>
          <a:xfrm>
            <a:off x="999902" y="4563963"/>
            <a:ext cx="39668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preparation look like?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39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3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39"/>
          <p:cNvSpPr/>
          <p:nvPr/>
        </p:nvSpPr>
        <p:spPr>
          <a:xfrm>
            <a:off x="6424464" y="4115470"/>
            <a:ext cx="143522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39"/>
          <p:cNvSpPr/>
          <p:nvPr/>
        </p:nvSpPr>
        <p:spPr>
          <a:xfrm>
            <a:off x="6586389" y="4182145"/>
            <a:ext cx="118757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39"/>
          <p:cNvSpPr/>
          <p:nvPr/>
        </p:nvSpPr>
        <p:spPr>
          <a:xfrm>
            <a:off x="7945413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39"/>
          <p:cNvSpPr/>
          <p:nvPr/>
        </p:nvSpPr>
        <p:spPr>
          <a:xfrm>
            <a:off x="8107338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prepared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39"/>
          <p:cNvSpPr/>
          <p:nvPr/>
        </p:nvSpPr>
        <p:spPr>
          <a:xfrm>
            <a:off x="9307860" y="4115470"/>
            <a:ext cx="115751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39"/>
          <p:cNvSpPr/>
          <p:nvPr/>
        </p:nvSpPr>
        <p:spPr>
          <a:xfrm>
            <a:off x="9469785" y="4182145"/>
            <a:ext cx="9098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build 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39"/>
          <p:cNvSpPr/>
          <p:nvPr/>
        </p:nvSpPr>
        <p:spPr>
          <a:xfrm>
            <a:off x="6424464" y="4619997"/>
            <a:ext cx="131645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39"/>
          <p:cNvSpPr/>
          <p:nvPr/>
        </p:nvSpPr>
        <p:spPr>
          <a:xfrm>
            <a:off x="6586389" y="4686672"/>
            <a:ext cx="1068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elaborate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39"/>
          <p:cNvSpPr/>
          <p:nvPr/>
        </p:nvSpPr>
        <p:spPr>
          <a:xfrm>
            <a:off x="7826648" y="4619997"/>
            <a:ext cx="8398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9"/>
          <p:cNvSpPr/>
          <p:nvPr/>
        </p:nvSpPr>
        <p:spPr>
          <a:xfrm>
            <a:off x="7988573" y="4686672"/>
            <a:ext cx="5921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rules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39"/>
          <p:cNvSpPr/>
          <p:nvPr/>
        </p:nvSpPr>
        <p:spPr>
          <a:xfrm>
            <a:off x="533326" y="5448226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39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39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39"/>
          <p:cNvSpPr/>
          <p:nvPr/>
        </p:nvSpPr>
        <p:spPr>
          <a:xfrm>
            <a:off x="1247477" y="6067276"/>
            <a:ext cx="367883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Come to discussions prepared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39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39"/>
          <p:cNvSpPr/>
          <p:nvPr/>
        </p:nvSpPr>
        <p:spPr>
          <a:xfrm>
            <a:off x="1247477" y="6506170"/>
            <a:ext cx="30735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Follow agreed-upon rules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39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39"/>
          <p:cNvSpPr/>
          <p:nvPr/>
        </p:nvSpPr>
        <p:spPr>
          <a:xfrm>
            <a:off x="1247477" y="6945064"/>
            <a:ext cx="45876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questions to check understanding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39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39"/>
          <p:cNvSpPr/>
          <p:nvPr/>
        </p:nvSpPr>
        <p:spPr>
          <a:xfrm>
            <a:off x="1247477" y="7383959"/>
            <a:ext cx="45275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own ideas and understanding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39"/>
          <p:cNvSpPr/>
          <p:nvPr/>
        </p:nvSpPr>
        <p:spPr>
          <a:xfrm>
            <a:off x="533326" y="812757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39"/>
          <p:cNvSpPr/>
          <p:nvPr/>
        </p:nvSpPr>
        <p:spPr>
          <a:xfrm>
            <a:off x="533326" y="812757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39"/>
          <p:cNvSpPr/>
          <p:nvPr/>
        </p:nvSpPr>
        <p:spPr>
          <a:xfrm>
            <a:off x="895201" y="831800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39"/>
          <p:cNvSpPr/>
          <p:nvPr/>
        </p:nvSpPr>
        <p:spPr>
          <a:xfrm>
            <a:off x="895201" y="867987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take turns delivering unconnected ideas. Discussion requires responding to what was just said.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39"/>
          <p:cNvSpPr/>
          <p:nvPr/>
        </p:nvSpPr>
        <p:spPr>
          <a:xfrm>
            <a:off x="533326" y="975367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39"/>
          <p:cNvSpPr/>
          <p:nvPr/>
        </p:nvSpPr>
        <p:spPr>
          <a:xfrm>
            <a:off x="780901" y="994410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39"/>
          <p:cNvSpPr/>
          <p:nvPr/>
        </p:nvSpPr>
        <p:spPr>
          <a:xfrm>
            <a:off x="780901" y="103727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39"/>
          <p:cNvSpPr/>
          <p:nvPr/>
        </p:nvSpPr>
        <p:spPr>
          <a:xfrm>
            <a:off x="1218902" y="10344150"/>
            <a:ext cx="650530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join a discussion and build on what others say.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3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3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39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SL.3.1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4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40"/>
          <p:cNvSpPr/>
          <p:nvPr/>
        </p:nvSpPr>
        <p:spPr>
          <a:xfrm>
            <a:off x="533326" y="533326"/>
            <a:ext cx="97553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40"/>
          <p:cNvSpPr/>
          <p:nvPr/>
        </p:nvSpPr>
        <p:spPr>
          <a:xfrm>
            <a:off x="533326" y="847651"/>
            <a:ext cx="975537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Comprehension and Collaboration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40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40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SL.3.2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4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4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4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4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main ideas and supporting details of a text read aloud or information presented in diverse media and formats.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40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4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4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40"/>
          <p:cNvSpPr/>
          <p:nvPr/>
        </p:nvSpPr>
        <p:spPr>
          <a:xfrm>
            <a:off x="999902" y="4115470"/>
            <a:ext cx="33004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were the main ideas?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40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40"/>
          <p:cNvSpPr/>
          <p:nvPr/>
        </p:nvSpPr>
        <p:spPr>
          <a:xfrm>
            <a:off x="999902" y="4563963"/>
            <a:ext cx="36184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details supported them?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40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4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40"/>
          <p:cNvSpPr/>
          <p:nvPr/>
        </p:nvSpPr>
        <p:spPr>
          <a:xfrm>
            <a:off x="6424464" y="4115470"/>
            <a:ext cx="135597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40"/>
          <p:cNvSpPr/>
          <p:nvPr/>
        </p:nvSpPr>
        <p:spPr>
          <a:xfrm>
            <a:off x="6586389" y="4182145"/>
            <a:ext cx="110832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main idea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40"/>
          <p:cNvSpPr/>
          <p:nvPr/>
        </p:nvSpPr>
        <p:spPr>
          <a:xfrm>
            <a:off x="7866162" y="4115470"/>
            <a:ext cx="207057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40"/>
          <p:cNvSpPr/>
          <p:nvPr/>
        </p:nvSpPr>
        <p:spPr>
          <a:xfrm>
            <a:off x="8028087" y="4182145"/>
            <a:ext cx="18229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supporting 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40"/>
          <p:cNvSpPr/>
          <p:nvPr/>
        </p:nvSpPr>
        <p:spPr>
          <a:xfrm>
            <a:off x="10022458" y="4115470"/>
            <a:ext cx="97222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40"/>
          <p:cNvSpPr/>
          <p:nvPr/>
        </p:nvSpPr>
        <p:spPr>
          <a:xfrm>
            <a:off x="10184383" y="4182145"/>
            <a:ext cx="7245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40"/>
          <p:cNvSpPr/>
          <p:nvPr/>
        </p:nvSpPr>
        <p:spPr>
          <a:xfrm>
            <a:off x="6424464" y="4619997"/>
            <a:ext cx="99833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40"/>
          <p:cNvSpPr/>
          <p:nvPr/>
        </p:nvSpPr>
        <p:spPr>
          <a:xfrm>
            <a:off x="6586389" y="4686672"/>
            <a:ext cx="750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40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40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40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40"/>
          <p:cNvSpPr/>
          <p:nvPr/>
        </p:nvSpPr>
        <p:spPr>
          <a:xfrm>
            <a:off x="1247477" y="6067276"/>
            <a:ext cx="76152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main ideas and supporting details from a read-aloud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40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40"/>
          <p:cNvSpPr/>
          <p:nvPr/>
        </p:nvSpPr>
        <p:spPr>
          <a:xfrm>
            <a:off x="1247477" y="6506170"/>
            <a:ext cx="634273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information from diverse media and formats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40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40"/>
          <p:cNvSpPr/>
          <p:nvPr/>
        </p:nvSpPr>
        <p:spPr>
          <a:xfrm>
            <a:off x="1247477" y="6945064"/>
            <a:ext cx="308873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Take notes while listening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40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40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40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40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record every detail with no hierarchy, or nothing at all. Structured note frames help.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40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40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40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40"/>
          <p:cNvSpPr/>
          <p:nvPr/>
        </p:nvSpPr>
        <p:spPr>
          <a:xfrm>
            <a:off x="1218902" y="9558784"/>
            <a:ext cx="603847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main ideas in something I listen to.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4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4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40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SL.3.2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4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41"/>
          <p:cNvSpPr/>
          <p:nvPr/>
        </p:nvSpPr>
        <p:spPr>
          <a:xfrm>
            <a:off x="533326" y="533326"/>
            <a:ext cx="97553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41"/>
          <p:cNvSpPr/>
          <p:nvPr/>
        </p:nvSpPr>
        <p:spPr>
          <a:xfrm>
            <a:off x="533326" y="847651"/>
            <a:ext cx="975537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Comprehension and Collaboration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41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41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SL.3.3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4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4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4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4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and answer questions about information from a speaker, offering appropriate elaboration and detail.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41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4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4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41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question moves the conversation forward?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41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41"/>
          <p:cNvSpPr/>
          <p:nvPr/>
        </p:nvSpPr>
        <p:spPr>
          <a:xfrm>
            <a:off x="999902" y="4898157"/>
            <a:ext cx="28156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ask for more?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41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4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41"/>
          <p:cNvSpPr/>
          <p:nvPr/>
        </p:nvSpPr>
        <p:spPr>
          <a:xfrm>
            <a:off x="6424464" y="4115470"/>
            <a:ext cx="15017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41"/>
          <p:cNvSpPr/>
          <p:nvPr/>
        </p:nvSpPr>
        <p:spPr>
          <a:xfrm>
            <a:off x="6586389" y="4182145"/>
            <a:ext cx="12541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elaboration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41"/>
          <p:cNvSpPr/>
          <p:nvPr/>
        </p:nvSpPr>
        <p:spPr>
          <a:xfrm>
            <a:off x="8011939" y="4115470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41"/>
          <p:cNvSpPr/>
          <p:nvPr/>
        </p:nvSpPr>
        <p:spPr>
          <a:xfrm>
            <a:off x="8173864" y="4182145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41"/>
          <p:cNvSpPr/>
          <p:nvPr/>
        </p:nvSpPr>
        <p:spPr>
          <a:xfrm>
            <a:off x="8990409" y="4115470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41"/>
          <p:cNvSpPr/>
          <p:nvPr/>
        </p:nvSpPr>
        <p:spPr>
          <a:xfrm>
            <a:off x="9152334" y="4182145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speaker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41"/>
          <p:cNvSpPr/>
          <p:nvPr/>
        </p:nvSpPr>
        <p:spPr>
          <a:xfrm>
            <a:off x="10246816" y="4115470"/>
            <a:ext cx="945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41"/>
          <p:cNvSpPr/>
          <p:nvPr/>
        </p:nvSpPr>
        <p:spPr>
          <a:xfrm>
            <a:off x="10408741" y="4182145"/>
            <a:ext cx="697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clarify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41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41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41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41"/>
          <p:cNvSpPr/>
          <p:nvPr/>
        </p:nvSpPr>
        <p:spPr>
          <a:xfrm>
            <a:off x="1247477" y="6260827"/>
            <a:ext cx="725182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and answer questions about information from a speaker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41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41"/>
          <p:cNvSpPr/>
          <p:nvPr/>
        </p:nvSpPr>
        <p:spPr>
          <a:xfrm>
            <a:off x="1247477" y="6699721"/>
            <a:ext cx="47345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Offer appropriate elaboration and detail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41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41"/>
          <p:cNvSpPr/>
          <p:nvPr/>
        </p:nvSpPr>
        <p:spPr>
          <a:xfrm>
            <a:off x="1247477" y="7138615"/>
            <a:ext cx="24524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Request clarification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41"/>
          <p:cNvSpPr/>
          <p:nvPr/>
        </p:nvSpPr>
        <p:spPr>
          <a:xfrm>
            <a:off x="533326" y="788223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41"/>
          <p:cNvSpPr/>
          <p:nvPr/>
        </p:nvSpPr>
        <p:spPr>
          <a:xfrm>
            <a:off x="533326" y="788223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41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41"/>
          <p:cNvSpPr/>
          <p:nvPr/>
        </p:nvSpPr>
        <p:spPr>
          <a:xfrm>
            <a:off x="895201" y="843453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ask yes-or-no questions that end the exchange rather than open it up.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41"/>
          <p:cNvSpPr/>
          <p:nvPr/>
        </p:nvSpPr>
        <p:spPr>
          <a:xfrm>
            <a:off x="533326" y="916185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41"/>
          <p:cNvSpPr/>
          <p:nvPr/>
        </p:nvSpPr>
        <p:spPr>
          <a:xfrm>
            <a:off x="780901" y="935228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41"/>
          <p:cNvSpPr/>
          <p:nvPr/>
        </p:nvSpPr>
        <p:spPr>
          <a:xfrm>
            <a:off x="780901" y="978091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41"/>
          <p:cNvSpPr/>
          <p:nvPr/>
        </p:nvSpPr>
        <p:spPr>
          <a:xfrm>
            <a:off x="1218902" y="9752335"/>
            <a:ext cx="572390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ask questions that get more information.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4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41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41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SL.3.3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42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42"/>
          <p:cNvSpPr/>
          <p:nvPr/>
        </p:nvSpPr>
        <p:spPr>
          <a:xfrm>
            <a:off x="533326" y="533326"/>
            <a:ext cx="104090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42"/>
          <p:cNvSpPr/>
          <p:nvPr/>
        </p:nvSpPr>
        <p:spPr>
          <a:xfrm>
            <a:off x="533326" y="847651"/>
            <a:ext cx="974667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Presentation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42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42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SL.3.4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42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42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42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42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Report on a topic or text, tell a story, or recount an experience with appropriate facts and relevant, descriptive details, speaking clearly at an understandable pace.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42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42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42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42"/>
          <p:cNvSpPr/>
          <p:nvPr/>
        </p:nvSpPr>
        <p:spPr>
          <a:xfrm>
            <a:off x="999902" y="4635401"/>
            <a:ext cx="364862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organize what I say?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42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42"/>
          <p:cNvSpPr/>
          <p:nvPr/>
        </p:nvSpPr>
        <p:spPr>
          <a:xfrm>
            <a:off x="999902" y="5083894"/>
            <a:ext cx="36036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pace do listeners need?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42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42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42"/>
          <p:cNvSpPr/>
          <p:nvPr/>
        </p:nvSpPr>
        <p:spPr>
          <a:xfrm>
            <a:off x="6424464" y="4635401"/>
            <a:ext cx="94565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42"/>
          <p:cNvSpPr/>
          <p:nvPr/>
        </p:nvSpPr>
        <p:spPr>
          <a:xfrm>
            <a:off x="6586389" y="4702076"/>
            <a:ext cx="6980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42"/>
          <p:cNvSpPr/>
          <p:nvPr/>
        </p:nvSpPr>
        <p:spPr>
          <a:xfrm>
            <a:off x="7455843" y="4635401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42"/>
          <p:cNvSpPr/>
          <p:nvPr/>
        </p:nvSpPr>
        <p:spPr>
          <a:xfrm>
            <a:off x="7617768" y="4702076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recount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42"/>
          <p:cNvSpPr/>
          <p:nvPr/>
        </p:nvSpPr>
        <p:spPr>
          <a:xfrm>
            <a:off x="8659341" y="4635401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42"/>
          <p:cNvSpPr/>
          <p:nvPr/>
        </p:nvSpPr>
        <p:spPr>
          <a:xfrm>
            <a:off x="8821266" y="4702076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relevant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42"/>
          <p:cNvSpPr/>
          <p:nvPr/>
        </p:nvSpPr>
        <p:spPr>
          <a:xfrm>
            <a:off x="9915748" y="4635401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42"/>
          <p:cNvSpPr/>
          <p:nvPr/>
        </p:nvSpPr>
        <p:spPr>
          <a:xfrm>
            <a:off x="10077673" y="4702076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pace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42"/>
          <p:cNvSpPr/>
          <p:nvPr/>
        </p:nvSpPr>
        <p:spPr>
          <a:xfrm>
            <a:off x="6424464" y="5139928"/>
            <a:ext cx="1091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42"/>
          <p:cNvSpPr/>
          <p:nvPr/>
        </p:nvSpPr>
        <p:spPr>
          <a:xfrm>
            <a:off x="6586389" y="5206603"/>
            <a:ext cx="843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audible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42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42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42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42"/>
          <p:cNvSpPr/>
          <p:nvPr/>
        </p:nvSpPr>
        <p:spPr>
          <a:xfrm>
            <a:off x="1247477" y="6587207"/>
            <a:ext cx="655539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Report on a topic or text with facts and relevant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42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42"/>
          <p:cNvSpPr/>
          <p:nvPr/>
        </p:nvSpPr>
        <p:spPr>
          <a:xfrm>
            <a:off x="1247477" y="7026101"/>
            <a:ext cx="43904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Tell a story or recount an experience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42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42"/>
          <p:cNvSpPr/>
          <p:nvPr/>
        </p:nvSpPr>
        <p:spPr>
          <a:xfrm>
            <a:off x="1247477" y="7464996"/>
            <a:ext cx="49363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Speak clearly at an understandable pace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42"/>
          <p:cNvSpPr/>
          <p:nvPr/>
        </p:nvSpPr>
        <p:spPr>
          <a:xfrm>
            <a:off x="533326" y="820861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42"/>
          <p:cNvSpPr/>
          <p:nvPr/>
        </p:nvSpPr>
        <p:spPr>
          <a:xfrm>
            <a:off x="533326" y="820861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42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42"/>
          <p:cNvSpPr/>
          <p:nvPr/>
        </p:nvSpPr>
        <p:spPr>
          <a:xfrm>
            <a:off x="895201" y="876091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Nervousness produces rushing. Rehearsal with a timer is the most reliable fix.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42"/>
          <p:cNvSpPr/>
          <p:nvPr/>
        </p:nvSpPr>
        <p:spPr>
          <a:xfrm>
            <a:off x="533326" y="948823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42"/>
          <p:cNvSpPr/>
          <p:nvPr/>
        </p:nvSpPr>
        <p:spPr>
          <a:xfrm>
            <a:off x="780901" y="967866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42"/>
          <p:cNvSpPr/>
          <p:nvPr/>
        </p:nvSpPr>
        <p:spPr>
          <a:xfrm>
            <a:off x="780901" y="1010729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42"/>
          <p:cNvSpPr/>
          <p:nvPr/>
        </p:nvSpPr>
        <p:spPr>
          <a:xfrm>
            <a:off x="1218902" y="10078715"/>
            <a:ext cx="456065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present clearly at a good pace.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4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42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42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SL.3.4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43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43"/>
          <p:cNvSpPr/>
          <p:nvPr/>
        </p:nvSpPr>
        <p:spPr>
          <a:xfrm>
            <a:off x="533326" y="533326"/>
            <a:ext cx="104090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43"/>
          <p:cNvSpPr/>
          <p:nvPr/>
        </p:nvSpPr>
        <p:spPr>
          <a:xfrm>
            <a:off x="533326" y="847651"/>
            <a:ext cx="974667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Presentation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43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43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SL.3.5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43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43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43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43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Create engaging audio recordings of stories or poems; add visual displays when appropriate to emphasize or enhance certain facts or details.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43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43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43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43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audio or visual support my message?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43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43"/>
          <p:cNvSpPr/>
          <p:nvPr/>
        </p:nvSpPr>
        <p:spPr>
          <a:xfrm>
            <a:off x="999902" y="5418088"/>
            <a:ext cx="32097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should I emphasize?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p43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43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43"/>
          <p:cNvSpPr/>
          <p:nvPr/>
        </p:nvSpPr>
        <p:spPr>
          <a:xfrm>
            <a:off x="6424464" y="4635401"/>
            <a:ext cx="196475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43"/>
          <p:cNvSpPr/>
          <p:nvPr/>
        </p:nvSpPr>
        <p:spPr>
          <a:xfrm>
            <a:off x="6586389" y="4702076"/>
            <a:ext cx="17171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audio recording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43"/>
          <p:cNvSpPr/>
          <p:nvPr/>
        </p:nvSpPr>
        <p:spPr>
          <a:xfrm>
            <a:off x="8474943" y="4635401"/>
            <a:ext cx="173950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43"/>
          <p:cNvSpPr/>
          <p:nvPr/>
        </p:nvSpPr>
        <p:spPr>
          <a:xfrm>
            <a:off x="8636868" y="4702076"/>
            <a:ext cx="149185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visual display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43"/>
          <p:cNvSpPr/>
          <p:nvPr/>
        </p:nvSpPr>
        <p:spPr>
          <a:xfrm>
            <a:off x="6424464" y="5139928"/>
            <a:ext cx="147496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43"/>
          <p:cNvSpPr/>
          <p:nvPr/>
        </p:nvSpPr>
        <p:spPr>
          <a:xfrm>
            <a:off x="6586389" y="5206603"/>
            <a:ext cx="12273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emphasize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43"/>
          <p:cNvSpPr/>
          <p:nvPr/>
        </p:nvSpPr>
        <p:spPr>
          <a:xfrm>
            <a:off x="7985150" y="5139928"/>
            <a:ext cx="76036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43"/>
          <p:cNvSpPr/>
          <p:nvPr/>
        </p:nvSpPr>
        <p:spPr>
          <a:xfrm>
            <a:off x="8147075" y="5206603"/>
            <a:ext cx="51271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fluid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43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43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43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43"/>
          <p:cNvSpPr/>
          <p:nvPr/>
        </p:nvSpPr>
        <p:spPr>
          <a:xfrm>
            <a:off x="1247477" y="6780758"/>
            <a:ext cx="62231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Create engaging audio recordings with fluid reading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43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43"/>
          <p:cNvSpPr/>
          <p:nvPr/>
        </p:nvSpPr>
        <p:spPr>
          <a:xfrm>
            <a:off x="1247477" y="7219652"/>
            <a:ext cx="58437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visual displays to emphasize facts or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43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43"/>
          <p:cNvSpPr/>
          <p:nvPr/>
        </p:nvSpPr>
        <p:spPr>
          <a:xfrm>
            <a:off x="1247477" y="7658546"/>
            <a:ext cx="41783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Match the medium to the message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43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43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43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43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Slides get filled with text and read aloud verbatim, which duplicates rather than supports the message.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43"/>
          <p:cNvSpPr/>
          <p:nvPr/>
        </p:nvSpPr>
        <p:spPr>
          <a:xfrm>
            <a:off x="533326" y="1002826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43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43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43"/>
          <p:cNvSpPr/>
          <p:nvPr/>
        </p:nvSpPr>
        <p:spPr>
          <a:xfrm>
            <a:off x="1218902" y="10618738"/>
            <a:ext cx="693479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audio or visuals that strengthen my message.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4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43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43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SL.3.5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44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44"/>
          <p:cNvSpPr/>
          <p:nvPr/>
        </p:nvSpPr>
        <p:spPr>
          <a:xfrm>
            <a:off x="533326" y="533326"/>
            <a:ext cx="104090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44"/>
          <p:cNvSpPr/>
          <p:nvPr/>
        </p:nvSpPr>
        <p:spPr>
          <a:xfrm>
            <a:off x="533326" y="847651"/>
            <a:ext cx="974667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Presentation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44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44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SL.3.6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44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44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44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44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Speak in complete sentences when appropriate to task and situation in order to provide requested detail or clarification.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44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44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44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44"/>
          <p:cNvSpPr/>
          <p:nvPr/>
        </p:nvSpPr>
        <p:spPr>
          <a:xfrm>
            <a:off x="999902" y="4635401"/>
            <a:ext cx="479935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When is a complete sentence required?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44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44"/>
          <p:cNvSpPr/>
          <p:nvPr/>
        </p:nvSpPr>
        <p:spPr>
          <a:xfrm>
            <a:off x="999902" y="5083894"/>
            <a:ext cx="422472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add the detail requested?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44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44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44"/>
          <p:cNvSpPr/>
          <p:nvPr/>
        </p:nvSpPr>
        <p:spPr>
          <a:xfrm>
            <a:off x="6424464" y="4635401"/>
            <a:ext cx="232194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44"/>
          <p:cNvSpPr/>
          <p:nvPr/>
        </p:nvSpPr>
        <p:spPr>
          <a:xfrm>
            <a:off x="6586389" y="4702076"/>
            <a:ext cx="207429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complete sentence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44"/>
          <p:cNvSpPr/>
          <p:nvPr/>
        </p:nvSpPr>
        <p:spPr>
          <a:xfrm>
            <a:off x="8832131" y="4635401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44"/>
          <p:cNvSpPr/>
          <p:nvPr/>
        </p:nvSpPr>
        <p:spPr>
          <a:xfrm>
            <a:off x="8994056" y="4702076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44"/>
          <p:cNvSpPr/>
          <p:nvPr/>
        </p:nvSpPr>
        <p:spPr>
          <a:xfrm>
            <a:off x="6424464" y="5139928"/>
            <a:ext cx="151447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44"/>
          <p:cNvSpPr/>
          <p:nvPr/>
        </p:nvSpPr>
        <p:spPr>
          <a:xfrm>
            <a:off x="6586389" y="5206603"/>
            <a:ext cx="126682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clarification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p44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44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44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44"/>
          <p:cNvSpPr/>
          <p:nvPr/>
        </p:nvSpPr>
        <p:spPr>
          <a:xfrm>
            <a:off x="1247477" y="6587207"/>
            <a:ext cx="573839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Speak in complete sentences when appropriate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44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44"/>
          <p:cNvSpPr/>
          <p:nvPr/>
        </p:nvSpPr>
        <p:spPr>
          <a:xfrm>
            <a:off x="1247477" y="7026101"/>
            <a:ext cx="46932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requested detail or clarification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44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44"/>
          <p:cNvSpPr/>
          <p:nvPr/>
        </p:nvSpPr>
        <p:spPr>
          <a:xfrm>
            <a:off x="1247477" y="7464996"/>
            <a:ext cx="29224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Adapt speech to context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44"/>
          <p:cNvSpPr/>
          <p:nvPr/>
        </p:nvSpPr>
        <p:spPr>
          <a:xfrm>
            <a:off x="533326" y="820861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44"/>
          <p:cNvSpPr/>
          <p:nvPr/>
        </p:nvSpPr>
        <p:spPr>
          <a:xfrm>
            <a:off x="533326" y="820861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44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44"/>
          <p:cNvSpPr/>
          <p:nvPr/>
        </p:nvSpPr>
        <p:spPr>
          <a:xfrm>
            <a:off x="895201" y="876091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answer in fragments in academic settings where a full response is expected.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44"/>
          <p:cNvSpPr/>
          <p:nvPr/>
        </p:nvSpPr>
        <p:spPr>
          <a:xfrm>
            <a:off x="533326" y="948823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44"/>
          <p:cNvSpPr/>
          <p:nvPr/>
        </p:nvSpPr>
        <p:spPr>
          <a:xfrm>
            <a:off x="780901" y="967866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44"/>
          <p:cNvSpPr/>
          <p:nvPr/>
        </p:nvSpPr>
        <p:spPr>
          <a:xfrm>
            <a:off x="780901" y="1010729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44"/>
          <p:cNvSpPr/>
          <p:nvPr/>
        </p:nvSpPr>
        <p:spPr>
          <a:xfrm>
            <a:off x="1218902" y="10078715"/>
            <a:ext cx="651045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answer in complete sentences when I need to.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4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44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44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SL.3.6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4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45"/>
          <p:cNvSpPr/>
          <p:nvPr/>
        </p:nvSpPr>
        <p:spPr>
          <a:xfrm>
            <a:off x="533326" y="533326"/>
            <a:ext cx="93693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45"/>
          <p:cNvSpPr/>
          <p:nvPr/>
        </p:nvSpPr>
        <p:spPr>
          <a:xfrm>
            <a:off x="533326" y="847651"/>
            <a:ext cx="936934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Conventions of Standard English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45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45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L.3.1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4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4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4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4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command of the conventions of standard English grammar and usage when writing or speaking.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45"/>
          <p:cNvSpPr/>
          <p:nvPr/>
        </p:nvSpPr>
        <p:spPr>
          <a:xfrm>
            <a:off x="533326" y="3496419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4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4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45"/>
          <p:cNvSpPr/>
          <p:nvPr/>
        </p:nvSpPr>
        <p:spPr>
          <a:xfrm>
            <a:off x="999902" y="4115470"/>
            <a:ext cx="36036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job does each word do?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4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45"/>
          <p:cNvSpPr/>
          <p:nvPr/>
        </p:nvSpPr>
        <p:spPr>
          <a:xfrm>
            <a:off x="999902" y="4563963"/>
            <a:ext cx="407271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keep tenses consistent?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45"/>
          <p:cNvSpPr/>
          <p:nvPr/>
        </p:nvSpPr>
        <p:spPr>
          <a:xfrm>
            <a:off x="6167289" y="3496419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4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45"/>
          <p:cNvSpPr/>
          <p:nvPr/>
        </p:nvSpPr>
        <p:spPr>
          <a:xfrm>
            <a:off x="6424464" y="4115470"/>
            <a:ext cx="85323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45"/>
          <p:cNvSpPr/>
          <p:nvPr/>
        </p:nvSpPr>
        <p:spPr>
          <a:xfrm>
            <a:off x="6586389" y="4182145"/>
            <a:ext cx="60558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noun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45"/>
          <p:cNvSpPr/>
          <p:nvPr/>
        </p:nvSpPr>
        <p:spPr>
          <a:xfrm>
            <a:off x="7363420" y="4115470"/>
            <a:ext cx="119747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45"/>
          <p:cNvSpPr/>
          <p:nvPr/>
        </p:nvSpPr>
        <p:spPr>
          <a:xfrm>
            <a:off x="7525345" y="4182145"/>
            <a:ext cx="9498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pronoun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45"/>
          <p:cNvSpPr/>
          <p:nvPr/>
        </p:nvSpPr>
        <p:spPr>
          <a:xfrm>
            <a:off x="8646616" y="4115470"/>
            <a:ext cx="78692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45"/>
          <p:cNvSpPr/>
          <p:nvPr/>
        </p:nvSpPr>
        <p:spPr>
          <a:xfrm>
            <a:off x="8808541" y="4182145"/>
            <a:ext cx="53927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verb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45"/>
          <p:cNvSpPr/>
          <p:nvPr/>
        </p:nvSpPr>
        <p:spPr>
          <a:xfrm>
            <a:off x="9519270" y="4115470"/>
            <a:ext cx="12633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45"/>
          <p:cNvSpPr/>
          <p:nvPr/>
        </p:nvSpPr>
        <p:spPr>
          <a:xfrm>
            <a:off x="9681195" y="4182145"/>
            <a:ext cx="10156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adjective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45"/>
          <p:cNvSpPr/>
          <p:nvPr/>
        </p:nvSpPr>
        <p:spPr>
          <a:xfrm>
            <a:off x="6424464" y="4619997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45"/>
          <p:cNvSpPr/>
          <p:nvPr/>
        </p:nvSpPr>
        <p:spPr>
          <a:xfrm>
            <a:off x="6586389" y="4686672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adverb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45"/>
          <p:cNvSpPr/>
          <p:nvPr/>
        </p:nvSpPr>
        <p:spPr>
          <a:xfrm>
            <a:off x="7561883" y="4619997"/>
            <a:ext cx="162029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45"/>
          <p:cNvSpPr/>
          <p:nvPr/>
        </p:nvSpPr>
        <p:spPr>
          <a:xfrm>
            <a:off x="7723808" y="4686672"/>
            <a:ext cx="137264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comparative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45"/>
          <p:cNvSpPr/>
          <p:nvPr/>
        </p:nvSpPr>
        <p:spPr>
          <a:xfrm>
            <a:off x="9267899" y="4619997"/>
            <a:ext cx="147496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45"/>
          <p:cNvSpPr/>
          <p:nvPr/>
        </p:nvSpPr>
        <p:spPr>
          <a:xfrm>
            <a:off x="9429824" y="4686672"/>
            <a:ext cx="12273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superlative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45"/>
          <p:cNvSpPr/>
          <p:nvPr/>
        </p:nvSpPr>
        <p:spPr>
          <a:xfrm>
            <a:off x="6424464" y="5124524"/>
            <a:ext cx="143544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45"/>
          <p:cNvSpPr/>
          <p:nvPr/>
        </p:nvSpPr>
        <p:spPr>
          <a:xfrm>
            <a:off x="6586389" y="5191199"/>
            <a:ext cx="118779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compound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45"/>
          <p:cNvSpPr/>
          <p:nvPr/>
        </p:nvSpPr>
        <p:spPr>
          <a:xfrm>
            <a:off x="533326" y="5952753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45"/>
          <p:cNvSpPr/>
          <p:nvPr/>
        </p:nvSpPr>
        <p:spPr>
          <a:xfrm>
            <a:off x="809476" y="617175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45"/>
          <p:cNvSpPr/>
          <p:nvPr/>
        </p:nvSpPr>
        <p:spPr>
          <a:xfrm>
            <a:off x="809476" y="66003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45"/>
          <p:cNvSpPr/>
          <p:nvPr/>
        </p:nvSpPr>
        <p:spPr>
          <a:xfrm>
            <a:off x="1247477" y="6571804"/>
            <a:ext cx="861520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the function of nouns, pronouns, verbs, adjectives, and adverbs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45"/>
          <p:cNvSpPr/>
          <p:nvPr/>
        </p:nvSpPr>
        <p:spPr>
          <a:xfrm>
            <a:off x="809476" y="70392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45"/>
          <p:cNvSpPr/>
          <p:nvPr/>
        </p:nvSpPr>
        <p:spPr>
          <a:xfrm>
            <a:off x="1247477" y="7010698"/>
            <a:ext cx="704014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Form and use regular and irregular plural nouns and verbs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45"/>
          <p:cNvSpPr/>
          <p:nvPr/>
        </p:nvSpPr>
        <p:spPr>
          <a:xfrm>
            <a:off x="809476" y="74781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45"/>
          <p:cNvSpPr/>
          <p:nvPr/>
        </p:nvSpPr>
        <p:spPr>
          <a:xfrm>
            <a:off x="1247477" y="7449592"/>
            <a:ext cx="682797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comparative and superlative adjectives and adverbs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45"/>
          <p:cNvSpPr/>
          <p:nvPr/>
        </p:nvSpPr>
        <p:spPr>
          <a:xfrm>
            <a:off x="809476" y="791706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45"/>
          <p:cNvSpPr/>
          <p:nvPr/>
        </p:nvSpPr>
        <p:spPr>
          <a:xfrm>
            <a:off x="1247477" y="7888486"/>
            <a:ext cx="63135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Produce simple, compound, and complex sentences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45"/>
          <p:cNvSpPr/>
          <p:nvPr/>
        </p:nvSpPr>
        <p:spPr>
          <a:xfrm>
            <a:off x="533326" y="8632106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45"/>
          <p:cNvSpPr/>
          <p:nvPr/>
        </p:nvSpPr>
        <p:spPr>
          <a:xfrm>
            <a:off x="533326" y="8632106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45"/>
          <p:cNvSpPr/>
          <p:nvPr/>
        </p:nvSpPr>
        <p:spPr>
          <a:xfrm>
            <a:off x="895201" y="882253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45"/>
          <p:cNvSpPr/>
          <p:nvPr/>
        </p:nvSpPr>
        <p:spPr>
          <a:xfrm>
            <a:off x="895201" y="9184407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shift verb tense mid-paragraph without noticing, moving between past and present.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45"/>
          <p:cNvSpPr/>
          <p:nvPr/>
        </p:nvSpPr>
        <p:spPr>
          <a:xfrm>
            <a:off x="533326" y="991173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45"/>
          <p:cNvSpPr/>
          <p:nvPr/>
        </p:nvSpPr>
        <p:spPr>
          <a:xfrm>
            <a:off x="780901" y="1010215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45"/>
          <p:cNvSpPr/>
          <p:nvPr/>
        </p:nvSpPr>
        <p:spPr>
          <a:xfrm>
            <a:off x="780901" y="1053078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45"/>
          <p:cNvSpPr/>
          <p:nvPr/>
        </p:nvSpPr>
        <p:spPr>
          <a:xfrm>
            <a:off x="1218902" y="10502205"/>
            <a:ext cx="599157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name what each word does in a sentence.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45"/>
          <p:cNvSpPr/>
          <p:nvPr/>
        </p:nvSpPr>
        <p:spPr>
          <a:xfrm>
            <a:off x="780901" y="1097302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45"/>
          <p:cNvSpPr/>
          <p:nvPr/>
        </p:nvSpPr>
        <p:spPr>
          <a:xfrm>
            <a:off x="1218902" y="10944448"/>
            <a:ext cx="473304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keep my verb tenses consistent.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4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45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45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L.3.1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4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46"/>
          <p:cNvSpPr/>
          <p:nvPr/>
        </p:nvSpPr>
        <p:spPr>
          <a:xfrm>
            <a:off x="533326" y="533326"/>
            <a:ext cx="93693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46"/>
          <p:cNvSpPr/>
          <p:nvPr/>
        </p:nvSpPr>
        <p:spPr>
          <a:xfrm>
            <a:off x="533326" y="847651"/>
            <a:ext cx="936934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Conventions of Standard English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46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46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L.3.2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4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4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4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4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command of the conventions of standard English capitalization, punctuation, and spelling when writing.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46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4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4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5" name="Google Shape;2195;p46"/>
          <p:cNvSpPr/>
          <p:nvPr/>
        </p:nvSpPr>
        <p:spPr>
          <a:xfrm>
            <a:off x="999902" y="4115470"/>
            <a:ext cx="39369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does the punctuation go?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4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46"/>
          <p:cNvSpPr/>
          <p:nvPr/>
        </p:nvSpPr>
        <p:spPr>
          <a:xfrm>
            <a:off x="999902" y="4563963"/>
            <a:ext cx="32400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check a spelling?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46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4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46"/>
          <p:cNvSpPr/>
          <p:nvPr/>
        </p:nvSpPr>
        <p:spPr>
          <a:xfrm>
            <a:off x="6424464" y="4115470"/>
            <a:ext cx="131623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46"/>
          <p:cNvSpPr/>
          <p:nvPr/>
        </p:nvSpPr>
        <p:spPr>
          <a:xfrm>
            <a:off x="6586389" y="4182145"/>
            <a:ext cx="106858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capitalize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46"/>
          <p:cNvSpPr/>
          <p:nvPr/>
        </p:nvSpPr>
        <p:spPr>
          <a:xfrm>
            <a:off x="7826425" y="4115470"/>
            <a:ext cx="110415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46"/>
          <p:cNvSpPr/>
          <p:nvPr/>
        </p:nvSpPr>
        <p:spPr>
          <a:xfrm>
            <a:off x="7988350" y="4182145"/>
            <a:ext cx="85650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comma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46"/>
          <p:cNvSpPr/>
          <p:nvPr/>
        </p:nvSpPr>
        <p:spPr>
          <a:xfrm>
            <a:off x="9016305" y="4115470"/>
            <a:ext cx="150130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46"/>
          <p:cNvSpPr/>
          <p:nvPr/>
        </p:nvSpPr>
        <p:spPr>
          <a:xfrm>
            <a:off x="9178230" y="4182145"/>
            <a:ext cx="125365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possessive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46"/>
          <p:cNvSpPr/>
          <p:nvPr/>
        </p:nvSpPr>
        <p:spPr>
          <a:xfrm>
            <a:off x="6424464" y="4619997"/>
            <a:ext cx="12238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46"/>
          <p:cNvSpPr/>
          <p:nvPr/>
        </p:nvSpPr>
        <p:spPr>
          <a:xfrm>
            <a:off x="6586389" y="4686672"/>
            <a:ext cx="9761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p46"/>
          <p:cNvSpPr/>
          <p:nvPr/>
        </p:nvSpPr>
        <p:spPr>
          <a:xfrm>
            <a:off x="7734002" y="4619997"/>
            <a:ext cx="201744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46"/>
          <p:cNvSpPr/>
          <p:nvPr/>
        </p:nvSpPr>
        <p:spPr>
          <a:xfrm>
            <a:off x="7895927" y="4686672"/>
            <a:ext cx="17697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quotation marks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46"/>
          <p:cNvSpPr/>
          <p:nvPr/>
        </p:nvSpPr>
        <p:spPr>
          <a:xfrm>
            <a:off x="533326" y="5448226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46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46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46"/>
          <p:cNvSpPr/>
          <p:nvPr/>
        </p:nvSpPr>
        <p:spPr>
          <a:xfrm>
            <a:off x="1247477" y="6067276"/>
            <a:ext cx="43752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Capitalize appropriate words in titles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46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46"/>
          <p:cNvSpPr/>
          <p:nvPr/>
        </p:nvSpPr>
        <p:spPr>
          <a:xfrm>
            <a:off x="1247477" y="6506170"/>
            <a:ext cx="48447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commas in addresses and dialogue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46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46"/>
          <p:cNvSpPr/>
          <p:nvPr/>
        </p:nvSpPr>
        <p:spPr>
          <a:xfrm>
            <a:off x="1247477" y="6945064"/>
            <a:ext cx="32395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Form and use possessives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46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46"/>
          <p:cNvSpPr/>
          <p:nvPr/>
        </p:nvSpPr>
        <p:spPr>
          <a:xfrm>
            <a:off x="1247477" y="7383959"/>
            <a:ext cx="53747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spelling patterns and consult references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46"/>
          <p:cNvSpPr/>
          <p:nvPr/>
        </p:nvSpPr>
        <p:spPr>
          <a:xfrm>
            <a:off x="533326" y="812757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46"/>
          <p:cNvSpPr/>
          <p:nvPr/>
        </p:nvSpPr>
        <p:spPr>
          <a:xfrm>
            <a:off x="533326" y="812757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46"/>
          <p:cNvSpPr/>
          <p:nvPr/>
        </p:nvSpPr>
        <p:spPr>
          <a:xfrm>
            <a:off x="895201" y="831800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46"/>
          <p:cNvSpPr/>
          <p:nvPr/>
        </p:nvSpPr>
        <p:spPr>
          <a:xfrm>
            <a:off x="895201" y="867987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Quotation marks appear without the comma that introduces the quotation, or the end punctuation lands outside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46"/>
          <p:cNvSpPr/>
          <p:nvPr/>
        </p:nvSpPr>
        <p:spPr>
          <a:xfrm>
            <a:off x="533326" y="9753674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46"/>
          <p:cNvSpPr/>
          <p:nvPr/>
        </p:nvSpPr>
        <p:spPr>
          <a:xfrm>
            <a:off x="780901" y="994410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46"/>
          <p:cNvSpPr/>
          <p:nvPr/>
        </p:nvSpPr>
        <p:spPr>
          <a:xfrm>
            <a:off x="780901" y="103727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46"/>
          <p:cNvSpPr/>
          <p:nvPr/>
        </p:nvSpPr>
        <p:spPr>
          <a:xfrm>
            <a:off x="1218902" y="10344150"/>
            <a:ext cx="428808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punctuate dialogue correctly.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46"/>
          <p:cNvSpPr/>
          <p:nvPr/>
        </p:nvSpPr>
        <p:spPr>
          <a:xfrm>
            <a:off x="780901" y="1081496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46"/>
          <p:cNvSpPr/>
          <p:nvPr/>
        </p:nvSpPr>
        <p:spPr>
          <a:xfrm>
            <a:off x="1218902" y="10786393"/>
            <a:ext cx="454420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commas and possessives.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4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46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46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L.3.2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47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47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47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p47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L.3.3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4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4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4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4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knowledge of language and its conventions when writing, speaking, reading, or listening.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47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4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4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47"/>
          <p:cNvSpPr/>
          <p:nvPr/>
        </p:nvSpPr>
        <p:spPr>
          <a:xfrm>
            <a:off x="999902" y="4115470"/>
            <a:ext cx="30123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words say it best?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47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47"/>
          <p:cNvSpPr/>
          <p:nvPr/>
        </p:nvSpPr>
        <p:spPr>
          <a:xfrm>
            <a:off x="999902" y="4563963"/>
            <a:ext cx="310371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When should I be formal?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47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4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47"/>
          <p:cNvSpPr/>
          <p:nvPr/>
        </p:nvSpPr>
        <p:spPr>
          <a:xfrm>
            <a:off x="6424464" y="4115470"/>
            <a:ext cx="90167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47"/>
          <p:cNvSpPr/>
          <p:nvPr/>
        </p:nvSpPr>
        <p:spPr>
          <a:xfrm>
            <a:off x="6586389" y="4182145"/>
            <a:ext cx="65402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effect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47"/>
          <p:cNvSpPr/>
          <p:nvPr/>
        </p:nvSpPr>
        <p:spPr>
          <a:xfrm>
            <a:off x="7411864" y="4115470"/>
            <a:ext cx="98516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47"/>
          <p:cNvSpPr/>
          <p:nvPr/>
        </p:nvSpPr>
        <p:spPr>
          <a:xfrm>
            <a:off x="7573789" y="4182145"/>
            <a:ext cx="73751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formal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47"/>
          <p:cNvSpPr/>
          <p:nvPr/>
        </p:nvSpPr>
        <p:spPr>
          <a:xfrm>
            <a:off x="8482757" y="4115470"/>
            <a:ext cx="117045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47"/>
          <p:cNvSpPr/>
          <p:nvPr/>
        </p:nvSpPr>
        <p:spPr>
          <a:xfrm>
            <a:off x="8644682" y="4182145"/>
            <a:ext cx="922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informal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47"/>
          <p:cNvSpPr/>
          <p:nvPr/>
        </p:nvSpPr>
        <p:spPr>
          <a:xfrm>
            <a:off x="9738940" y="4115470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47"/>
          <p:cNvSpPr/>
          <p:nvPr/>
        </p:nvSpPr>
        <p:spPr>
          <a:xfrm>
            <a:off x="9900865" y="4182145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register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47"/>
          <p:cNvSpPr/>
          <p:nvPr/>
        </p:nvSpPr>
        <p:spPr>
          <a:xfrm>
            <a:off x="6424464" y="4619997"/>
            <a:ext cx="159394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47"/>
          <p:cNvSpPr/>
          <p:nvPr/>
        </p:nvSpPr>
        <p:spPr>
          <a:xfrm>
            <a:off x="6586389" y="4686672"/>
            <a:ext cx="13462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word choice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47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47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47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47"/>
          <p:cNvSpPr/>
          <p:nvPr/>
        </p:nvSpPr>
        <p:spPr>
          <a:xfrm>
            <a:off x="1247477" y="6067276"/>
            <a:ext cx="44462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Choose words and phrases for effect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47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47"/>
          <p:cNvSpPr/>
          <p:nvPr/>
        </p:nvSpPr>
        <p:spPr>
          <a:xfrm>
            <a:off x="1247477" y="6506170"/>
            <a:ext cx="87011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and observe differences between spoken and written English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47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47"/>
          <p:cNvSpPr/>
          <p:nvPr/>
        </p:nvSpPr>
        <p:spPr>
          <a:xfrm>
            <a:off x="1247477" y="6945064"/>
            <a:ext cx="331563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Adjust register for audience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47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47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47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47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write in text-message register in academic pieces because no one named the difference.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47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47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47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47"/>
          <p:cNvSpPr/>
          <p:nvPr/>
        </p:nvSpPr>
        <p:spPr>
          <a:xfrm>
            <a:off x="1218902" y="9905256"/>
            <a:ext cx="628993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pick words that fit my purpose and audience.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4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47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47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L.3.3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4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48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1" name="Google Shape;2291;p48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48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48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L.3.4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4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4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4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4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or clarify the meaning of unknown and multiple-meaning words and phrases based on grade 3 reading and content.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48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4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4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48"/>
          <p:cNvSpPr/>
          <p:nvPr/>
        </p:nvSpPr>
        <p:spPr>
          <a:xfrm>
            <a:off x="999902" y="4115470"/>
            <a:ext cx="458693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strategy fits this unknown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4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48"/>
          <p:cNvSpPr/>
          <p:nvPr/>
        </p:nvSpPr>
        <p:spPr>
          <a:xfrm>
            <a:off x="999902" y="4563963"/>
            <a:ext cx="343621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confirm my guess?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48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4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48"/>
          <p:cNvSpPr/>
          <p:nvPr/>
        </p:nvSpPr>
        <p:spPr>
          <a:xfrm>
            <a:off x="6424464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48"/>
          <p:cNvSpPr/>
          <p:nvPr/>
        </p:nvSpPr>
        <p:spPr>
          <a:xfrm>
            <a:off x="6586389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48"/>
          <p:cNvSpPr/>
          <p:nvPr/>
        </p:nvSpPr>
        <p:spPr>
          <a:xfrm>
            <a:off x="7601396" y="4115470"/>
            <a:ext cx="75612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48"/>
          <p:cNvSpPr/>
          <p:nvPr/>
        </p:nvSpPr>
        <p:spPr>
          <a:xfrm>
            <a:off x="7763321" y="4182145"/>
            <a:ext cx="5084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affix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48"/>
          <p:cNvSpPr/>
          <p:nvPr/>
        </p:nvSpPr>
        <p:spPr>
          <a:xfrm>
            <a:off x="8443243" y="4115470"/>
            <a:ext cx="131601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48"/>
          <p:cNvSpPr/>
          <p:nvPr/>
        </p:nvSpPr>
        <p:spPr>
          <a:xfrm>
            <a:off x="8605168" y="4182145"/>
            <a:ext cx="106836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root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48"/>
          <p:cNvSpPr/>
          <p:nvPr/>
        </p:nvSpPr>
        <p:spPr>
          <a:xfrm>
            <a:off x="9844980" y="4115470"/>
            <a:ext cx="12101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48"/>
          <p:cNvSpPr/>
          <p:nvPr/>
        </p:nvSpPr>
        <p:spPr>
          <a:xfrm>
            <a:off x="10006905" y="4182145"/>
            <a:ext cx="962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glossary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48"/>
          <p:cNvSpPr/>
          <p:nvPr/>
        </p:nvSpPr>
        <p:spPr>
          <a:xfrm>
            <a:off x="6424464" y="4619997"/>
            <a:ext cx="134257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48"/>
          <p:cNvSpPr/>
          <p:nvPr/>
        </p:nvSpPr>
        <p:spPr>
          <a:xfrm>
            <a:off x="6586389" y="4686672"/>
            <a:ext cx="10949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p48"/>
          <p:cNvSpPr/>
          <p:nvPr/>
        </p:nvSpPr>
        <p:spPr>
          <a:xfrm>
            <a:off x="533326" y="5448226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48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p48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48"/>
          <p:cNvSpPr/>
          <p:nvPr/>
        </p:nvSpPr>
        <p:spPr>
          <a:xfrm>
            <a:off x="1247477" y="6067276"/>
            <a:ext cx="44359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sentence-level context as a clue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p48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48"/>
          <p:cNvSpPr/>
          <p:nvPr/>
        </p:nvSpPr>
        <p:spPr>
          <a:xfrm>
            <a:off x="1247477" y="6506170"/>
            <a:ext cx="576270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meaning of words with known affixes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48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48"/>
          <p:cNvSpPr/>
          <p:nvPr/>
        </p:nvSpPr>
        <p:spPr>
          <a:xfrm>
            <a:off x="1247477" y="6945064"/>
            <a:ext cx="27857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 known root word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48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48"/>
          <p:cNvSpPr/>
          <p:nvPr/>
        </p:nvSpPr>
        <p:spPr>
          <a:xfrm>
            <a:off x="1247477" y="7383959"/>
            <a:ext cx="485951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glossaries and dictionaries to clarify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48"/>
          <p:cNvSpPr/>
          <p:nvPr/>
        </p:nvSpPr>
        <p:spPr>
          <a:xfrm>
            <a:off x="533326" y="812757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48"/>
          <p:cNvSpPr/>
          <p:nvPr/>
        </p:nvSpPr>
        <p:spPr>
          <a:xfrm>
            <a:off x="533326" y="812757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48"/>
          <p:cNvSpPr/>
          <p:nvPr/>
        </p:nvSpPr>
        <p:spPr>
          <a:xfrm>
            <a:off x="895201" y="831800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48"/>
          <p:cNvSpPr/>
          <p:nvPr/>
        </p:nvSpPr>
        <p:spPr>
          <a:xfrm>
            <a:off x="895201" y="867987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stop at their first guess without confirming, and a plausible-but-wrong meaning derails comprehension.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48"/>
          <p:cNvSpPr/>
          <p:nvPr/>
        </p:nvSpPr>
        <p:spPr>
          <a:xfrm>
            <a:off x="533326" y="9753674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48"/>
          <p:cNvSpPr/>
          <p:nvPr/>
        </p:nvSpPr>
        <p:spPr>
          <a:xfrm>
            <a:off x="780901" y="994410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48"/>
          <p:cNvSpPr/>
          <p:nvPr/>
        </p:nvSpPr>
        <p:spPr>
          <a:xfrm>
            <a:off x="780901" y="103727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48"/>
          <p:cNvSpPr/>
          <p:nvPr/>
        </p:nvSpPr>
        <p:spPr>
          <a:xfrm>
            <a:off x="1218902" y="10344150"/>
            <a:ext cx="641615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context and word parts to find a meaning.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48"/>
          <p:cNvSpPr/>
          <p:nvPr/>
        </p:nvSpPr>
        <p:spPr>
          <a:xfrm>
            <a:off x="780901" y="1081496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48"/>
          <p:cNvSpPr/>
          <p:nvPr/>
        </p:nvSpPr>
        <p:spPr>
          <a:xfrm>
            <a:off x="1218902" y="10786393"/>
            <a:ext cx="353271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check it in a dictionary.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6" name="Google Shape;2336;p4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48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48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L.3.4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4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49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6" name="Google Shape;2346;p49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49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49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L.3.5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49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49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4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49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understanding of word relationships and nuances in word meanings.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49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49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49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49"/>
          <p:cNvSpPr/>
          <p:nvPr/>
        </p:nvSpPr>
        <p:spPr>
          <a:xfrm>
            <a:off x="999902" y="3755603"/>
            <a:ext cx="410292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this expression mean?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7" name="Google Shape;2357;p49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49"/>
          <p:cNvSpPr/>
          <p:nvPr/>
        </p:nvSpPr>
        <p:spPr>
          <a:xfrm>
            <a:off x="999902" y="4204097"/>
            <a:ext cx="404251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are these words connected?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49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49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49"/>
          <p:cNvSpPr/>
          <p:nvPr/>
        </p:nvSpPr>
        <p:spPr>
          <a:xfrm>
            <a:off x="6424464" y="3755603"/>
            <a:ext cx="8925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49"/>
          <p:cNvSpPr/>
          <p:nvPr/>
        </p:nvSpPr>
        <p:spPr>
          <a:xfrm>
            <a:off x="6586389" y="3822278"/>
            <a:ext cx="6448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literal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49"/>
          <p:cNvSpPr/>
          <p:nvPr/>
        </p:nvSpPr>
        <p:spPr>
          <a:xfrm>
            <a:off x="7402711" y="3755603"/>
            <a:ext cx="128967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49"/>
          <p:cNvSpPr/>
          <p:nvPr/>
        </p:nvSpPr>
        <p:spPr>
          <a:xfrm>
            <a:off x="7564636" y="3822278"/>
            <a:ext cx="104202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nonliteral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49"/>
          <p:cNvSpPr/>
          <p:nvPr/>
        </p:nvSpPr>
        <p:spPr>
          <a:xfrm>
            <a:off x="8778106" y="3755603"/>
            <a:ext cx="233511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49"/>
          <p:cNvSpPr/>
          <p:nvPr/>
        </p:nvSpPr>
        <p:spPr>
          <a:xfrm>
            <a:off x="8940031" y="3822278"/>
            <a:ext cx="208746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shades of meaning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49"/>
          <p:cNvSpPr/>
          <p:nvPr/>
        </p:nvSpPr>
        <p:spPr>
          <a:xfrm>
            <a:off x="6424464" y="4260131"/>
            <a:ext cx="168659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49"/>
          <p:cNvSpPr/>
          <p:nvPr/>
        </p:nvSpPr>
        <p:spPr>
          <a:xfrm>
            <a:off x="6586389" y="4326806"/>
            <a:ext cx="143894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state of mind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p49"/>
          <p:cNvSpPr/>
          <p:nvPr/>
        </p:nvSpPr>
        <p:spPr>
          <a:xfrm>
            <a:off x="8196783" y="4260131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49"/>
          <p:cNvSpPr/>
          <p:nvPr/>
        </p:nvSpPr>
        <p:spPr>
          <a:xfrm>
            <a:off x="8358708" y="4326806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certainty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49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49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49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49"/>
          <p:cNvSpPr/>
          <p:nvPr/>
        </p:nvSpPr>
        <p:spPr>
          <a:xfrm>
            <a:off x="1247477" y="5707410"/>
            <a:ext cx="511686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literal from nonliteral meanings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49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49"/>
          <p:cNvSpPr/>
          <p:nvPr/>
        </p:nvSpPr>
        <p:spPr>
          <a:xfrm>
            <a:off x="1247477" y="6146304"/>
            <a:ext cx="69343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real-life connections between words and their use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49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49"/>
          <p:cNvSpPr/>
          <p:nvPr/>
        </p:nvSpPr>
        <p:spPr>
          <a:xfrm>
            <a:off x="1247477" y="6585198"/>
            <a:ext cx="632849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shades of meaning among related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49"/>
          <p:cNvSpPr/>
          <p:nvPr/>
        </p:nvSpPr>
        <p:spPr>
          <a:xfrm>
            <a:off x="533326" y="732881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49"/>
          <p:cNvSpPr/>
          <p:nvPr/>
        </p:nvSpPr>
        <p:spPr>
          <a:xfrm>
            <a:off x="533326" y="732881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49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49"/>
          <p:cNvSpPr/>
          <p:nvPr/>
        </p:nvSpPr>
        <p:spPr>
          <a:xfrm>
            <a:off x="895201" y="788111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treat "knew", "believed", and "suspected" as identical, missing degrees of certainty.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49"/>
          <p:cNvSpPr/>
          <p:nvPr/>
        </p:nvSpPr>
        <p:spPr>
          <a:xfrm>
            <a:off x="533326" y="8608442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49"/>
          <p:cNvSpPr/>
          <p:nvPr/>
        </p:nvSpPr>
        <p:spPr>
          <a:xfrm>
            <a:off x="780901" y="879886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49"/>
          <p:cNvSpPr/>
          <p:nvPr/>
        </p:nvSpPr>
        <p:spPr>
          <a:xfrm>
            <a:off x="780901" y="922749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49"/>
          <p:cNvSpPr/>
          <p:nvPr/>
        </p:nvSpPr>
        <p:spPr>
          <a:xfrm>
            <a:off x="1218902" y="9198918"/>
            <a:ext cx="586535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an expression really means.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49"/>
          <p:cNvSpPr/>
          <p:nvPr/>
        </p:nvSpPr>
        <p:spPr>
          <a:xfrm>
            <a:off x="780901" y="966973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49"/>
          <p:cNvSpPr/>
          <p:nvPr/>
        </p:nvSpPr>
        <p:spPr>
          <a:xfrm>
            <a:off x="1218902" y="9641160"/>
            <a:ext cx="579708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the difference between similar words.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4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4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49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L.3.5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5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50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3RD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50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50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50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L.3.6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5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5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5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p5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Acquire and use accurately grade-appropriate conversational, general academic, and domain-specific words and phrases.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50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5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5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50"/>
          <p:cNvSpPr/>
          <p:nvPr/>
        </p:nvSpPr>
        <p:spPr>
          <a:xfrm>
            <a:off x="999902" y="4115470"/>
            <a:ext cx="502576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make academic words my own?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0" name="Google Shape;2410;p50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50"/>
          <p:cNvSpPr/>
          <p:nvPr/>
        </p:nvSpPr>
        <p:spPr>
          <a:xfrm>
            <a:off x="999902" y="4563963"/>
            <a:ext cx="38003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 these words appear?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50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5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4" name="Google Shape;2414;p50"/>
          <p:cNvSpPr/>
          <p:nvPr/>
        </p:nvSpPr>
        <p:spPr>
          <a:xfrm>
            <a:off x="6424464" y="4115470"/>
            <a:ext cx="18587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50"/>
          <p:cNvSpPr/>
          <p:nvPr/>
        </p:nvSpPr>
        <p:spPr>
          <a:xfrm>
            <a:off x="6586389" y="4182145"/>
            <a:ext cx="16110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conversational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p50"/>
          <p:cNvSpPr/>
          <p:nvPr/>
        </p:nvSpPr>
        <p:spPr>
          <a:xfrm>
            <a:off x="8368903" y="4115470"/>
            <a:ext cx="134257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50"/>
          <p:cNvSpPr/>
          <p:nvPr/>
        </p:nvSpPr>
        <p:spPr>
          <a:xfrm>
            <a:off x="8530828" y="4182145"/>
            <a:ext cx="10949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academic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50"/>
          <p:cNvSpPr/>
          <p:nvPr/>
        </p:nvSpPr>
        <p:spPr>
          <a:xfrm>
            <a:off x="6424464" y="4619997"/>
            <a:ext cx="197747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50"/>
          <p:cNvSpPr/>
          <p:nvPr/>
        </p:nvSpPr>
        <p:spPr>
          <a:xfrm>
            <a:off x="6586389" y="4686672"/>
            <a:ext cx="17298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domain-specific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50"/>
          <p:cNvSpPr/>
          <p:nvPr/>
        </p:nvSpPr>
        <p:spPr>
          <a:xfrm>
            <a:off x="8487668" y="4619997"/>
            <a:ext cx="10119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50"/>
          <p:cNvSpPr/>
          <p:nvPr/>
        </p:nvSpPr>
        <p:spPr>
          <a:xfrm>
            <a:off x="8649593" y="4686672"/>
            <a:ext cx="7643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spatial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50"/>
          <p:cNvSpPr/>
          <p:nvPr/>
        </p:nvSpPr>
        <p:spPr>
          <a:xfrm>
            <a:off x="9585350" y="4619997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50"/>
          <p:cNvSpPr/>
          <p:nvPr/>
        </p:nvSpPr>
        <p:spPr>
          <a:xfrm>
            <a:off x="9747275" y="4686672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temporal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50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50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50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50"/>
          <p:cNvSpPr/>
          <p:nvPr/>
        </p:nvSpPr>
        <p:spPr>
          <a:xfrm>
            <a:off x="1247477" y="6067276"/>
            <a:ext cx="74340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Acquire and use grade-appropriate conversational vocabulary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50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50"/>
          <p:cNvSpPr/>
          <p:nvPr/>
        </p:nvSpPr>
        <p:spPr>
          <a:xfrm>
            <a:off x="1247477" y="6506170"/>
            <a:ext cx="644931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Acquire general academic and domain-specific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50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50"/>
          <p:cNvSpPr/>
          <p:nvPr/>
        </p:nvSpPr>
        <p:spPr>
          <a:xfrm>
            <a:off x="1247477" y="6945064"/>
            <a:ext cx="460240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spatial and temporal signal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50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50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50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5" name="Google Shape;2435;p50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Vocabulary is learned for the quiz and never enters student speech or writing.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p50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50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50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50"/>
          <p:cNvSpPr/>
          <p:nvPr/>
        </p:nvSpPr>
        <p:spPr>
          <a:xfrm>
            <a:off x="1218902" y="9558784"/>
            <a:ext cx="704431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academic words in my own writing and talking.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5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5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50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L.3.6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447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5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p51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51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and Solve Problems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51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51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3.OA.A.1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3" name="Google Shape;2453;p5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5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5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5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products of whole numbers, e.g., interpret 5 x 7 as the total number of objects in 5 groups of 7 objects each.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51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5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5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51"/>
          <p:cNvSpPr/>
          <p:nvPr/>
        </p:nvSpPr>
        <p:spPr>
          <a:xfrm>
            <a:off x="999902" y="4115470"/>
            <a:ext cx="38605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multiplication mean?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5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51"/>
          <p:cNvSpPr/>
          <p:nvPr/>
        </p:nvSpPr>
        <p:spPr>
          <a:xfrm>
            <a:off x="999902" y="4563963"/>
            <a:ext cx="464832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equal groups show a product?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51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5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51"/>
          <p:cNvSpPr/>
          <p:nvPr/>
        </p:nvSpPr>
        <p:spPr>
          <a:xfrm>
            <a:off x="6424464" y="4115470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51"/>
          <p:cNvSpPr/>
          <p:nvPr/>
        </p:nvSpPr>
        <p:spPr>
          <a:xfrm>
            <a:off x="6586389" y="4182145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51"/>
          <p:cNvSpPr/>
          <p:nvPr/>
        </p:nvSpPr>
        <p:spPr>
          <a:xfrm>
            <a:off x="7627962" y="4115470"/>
            <a:ext cx="9190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51"/>
          <p:cNvSpPr/>
          <p:nvPr/>
        </p:nvSpPr>
        <p:spPr>
          <a:xfrm>
            <a:off x="7789887" y="4182145"/>
            <a:ext cx="6714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factor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51"/>
          <p:cNvSpPr/>
          <p:nvPr/>
        </p:nvSpPr>
        <p:spPr>
          <a:xfrm>
            <a:off x="8632775" y="4115470"/>
            <a:ext cx="170021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51"/>
          <p:cNvSpPr/>
          <p:nvPr/>
        </p:nvSpPr>
        <p:spPr>
          <a:xfrm>
            <a:off x="8794700" y="4182145"/>
            <a:ext cx="1452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equal groups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51"/>
          <p:cNvSpPr/>
          <p:nvPr/>
        </p:nvSpPr>
        <p:spPr>
          <a:xfrm>
            <a:off x="10418713" y="4115470"/>
            <a:ext cx="86618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51"/>
          <p:cNvSpPr/>
          <p:nvPr/>
        </p:nvSpPr>
        <p:spPr>
          <a:xfrm>
            <a:off x="10580638" y="4182145"/>
            <a:ext cx="61853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51"/>
          <p:cNvSpPr/>
          <p:nvPr/>
        </p:nvSpPr>
        <p:spPr>
          <a:xfrm>
            <a:off x="6424464" y="4619997"/>
            <a:ext cx="113072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51"/>
          <p:cNvSpPr/>
          <p:nvPr/>
        </p:nvSpPr>
        <p:spPr>
          <a:xfrm>
            <a:off x="6586389" y="4686672"/>
            <a:ext cx="883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multiply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51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51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51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51"/>
          <p:cNvSpPr/>
          <p:nvPr/>
        </p:nvSpPr>
        <p:spPr>
          <a:xfrm>
            <a:off x="1247477" y="6067276"/>
            <a:ext cx="41485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products as equal groups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51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51"/>
          <p:cNvSpPr/>
          <p:nvPr/>
        </p:nvSpPr>
        <p:spPr>
          <a:xfrm>
            <a:off x="1247477" y="6506170"/>
            <a:ext cx="70848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multiplication with objects, arrays, and drawings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51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51"/>
          <p:cNvSpPr/>
          <p:nvPr/>
        </p:nvSpPr>
        <p:spPr>
          <a:xfrm>
            <a:off x="1247477" y="6945064"/>
            <a:ext cx="73132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Connect the factors to the groups and the size of each group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3" name="Google Shape;2483;p51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51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51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51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5 x 7 as "5 and 7" without attaching meaning to which number is the number of groups. Insist on the language "5 groups of 7".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51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51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51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51"/>
          <p:cNvSpPr/>
          <p:nvPr/>
        </p:nvSpPr>
        <p:spPr>
          <a:xfrm>
            <a:off x="1218902" y="9905256"/>
            <a:ext cx="632137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a multiplication problem means.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51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51"/>
          <p:cNvSpPr/>
          <p:nvPr/>
        </p:nvSpPr>
        <p:spPr>
          <a:xfrm>
            <a:off x="1218902" y="10347499"/>
            <a:ext cx="540982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draw equal groups to show a product.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5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5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5" name="Google Shape;2495;p51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3.OA.A.1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5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52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52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and Solve Problems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4" name="Google Shape;2504;p52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52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3.OA.A.2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52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52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5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52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whole-number quotients of whole numbers as the number of objects in each share or the number of shares.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0" name="Google Shape;2510;p52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52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p52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52"/>
          <p:cNvSpPr/>
          <p:nvPr/>
        </p:nvSpPr>
        <p:spPr>
          <a:xfrm>
            <a:off x="999902" y="4115470"/>
            <a:ext cx="47539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are the two meanings of division?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52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52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if I am finding groups or group size?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52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52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52"/>
          <p:cNvSpPr/>
          <p:nvPr/>
        </p:nvSpPr>
        <p:spPr>
          <a:xfrm>
            <a:off x="6424464" y="4115470"/>
            <a:ext cx="11709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52"/>
          <p:cNvSpPr/>
          <p:nvPr/>
        </p:nvSpPr>
        <p:spPr>
          <a:xfrm>
            <a:off x="6586389" y="4182145"/>
            <a:ext cx="9232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quotient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52"/>
          <p:cNvSpPr/>
          <p:nvPr/>
        </p:nvSpPr>
        <p:spPr>
          <a:xfrm>
            <a:off x="7681094" y="4115470"/>
            <a:ext cx="94565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52"/>
          <p:cNvSpPr/>
          <p:nvPr/>
        </p:nvSpPr>
        <p:spPr>
          <a:xfrm>
            <a:off x="7843019" y="4182145"/>
            <a:ext cx="6980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divide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52"/>
          <p:cNvSpPr/>
          <p:nvPr/>
        </p:nvSpPr>
        <p:spPr>
          <a:xfrm>
            <a:off x="8712473" y="4115470"/>
            <a:ext cx="121041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52"/>
          <p:cNvSpPr/>
          <p:nvPr/>
        </p:nvSpPr>
        <p:spPr>
          <a:xfrm>
            <a:off x="8874398" y="4182145"/>
            <a:ext cx="9627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dividend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52"/>
          <p:cNvSpPr/>
          <p:nvPr/>
        </p:nvSpPr>
        <p:spPr>
          <a:xfrm>
            <a:off x="10008617" y="4115470"/>
            <a:ext cx="101173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52"/>
          <p:cNvSpPr/>
          <p:nvPr/>
        </p:nvSpPr>
        <p:spPr>
          <a:xfrm>
            <a:off x="10170542" y="4182145"/>
            <a:ext cx="76408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divisor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52"/>
          <p:cNvSpPr/>
          <p:nvPr/>
        </p:nvSpPr>
        <p:spPr>
          <a:xfrm>
            <a:off x="6424464" y="4619997"/>
            <a:ext cx="173972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52"/>
          <p:cNvSpPr/>
          <p:nvPr/>
        </p:nvSpPr>
        <p:spPr>
          <a:xfrm>
            <a:off x="6586389" y="4686672"/>
            <a:ext cx="149207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share equally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52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52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p52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52"/>
          <p:cNvSpPr/>
          <p:nvPr/>
        </p:nvSpPr>
        <p:spPr>
          <a:xfrm>
            <a:off x="1247477" y="6260827"/>
            <a:ext cx="811425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quotients as sharing (partitive) or grouping (measurement)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52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52"/>
          <p:cNvSpPr/>
          <p:nvPr/>
        </p:nvSpPr>
        <p:spPr>
          <a:xfrm>
            <a:off x="1247477" y="6699721"/>
            <a:ext cx="54351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division with objects and drawings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52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52"/>
          <p:cNvSpPr/>
          <p:nvPr/>
        </p:nvSpPr>
        <p:spPr>
          <a:xfrm>
            <a:off x="1247477" y="7138615"/>
            <a:ext cx="56472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Connect division to the situation in the problem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52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52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p52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52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learn only the sharing meaning and are confused by "how many groups of 6 are in 30?" Both interpretations need explicit attention.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52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52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52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52"/>
          <p:cNvSpPr/>
          <p:nvPr/>
        </p:nvSpPr>
        <p:spPr>
          <a:xfrm>
            <a:off x="1218902" y="10098807"/>
            <a:ext cx="562961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a division problem means.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52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52"/>
          <p:cNvSpPr/>
          <p:nvPr/>
        </p:nvSpPr>
        <p:spPr>
          <a:xfrm>
            <a:off x="1218902" y="10541050"/>
            <a:ext cx="433989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show division with a drawing.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5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p5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p52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3.OA.A.2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553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4" name="Google Shape;2554;p5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53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6" name="Google Shape;2556;p53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and Solve Problems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7" name="Google Shape;2557;p53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53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3.OA.A.3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9" name="Google Shape;2559;p5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5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5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5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multiplication and division within 100 to solve word problems in situations involving equal groups, arrays, and measurement quantities.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3" name="Google Shape;2563;p53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5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5" name="Google Shape;2565;p5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53"/>
          <p:cNvSpPr/>
          <p:nvPr/>
        </p:nvSpPr>
        <p:spPr>
          <a:xfrm>
            <a:off x="999902" y="4115470"/>
            <a:ext cx="49056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decide which operation to use?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5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53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unknown stand for in this situation?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9" name="Google Shape;2569;p53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5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1" name="Google Shape;2571;p53"/>
          <p:cNvSpPr/>
          <p:nvPr/>
        </p:nvSpPr>
        <p:spPr>
          <a:xfrm>
            <a:off x="6424464" y="4115470"/>
            <a:ext cx="170021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53"/>
          <p:cNvSpPr/>
          <p:nvPr/>
        </p:nvSpPr>
        <p:spPr>
          <a:xfrm>
            <a:off x="6586389" y="4182145"/>
            <a:ext cx="1452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equal groups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3" name="Google Shape;2573;p53"/>
          <p:cNvSpPr/>
          <p:nvPr/>
        </p:nvSpPr>
        <p:spPr>
          <a:xfrm>
            <a:off x="8210401" y="4115470"/>
            <a:ext cx="86618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53"/>
          <p:cNvSpPr/>
          <p:nvPr/>
        </p:nvSpPr>
        <p:spPr>
          <a:xfrm>
            <a:off x="8372326" y="4182145"/>
            <a:ext cx="61853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5" name="Google Shape;2575;p53"/>
          <p:cNvSpPr/>
          <p:nvPr/>
        </p:nvSpPr>
        <p:spPr>
          <a:xfrm>
            <a:off x="9162306" y="4115470"/>
            <a:ext cx="8003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53"/>
          <p:cNvSpPr/>
          <p:nvPr/>
        </p:nvSpPr>
        <p:spPr>
          <a:xfrm>
            <a:off x="9324231" y="4182145"/>
            <a:ext cx="5526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p53"/>
          <p:cNvSpPr/>
          <p:nvPr/>
        </p:nvSpPr>
        <p:spPr>
          <a:xfrm>
            <a:off x="10048354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53"/>
          <p:cNvSpPr/>
          <p:nvPr/>
        </p:nvSpPr>
        <p:spPr>
          <a:xfrm>
            <a:off x="10210279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p53"/>
          <p:cNvSpPr/>
          <p:nvPr/>
        </p:nvSpPr>
        <p:spPr>
          <a:xfrm>
            <a:off x="6424464" y="4619997"/>
            <a:ext cx="1237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53"/>
          <p:cNvSpPr/>
          <p:nvPr/>
        </p:nvSpPr>
        <p:spPr>
          <a:xfrm>
            <a:off x="6586389" y="4686672"/>
            <a:ext cx="989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p53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53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3" name="Google Shape;2583;p53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53"/>
          <p:cNvSpPr/>
          <p:nvPr/>
        </p:nvSpPr>
        <p:spPr>
          <a:xfrm>
            <a:off x="1247477" y="6260827"/>
            <a:ext cx="700944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multiplication and division word problems within 100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p53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53"/>
          <p:cNvSpPr/>
          <p:nvPr/>
        </p:nvSpPr>
        <p:spPr>
          <a:xfrm>
            <a:off x="1247477" y="6699721"/>
            <a:ext cx="71764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drawings and equations with a symbol for the unknown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53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53"/>
          <p:cNvSpPr/>
          <p:nvPr/>
        </p:nvSpPr>
        <p:spPr>
          <a:xfrm>
            <a:off x="1247477" y="7138615"/>
            <a:ext cx="62020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Work with equal groups, arrays, and area situations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53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53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53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2" name="Google Shape;2592;p53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look for keywords instead of modeling the situation. "Each" does not always mean multiply.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p53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53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53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53"/>
          <p:cNvSpPr/>
          <p:nvPr/>
        </p:nvSpPr>
        <p:spPr>
          <a:xfrm>
            <a:off x="1218902" y="10098807"/>
            <a:ext cx="665116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multiplication and division word problems.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7" name="Google Shape;2597;p53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53"/>
          <p:cNvSpPr/>
          <p:nvPr/>
        </p:nvSpPr>
        <p:spPr>
          <a:xfrm>
            <a:off x="1218902" y="10541050"/>
            <a:ext cx="680906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an equation with a symbol for the unknown.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9" name="Google Shape;2599;p5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5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53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3.OA.A.3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606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5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54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54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and Solve Problems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0" name="Google Shape;2610;p54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54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3.OA.A.4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5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5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5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p5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unknown whole number in a multiplication or division equation relating three whole numbers.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54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5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8" name="Google Shape;2618;p5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54"/>
          <p:cNvSpPr/>
          <p:nvPr/>
        </p:nvSpPr>
        <p:spPr>
          <a:xfrm>
            <a:off x="999902" y="4115470"/>
            <a:ext cx="37240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find a missing factor?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0" name="Google Shape;2620;p5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54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are multiplication and division related?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2" name="Google Shape;2622;p54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5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4" name="Google Shape;2624;p54"/>
          <p:cNvSpPr/>
          <p:nvPr/>
        </p:nvSpPr>
        <p:spPr>
          <a:xfrm>
            <a:off x="6424464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54"/>
          <p:cNvSpPr/>
          <p:nvPr/>
        </p:nvSpPr>
        <p:spPr>
          <a:xfrm>
            <a:off x="6586389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6" name="Google Shape;2626;p54"/>
          <p:cNvSpPr/>
          <p:nvPr/>
        </p:nvSpPr>
        <p:spPr>
          <a:xfrm>
            <a:off x="7786911" y="4115470"/>
            <a:ext cx="17921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54"/>
          <p:cNvSpPr/>
          <p:nvPr/>
        </p:nvSpPr>
        <p:spPr>
          <a:xfrm>
            <a:off x="7948836" y="4182145"/>
            <a:ext cx="15445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missing factor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8" name="Google Shape;2628;p54"/>
          <p:cNvSpPr/>
          <p:nvPr/>
        </p:nvSpPr>
        <p:spPr>
          <a:xfrm>
            <a:off x="9664824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54"/>
          <p:cNvSpPr/>
          <p:nvPr/>
        </p:nvSpPr>
        <p:spPr>
          <a:xfrm>
            <a:off x="9826749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inverse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54"/>
          <p:cNvSpPr/>
          <p:nvPr/>
        </p:nvSpPr>
        <p:spPr>
          <a:xfrm>
            <a:off x="6424464" y="4619997"/>
            <a:ext cx="1237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p54"/>
          <p:cNvSpPr/>
          <p:nvPr/>
        </p:nvSpPr>
        <p:spPr>
          <a:xfrm>
            <a:off x="6586389" y="4686672"/>
            <a:ext cx="989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2" name="Google Shape;2632;p54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54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4" name="Google Shape;2634;p54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54"/>
          <p:cNvSpPr/>
          <p:nvPr/>
        </p:nvSpPr>
        <p:spPr>
          <a:xfrm>
            <a:off x="1247477" y="6260827"/>
            <a:ext cx="74639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unknown in a multiplication or division equation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6" name="Google Shape;2636;p54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54"/>
          <p:cNvSpPr/>
          <p:nvPr/>
        </p:nvSpPr>
        <p:spPr>
          <a:xfrm>
            <a:off x="1247477" y="6699721"/>
            <a:ext cx="336106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the inverse relationship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8" name="Google Shape;2638;p54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54"/>
          <p:cNvSpPr/>
          <p:nvPr/>
        </p:nvSpPr>
        <p:spPr>
          <a:xfrm>
            <a:off x="1247477" y="7138615"/>
            <a:ext cx="399683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Check the answer by substituting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0" name="Google Shape;2640;p54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54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54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3" name="Google Shape;2643;p54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treat the equal sign as "the answer comes next", so 8 x ? = 48 confuses them. Build understanding of the equal sign as balance.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4" name="Google Shape;2644;p54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54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6" name="Google Shape;2646;p54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54"/>
          <p:cNvSpPr/>
          <p:nvPr/>
        </p:nvSpPr>
        <p:spPr>
          <a:xfrm>
            <a:off x="1218902" y="10098807"/>
            <a:ext cx="853859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missing number in a multiplication or division equation.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8" name="Google Shape;2648;p5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5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p54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3.OA.A.4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655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5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55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p55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Properties and Relationships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p55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55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3.OA.B.5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p55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55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5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55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properties of operations as strategies to multiply and divide.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5" name="Google Shape;2665;p55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55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7" name="Google Shape;2667;p55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55"/>
          <p:cNvSpPr/>
          <p:nvPr/>
        </p:nvSpPr>
        <p:spPr>
          <a:xfrm>
            <a:off x="999902" y="375560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can properties make a hard fact easier?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9" name="Google Shape;2669;p55"/>
          <p:cNvSpPr/>
          <p:nvPr/>
        </p:nvSpPr>
        <p:spPr>
          <a:xfrm>
            <a:off x="790501" y="464299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55"/>
          <p:cNvSpPr/>
          <p:nvPr/>
        </p:nvSpPr>
        <p:spPr>
          <a:xfrm>
            <a:off x="999902" y="4538290"/>
            <a:ext cx="42841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Does order matter in multiplication?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1" name="Google Shape;2671;p55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3" name="Google Shape;2673;p55"/>
          <p:cNvSpPr/>
          <p:nvPr/>
        </p:nvSpPr>
        <p:spPr>
          <a:xfrm>
            <a:off x="6424464" y="3755603"/>
            <a:ext cx="167297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55"/>
          <p:cNvSpPr/>
          <p:nvPr/>
        </p:nvSpPr>
        <p:spPr>
          <a:xfrm>
            <a:off x="6586389" y="3822278"/>
            <a:ext cx="14253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commutative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Google Shape;2675;p55"/>
          <p:cNvSpPr/>
          <p:nvPr/>
        </p:nvSpPr>
        <p:spPr>
          <a:xfrm>
            <a:off x="8183166" y="3755603"/>
            <a:ext cx="150130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55"/>
          <p:cNvSpPr/>
          <p:nvPr/>
        </p:nvSpPr>
        <p:spPr>
          <a:xfrm>
            <a:off x="8345091" y="3822278"/>
            <a:ext cx="125365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associative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7" name="Google Shape;2677;p55"/>
          <p:cNvSpPr/>
          <p:nvPr/>
        </p:nvSpPr>
        <p:spPr>
          <a:xfrm>
            <a:off x="9770194" y="3755603"/>
            <a:ext cx="146156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55"/>
          <p:cNvSpPr/>
          <p:nvPr/>
        </p:nvSpPr>
        <p:spPr>
          <a:xfrm>
            <a:off x="9932119" y="3822278"/>
            <a:ext cx="12139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distributive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9" name="Google Shape;2679;p55"/>
          <p:cNvSpPr/>
          <p:nvPr/>
        </p:nvSpPr>
        <p:spPr>
          <a:xfrm>
            <a:off x="6424464" y="4260131"/>
            <a:ext cx="119702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55"/>
          <p:cNvSpPr/>
          <p:nvPr/>
        </p:nvSpPr>
        <p:spPr>
          <a:xfrm>
            <a:off x="6586389" y="4326806"/>
            <a:ext cx="9493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55"/>
          <p:cNvSpPr/>
          <p:nvPr/>
        </p:nvSpPr>
        <p:spPr>
          <a:xfrm>
            <a:off x="7707213" y="4260131"/>
            <a:ext cx="155443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55"/>
          <p:cNvSpPr/>
          <p:nvPr/>
        </p:nvSpPr>
        <p:spPr>
          <a:xfrm>
            <a:off x="7869138" y="4326806"/>
            <a:ext cx="13067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decompose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3" name="Google Shape;2683;p55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55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5" name="Google Shape;2685;p55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55"/>
          <p:cNvSpPr/>
          <p:nvPr/>
        </p:nvSpPr>
        <p:spPr>
          <a:xfrm>
            <a:off x="1247477" y="5900961"/>
            <a:ext cx="75239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the commutative, associative, and distributive properties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7" name="Google Shape;2687;p55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55"/>
          <p:cNvSpPr/>
          <p:nvPr/>
        </p:nvSpPr>
        <p:spPr>
          <a:xfrm>
            <a:off x="1247477" y="6339855"/>
            <a:ext cx="567675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Break apart a factor to make a simpler problem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55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55"/>
          <p:cNvSpPr/>
          <p:nvPr/>
        </p:nvSpPr>
        <p:spPr>
          <a:xfrm>
            <a:off x="1247477" y="6778749"/>
            <a:ext cx="37694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why the property works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55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55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55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55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apply commutativity to subtraction and division, assuming 12 - 5 equals 5 - 12. Test the claim explicitly.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55"/>
          <p:cNvSpPr/>
          <p:nvPr/>
        </p:nvSpPr>
        <p:spPr>
          <a:xfrm>
            <a:off x="533326" y="914846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55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7" name="Google Shape;2697;p55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55"/>
          <p:cNvSpPr/>
          <p:nvPr/>
        </p:nvSpPr>
        <p:spPr>
          <a:xfrm>
            <a:off x="1218902" y="9738940"/>
            <a:ext cx="655711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break apart a factor to make multiplying easier.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p55"/>
          <p:cNvSpPr/>
          <p:nvPr/>
        </p:nvSpPr>
        <p:spPr>
          <a:xfrm>
            <a:off x="780901" y="1020975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55"/>
          <p:cNvSpPr/>
          <p:nvPr/>
        </p:nvSpPr>
        <p:spPr>
          <a:xfrm>
            <a:off x="1218902" y="10181183"/>
            <a:ext cx="561438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know that order does not change a product.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p5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5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55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3.OA.B.5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708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5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1" name="Google Shape;2711;p56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Properties and Relationships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2" name="Google Shape;2712;p56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56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3.OA.B.6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4" name="Google Shape;2714;p56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56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5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56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division as an unknown-factor problem.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p56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56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56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56"/>
          <p:cNvSpPr/>
          <p:nvPr/>
        </p:nvSpPr>
        <p:spPr>
          <a:xfrm>
            <a:off x="999902" y="375560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division an unknown-factor problem?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2" name="Google Shape;2722;p56"/>
          <p:cNvSpPr/>
          <p:nvPr/>
        </p:nvSpPr>
        <p:spPr>
          <a:xfrm>
            <a:off x="790501" y="464299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56"/>
          <p:cNvSpPr/>
          <p:nvPr/>
        </p:nvSpPr>
        <p:spPr>
          <a:xfrm>
            <a:off x="999902" y="4538290"/>
            <a:ext cx="492016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multiplication fact helps me divide?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4" name="Google Shape;2724;p56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5" name="Google Shape;2725;p56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6" name="Google Shape;2726;p56"/>
          <p:cNvSpPr/>
          <p:nvPr/>
        </p:nvSpPr>
        <p:spPr>
          <a:xfrm>
            <a:off x="6424464" y="3755603"/>
            <a:ext cx="193796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7" name="Google Shape;2727;p56"/>
          <p:cNvSpPr/>
          <p:nvPr/>
        </p:nvSpPr>
        <p:spPr>
          <a:xfrm>
            <a:off x="6586389" y="3822278"/>
            <a:ext cx="16903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unknown factor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8" name="Google Shape;2728;p56"/>
          <p:cNvSpPr/>
          <p:nvPr/>
        </p:nvSpPr>
        <p:spPr>
          <a:xfrm>
            <a:off x="8448154" y="3755603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56"/>
          <p:cNvSpPr/>
          <p:nvPr/>
        </p:nvSpPr>
        <p:spPr>
          <a:xfrm>
            <a:off x="8610079" y="3822278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inverse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0" name="Google Shape;2730;p56"/>
          <p:cNvSpPr/>
          <p:nvPr/>
        </p:nvSpPr>
        <p:spPr>
          <a:xfrm>
            <a:off x="9625087" y="3755603"/>
            <a:ext cx="139526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9787012" y="3822278"/>
            <a:ext cx="114761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fact family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2" name="Google Shape;2732;p56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3" name="Google Shape;2733;p56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56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56"/>
          <p:cNvSpPr/>
          <p:nvPr/>
        </p:nvSpPr>
        <p:spPr>
          <a:xfrm>
            <a:off x="1247477" y="5900961"/>
            <a:ext cx="72054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Rewrite a division problem as a missing-factor multiplication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56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56"/>
          <p:cNvSpPr/>
          <p:nvPr/>
        </p:nvSpPr>
        <p:spPr>
          <a:xfrm>
            <a:off x="1247477" y="6339855"/>
            <a:ext cx="308848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known facts to divide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8" name="Google Shape;2738;p56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56"/>
          <p:cNvSpPr/>
          <p:nvPr/>
        </p:nvSpPr>
        <p:spPr>
          <a:xfrm>
            <a:off x="1247477" y="6778749"/>
            <a:ext cx="274076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the connection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56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56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56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56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treat division as a separate set of facts to memorize instead of using the multiplication facts they already know.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56"/>
          <p:cNvSpPr/>
          <p:nvPr/>
        </p:nvSpPr>
        <p:spPr>
          <a:xfrm>
            <a:off x="533326" y="9148465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56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p56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56"/>
          <p:cNvSpPr/>
          <p:nvPr/>
        </p:nvSpPr>
        <p:spPr>
          <a:xfrm>
            <a:off x="1218902" y="9738940"/>
            <a:ext cx="712314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a multiplication fact to solve a division problem.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8" name="Google Shape;2748;p5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5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0" name="Google Shape;2750;p56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3.OA.B.6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Google Shape;2756;p5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57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57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Multiply and Divide Within 100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9" name="Google Shape;2759;p57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p57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3.OA.C.7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1" name="Google Shape;2761;p5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p5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5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4" name="Google Shape;2764;p5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Fluently multiply and divide within 100. By the end of grade 3, know from memory all products of two one-digit numbers.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57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6" name="Google Shape;2766;p5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7" name="Google Shape;2767;p5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p57"/>
          <p:cNvSpPr/>
          <p:nvPr/>
        </p:nvSpPr>
        <p:spPr>
          <a:xfrm>
            <a:off x="999902" y="4115470"/>
            <a:ext cx="469277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strategies make facts automatic?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p57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57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known facts help me find unknown ones?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1" name="Google Shape;2771;p57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p5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3" name="Google Shape;2773;p57"/>
          <p:cNvSpPr/>
          <p:nvPr/>
        </p:nvSpPr>
        <p:spPr>
          <a:xfrm>
            <a:off x="6424464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p57"/>
          <p:cNvSpPr/>
          <p:nvPr/>
        </p:nvSpPr>
        <p:spPr>
          <a:xfrm>
            <a:off x="6586389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fluently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5" name="Google Shape;2775;p57"/>
          <p:cNvSpPr/>
          <p:nvPr/>
        </p:nvSpPr>
        <p:spPr>
          <a:xfrm>
            <a:off x="7588225" y="4115470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p57"/>
          <p:cNvSpPr/>
          <p:nvPr/>
        </p:nvSpPr>
        <p:spPr>
          <a:xfrm>
            <a:off x="7750150" y="4182145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7" name="Google Shape;2777;p57"/>
          <p:cNvSpPr/>
          <p:nvPr/>
        </p:nvSpPr>
        <p:spPr>
          <a:xfrm>
            <a:off x="8791724" y="4115470"/>
            <a:ext cx="11709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p57"/>
          <p:cNvSpPr/>
          <p:nvPr/>
        </p:nvSpPr>
        <p:spPr>
          <a:xfrm>
            <a:off x="8953649" y="4182145"/>
            <a:ext cx="9232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quotient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9" name="Google Shape;2779;p57"/>
          <p:cNvSpPr/>
          <p:nvPr/>
        </p:nvSpPr>
        <p:spPr>
          <a:xfrm>
            <a:off x="10048354" y="4115470"/>
            <a:ext cx="11704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p57"/>
          <p:cNvSpPr/>
          <p:nvPr/>
        </p:nvSpPr>
        <p:spPr>
          <a:xfrm>
            <a:off x="10210279" y="4182145"/>
            <a:ext cx="922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strategy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1" name="Google Shape;2781;p57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p57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3" name="Google Shape;2783;p57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57"/>
          <p:cNvSpPr/>
          <p:nvPr/>
        </p:nvSpPr>
        <p:spPr>
          <a:xfrm>
            <a:off x="1247477" y="6260827"/>
            <a:ext cx="44815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Multiply and divide within 100 fluently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5" name="Google Shape;2785;p57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57"/>
          <p:cNvSpPr/>
          <p:nvPr/>
        </p:nvSpPr>
        <p:spPr>
          <a:xfrm>
            <a:off x="1247477" y="6699721"/>
            <a:ext cx="42242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strategies based on properties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7" name="Google Shape;2787;p57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57"/>
          <p:cNvSpPr/>
          <p:nvPr/>
        </p:nvSpPr>
        <p:spPr>
          <a:xfrm>
            <a:off x="1247477" y="7138615"/>
            <a:ext cx="753888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 products of one-digit numbers from memory by year end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9" name="Google Shape;2789;p57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0" name="Google Shape;2790;p57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1" name="Google Shape;2791;p57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2" name="Google Shape;2792;p57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Timed drills before strategy work produce anxiety and guessing. Build from known anchors: 2s, 5s, 10s, then derive the rest.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3" name="Google Shape;2793;p57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4" name="Google Shape;2794;p57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5" name="Google Shape;2795;p57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6" name="Google Shape;2796;p57"/>
          <p:cNvSpPr/>
          <p:nvPr/>
        </p:nvSpPr>
        <p:spPr>
          <a:xfrm>
            <a:off x="1218902" y="10098807"/>
            <a:ext cx="537250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multiply and divide within 100 quickly.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7" name="Google Shape;2797;p57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57"/>
          <p:cNvSpPr/>
          <p:nvPr/>
        </p:nvSpPr>
        <p:spPr>
          <a:xfrm>
            <a:off x="1218902" y="10541050"/>
            <a:ext cx="375151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know my facts from memory.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p5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p57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1" name="Google Shape;2801;p57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3.OA.C.7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806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Google Shape;2807;p58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58"/>
          <p:cNvSpPr/>
          <p:nvPr/>
        </p:nvSpPr>
        <p:spPr>
          <a:xfrm>
            <a:off x="533326" y="533326"/>
            <a:ext cx="99997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9" name="Google Shape;2809;p58"/>
          <p:cNvSpPr/>
          <p:nvPr/>
        </p:nvSpPr>
        <p:spPr>
          <a:xfrm>
            <a:off x="533326" y="847651"/>
            <a:ext cx="936336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Problems and Identify Patterns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0" name="Google Shape;2810;p58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1" name="Google Shape;2811;p58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3.OA.D.8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58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3" name="Google Shape;2813;p58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4" name="Google Shape;2814;p58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5" name="Google Shape;2815;p58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two-step word problems using the four operations; assess the reasonableness of answers using mental computation and estimation.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58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7" name="Google Shape;2817;p58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58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9" name="Google Shape;2819;p58"/>
          <p:cNvSpPr/>
          <p:nvPr/>
        </p:nvSpPr>
        <p:spPr>
          <a:xfrm>
            <a:off x="999902" y="4635401"/>
            <a:ext cx="408745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keep track of two steps?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0" name="Google Shape;2820;p58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1" name="Google Shape;2821;p58"/>
          <p:cNvSpPr/>
          <p:nvPr/>
        </p:nvSpPr>
        <p:spPr>
          <a:xfrm>
            <a:off x="999902" y="5083894"/>
            <a:ext cx="50260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my answer is reasonable?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2" name="Google Shape;2822;p58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3" name="Google Shape;2823;p58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58"/>
          <p:cNvSpPr/>
          <p:nvPr/>
        </p:nvSpPr>
        <p:spPr>
          <a:xfrm>
            <a:off x="6424464" y="4635401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5" name="Google Shape;2825;p58"/>
          <p:cNvSpPr/>
          <p:nvPr/>
        </p:nvSpPr>
        <p:spPr>
          <a:xfrm>
            <a:off x="6586389" y="4702076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two-step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58"/>
          <p:cNvSpPr/>
          <p:nvPr/>
        </p:nvSpPr>
        <p:spPr>
          <a:xfrm>
            <a:off x="7733556" y="4635401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7" name="Google Shape;2827;p58"/>
          <p:cNvSpPr/>
          <p:nvPr/>
        </p:nvSpPr>
        <p:spPr>
          <a:xfrm>
            <a:off x="7895481" y="4702076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estimate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58"/>
          <p:cNvSpPr/>
          <p:nvPr/>
        </p:nvSpPr>
        <p:spPr>
          <a:xfrm>
            <a:off x="9042648" y="4635401"/>
            <a:ext cx="150175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9" name="Google Shape;2829;p58"/>
          <p:cNvSpPr/>
          <p:nvPr/>
        </p:nvSpPr>
        <p:spPr>
          <a:xfrm>
            <a:off x="9204573" y="4702076"/>
            <a:ext cx="12541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reasonable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0" name="Google Shape;2830;p58"/>
          <p:cNvSpPr/>
          <p:nvPr/>
        </p:nvSpPr>
        <p:spPr>
          <a:xfrm>
            <a:off x="6424464" y="5139928"/>
            <a:ext cx="115728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1" name="Google Shape;2831;p58"/>
          <p:cNvSpPr/>
          <p:nvPr/>
        </p:nvSpPr>
        <p:spPr>
          <a:xfrm>
            <a:off x="6586389" y="5206603"/>
            <a:ext cx="9096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2" name="Google Shape;2832;p58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3" name="Google Shape;2833;p58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4" name="Google Shape;2834;p58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5" name="Google Shape;2835;p58"/>
          <p:cNvSpPr/>
          <p:nvPr/>
        </p:nvSpPr>
        <p:spPr>
          <a:xfrm>
            <a:off x="1247477" y="6587207"/>
            <a:ext cx="655515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two-step word problems with the four operations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58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7" name="Google Shape;2837;p58"/>
          <p:cNvSpPr/>
          <p:nvPr/>
        </p:nvSpPr>
        <p:spPr>
          <a:xfrm>
            <a:off x="1247477" y="7026101"/>
            <a:ext cx="772159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problems with equations and a letter for the unknown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58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9" name="Google Shape;2839;p58"/>
          <p:cNvSpPr/>
          <p:nvPr/>
        </p:nvSpPr>
        <p:spPr>
          <a:xfrm>
            <a:off x="1247477" y="7464996"/>
            <a:ext cx="70249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Assess reasonableness using estimation and mental math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58"/>
          <p:cNvSpPr/>
          <p:nvPr/>
        </p:nvSpPr>
        <p:spPr>
          <a:xfrm>
            <a:off x="533326" y="820861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1" name="Google Shape;2841;p58"/>
          <p:cNvSpPr/>
          <p:nvPr/>
        </p:nvSpPr>
        <p:spPr>
          <a:xfrm>
            <a:off x="533326" y="820861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2" name="Google Shape;2842;p58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3" name="Google Shape;2843;p58"/>
          <p:cNvSpPr/>
          <p:nvPr/>
        </p:nvSpPr>
        <p:spPr>
          <a:xfrm>
            <a:off x="895201" y="876091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answer the first step and stop. Requiring an estimate up front makes the incomplete answer visible.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58"/>
          <p:cNvSpPr/>
          <p:nvPr/>
        </p:nvSpPr>
        <p:spPr>
          <a:xfrm>
            <a:off x="533326" y="983471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58"/>
          <p:cNvSpPr/>
          <p:nvPr/>
        </p:nvSpPr>
        <p:spPr>
          <a:xfrm>
            <a:off x="780901" y="1002513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58"/>
          <p:cNvSpPr/>
          <p:nvPr/>
        </p:nvSpPr>
        <p:spPr>
          <a:xfrm>
            <a:off x="780901" y="1045376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7" name="Google Shape;2847;p58"/>
          <p:cNvSpPr/>
          <p:nvPr/>
        </p:nvSpPr>
        <p:spPr>
          <a:xfrm>
            <a:off x="1218902" y="10425187"/>
            <a:ext cx="460707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a two-step word problem.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58"/>
          <p:cNvSpPr/>
          <p:nvPr/>
        </p:nvSpPr>
        <p:spPr>
          <a:xfrm>
            <a:off x="780901" y="1089600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9" name="Google Shape;2849;p58"/>
          <p:cNvSpPr/>
          <p:nvPr/>
        </p:nvSpPr>
        <p:spPr>
          <a:xfrm>
            <a:off x="1218902" y="10867430"/>
            <a:ext cx="525168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check that my answer makes sense.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0" name="Google Shape;2850;p5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58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2" name="Google Shape;2852;p58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3.OA.D.8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857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p59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59"/>
          <p:cNvSpPr/>
          <p:nvPr/>
        </p:nvSpPr>
        <p:spPr>
          <a:xfrm>
            <a:off x="533326" y="533326"/>
            <a:ext cx="99997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59"/>
          <p:cNvSpPr/>
          <p:nvPr/>
        </p:nvSpPr>
        <p:spPr>
          <a:xfrm>
            <a:off x="533326" y="847651"/>
            <a:ext cx="936336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Problems and Identify Patterns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59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2" name="Google Shape;2862;p59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3.OA.D.9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3" name="Google Shape;2863;p59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4" name="Google Shape;2864;p59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p59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6" name="Google Shape;2866;p59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arithmetic patterns, including patterns in the addition table or multiplication table, and explain them using properties of operations.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7" name="Google Shape;2867;p59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p59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p59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0" name="Google Shape;2870;p59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patterns live in the multiplication table?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59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59"/>
          <p:cNvSpPr/>
          <p:nvPr/>
        </p:nvSpPr>
        <p:spPr>
          <a:xfrm>
            <a:off x="999902" y="5418088"/>
            <a:ext cx="37249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does the pattern happen?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3" name="Google Shape;2873;p59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p59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5" name="Google Shape;2875;p59"/>
          <p:cNvSpPr/>
          <p:nvPr/>
        </p:nvSpPr>
        <p:spPr>
          <a:xfrm>
            <a:off x="6424464" y="4635401"/>
            <a:ext cx="106486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p59"/>
          <p:cNvSpPr/>
          <p:nvPr/>
        </p:nvSpPr>
        <p:spPr>
          <a:xfrm>
            <a:off x="6586389" y="4702076"/>
            <a:ext cx="8172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7" name="Google Shape;2877;p59"/>
          <p:cNvSpPr/>
          <p:nvPr/>
        </p:nvSpPr>
        <p:spPr>
          <a:xfrm>
            <a:off x="7575054" y="4635401"/>
            <a:ext cx="114411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8" name="Google Shape;2878;p59"/>
          <p:cNvSpPr/>
          <p:nvPr/>
        </p:nvSpPr>
        <p:spPr>
          <a:xfrm>
            <a:off x="7736979" y="4702076"/>
            <a:ext cx="89646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multiple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59"/>
          <p:cNvSpPr/>
          <p:nvPr/>
        </p:nvSpPr>
        <p:spPr>
          <a:xfrm>
            <a:off x="8804895" y="4635401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0" name="Google Shape;2880;p59"/>
          <p:cNvSpPr/>
          <p:nvPr/>
        </p:nvSpPr>
        <p:spPr>
          <a:xfrm>
            <a:off x="8966820" y="4702076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even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59"/>
          <p:cNvSpPr/>
          <p:nvPr/>
        </p:nvSpPr>
        <p:spPr>
          <a:xfrm>
            <a:off x="9730680" y="4635401"/>
            <a:ext cx="72084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2" name="Google Shape;2882;p59"/>
          <p:cNvSpPr/>
          <p:nvPr/>
        </p:nvSpPr>
        <p:spPr>
          <a:xfrm>
            <a:off x="9892605" y="4702076"/>
            <a:ext cx="4731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odd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3" name="Google Shape;2883;p59"/>
          <p:cNvSpPr/>
          <p:nvPr/>
        </p:nvSpPr>
        <p:spPr>
          <a:xfrm>
            <a:off x="10537254" y="4635401"/>
            <a:ext cx="72062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p59"/>
          <p:cNvSpPr/>
          <p:nvPr/>
        </p:nvSpPr>
        <p:spPr>
          <a:xfrm>
            <a:off x="10699179" y="4702076"/>
            <a:ext cx="47297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5" name="Google Shape;2885;p59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6" name="Google Shape;2886;p59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7" name="Google Shape;2887;p59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8" name="Google Shape;2888;p59"/>
          <p:cNvSpPr/>
          <p:nvPr/>
        </p:nvSpPr>
        <p:spPr>
          <a:xfrm>
            <a:off x="1247477" y="6780758"/>
            <a:ext cx="42843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arithmetic patterns in tables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59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0" name="Google Shape;2890;p59"/>
          <p:cNvSpPr/>
          <p:nvPr/>
        </p:nvSpPr>
        <p:spPr>
          <a:xfrm>
            <a:off x="1247477" y="7219652"/>
            <a:ext cx="56170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patterns using properties of operations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59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p59"/>
          <p:cNvSpPr/>
          <p:nvPr/>
        </p:nvSpPr>
        <p:spPr>
          <a:xfrm>
            <a:off x="1247477" y="7658546"/>
            <a:ext cx="25128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Predict the next term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59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4" name="Google Shape;2894;p59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5" name="Google Shape;2895;p59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6" name="Google Shape;2896;p59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describe a pattern without explaining it. Push from "they are all even" to "because every product has a factor of 2".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59"/>
          <p:cNvSpPr/>
          <p:nvPr/>
        </p:nvSpPr>
        <p:spPr>
          <a:xfrm>
            <a:off x="533326" y="1002826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p59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59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59"/>
          <p:cNvSpPr/>
          <p:nvPr/>
        </p:nvSpPr>
        <p:spPr>
          <a:xfrm>
            <a:off x="1218902" y="10618738"/>
            <a:ext cx="556674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a pattern and explain why it works.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1" name="Google Shape;2901;p5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2" name="Google Shape;2902;p59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59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3.OA.D.9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908" name="Shape 2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Google Shape;2909;p6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60"/>
          <p:cNvSpPr/>
          <p:nvPr/>
        </p:nvSpPr>
        <p:spPr>
          <a:xfrm>
            <a:off x="533326" y="533326"/>
            <a:ext cx="97133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60"/>
          <p:cNvSpPr/>
          <p:nvPr/>
        </p:nvSpPr>
        <p:spPr>
          <a:xfrm>
            <a:off x="533326" y="847651"/>
            <a:ext cx="97133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Understanding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60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60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3.NBT.A.1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60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60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6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60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understanding to round whole numbers to the nearest 10 or 100.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60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9" name="Google Shape;2919;p60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p60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p60"/>
          <p:cNvSpPr/>
          <p:nvPr/>
        </p:nvSpPr>
        <p:spPr>
          <a:xfrm>
            <a:off x="999902" y="3755603"/>
            <a:ext cx="451179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decide which way to round?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60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3" name="Google Shape;2923;p60"/>
          <p:cNvSpPr/>
          <p:nvPr/>
        </p:nvSpPr>
        <p:spPr>
          <a:xfrm>
            <a:off x="999902" y="4204097"/>
            <a:ext cx="429937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is the halfway point important?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4" name="Google Shape;2924;p60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5" name="Google Shape;2925;p60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6" name="Google Shape;2926;p60"/>
          <p:cNvSpPr/>
          <p:nvPr/>
        </p:nvSpPr>
        <p:spPr>
          <a:xfrm>
            <a:off x="6424464" y="3755603"/>
            <a:ext cx="93270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7" name="Google Shape;2927;p60"/>
          <p:cNvSpPr/>
          <p:nvPr/>
        </p:nvSpPr>
        <p:spPr>
          <a:xfrm>
            <a:off x="6586389" y="3822278"/>
            <a:ext cx="68505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round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8" name="Google Shape;2928;p60"/>
          <p:cNvSpPr/>
          <p:nvPr/>
        </p:nvSpPr>
        <p:spPr>
          <a:xfrm>
            <a:off x="7442895" y="3755603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9" name="Google Shape;2929;p60"/>
          <p:cNvSpPr/>
          <p:nvPr/>
        </p:nvSpPr>
        <p:spPr>
          <a:xfrm>
            <a:off x="7604820" y="3822278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nearest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0" name="Google Shape;2930;p60"/>
          <p:cNvSpPr/>
          <p:nvPr/>
        </p:nvSpPr>
        <p:spPr>
          <a:xfrm>
            <a:off x="8646393" y="3755603"/>
            <a:ext cx="113094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1" name="Google Shape;2931;p60"/>
          <p:cNvSpPr/>
          <p:nvPr/>
        </p:nvSpPr>
        <p:spPr>
          <a:xfrm>
            <a:off x="8808318" y="3822278"/>
            <a:ext cx="88329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halfway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2" name="Google Shape;2932;p60"/>
          <p:cNvSpPr/>
          <p:nvPr/>
        </p:nvSpPr>
        <p:spPr>
          <a:xfrm>
            <a:off x="9863063" y="3755603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3" name="Google Shape;2933;p60"/>
          <p:cNvSpPr/>
          <p:nvPr/>
        </p:nvSpPr>
        <p:spPr>
          <a:xfrm>
            <a:off x="10024988" y="3822278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estimate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60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60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6" name="Google Shape;2936;p60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p60"/>
          <p:cNvSpPr/>
          <p:nvPr/>
        </p:nvSpPr>
        <p:spPr>
          <a:xfrm>
            <a:off x="1247477" y="5566767"/>
            <a:ext cx="59053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Round whole numbers to the nearest 10 and 100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8" name="Google Shape;2938;p60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60"/>
          <p:cNvSpPr/>
          <p:nvPr/>
        </p:nvSpPr>
        <p:spPr>
          <a:xfrm>
            <a:off x="1247477" y="6005661"/>
            <a:ext cx="37399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understanding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0" name="Google Shape;2940;p60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p60"/>
          <p:cNvSpPr/>
          <p:nvPr/>
        </p:nvSpPr>
        <p:spPr>
          <a:xfrm>
            <a:off x="1247477" y="6444555"/>
            <a:ext cx="523891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Locate numbers on a number line to decide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2" name="Google Shape;2942;p60"/>
          <p:cNvSpPr/>
          <p:nvPr/>
        </p:nvSpPr>
        <p:spPr>
          <a:xfrm>
            <a:off x="533326" y="718817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3" name="Google Shape;2943;p60"/>
          <p:cNvSpPr/>
          <p:nvPr/>
        </p:nvSpPr>
        <p:spPr>
          <a:xfrm>
            <a:off x="533326" y="718817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p60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5" name="Google Shape;2945;p60"/>
          <p:cNvSpPr/>
          <p:nvPr/>
        </p:nvSpPr>
        <p:spPr>
          <a:xfrm>
            <a:off x="895201" y="774047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memorize "five or more, raise the score" without understanding proximity. A number line makes rounding a question about which benchmark is closer.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6" name="Google Shape;2946;p60"/>
          <p:cNvSpPr/>
          <p:nvPr/>
        </p:nvSpPr>
        <p:spPr>
          <a:xfrm>
            <a:off x="533326" y="881427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7" name="Google Shape;2947;p60"/>
          <p:cNvSpPr/>
          <p:nvPr/>
        </p:nvSpPr>
        <p:spPr>
          <a:xfrm>
            <a:off x="780901" y="900469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60"/>
          <p:cNvSpPr/>
          <p:nvPr/>
        </p:nvSpPr>
        <p:spPr>
          <a:xfrm>
            <a:off x="780901" y="943332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9" name="Google Shape;2949;p60"/>
          <p:cNvSpPr/>
          <p:nvPr/>
        </p:nvSpPr>
        <p:spPr>
          <a:xfrm>
            <a:off x="1218902" y="9404747"/>
            <a:ext cx="479714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round to the nearest 10 and 100.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p60"/>
          <p:cNvSpPr/>
          <p:nvPr/>
        </p:nvSpPr>
        <p:spPr>
          <a:xfrm>
            <a:off x="780901" y="987556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1" name="Google Shape;2951;p60"/>
          <p:cNvSpPr/>
          <p:nvPr/>
        </p:nvSpPr>
        <p:spPr>
          <a:xfrm>
            <a:off x="1218902" y="9846990"/>
            <a:ext cx="419869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show why on a number line.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2" name="Google Shape;2952;p6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3" name="Google Shape;2953;p60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4" name="Google Shape;2954;p60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3.NBT.A.1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959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Google Shape;2960;p6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p61"/>
          <p:cNvSpPr/>
          <p:nvPr/>
        </p:nvSpPr>
        <p:spPr>
          <a:xfrm>
            <a:off x="533326" y="533326"/>
            <a:ext cx="97133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2" name="Google Shape;2962;p61"/>
          <p:cNvSpPr/>
          <p:nvPr/>
        </p:nvSpPr>
        <p:spPr>
          <a:xfrm>
            <a:off x="533326" y="847651"/>
            <a:ext cx="97133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Understanding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3" name="Google Shape;2963;p61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p61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3.NBT.A.2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5" name="Google Shape;2965;p6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6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6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8" name="Google Shape;2968;p6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Fluently add and subtract within 1000 using strategies and algorithms based on place value and properties of operations.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9" name="Google Shape;2969;p61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0" name="Google Shape;2970;p6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6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61"/>
          <p:cNvSpPr/>
          <p:nvPr/>
        </p:nvSpPr>
        <p:spPr>
          <a:xfrm>
            <a:off x="999902" y="4115470"/>
            <a:ext cx="393569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strategy fits this problem?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6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p61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place value support the algorithm?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5" name="Google Shape;2975;p61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6" name="Google Shape;2976;p6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7" name="Google Shape;2977;p61"/>
          <p:cNvSpPr/>
          <p:nvPr/>
        </p:nvSpPr>
        <p:spPr>
          <a:xfrm>
            <a:off x="6424464" y="4115470"/>
            <a:ext cx="130284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p61"/>
          <p:cNvSpPr/>
          <p:nvPr/>
        </p:nvSpPr>
        <p:spPr>
          <a:xfrm>
            <a:off x="6586389" y="4182145"/>
            <a:ext cx="105519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9" name="Google Shape;2979;p61"/>
          <p:cNvSpPr/>
          <p:nvPr/>
        </p:nvSpPr>
        <p:spPr>
          <a:xfrm>
            <a:off x="7813030" y="4115470"/>
            <a:ext cx="114433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0" name="Google Shape;2980;p61"/>
          <p:cNvSpPr/>
          <p:nvPr/>
        </p:nvSpPr>
        <p:spPr>
          <a:xfrm>
            <a:off x="7974955" y="4182145"/>
            <a:ext cx="896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regroup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1" name="Google Shape;2981;p61"/>
          <p:cNvSpPr/>
          <p:nvPr/>
        </p:nvSpPr>
        <p:spPr>
          <a:xfrm>
            <a:off x="9043095" y="4115470"/>
            <a:ext cx="152809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2" name="Google Shape;2982;p61"/>
          <p:cNvSpPr/>
          <p:nvPr/>
        </p:nvSpPr>
        <p:spPr>
          <a:xfrm>
            <a:off x="9205020" y="4182145"/>
            <a:ext cx="12804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place value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3" name="Google Shape;2983;p61"/>
          <p:cNvSpPr/>
          <p:nvPr/>
        </p:nvSpPr>
        <p:spPr>
          <a:xfrm>
            <a:off x="6424464" y="4619997"/>
            <a:ext cx="11704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p61"/>
          <p:cNvSpPr/>
          <p:nvPr/>
        </p:nvSpPr>
        <p:spPr>
          <a:xfrm>
            <a:off x="6586389" y="4686672"/>
            <a:ext cx="922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strategy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61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6" name="Google Shape;2986;p61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61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p61"/>
          <p:cNvSpPr/>
          <p:nvPr/>
        </p:nvSpPr>
        <p:spPr>
          <a:xfrm>
            <a:off x="1247477" y="6260827"/>
            <a:ext cx="445162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and subtract within 1000 fluently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61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0" name="Google Shape;2990;p61"/>
          <p:cNvSpPr/>
          <p:nvPr/>
        </p:nvSpPr>
        <p:spPr>
          <a:xfrm>
            <a:off x="1247477" y="6699721"/>
            <a:ext cx="62531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strategies and algorithms based on place value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61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61"/>
          <p:cNvSpPr/>
          <p:nvPr/>
        </p:nvSpPr>
        <p:spPr>
          <a:xfrm>
            <a:off x="1247477" y="7138615"/>
            <a:ext cx="375520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Relate addition and subtraction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61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p61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61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61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Subtracting across zeros (e.g. 500 - 268) is a frequent breakdown point. Model with base-ten blocks before the written procedure.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61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61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61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0" name="Google Shape;3000;p61"/>
          <p:cNvSpPr/>
          <p:nvPr/>
        </p:nvSpPr>
        <p:spPr>
          <a:xfrm>
            <a:off x="1218902" y="10098807"/>
            <a:ext cx="438778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and subtract within 1000.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61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61"/>
          <p:cNvSpPr/>
          <p:nvPr/>
        </p:nvSpPr>
        <p:spPr>
          <a:xfrm>
            <a:off x="1218902" y="10541050"/>
            <a:ext cx="418838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choose an efficient strategy.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3" name="Google Shape;3003;p6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6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Google Shape;3005;p61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3.NBT.A.2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010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p6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62"/>
          <p:cNvSpPr/>
          <p:nvPr/>
        </p:nvSpPr>
        <p:spPr>
          <a:xfrm>
            <a:off x="533326" y="533326"/>
            <a:ext cx="97133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3" name="Google Shape;3013;p62"/>
          <p:cNvSpPr/>
          <p:nvPr/>
        </p:nvSpPr>
        <p:spPr>
          <a:xfrm>
            <a:off x="533326" y="847651"/>
            <a:ext cx="97133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Understanding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4" name="Google Shape;3014;p62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62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3.NBT.A.3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6" name="Google Shape;3016;p62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Google Shape;3017;p62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6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9" name="Google Shape;3019;p62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Multiply one-digit whole numbers by multiples of 10 in the range 10-90 using strategies based on place value.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0" name="Google Shape;3020;p62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1" name="Google Shape;3021;p62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2" name="Google Shape;3022;p62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3" name="Google Shape;3023;p62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happens when I multiply by a multiple of ten?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4" name="Google Shape;3024;p62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5" name="Google Shape;3025;p62"/>
          <p:cNvSpPr/>
          <p:nvPr/>
        </p:nvSpPr>
        <p:spPr>
          <a:xfrm>
            <a:off x="999902" y="4898157"/>
            <a:ext cx="44059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4 x 3 help me find 4 x 30?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6" name="Google Shape;3026;p62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7" name="Google Shape;3027;p62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8" name="Google Shape;3028;p62"/>
          <p:cNvSpPr/>
          <p:nvPr/>
        </p:nvSpPr>
        <p:spPr>
          <a:xfrm>
            <a:off x="6424464" y="4115470"/>
            <a:ext cx="180558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9" name="Google Shape;3029;p62"/>
          <p:cNvSpPr/>
          <p:nvPr/>
        </p:nvSpPr>
        <p:spPr>
          <a:xfrm>
            <a:off x="6586389" y="4182145"/>
            <a:ext cx="155793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multiple of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0" name="Google Shape;3030;p62"/>
          <p:cNvSpPr/>
          <p:nvPr/>
        </p:nvSpPr>
        <p:spPr>
          <a:xfrm>
            <a:off x="8315771" y="4115470"/>
            <a:ext cx="152809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1" name="Google Shape;3031;p62"/>
          <p:cNvSpPr/>
          <p:nvPr/>
        </p:nvSpPr>
        <p:spPr>
          <a:xfrm>
            <a:off x="8477696" y="4182145"/>
            <a:ext cx="12804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place value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2" name="Google Shape;3032;p62"/>
          <p:cNvSpPr/>
          <p:nvPr/>
        </p:nvSpPr>
        <p:spPr>
          <a:xfrm>
            <a:off x="9929589" y="4115470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3" name="Google Shape;3033;p62"/>
          <p:cNvSpPr/>
          <p:nvPr/>
        </p:nvSpPr>
        <p:spPr>
          <a:xfrm>
            <a:off x="10091514" y="4182145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4" name="Google Shape;3034;p62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5" name="Google Shape;3035;p62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6" name="Google Shape;3036;p62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p62"/>
          <p:cNvSpPr/>
          <p:nvPr/>
        </p:nvSpPr>
        <p:spPr>
          <a:xfrm>
            <a:off x="1247477" y="6260827"/>
            <a:ext cx="53742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Multiply one-digit numbers by multiples of 10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8" name="Google Shape;3038;p62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62"/>
          <p:cNvSpPr/>
          <p:nvPr/>
        </p:nvSpPr>
        <p:spPr>
          <a:xfrm>
            <a:off x="1247477" y="6699721"/>
            <a:ext cx="375495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and properties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p62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1" name="Google Shape;3041;p62"/>
          <p:cNvSpPr/>
          <p:nvPr/>
        </p:nvSpPr>
        <p:spPr>
          <a:xfrm>
            <a:off x="1247477" y="7138615"/>
            <a:ext cx="375495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the pattern in the zeros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2" name="Google Shape;3042;p62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p62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4" name="Google Shape;3044;p62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5" name="Google Shape;3045;p62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"add a zero" as a rule without understanding it, then misapply it to decimals in later grades.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p62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7" name="Google Shape;3047;p62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8" name="Google Shape;3048;p62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9" name="Google Shape;3049;p62"/>
          <p:cNvSpPr/>
          <p:nvPr/>
        </p:nvSpPr>
        <p:spPr>
          <a:xfrm>
            <a:off x="1218902" y="10098807"/>
            <a:ext cx="661997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multiply a one-digit number by a multiple of ten.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0" name="Google Shape;3050;p62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p62"/>
          <p:cNvSpPr/>
          <p:nvPr/>
        </p:nvSpPr>
        <p:spPr>
          <a:xfrm>
            <a:off x="1218902" y="10541050"/>
            <a:ext cx="222777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2" name="Google Shape;3052;p6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3" name="Google Shape;3053;p6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4" name="Google Shape;3054;p62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3.NBT.A.3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059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63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p63"/>
          <p:cNvSpPr/>
          <p:nvPr/>
        </p:nvSpPr>
        <p:spPr>
          <a:xfrm>
            <a:off x="533326" y="533326"/>
            <a:ext cx="100871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NUMBER AND OPERATIONS — FRACTIONS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2" name="Google Shape;3062;p63"/>
          <p:cNvSpPr/>
          <p:nvPr/>
        </p:nvSpPr>
        <p:spPr>
          <a:xfrm>
            <a:off x="533326" y="847651"/>
            <a:ext cx="9445223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Develop Understanding of Fractions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3" name="Google Shape;3063;p63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4" name="Google Shape;3064;p63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3.NF.A.1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p63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63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63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63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a fraction 1/b as the quantity formed by 1 part when a whole is partitioned into b equal parts.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63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0" name="Google Shape;3070;p63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63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2" name="Google Shape;3072;p63"/>
          <p:cNvSpPr/>
          <p:nvPr/>
        </p:nvSpPr>
        <p:spPr>
          <a:xfrm>
            <a:off x="999902" y="4635401"/>
            <a:ext cx="43755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denominator tell 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63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4" name="Google Shape;3074;p63"/>
          <p:cNvSpPr/>
          <p:nvPr/>
        </p:nvSpPr>
        <p:spPr>
          <a:xfrm>
            <a:off x="999902" y="5083894"/>
            <a:ext cx="325473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makes the parts fair?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63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6" name="Google Shape;3076;p63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7" name="Google Shape;3077;p63"/>
          <p:cNvSpPr/>
          <p:nvPr/>
        </p:nvSpPr>
        <p:spPr>
          <a:xfrm>
            <a:off x="6424464" y="4635401"/>
            <a:ext cx="110437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p63"/>
          <p:cNvSpPr/>
          <p:nvPr/>
        </p:nvSpPr>
        <p:spPr>
          <a:xfrm>
            <a:off x="6586389" y="4702076"/>
            <a:ext cx="85672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9" name="Google Shape;3079;p63"/>
          <p:cNvSpPr/>
          <p:nvPr/>
        </p:nvSpPr>
        <p:spPr>
          <a:xfrm>
            <a:off x="7614568" y="4635401"/>
            <a:ext cx="140865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63"/>
          <p:cNvSpPr/>
          <p:nvPr/>
        </p:nvSpPr>
        <p:spPr>
          <a:xfrm>
            <a:off x="7776493" y="4702076"/>
            <a:ext cx="11610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numerator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1" name="Google Shape;3081;p63"/>
          <p:cNvSpPr/>
          <p:nvPr/>
        </p:nvSpPr>
        <p:spPr>
          <a:xfrm>
            <a:off x="9108951" y="4635401"/>
            <a:ext cx="164708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63"/>
          <p:cNvSpPr/>
          <p:nvPr/>
        </p:nvSpPr>
        <p:spPr>
          <a:xfrm>
            <a:off x="9270876" y="4702076"/>
            <a:ext cx="139943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denominator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3" name="Google Shape;3083;p63"/>
          <p:cNvSpPr/>
          <p:nvPr/>
        </p:nvSpPr>
        <p:spPr>
          <a:xfrm>
            <a:off x="6424464" y="5139928"/>
            <a:ext cx="155421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p63"/>
          <p:cNvSpPr/>
          <p:nvPr/>
        </p:nvSpPr>
        <p:spPr>
          <a:xfrm>
            <a:off x="6586389" y="5206603"/>
            <a:ext cx="1306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 fraction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5" name="Google Shape;3085;p63"/>
          <p:cNvSpPr/>
          <p:nvPr/>
        </p:nvSpPr>
        <p:spPr>
          <a:xfrm>
            <a:off x="8064401" y="5139928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6" name="Google Shape;3086;p63"/>
          <p:cNvSpPr/>
          <p:nvPr/>
        </p:nvSpPr>
        <p:spPr>
          <a:xfrm>
            <a:off x="8226326" y="5206603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partition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7" name="Google Shape;3087;p63"/>
          <p:cNvSpPr/>
          <p:nvPr/>
        </p:nvSpPr>
        <p:spPr>
          <a:xfrm>
            <a:off x="9320808" y="5139928"/>
            <a:ext cx="94565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8" name="Google Shape;3088;p63"/>
          <p:cNvSpPr/>
          <p:nvPr/>
        </p:nvSpPr>
        <p:spPr>
          <a:xfrm>
            <a:off x="9482733" y="5206603"/>
            <a:ext cx="6980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whole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9" name="Google Shape;3089;p63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0" name="Google Shape;3090;p63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1" name="Google Shape;3091;p63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2" name="Google Shape;3092;p63"/>
          <p:cNvSpPr/>
          <p:nvPr/>
        </p:nvSpPr>
        <p:spPr>
          <a:xfrm>
            <a:off x="1247477" y="6587207"/>
            <a:ext cx="81309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1/b as one part of a whole partitioned into b equal parts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3" name="Google Shape;3093;p63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p63"/>
          <p:cNvSpPr/>
          <p:nvPr/>
        </p:nvSpPr>
        <p:spPr>
          <a:xfrm>
            <a:off x="1247477" y="7026101"/>
            <a:ext cx="40729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a/b as a copies of 1/b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5" name="Google Shape;3095;p63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6" name="Google Shape;3096;p63"/>
          <p:cNvSpPr/>
          <p:nvPr/>
        </p:nvSpPr>
        <p:spPr>
          <a:xfrm>
            <a:off x="1247477" y="7464996"/>
            <a:ext cx="21197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whole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7" name="Google Shape;3097;p63"/>
          <p:cNvSpPr/>
          <p:nvPr/>
        </p:nvSpPr>
        <p:spPr>
          <a:xfrm>
            <a:off x="533326" y="820861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p63"/>
          <p:cNvSpPr/>
          <p:nvPr/>
        </p:nvSpPr>
        <p:spPr>
          <a:xfrm>
            <a:off x="533326" y="820861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63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0" name="Google Shape;3100;p63"/>
          <p:cNvSpPr/>
          <p:nvPr/>
        </p:nvSpPr>
        <p:spPr>
          <a:xfrm>
            <a:off x="895201" y="876091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a larger denominator as a larger fraction, so 1/8 seems bigger than 1/4. Compare with same-size wholes and models.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1" name="Google Shape;3101;p63"/>
          <p:cNvSpPr/>
          <p:nvPr/>
        </p:nvSpPr>
        <p:spPr>
          <a:xfrm>
            <a:off x="533326" y="983471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2" name="Google Shape;3102;p63"/>
          <p:cNvSpPr/>
          <p:nvPr/>
        </p:nvSpPr>
        <p:spPr>
          <a:xfrm>
            <a:off x="780901" y="1002513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3" name="Google Shape;3103;p63"/>
          <p:cNvSpPr/>
          <p:nvPr/>
        </p:nvSpPr>
        <p:spPr>
          <a:xfrm>
            <a:off x="780901" y="1045376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4" name="Google Shape;3104;p63"/>
          <p:cNvSpPr/>
          <p:nvPr/>
        </p:nvSpPr>
        <p:spPr>
          <a:xfrm>
            <a:off x="1218902" y="10425187"/>
            <a:ext cx="674644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the top and bottom numbers mean.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5" name="Google Shape;3105;p63"/>
          <p:cNvSpPr/>
          <p:nvPr/>
        </p:nvSpPr>
        <p:spPr>
          <a:xfrm>
            <a:off x="780901" y="1089600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p63"/>
          <p:cNvSpPr/>
          <p:nvPr/>
        </p:nvSpPr>
        <p:spPr>
          <a:xfrm>
            <a:off x="1218902" y="10867430"/>
            <a:ext cx="433989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show a fraction with a model.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p6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p6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9" name="Google Shape;3109;p63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3.NF.A.1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114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64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6" name="Google Shape;3116;p64"/>
          <p:cNvSpPr/>
          <p:nvPr/>
        </p:nvSpPr>
        <p:spPr>
          <a:xfrm>
            <a:off x="533326" y="533326"/>
            <a:ext cx="100871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NUMBER AND OPERATIONS — FRACTIONS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7" name="Google Shape;3117;p64"/>
          <p:cNvSpPr/>
          <p:nvPr/>
        </p:nvSpPr>
        <p:spPr>
          <a:xfrm>
            <a:off x="533326" y="847651"/>
            <a:ext cx="9445223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Develop Understanding of Fractions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8" name="Google Shape;3118;p64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9" name="Google Shape;3119;p64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3.NF.A.2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0" name="Google Shape;3120;p64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64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64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3" name="Google Shape;3123;p64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a fraction as a number on the number line; represent fractions on a number line diagram.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4" name="Google Shape;3124;p64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p64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6" name="Google Shape;3126;p64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64"/>
          <p:cNvSpPr/>
          <p:nvPr/>
        </p:nvSpPr>
        <p:spPr>
          <a:xfrm>
            <a:off x="999902" y="4635401"/>
            <a:ext cx="339102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a fraction a number?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8" name="Google Shape;3128;p64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9" name="Google Shape;3129;p64"/>
          <p:cNvSpPr/>
          <p:nvPr/>
        </p:nvSpPr>
        <p:spPr>
          <a:xfrm>
            <a:off x="999902" y="5083894"/>
            <a:ext cx="489045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does 3/4 live on the number line?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0" name="Google Shape;3130;p64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p64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2" name="Google Shape;3132;p64"/>
          <p:cNvSpPr/>
          <p:nvPr/>
        </p:nvSpPr>
        <p:spPr>
          <a:xfrm>
            <a:off x="6424464" y="4635401"/>
            <a:ext cx="156760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64"/>
          <p:cNvSpPr/>
          <p:nvPr/>
        </p:nvSpPr>
        <p:spPr>
          <a:xfrm>
            <a:off x="6586389" y="4702076"/>
            <a:ext cx="131995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number line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4" name="Google Shape;3134;p64"/>
          <p:cNvSpPr/>
          <p:nvPr/>
        </p:nvSpPr>
        <p:spPr>
          <a:xfrm>
            <a:off x="8077795" y="4635401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5" name="Google Shape;3135;p64"/>
          <p:cNvSpPr/>
          <p:nvPr/>
        </p:nvSpPr>
        <p:spPr>
          <a:xfrm>
            <a:off x="8239720" y="4702076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interval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6" name="Google Shape;3136;p64"/>
          <p:cNvSpPr/>
          <p:nvPr/>
        </p:nvSpPr>
        <p:spPr>
          <a:xfrm>
            <a:off x="9254728" y="4635401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7" name="Google Shape;3137;p64"/>
          <p:cNvSpPr/>
          <p:nvPr/>
        </p:nvSpPr>
        <p:spPr>
          <a:xfrm>
            <a:off x="9416653" y="4702076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64"/>
          <p:cNvSpPr/>
          <p:nvPr/>
        </p:nvSpPr>
        <p:spPr>
          <a:xfrm>
            <a:off x="6424464" y="5139928"/>
            <a:ext cx="155421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9" name="Google Shape;3139;p64"/>
          <p:cNvSpPr/>
          <p:nvPr/>
        </p:nvSpPr>
        <p:spPr>
          <a:xfrm>
            <a:off x="6586389" y="5206603"/>
            <a:ext cx="1306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 fraction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64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1" name="Google Shape;3141;p64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2" name="Google Shape;3142;p64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3" name="Google Shape;3143;p64"/>
          <p:cNvSpPr/>
          <p:nvPr/>
        </p:nvSpPr>
        <p:spPr>
          <a:xfrm>
            <a:off x="1247477" y="6587207"/>
            <a:ext cx="45572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 fraction on a number line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4" name="Google Shape;3144;p64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p64"/>
          <p:cNvSpPr/>
          <p:nvPr/>
        </p:nvSpPr>
        <p:spPr>
          <a:xfrm>
            <a:off x="1247477" y="7026101"/>
            <a:ext cx="594982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Partition the interval from 0 to 1 into b equal parts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64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p64"/>
          <p:cNvSpPr/>
          <p:nvPr/>
        </p:nvSpPr>
        <p:spPr>
          <a:xfrm>
            <a:off x="1247477" y="7464996"/>
            <a:ext cx="36039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Locate a/b on the number line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8" name="Google Shape;3148;p64"/>
          <p:cNvSpPr/>
          <p:nvPr/>
        </p:nvSpPr>
        <p:spPr>
          <a:xfrm>
            <a:off x="533326" y="820861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9" name="Google Shape;3149;p64"/>
          <p:cNvSpPr/>
          <p:nvPr/>
        </p:nvSpPr>
        <p:spPr>
          <a:xfrm>
            <a:off x="533326" y="820861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64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1" name="Google Shape;3151;p64"/>
          <p:cNvSpPr/>
          <p:nvPr/>
        </p:nvSpPr>
        <p:spPr>
          <a:xfrm>
            <a:off x="895201" y="876091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count tick marks rather than intervals, or treat the whole number line as the whole instead of the segment from 0 to 1.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2" name="Google Shape;3152;p64"/>
          <p:cNvSpPr/>
          <p:nvPr/>
        </p:nvSpPr>
        <p:spPr>
          <a:xfrm>
            <a:off x="533326" y="983471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64"/>
          <p:cNvSpPr/>
          <p:nvPr/>
        </p:nvSpPr>
        <p:spPr>
          <a:xfrm>
            <a:off x="780901" y="1002513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4" name="Google Shape;3154;p64"/>
          <p:cNvSpPr/>
          <p:nvPr/>
        </p:nvSpPr>
        <p:spPr>
          <a:xfrm>
            <a:off x="780901" y="1045376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64"/>
          <p:cNvSpPr/>
          <p:nvPr/>
        </p:nvSpPr>
        <p:spPr>
          <a:xfrm>
            <a:off x="1218902" y="10425187"/>
            <a:ext cx="459209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put a fraction on a number line.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6" name="Google Shape;3156;p6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6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8" name="Google Shape;3158;p64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3.NF.A.2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163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p65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65"/>
          <p:cNvSpPr/>
          <p:nvPr/>
        </p:nvSpPr>
        <p:spPr>
          <a:xfrm>
            <a:off x="533326" y="533326"/>
            <a:ext cx="100871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NUMBER AND OPERATIONS — FRACTIONS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65"/>
          <p:cNvSpPr/>
          <p:nvPr/>
        </p:nvSpPr>
        <p:spPr>
          <a:xfrm>
            <a:off x="533326" y="847651"/>
            <a:ext cx="9445223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Develop Understanding of Fractions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7" name="Google Shape;3167;p65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p65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3.NF.A.3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9" name="Google Shape;3169;p65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0" name="Google Shape;3170;p65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p65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2" name="Google Shape;3172;p65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equivalence of fractions in special cases, and compare fractions by reasoning about their size.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3" name="Google Shape;3173;p65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4" name="Google Shape;3174;p65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5" name="Google Shape;3175;p65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p65"/>
          <p:cNvSpPr/>
          <p:nvPr/>
        </p:nvSpPr>
        <p:spPr>
          <a:xfrm>
            <a:off x="999902" y="4635401"/>
            <a:ext cx="47539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two fractions are equal?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7" name="Google Shape;3177;p65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8" name="Google Shape;3178;p65"/>
          <p:cNvSpPr/>
          <p:nvPr/>
        </p:nvSpPr>
        <p:spPr>
          <a:xfrm>
            <a:off x="999902" y="5083894"/>
            <a:ext cx="47079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When can I compare fractions directly?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p65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0" name="Google Shape;3180;p65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65"/>
          <p:cNvSpPr/>
          <p:nvPr/>
        </p:nvSpPr>
        <p:spPr>
          <a:xfrm>
            <a:off x="6424464" y="4635401"/>
            <a:ext cx="14091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2" name="Google Shape;3182;p65"/>
          <p:cNvSpPr/>
          <p:nvPr/>
        </p:nvSpPr>
        <p:spPr>
          <a:xfrm>
            <a:off x="6586389" y="4702076"/>
            <a:ext cx="11614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equivalent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3" name="Google Shape;3183;p65"/>
          <p:cNvSpPr/>
          <p:nvPr/>
        </p:nvSpPr>
        <p:spPr>
          <a:xfrm>
            <a:off x="7919293" y="4635401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4" name="Google Shape;3184;p65"/>
          <p:cNvSpPr/>
          <p:nvPr/>
        </p:nvSpPr>
        <p:spPr>
          <a:xfrm>
            <a:off x="8081218" y="4702076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5" name="Google Shape;3185;p65"/>
          <p:cNvSpPr/>
          <p:nvPr/>
        </p:nvSpPr>
        <p:spPr>
          <a:xfrm>
            <a:off x="9254951" y="4635401"/>
            <a:ext cx="140865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6" name="Google Shape;3186;p65"/>
          <p:cNvSpPr/>
          <p:nvPr/>
        </p:nvSpPr>
        <p:spPr>
          <a:xfrm>
            <a:off x="9416876" y="4702076"/>
            <a:ext cx="11610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numerator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7" name="Google Shape;3187;p65"/>
          <p:cNvSpPr/>
          <p:nvPr/>
        </p:nvSpPr>
        <p:spPr>
          <a:xfrm>
            <a:off x="6424464" y="5139928"/>
            <a:ext cx="164708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8" name="Google Shape;3188;p65"/>
          <p:cNvSpPr/>
          <p:nvPr/>
        </p:nvSpPr>
        <p:spPr>
          <a:xfrm>
            <a:off x="6586389" y="5206603"/>
            <a:ext cx="139943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denominator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9" name="Google Shape;3189;p65"/>
          <p:cNvSpPr/>
          <p:nvPr/>
        </p:nvSpPr>
        <p:spPr>
          <a:xfrm>
            <a:off x="8157270" y="5139928"/>
            <a:ext cx="150130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0" name="Google Shape;3190;p65"/>
          <p:cNvSpPr/>
          <p:nvPr/>
        </p:nvSpPr>
        <p:spPr>
          <a:xfrm>
            <a:off x="8319195" y="5206603"/>
            <a:ext cx="125365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1" name="Google Shape;3191;p65"/>
          <p:cNvSpPr/>
          <p:nvPr/>
        </p:nvSpPr>
        <p:spPr>
          <a:xfrm>
            <a:off x="533326" y="5968157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2" name="Google Shape;3192;p65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3" name="Google Shape;3193;p65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4" name="Google Shape;3194;p65"/>
          <p:cNvSpPr/>
          <p:nvPr/>
        </p:nvSpPr>
        <p:spPr>
          <a:xfrm>
            <a:off x="1247477" y="6587207"/>
            <a:ext cx="62531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and generate simple equivalent fractions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5" name="Google Shape;3195;p65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6" name="Google Shape;3196;p65"/>
          <p:cNvSpPr/>
          <p:nvPr/>
        </p:nvSpPr>
        <p:spPr>
          <a:xfrm>
            <a:off x="1247477" y="7026101"/>
            <a:ext cx="437501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Express whole numbers as fractions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7" name="Google Shape;3197;p65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8" name="Google Shape;3198;p65"/>
          <p:cNvSpPr/>
          <p:nvPr/>
        </p:nvSpPr>
        <p:spPr>
          <a:xfrm>
            <a:off x="1247477" y="7464996"/>
            <a:ext cx="720590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fractions with the same numerator or denominator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9" name="Google Shape;3199;p65"/>
          <p:cNvSpPr/>
          <p:nvPr/>
        </p:nvSpPr>
        <p:spPr>
          <a:xfrm>
            <a:off x="809476" y="793246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0" name="Google Shape;3200;p65"/>
          <p:cNvSpPr/>
          <p:nvPr/>
        </p:nvSpPr>
        <p:spPr>
          <a:xfrm>
            <a:off x="1247477" y="7903890"/>
            <a:ext cx="47684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Justify comparisons with a visual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1" name="Google Shape;3201;p65"/>
          <p:cNvSpPr/>
          <p:nvPr/>
        </p:nvSpPr>
        <p:spPr>
          <a:xfrm>
            <a:off x="533326" y="864750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2" name="Google Shape;3202;p65"/>
          <p:cNvSpPr/>
          <p:nvPr/>
        </p:nvSpPr>
        <p:spPr>
          <a:xfrm>
            <a:off x="533326" y="864750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3" name="Google Shape;3203;p65"/>
          <p:cNvSpPr/>
          <p:nvPr/>
        </p:nvSpPr>
        <p:spPr>
          <a:xfrm>
            <a:off x="895201" y="883793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4" name="Google Shape;3204;p65"/>
          <p:cNvSpPr/>
          <p:nvPr/>
        </p:nvSpPr>
        <p:spPr>
          <a:xfrm>
            <a:off x="895201" y="9199811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compare fractions from different-size wholes and conclude incorrectly. Comparisons are only valid when the wholes are the same.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5" name="Google Shape;3205;p65"/>
          <p:cNvSpPr/>
          <p:nvPr/>
        </p:nvSpPr>
        <p:spPr>
          <a:xfrm>
            <a:off x="533326" y="1027360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6" name="Google Shape;3206;p65"/>
          <p:cNvSpPr/>
          <p:nvPr/>
        </p:nvSpPr>
        <p:spPr>
          <a:xfrm>
            <a:off x="780901" y="1046403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7" name="Google Shape;3207;p65"/>
          <p:cNvSpPr/>
          <p:nvPr/>
        </p:nvSpPr>
        <p:spPr>
          <a:xfrm>
            <a:off x="780901" y="1089265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8" name="Google Shape;3208;p65"/>
          <p:cNvSpPr/>
          <p:nvPr/>
        </p:nvSpPr>
        <p:spPr>
          <a:xfrm>
            <a:off x="1218902" y="10864081"/>
            <a:ext cx="374267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equivalent fractions.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9" name="Google Shape;3209;p65"/>
          <p:cNvSpPr/>
          <p:nvPr/>
        </p:nvSpPr>
        <p:spPr>
          <a:xfrm>
            <a:off x="780901" y="1133489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0" name="Google Shape;3210;p65"/>
          <p:cNvSpPr/>
          <p:nvPr/>
        </p:nvSpPr>
        <p:spPr>
          <a:xfrm>
            <a:off x="1218902" y="11306324"/>
            <a:ext cx="654164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two fractions and explain how I know.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1" name="Google Shape;3211;p6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2" name="Google Shape;3212;p6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3" name="Google Shape;3213;p65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3.NF.A.3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218" name="Shape 3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9" name="Google Shape;3219;p6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0" name="Google Shape;3220;p66"/>
          <p:cNvSpPr/>
          <p:nvPr/>
        </p:nvSpPr>
        <p:spPr>
          <a:xfrm>
            <a:off x="533326" y="533326"/>
            <a:ext cx="73839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1" name="Google Shape;3221;p66"/>
          <p:cNvSpPr/>
          <p:nvPr/>
        </p:nvSpPr>
        <p:spPr>
          <a:xfrm>
            <a:off x="533326" y="847651"/>
            <a:ext cx="738393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Time, Volume, and Mass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2" name="Google Shape;3222;p66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3" name="Google Shape;3223;p66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3.MD.A.1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6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5" name="Google Shape;3225;p6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6" name="Google Shape;3226;p6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7" name="Google Shape;3227;p6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Tell and write time to the nearest minute and measure time intervals in minutes; solve word problems involving time intervals.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8" name="Google Shape;3228;p66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9" name="Google Shape;3229;p6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0" name="Google Shape;3230;p6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1" name="Google Shape;3231;p66"/>
          <p:cNvSpPr/>
          <p:nvPr/>
        </p:nvSpPr>
        <p:spPr>
          <a:xfrm>
            <a:off x="999902" y="4115470"/>
            <a:ext cx="37397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find an elapsed time?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2" name="Google Shape;3232;p6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3" name="Google Shape;3233;p66"/>
          <p:cNvSpPr/>
          <p:nvPr/>
        </p:nvSpPr>
        <p:spPr>
          <a:xfrm>
            <a:off x="999902" y="4563963"/>
            <a:ext cx="41024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a clock like a number line?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4" name="Google Shape;3234;p66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5" name="Google Shape;3235;p6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6" name="Google Shape;3236;p66"/>
          <p:cNvSpPr/>
          <p:nvPr/>
        </p:nvSpPr>
        <p:spPr>
          <a:xfrm>
            <a:off x="6424464" y="4115470"/>
            <a:ext cx="16734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7" name="Google Shape;3237;p66"/>
          <p:cNvSpPr/>
          <p:nvPr/>
        </p:nvSpPr>
        <p:spPr>
          <a:xfrm>
            <a:off x="6586389" y="4182145"/>
            <a:ext cx="14257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elapsed time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8" name="Google Shape;3238;p66"/>
          <p:cNvSpPr/>
          <p:nvPr/>
        </p:nvSpPr>
        <p:spPr>
          <a:xfrm>
            <a:off x="8183612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9" name="Google Shape;3239;p66"/>
          <p:cNvSpPr/>
          <p:nvPr/>
        </p:nvSpPr>
        <p:spPr>
          <a:xfrm>
            <a:off x="8345537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interval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0" name="Google Shape;3240;p66"/>
          <p:cNvSpPr/>
          <p:nvPr/>
        </p:nvSpPr>
        <p:spPr>
          <a:xfrm>
            <a:off x="9360545" y="4115470"/>
            <a:ext cx="103829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1" name="Google Shape;3241;p66"/>
          <p:cNvSpPr/>
          <p:nvPr/>
        </p:nvSpPr>
        <p:spPr>
          <a:xfrm>
            <a:off x="9522470" y="4182145"/>
            <a:ext cx="7906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minute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2" name="Google Shape;3242;p66"/>
          <p:cNvSpPr/>
          <p:nvPr/>
        </p:nvSpPr>
        <p:spPr>
          <a:xfrm>
            <a:off x="10484569" y="4115470"/>
            <a:ext cx="7867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3" name="Google Shape;3243;p66"/>
          <p:cNvSpPr/>
          <p:nvPr/>
        </p:nvSpPr>
        <p:spPr>
          <a:xfrm>
            <a:off x="10646494" y="4182145"/>
            <a:ext cx="5390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a.m.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4" name="Google Shape;3244;p66"/>
          <p:cNvSpPr/>
          <p:nvPr/>
        </p:nvSpPr>
        <p:spPr>
          <a:xfrm>
            <a:off x="6424464" y="4619997"/>
            <a:ext cx="7867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5" name="Google Shape;3245;p66"/>
          <p:cNvSpPr/>
          <p:nvPr/>
        </p:nvSpPr>
        <p:spPr>
          <a:xfrm>
            <a:off x="6586389" y="4686672"/>
            <a:ext cx="5390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p.m.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6" name="Google Shape;3246;p66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7" name="Google Shape;3247;p66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8" name="Google Shape;3248;p66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9" name="Google Shape;3249;p66"/>
          <p:cNvSpPr/>
          <p:nvPr/>
        </p:nvSpPr>
        <p:spPr>
          <a:xfrm>
            <a:off x="1247477" y="6067276"/>
            <a:ext cx="481408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Tell and write time to the nearest minute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0" name="Google Shape;3250;p66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66"/>
          <p:cNvSpPr/>
          <p:nvPr/>
        </p:nvSpPr>
        <p:spPr>
          <a:xfrm>
            <a:off x="1247477" y="6506170"/>
            <a:ext cx="40567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time intervals in minutes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2" name="Google Shape;3252;p66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3" name="Google Shape;3253;p66"/>
          <p:cNvSpPr/>
          <p:nvPr/>
        </p:nvSpPr>
        <p:spPr>
          <a:xfrm>
            <a:off x="1247477" y="6945064"/>
            <a:ext cx="75396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word problems involving addition and subtraction of time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4" name="Google Shape;3254;p66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p66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6" name="Google Shape;3256;p66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7" name="Google Shape;3257;p66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subtract times as if they were base-ten numbers: 3:15 - 2:45 becomes 0:70. An open number line avoids this.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8" name="Google Shape;3258;p66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66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0" name="Google Shape;3260;p66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66"/>
          <p:cNvSpPr/>
          <p:nvPr/>
        </p:nvSpPr>
        <p:spPr>
          <a:xfrm>
            <a:off x="1218902" y="9905256"/>
            <a:ext cx="345929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time to the minute.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2" name="Google Shape;3262;p66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66"/>
          <p:cNvSpPr/>
          <p:nvPr/>
        </p:nvSpPr>
        <p:spPr>
          <a:xfrm>
            <a:off x="1218902" y="10347499"/>
            <a:ext cx="473329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how much time has passed.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4" name="Google Shape;3264;p6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5" name="Google Shape;3265;p6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66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3.MD.A.1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p6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3" name="Google Shape;3273;p67"/>
          <p:cNvSpPr/>
          <p:nvPr/>
        </p:nvSpPr>
        <p:spPr>
          <a:xfrm>
            <a:off x="533326" y="533326"/>
            <a:ext cx="73839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4" name="Google Shape;3274;p67"/>
          <p:cNvSpPr/>
          <p:nvPr/>
        </p:nvSpPr>
        <p:spPr>
          <a:xfrm>
            <a:off x="533326" y="847651"/>
            <a:ext cx="738393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Time, Volume, and Mass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5" name="Google Shape;3275;p67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6" name="Google Shape;3276;p67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3.MD.A.2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7" name="Google Shape;3277;p6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8" name="Google Shape;3278;p6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9" name="Google Shape;3279;p6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0" name="Google Shape;3280;p6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and estimate liquid volumes and masses of objects using grams, kilograms, and liters; solve one-step problems involving these units.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1" name="Google Shape;3281;p67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2" name="Google Shape;3282;p6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6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4" name="Google Shape;3284;p67"/>
          <p:cNvSpPr/>
          <p:nvPr/>
        </p:nvSpPr>
        <p:spPr>
          <a:xfrm>
            <a:off x="999902" y="4115470"/>
            <a:ext cx="44504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unit fits what I am measuring?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5" name="Google Shape;3285;p67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6" name="Google Shape;3286;p67"/>
          <p:cNvSpPr/>
          <p:nvPr/>
        </p:nvSpPr>
        <p:spPr>
          <a:xfrm>
            <a:off x="999902" y="4563963"/>
            <a:ext cx="45415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estimate mass and volume?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7" name="Google Shape;3287;p67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8" name="Google Shape;3288;p6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9" name="Google Shape;3289;p67"/>
          <p:cNvSpPr/>
          <p:nvPr/>
        </p:nvSpPr>
        <p:spPr>
          <a:xfrm>
            <a:off x="6424464" y="4115470"/>
            <a:ext cx="89252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0" name="Google Shape;3290;p67"/>
          <p:cNvSpPr/>
          <p:nvPr/>
        </p:nvSpPr>
        <p:spPr>
          <a:xfrm>
            <a:off x="6586389" y="4182145"/>
            <a:ext cx="6448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mass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1" name="Google Shape;3291;p67"/>
          <p:cNvSpPr/>
          <p:nvPr/>
        </p:nvSpPr>
        <p:spPr>
          <a:xfrm>
            <a:off x="7402711" y="4115470"/>
            <a:ext cx="171316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2" name="Google Shape;3292;p67"/>
          <p:cNvSpPr/>
          <p:nvPr/>
        </p:nvSpPr>
        <p:spPr>
          <a:xfrm>
            <a:off x="7564636" y="4182145"/>
            <a:ext cx="14655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liquid volume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67"/>
          <p:cNvSpPr/>
          <p:nvPr/>
        </p:nvSpPr>
        <p:spPr>
          <a:xfrm>
            <a:off x="9201596" y="4115470"/>
            <a:ext cx="86618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4" name="Google Shape;3294;p67"/>
          <p:cNvSpPr/>
          <p:nvPr/>
        </p:nvSpPr>
        <p:spPr>
          <a:xfrm>
            <a:off x="9363521" y="4182145"/>
            <a:ext cx="61853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gram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5" name="Google Shape;3295;p67"/>
          <p:cNvSpPr/>
          <p:nvPr/>
        </p:nvSpPr>
        <p:spPr>
          <a:xfrm>
            <a:off x="6424464" y="4619997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6" name="Google Shape;3296;p67"/>
          <p:cNvSpPr/>
          <p:nvPr/>
        </p:nvSpPr>
        <p:spPr>
          <a:xfrm>
            <a:off x="6586389" y="4686672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kilogram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7" name="Google Shape;3297;p67"/>
          <p:cNvSpPr/>
          <p:nvPr/>
        </p:nvSpPr>
        <p:spPr>
          <a:xfrm>
            <a:off x="7733556" y="4619997"/>
            <a:ext cx="70745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8" name="Google Shape;3298;p67"/>
          <p:cNvSpPr/>
          <p:nvPr/>
        </p:nvSpPr>
        <p:spPr>
          <a:xfrm>
            <a:off x="7895481" y="4686672"/>
            <a:ext cx="4598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liter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9" name="Google Shape;3299;p67"/>
          <p:cNvSpPr/>
          <p:nvPr/>
        </p:nvSpPr>
        <p:spPr>
          <a:xfrm>
            <a:off x="8526735" y="4619997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0" name="Google Shape;3300;p67"/>
          <p:cNvSpPr/>
          <p:nvPr/>
        </p:nvSpPr>
        <p:spPr>
          <a:xfrm>
            <a:off x="8688660" y="4686672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estimate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1" name="Google Shape;3301;p67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2" name="Google Shape;3302;p67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3" name="Google Shape;3303;p67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4" name="Google Shape;3304;p67"/>
          <p:cNvSpPr/>
          <p:nvPr/>
        </p:nvSpPr>
        <p:spPr>
          <a:xfrm>
            <a:off x="1247477" y="6067276"/>
            <a:ext cx="604044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and estimate liquid volumes and masses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5" name="Google Shape;3305;p67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6" name="Google Shape;3306;p67"/>
          <p:cNvSpPr/>
          <p:nvPr/>
        </p:nvSpPr>
        <p:spPr>
          <a:xfrm>
            <a:off x="1247477" y="6506170"/>
            <a:ext cx="389001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grams, kilograms, and liters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67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67"/>
          <p:cNvSpPr/>
          <p:nvPr/>
        </p:nvSpPr>
        <p:spPr>
          <a:xfrm>
            <a:off x="1247477" y="6945064"/>
            <a:ext cx="554120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one-step problems involving these units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67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0" name="Google Shape;3310;p67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1" name="Google Shape;3311;p67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2" name="Google Shape;3312;p67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confuse mass with size, assuming a larger object always has greater mass.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67"/>
          <p:cNvSpPr/>
          <p:nvPr/>
        </p:nvSpPr>
        <p:spPr>
          <a:xfrm>
            <a:off x="533326" y="8968308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4" name="Google Shape;3314;p67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5" name="Google Shape;3315;p67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6" name="Google Shape;3316;p67"/>
          <p:cNvSpPr/>
          <p:nvPr/>
        </p:nvSpPr>
        <p:spPr>
          <a:xfrm>
            <a:off x="1218902" y="9558784"/>
            <a:ext cx="490592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measure mass and liquid volume.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67"/>
          <p:cNvSpPr/>
          <p:nvPr/>
        </p:nvSpPr>
        <p:spPr>
          <a:xfrm>
            <a:off x="780901" y="1002960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8" name="Google Shape;3318;p67"/>
          <p:cNvSpPr/>
          <p:nvPr/>
        </p:nvSpPr>
        <p:spPr>
          <a:xfrm>
            <a:off x="1218902" y="10001027"/>
            <a:ext cx="331833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choose the right unit.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6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p67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1" name="Google Shape;3321;p67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3.MD.A.2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326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p6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8" name="Google Shape;3328;p68"/>
          <p:cNvSpPr/>
          <p:nvPr/>
        </p:nvSpPr>
        <p:spPr>
          <a:xfrm>
            <a:off x="533326" y="533326"/>
            <a:ext cx="84288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9" name="Google Shape;3329;p68"/>
          <p:cNvSpPr/>
          <p:nvPr/>
        </p:nvSpPr>
        <p:spPr>
          <a:xfrm>
            <a:off x="533326" y="847651"/>
            <a:ext cx="842882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and Interpret Data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0" name="Google Shape;3330;p68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1" name="Google Shape;3331;p68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3.MD.B.3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2" name="Google Shape;3332;p6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3" name="Google Shape;3333;p6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4" name="Google Shape;3334;p6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5" name="Google Shape;3335;p6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a scaled picture graph and a scaled bar graph to represent a data set with several categories; solve problems using the graphs.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6" name="Google Shape;3336;p68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7" name="Google Shape;3337;p6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8" name="Google Shape;3338;p6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9" name="Google Shape;3339;p68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the scale change what the graph shows?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0" name="Google Shape;3340;p68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1" name="Google Shape;3341;p68"/>
          <p:cNvSpPr/>
          <p:nvPr/>
        </p:nvSpPr>
        <p:spPr>
          <a:xfrm>
            <a:off x="999902" y="4898157"/>
            <a:ext cx="476914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questions can this graph answer?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2" name="Google Shape;3342;p68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3" name="Google Shape;3343;p6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4" name="Google Shape;3344;p68"/>
          <p:cNvSpPr/>
          <p:nvPr/>
        </p:nvSpPr>
        <p:spPr>
          <a:xfrm>
            <a:off x="6424464" y="4115470"/>
            <a:ext cx="168681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5" name="Google Shape;3345;p68"/>
          <p:cNvSpPr/>
          <p:nvPr/>
        </p:nvSpPr>
        <p:spPr>
          <a:xfrm>
            <a:off x="6586389" y="4182145"/>
            <a:ext cx="143916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scaled graph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6" name="Google Shape;3346;p68"/>
          <p:cNvSpPr/>
          <p:nvPr/>
        </p:nvSpPr>
        <p:spPr>
          <a:xfrm>
            <a:off x="8197007" y="4115470"/>
            <a:ext cx="69428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7" name="Google Shape;3347;p68"/>
          <p:cNvSpPr/>
          <p:nvPr/>
        </p:nvSpPr>
        <p:spPr>
          <a:xfrm>
            <a:off x="8358932" y="4182145"/>
            <a:ext cx="44663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8" name="Google Shape;3348;p68"/>
          <p:cNvSpPr/>
          <p:nvPr/>
        </p:nvSpPr>
        <p:spPr>
          <a:xfrm>
            <a:off x="8977015" y="4115470"/>
            <a:ext cx="8795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9" name="Google Shape;3349;p68"/>
          <p:cNvSpPr/>
          <p:nvPr/>
        </p:nvSpPr>
        <p:spPr>
          <a:xfrm>
            <a:off x="9138940" y="4182145"/>
            <a:ext cx="6319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0" name="Google Shape;3350;p68"/>
          <p:cNvSpPr/>
          <p:nvPr/>
        </p:nvSpPr>
        <p:spPr>
          <a:xfrm>
            <a:off x="9942314" y="4115470"/>
            <a:ext cx="123676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1" name="Google Shape;3351;p68"/>
          <p:cNvSpPr/>
          <p:nvPr/>
        </p:nvSpPr>
        <p:spPr>
          <a:xfrm>
            <a:off x="10104239" y="4182145"/>
            <a:ext cx="98911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2" name="Google Shape;3352;p68"/>
          <p:cNvSpPr/>
          <p:nvPr/>
        </p:nvSpPr>
        <p:spPr>
          <a:xfrm>
            <a:off x="6424464" y="4619997"/>
            <a:ext cx="78715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3" name="Google Shape;3353;p68"/>
          <p:cNvSpPr/>
          <p:nvPr/>
        </p:nvSpPr>
        <p:spPr>
          <a:xfrm>
            <a:off x="6586389" y="4686672"/>
            <a:ext cx="53950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4" name="Google Shape;3354;p68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5" name="Google Shape;3355;p68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6" name="Google Shape;3356;p68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7" name="Google Shape;3357;p68"/>
          <p:cNvSpPr/>
          <p:nvPr/>
        </p:nvSpPr>
        <p:spPr>
          <a:xfrm>
            <a:off x="1247477" y="6260827"/>
            <a:ext cx="607113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scaled picture graphs and scaled bar graphs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8" name="Google Shape;3358;p68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9" name="Google Shape;3359;p68"/>
          <p:cNvSpPr/>
          <p:nvPr/>
        </p:nvSpPr>
        <p:spPr>
          <a:xfrm>
            <a:off x="1247477" y="6699721"/>
            <a:ext cx="478437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 key with a scale greater than one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0" name="Google Shape;3360;p68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1" name="Google Shape;3361;p68"/>
          <p:cNvSpPr/>
          <p:nvPr/>
        </p:nvSpPr>
        <p:spPr>
          <a:xfrm>
            <a:off x="1247477" y="7138615"/>
            <a:ext cx="623787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one- and two-step problems using graph 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2" name="Google Shape;3362;p68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3" name="Google Shape;3363;p68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4" name="Google Shape;3364;p68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5" name="Google Shape;3365;p68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each square or symbol as one, ignoring the key. Always ask what one symbol represents before reading values.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68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7" name="Google Shape;3367;p68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68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9" name="Google Shape;3369;p68"/>
          <p:cNvSpPr/>
          <p:nvPr/>
        </p:nvSpPr>
        <p:spPr>
          <a:xfrm>
            <a:off x="1218902" y="10098807"/>
            <a:ext cx="388412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make a scaled bar graph.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p68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1" name="Google Shape;3371;p68"/>
          <p:cNvSpPr/>
          <p:nvPr/>
        </p:nvSpPr>
        <p:spPr>
          <a:xfrm>
            <a:off x="1218902" y="10541050"/>
            <a:ext cx="470186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problems using the graph.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2" name="Google Shape;3372;p6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3" name="Google Shape;3373;p68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4" name="Google Shape;3374;p68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3.MD.B.3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379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" name="Google Shape;3380;p6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1" name="Google Shape;3381;p69"/>
          <p:cNvSpPr/>
          <p:nvPr/>
        </p:nvSpPr>
        <p:spPr>
          <a:xfrm>
            <a:off x="533326" y="533326"/>
            <a:ext cx="84288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69"/>
          <p:cNvSpPr/>
          <p:nvPr/>
        </p:nvSpPr>
        <p:spPr>
          <a:xfrm>
            <a:off x="533326" y="847651"/>
            <a:ext cx="842882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and Interpret Data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3" name="Google Shape;3383;p69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4" name="Google Shape;3384;p69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3.MD.B.4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6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6" name="Google Shape;3386;p6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7" name="Google Shape;3387;p6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6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Generate measurement data by measuring lengths using rulers marked with halves and fourths of an inch; show the data on a line plot.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69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0" name="Google Shape;3390;p6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1" name="Google Shape;3391;p6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2" name="Google Shape;3392;p69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precise does my measurement need to be?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3" name="Google Shape;3393;p69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4" name="Google Shape;3394;p69"/>
          <p:cNvSpPr/>
          <p:nvPr/>
        </p:nvSpPr>
        <p:spPr>
          <a:xfrm>
            <a:off x="999902" y="4898157"/>
            <a:ext cx="51478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shape of a line plot tell 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5" name="Google Shape;3395;p69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6" name="Google Shape;3396;p6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p69"/>
          <p:cNvSpPr/>
          <p:nvPr/>
        </p:nvSpPr>
        <p:spPr>
          <a:xfrm>
            <a:off x="6424464" y="4115470"/>
            <a:ext cx="114433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8" name="Google Shape;3398;p69"/>
          <p:cNvSpPr/>
          <p:nvPr/>
        </p:nvSpPr>
        <p:spPr>
          <a:xfrm>
            <a:off x="6586389" y="4182145"/>
            <a:ext cx="896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line plot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9" name="Google Shape;3399;p69"/>
          <p:cNvSpPr/>
          <p:nvPr/>
        </p:nvSpPr>
        <p:spPr>
          <a:xfrm>
            <a:off x="7654528" y="4115470"/>
            <a:ext cx="121041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0" name="Google Shape;3400;p69"/>
          <p:cNvSpPr/>
          <p:nvPr/>
        </p:nvSpPr>
        <p:spPr>
          <a:xfrm>
            <a:off x="7816453" y="4182145"/>
            <a:ext cx="9627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half inch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1" name="Google Shape;3401;p69"/>
          <p:cNvSpPr/>
          <p:nvPr/>
        </p:nvSpPr>
        <p:spPr>
          <a:xfrm>
            <a:off x="8950672" y="4115470"/>
            <a:ext cx="158077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2" name="Google Shape;3402;p69"/>
          <p:cNvSpPr/>
          <p:nvPr/>
        </p:nvSpPr>
        <p:spPr>
          <a:xfrm>
            <a:off x="9112597" y="4182145"/>
            <a:ext cx="13331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quarter inch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3" name="Google Shape;3403;p69"/>
          <p:cNvSpPr/>
          <p:nvPr/>
        </p:nvSpPr>
        <p:spPr>
          <a:xfrm>
            <a:off x="6424464" y="4619997"/>
            <a:ext cx="8795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4" name="Google Shape;3404;p69"/>
          <p:cNvSpPr/>
          <p:nvPr/>
        </p:nvSpPr>
        <p:spPr>
          <a:xfrm>
            <a:off x="6586389" y="4686672"/>
            <a:ext cx="6319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5" name="Google Shape;3405;p69"/>
          <p:cNvSpPr/>
          <p:nvPr/>
        </p:nvSpPr>
        <p:spPr>
          <a:xfrm>
            <a:off x="7389763" y="4619997"/>
            <a:ext cx="78715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6" name="Google Shape;3406;p69"/>
          <p:cNvSpPr/>
          <p:nvPr/>
        </p:nvSpPr>
        <p:spPr>
          <a:xfrm>
            <a:off x="7551688" y="4686672"/>
            <a:ext cx="53950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7" name="Google Shape;3407;p69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8" name="Google Shape;3408;p69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9" name="Google Shape;3409;p69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p69"/>
          <p:cNvSpPr/>
          <p:nvPr/>
        </p:nvSpPr>
        <p:spPr>
          <a:xfrm>
            <a:off x="1247477" y="6260827"/>
            <a:ext cx="63137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lengths to the nearest half and quarter inch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1" name="Google Shape;3411;p69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2" name="Google Shape;3412;p69"/>
          <p:cNvSpPr/>
          <p:nvPr/>
        </p:nvSpPr>
        <p:spPr>
          <a:xfrm>
            <a:off x="1247477" y="6699721"/>
            <a:ext cx="311918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Display data on a line plot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3" name="Google Shape;3413;p69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4" name="Google Shape;3414;p69"/>
          <p:cNvSpPr/>
          <p:nvPr/>
        </p:nvSpPr>
        <p:spPr>
          <a:xfrm>
            <a:off x="1247477" y="7138615"/>
            <a:ext cx="436027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Mark the scale in halves and fourths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5" name="Google Shape;3415;p69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6" name="Google Shape;3416;p69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7" name="Google Shape;3417;p69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8" name="Google Shape;3418;p69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round to whole inches out of habit, losing the fractional precision the standard requires.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9" name="Google Shape;3419;p69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0" name="Google Shape;3420;p69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1" name="Google Shape;3421;p69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2" name="Google Shape;3422;p69"/>
          <p:cNvSpPr/>
          <p:nvPr/>
        </p:nvSpPr>
        <p:spPr>
          <a:xfrm>
            <a:off x="1218902" y="10098807"/>
            <a:ext cx="525217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measure to the nearest quarter inch.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3" name="Google Shape;3423;p69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4" name="Google Shape;3424;p69"/>
          <p:cNvSpPr/>
          <p:nvPr/>
        </p:nvSpPr>
        <p:spPr>
          <a:xfrm>
            <a:off x="1218902" y="10541050"/>
            <a:ext cx="572390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make a line plot with halves and fourths.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5" name="Google Shape;3425;p6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6" name="Google Shape;3426;p69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7" name="Google Shape;3427;p69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3.MD.B.4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432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7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4" name="Google Shape;3434;p70"/>
          <p:cNvSpPr/>
          <p:nvPr/>
        </p:nvSpPr>
        <p:spPr>
          <a:xfrm>
            <a:off x="533326" y="533326"/>
            <a:ext cx="73839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5" name="Google Shape;3435;p70"/>
          <p:cNvSpPr/>
          <p:nvPr/>
        </p:nvSpPr>
        <p:spPr>
          <a:xfrm>
            <a:off x="533326" y="847651"/>
            <a:ext cx="738393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6" name="Google Shape;3436;p70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7" name="Google Shape;3437;p70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3.MD.C.5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8" name="Google Shape;3438;p7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9" name="Google Shape;3439;p7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0" name="Google Shape;3440;p7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1" name="Google Shape;3441;p7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area as an attribute of plane figures and understand concepts of area measurement.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2" name="Google Shape;3442;p70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3" name="Google Shape;3443;p7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4" name="Google Shape;3444;p7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5" name="Google Shape;3445;p70"/>
          <p:cNvSpPr/>
          <p:nvPr/>
        </p:nvSpPr>
        <p:spPr>
          <a:xfrm>
            <a:off x="999902" y="4115470"/>
            <a:ext cx="168041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area?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6" name="Google Shape;3446;p70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7" name="Google Shape;3447;p70"/>
          <p:cNvSpPr/>
          <p:nvPr/>
        </p:nvSpPr>
        <p:spPr>
          <a:xfrm>
            <a:off x="999902" y="4563963"/>
            <a:ext cx="470824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 we use squares to measure it?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8" name="Google Shape;3448;p70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9" name="Google Shape;3449;p7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0" name="Google Shape;3450;p70"/>
          <p:cNvSpPr/>
          <p:nvPr/>
        </p:nvSpPr>
        <p:spPr>
          <a:xfrm>
            <a:off x="6424464" y="4115470"/>
            <a:ext cx="8003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1" name="Google Shape;3451;p70"/>
          <p:cNvSpPr/>
          <p:nvPr/>
        </p:nvSpPr>
        <p:spPr>
          <a:xfrm>
            <a:off x="6586389" y="4182145"/>
            <a:ext cx="5526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2" name="Google Shape;3452;p70"/>
          <p:cNvSpPr/>
          <p:nvPr/>
        </p:nvSpPr>
        <p:spPr>
          <a:xfrm>
            <a:off x="7310512" y="4115470"/>
            <a:ext cx="150152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3" name="Google Shape;3453;p70"/>
          <p:cNvSpPr/>
          <p:nvPr/>
        </p:nvSpPr>
        <p:spPr>
          <a:xfrm>
            <a:off x="7472437" y="4182145"/>
            <a:ext cx="125387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 square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4" name="Google Shape;3454;p70"/>
          <p:cNvSpPr/>
          <p:nvPr/>
        </p:nvSpPr>
        <p:spPr>
          <a:xfrm>
            <a:off x="8897764" y="4115470"/>
            <a:ext cx="150152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5" name="Google Shape;3455;p70"/>
          <p:cNvSpPr/>
          <p:nvPr/>
        </p:nvSpPr>
        <p:spPr>
          <a:xfrm>
            <a:off x="9059689" y="4182145"/>
            <a:ext cx="125387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square unit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6" name="Google Shape;3456;p70"/>
          <p:cNvSpPr/>
          <p:nvPr/>
        </p:nvSpPr>
        <p:spPr>
          <a:xfrm>
            <a:off x="6424464" y="4619997"/>
            <a:ext cx="156783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7" name="Google Shape;3457;p70"/>
          <p:cNvSpPr/>
          <p:nvPr/>
        </p:nvSpPr>
        <p:spPr>
          <a:xfrm>
            <a:off x="6586389" y="4686672"/>
            <a:ext cx="132018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plane figure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8" name="Google Shape;3458;p70"/>
          <p:cNvSpPr/>
          <p:nvPr/>
        </p:nvSpPr>
        <p:spPr>
          <a:xfrm>
            <a:off x="8078019" y="4619997"/>
            <a:ext cx="90591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9" name="Google Shape;3459;p70"/>
          <p:cNvSpPr/>
          <p:nvPr/>
        </p:nvSpPr>
        <p:spPr>
          <a:xfrm>
            <a:off x="8239944" y="4686672"/>
            <a:ext cx="65826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cover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0" name="Google Shape;3460;p70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1" name="Google Shape;3461;p70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2" name="Google Shape;3462;p70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3" name="Google Shape;3463;p70"/>
          <p:cNvSpPr/>
          <p:nvPr/>
        </p:nvSpPr>
        <p:spPr>
          <a:xfrm>
            <a:off x="1247477" y="6067276"/>
            <a:ext cx="56475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area as an attribute of plane figures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4" name="Google Shape;3464;p70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5" name="Google Shape;3465;p70"/>
          <p:cNvSpPr/>
          <p:nvPr/>
        </p:nvSpPr>
        <p:spPr>
          <a:xfrm>
            <a:off x="1247477" y="6506170"/>
            <a:ext cx="531454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a unit square as the unit of area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6" name="Google Shape;3466;p70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7" name="Google Shape;3467;p70"/>
          <p:cNvSpPr/>
          <p:nvPr/>
        </p:nvSpPr>
        <p:spPr>
          <a:xfrm>
            <a:off x="1247477" y="6945064"/>
            <a:ext cx="617697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area by covering without gaps or overlaps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70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9" name="Google Shape;3469;p70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0" name="Google Shape;3470;p70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1" name="Google Shape;3471;p70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confuse area with perimeter and label answers in the wrong units. Ask what is being measured: covering or surrounding.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2" name="Google Shape;3472;p70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3" name="Google Shape;3473;p70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4" name="Google Shape;3474;p70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5" name="Google Shape;3475;p70"/>
          <p:cNvSpPr/>
          <p:nvPr/>
        </p:nvSpPr>
        <p:spPr>
          <a:xfrm>
            <a:off x="1218902" y="9905256"/>
            <a:ext cx="391580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what area means.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6" name="Google Shape;3476;p70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7" name="Google Shape;3477;p70"/>
          <p:cNvSpPr/>
          <p:nvPr/>
        </p:nvSpPr>
        <p:spPr>
          <a:xfrm>
            <a:off x="1218902" y="10347499"/>
            <a:ext cx="507905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know area is measured in square units.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8" name="Google Shape;3478;p7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9" name="Google Shape;3479;p70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0" name="Google Shape;3480;p70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3.MD.C.5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485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Google Shape;3486;p7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7" name="Google Shape;3487;p71"/>
          <p:cNvSpPr/>
          <p:nvPr/>
        </p:nvSpPr>
        <p:spPr>
          <a:xfrm>
            <a:off x="533326" y="533326"/>
            <a:ext cx="73839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8" name="Google Shape;3488;p71"/>
          <p:cNvSpPr/>
          <p:nvPr/>
        </p:nvSpPr>
        <p:spPr>
          <a:xfrm>
            <a:off x="533326" y="847651"/>
            <a:ext cx="738393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9" name="Google Shape;3489;p71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0" name="Google Shape;3490;p71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3.MD.C.6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1" name="Google Shape;3491;p71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2" name="Google Shape;3492;p71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3" name="Google Shape;3493;p7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4" name="Google Shape;3494;p71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areas by counting unit squares.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5" name="Google Shape;3495;p71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6" name="Google Shape;3496;p71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7" name="Google Shape;3497;p71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8" name="Google Shape;3498;p71"/>
          <p:cNvSpPr/>
          <p:nvPr/>
        </p:nvSpPr>
        <p:spPr>
          <a:xfrm>
            <a:off x="999902" y="3755603"/>
            <a:ext cx="39062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count area accurately?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9" name="Google Shape;3499;p71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0" name="Google Shape;3500;p71"/>
          <p:cNvSpPr/>
          <p:nvPr/>
        </p:nvSpPr>
        <p:spPr>
          <a:xfrm>
            <a:off x="999902" y="4204097"/>
            <a:ext cx="442117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if the shape is not a rectangle?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1" name="Google Shape;3501;p71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2" name="Google Shape;3502;p71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3" name="Google Shape;3503;p71"/>
          <p:cNvSpPr/>
          <p:nvPr/>
        </p:nvSpPr>
        <p:spPr>
          <a:xfrm>
            <a:off x="6424464" y="3755603"/>
            <a:ext cx="150152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4" name="Google Shape;3504;p71"/>
          <p:cNvSpPr/>
          <p:nvPr/>
        </p:nvSpPr>
        <p:spPr>
          <a:xfrm>
            <a:off x="6586389" y="3822278"/>
            <a:ext cx="125387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 square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5" name="Google Shape;3505;p71"/>
          <p:cNvSpPr/>
          <p:nvPr/>
        </p:nvSpPr>
        <p:spPr>
          <a:xfrm>
            <a:off x="8011716" y="3755603"/>
            <a:ext cx="222907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6" name="Google Shape;3506;p71"/>
          <p:cNvSpPr/>
          <p:nvPr/>
        </p:nvSpPr>
        <p:spPr>
          <a:xfrm>
            <a:off x="8173641" y="3822278"/>
            <a:ext cx="198142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square centimeter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7" name="Google Shape;3507;p71"/>
          <p:cNvSpPr/>
          <p:nvPr/>
        </p:nvSpPr>
        <p:spPr>
          <a:xfrm>
            <a:off x="6424464" y="4260131"/>
            <a:ext cx="155443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8" name="Google Shape;3508;p71"/>
          <p:cNvSpPr/>
          <p:nvPr/>
        </p:nvSpPr>
        <p:spPr>
          <a:xfrm>
            <a:off x="6586389" y="4326806"/>
            <a:ext cx="13067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square inch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9" name="Google Shape;3509;p71"/>
          <p:cNvSpPr/>
          <p:nvPr/>
        </p:nvSpPr>
        <p:spPr>
          <a:xfrm>
            <a:off x="8064624" y="4260131"/>
            <a:ext cx="119680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0" name="Google Shape;3510;p71"/>
          <p:cNvSpPr/>
          <p:nvPr/>
        </p:nvSpPr>
        <p:spPr>
          <a:xfrm>
            <a:off x="8226549" y="4326806"/>
            <a:ext cx="94915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irregular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1" name="Google Shape;3511;p71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2" name="Google Shape;3512;p71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3" name="Google Shape;3513;p71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4" name="Google Shape;3514;p71"/>
          <p:cNvSpPr/>
          <p:nvPr/>
        </p:nvSpPr>
        <p:spPr>
          <a:xfrm>
            <a:off x="1247477" y="5707410"/>
            <a:ext cx="47087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area by counting unit squares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71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6" name="Google Shape;3516;p71"/>
          <p:cNvSpPr/>
          <p:nvPr/>
        </p:nvSpPr>
        <p:spPr>
          <a:xfrm>
            <a:off x="1247477" y="6146304"/>
            <a:ext cx="613130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square cm, square m, square in, and square ft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7" name="Google Shape;3517;p71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8" name="Google Shape;3518;p71"/>
          <p:cNvSpPr/>
          <p:nvPr/>
        </p:nvSpPr>
        <p:spPr>
          <a:xfrm>
            <a:off x="1247477" y="6585198"/>
            <a:ext cx="622265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Count partial and whole squares in irregular shapes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9" name="Google Shape;3519;p71"/>
          <p:cNvSpPr/>
          <p:nvPr/>
        </p:nvSpPr>
        <p:spPr>
          <a:xfrm>
            <a:off x="533326" y="732881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0" name="Google Shape;3520;p71"/>
          <p:cNvSpPr/>
          <p:nvPr/>
        </p:nvSpPr>
        <p:spPr>
          <a:xfrm>
            <a:off x="533326" y="732881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1" name="Google Shape;3521;p71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2" name="Google Shape;3522;p71"/>
          <p:cNvSpPr/>
          <p:nvPr/>
        </p:nvSpPr>
        <p:spPr>
          <a:xfrm>
            <a:off x="895201" y="788111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count the squares along the border only, or skip and double-count when the shape is not neatly gridded.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3" name="Google Shape;3523;p71"/>
          <p:cNvSpPr/>
          <p:nvPr/>
        </p:nvSpPr>
        <p:spPr>
          <a:xfrm>
            <a:off x="533326" y="895491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4" name="Google Shape;3524;p71"/>
          <p:cNvSpPr/>
          <p:nvPr/>
        </p:nvSpPr>
        <p:spPr>
          <a:xfrm>
            <a:off x="780901" y="9145339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5" name="Google Shape;3525;p71"/>
          <p:cNvSpPr/>
          <p:nvPr/>
        </p:nvSpPr>
        <p:spPr>
          <a:xfrm>
            <a:off x="780901" y="957396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6" name="Google Shape;3526;p71"/>
          <p:cNvSpPr/>
          <p:nvPr/>
        </p:nvSpPr>
        <p:spPr>
          <a:xfrm>
            <a:off x="1218902" y="9545389"/>
            <a:ext cx="501667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area by counting square units.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7" name="Google Shape;3527;p7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p7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9" name="Google Shape;3529;p71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3.MD.C.6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534" name="Shape 3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5" name="Google Shape;3535;p7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6" name="Google Shape;3536;p72"/>
          <p:cNvSpPr/>
          <p:nvPr/>
        </p:nvSpPr>
        <p:spPr>
          <a:xfrm>
            <a:off x="533326" y="533326"/>
            <a:ext cx="73839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7" name="Google Shape;3537;p72"/>
          <p:cNvSpPr/>
          <p:nvPr/>
        </p:nvSpPr>
        <p:spPr>
          <a:xfrm>
            <a:off x="533326" y="847651"/>
            <a:ext cx="738393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8" name="Google Shape;3538;p72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9" name="Google Shape;3539;p72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3.MD.C.7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0" name="Google Shape;3540;p72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1" name="Google Shape;3541;p72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2" name="Google Shape;3542;p7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3" name="Google Shape;3543;p72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Relate area to the operations of multiplication and addition.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4" name="Google Shape;3544;p72"/>
          <p:cNvSpPr/>
          <p:nvPr/>
        </p:nvSpPr>
        <p:spPr>
          <a:xfrm>
            <a:off x="533326" y="3136553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5" name="Google Shape;3545;p72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6" name="Google Shape;3546;p72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7" name="Google Shape;3547;p72"/>
          <p:cNvSpPr/>
          <p:nvPr/>
        </p:nvSpPr>
        <p:spPr>
          <a:xfrm>
            <a:off x="999902" y="375560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does length times width give the area?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8" name="Google Shape;3548;p72"/>
          <p:cNvSpPr/>
          <p:nvPr/>
        </p:nvSpPr>
        <p:spPr>
          <a:xfrm>
            <a:off x="790501" y="464299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9" name="Google Shape;3549;p72"/>
          <p:cNvSpPr/>
          <p:nvPr/>
        </p:nvSpPr>
        <p:spPr>
          <a:xfrm>
            <a:off x="999902" y="453829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can I break a shape apart to find its area?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0" name="Google Shape;3550;p72"/>
          <p:cNvSpPr/>
          <p:nvPr/>
        </p:nvSpPr>
        <p:spPr>
          <a:xfrm>
            <a:off x="6167289" y="3136553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1" name="Google Shape;3551;p72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2" name="Google Shape;3552;p72"/>
          <p:cNvSpPr/>
          <p:nvPr/>
        </p:nvSpPr>
        <p:spPr>
          <a:xfrm>
            <a:off x="6424464" y="3755603"/>
            <a:ext cx="151469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3" name="Google Shape;3553;p72"/>
          <p:cNvSpPr/>
          <p:nvPr/>
        </p:nvSpPr>
        <p:spPr>
          <a:xfrm>
            <a:off x="6586389" y="3822278"/>
            <a:ext cx="126704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area model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4" name="Google Shape;3554;p72"/>
          <p:cNvSpPr/>
          <p:nvPr/>
        </p:nvSpPr>
        <p:spPr>
          <a:xfrm>
            <a:off x="8024887" y="3755603"/>
            <a:ext cx="240097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5" name="Google Shape;3555;p72"/>
          <p:cNvSpPr/>
          <p:nvPr/>
        </p:nvSpPr>
        <p:spPr>
          <a:xfrm>
            <a:off x="8186812" y="3822278"/>
            <a:ext cx="215332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distributive property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6" name="Google Shape;3556;p72"/>
          <p:cNvSpPr/>
          <p:nvPr/>
        </p:nvSpPr>
        <p:spPr>
          <a:xfrm>
            <a:off x="6424464" y="4260131"/>
            <a:ext cx="155443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7" name="Google Shape;3557;p72"/>
          <p:cNvSpPr/>
          <p:nvPr/>
        </p:nvSpPr>
        <p:spPr>
          <a:xfrm>
            <a:off x="6586389" y="4326806"/>
            <a:ext cx="13067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decompose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8" name="Google Shape;3558;p72"/>
          <p:cNvSpPr/>
          <p:nvPr/>
        </p:nvSpPr>
        <p:spPr>
          <a:xfrm>
            <a:off x="8064624" y="4260131"/>
            <a:ext cx="207012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9" name="Google Shape;3559;p72"/>
          <p:cNvSpPr/>
          <p:nvPr/>
        </p:nvSpPr>
        <p:spPr>
          <a:xfrm>
            <a:off x="8226549" y="4326806"/>
            <a:ext cx="18224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composite figure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0" name="Google Shape;3560;p72"/>
          <p:cNvSpPr/>
          <p:nvPr/>
        </p:nvSpPr>
        <p:spPr>
          <a:xfrm>
            <a:off x="533326" y="5616104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1" name="Google Shape;3561;p72"/>
          <p:cNvSpPr/>
          <p:nvPr/>
        </p:nvSpPr>
        <p:spPr>
          <a:xfrm>
            <a:off x="809476" y="583510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2" name="Google Shape;3562;p72"/>
          <p:cNvSpPr/>
          <p:nvPr/>
        </p:nvSpPr>
        <p:spPr>
          <a:xfrm>
            <a:off x="809476" y="626372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3" name="Google Shape;3563;p72"/>
          <p:cNvSpPr/>
          <p:nvPr/>
        </p:nvSpPr>
        <p:spPr>
          <a:xfrm>
            <a:off x="1247477" y="6235154"/>
            <a:ext cx="336106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Relate area to multiplication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4" name="Google Shape;3564;p72"/>
          <p:cNvSpPr/>
          <p:nvPr/>
        </p:nvSpPr>
        <p:spPr>
          <a:xfrm>
            <a:off x="809476" y="670262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5" name="Google Shape;3565;p72"/>
          <p:cNvSpPr/>
          <p:nvPr/>
        </p:nvSpPr>
        <p:spPr>
          <a:xfrm>
            <a:off x="1247477" y="6674048"/>
            <a:ext cx="552549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the distributive property with area models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6" name="Google Shape;3566;p72"/>
          <p:cNvSpPr/>
          <p:nvPr/>
        </p:nvSpPr>
        <p:spPr>
          <a:xfrm>
            <a:off x="809476" y="7141518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7" name="Google Shape;3567;p72"/>
          <p:cNvSpPr/>
          <p:nvPr/>
        </p:nvSpPr>
        <p:spPr>
          <a:xfrm>
            <a:off x="1247477" y="7112943"/>
            <a:ext cx="743354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Find the area of composite rectilinear figures by decomposing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8" name="Google Shape;3568;p72"/>
          <p:cNvSpPr/>
          <p:nvPr/>
        </p:nvSpPr>
        <p:spPr>
          <a:xfrm>
            <a:off x="533326" y="7856562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9" name="Google Shape;3569;p72"/>
          <p:cNvSpPr/>
          <p:nvPr/>
        </p:nvSpPr>
        <p:spPr>
          <a:xfrm>
            <a:off x="533326" y="7856562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0" name="Google Shape;3570;p72"/>
          <p:cNvSpPr/>
          <p:nvPr/>
        </p:nvSpPr>
        <p:spPr>
          <a:xfrm>
            <a:off x="895201" y="8046988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1" name="Google Shape;3571;p72"/>
          <p:cNvSpPr/>
          <p:nvPr/>
        </p:nvSpPr>
        <p:spPr>
          <a:xfrm>
            <a:off x="895201" y="8408863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add length and width instead of multiplying. Tiling the rectangle first makes the row structure visible.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2" name="Google Shape;3572;p72"/>
          <p:cNvSpPr/>
          <p:nvPr/>
        </p:nvSpPr>
        <p:spPr>
          <a:xfrm>
            <a:off x="533326" y="9482658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3" name="Google Shape;3573;p72"/>
          <p:cNvSpPr/>
          <p:nvPr/>
        </p:nvSpPr>
        <p:spPr>
          <a:xfrm>
            <a:off x="780901" y="967308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4" name="Google Shape;3574;p72"/>
          <p:cNvSpPr/>
          <p:nvPr/>
        </p:nvSpPr>
        <p:spPr>
          <a:xfrm>
            <a:off x="780901" y="1010170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5" name="Google Shape;3575;p72"/>
          <p:cNvSpPr/>
          <p:nvPr/>
        </p:nvSpPr>
        <p:spPr>
          <a:xfrm>
            <a:off x="1218902" y="10073134"/>
            <a:ext cx="366385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area by multiplying.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6" name="Google Shape;3576;p72"/>
          <p:cNvSpPr/>
          <p:nvPr/>
        </p:nvSpPr>
        <p:spPr>
          <a:xfrm>
            <a:off x="780901" y="1054395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7" name="Google Shape;3577;p72"/>
          <p:cNvSpPr/>
          <p:nvPr/>
        </p:nvSpPr>
        <p:spPr>
          <a:xfrm>
            <a:off x="1218902" y="10515377"/>
            <a:ext cx="633757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break a shape into rectangles to find its area.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8" name="Google Shape;3578;p7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9" name="Google Shape;3579;p7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0" name="Google Shape;3580;p72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3.MD.C.7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585" name="Shape 3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p7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7" name="Google Shape;3587;p73"/>
          <p:cNvSpPr/>
          <p:nvPr/>
        </p:nvSpPr>
        <p:spPr>
          <a:xfrm>
            <a:off x="533326" y="533326"/>
            <a:ext cx="73839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8" name="Google Shape;3588;p73"/>
          <p:cNvSpPr/>
          <p:nvPr/>
        </p:nvSpPr>
        <p:spPr>
          <a:xfrm>
            <a:off x="533326" y="847651"/>
            <a:ext cx="738393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Perimeter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9" name="Google Shape;3589;p73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0" name="Google Shape;3590;p73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3.MD.D.8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1" name="Google Shape;3591;p7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2" name="Google Shape;3592;p7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p7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4" name="Google Shape;3594;p7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real world and mathematical problems involving perimeters of polygons, including finding an unknown side length.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5" name="Google Shape;3595;p73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6" name="Google Shape;3596;p7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7" name="Google Shape;3597;p7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8" name="Google Shape;3598;p73"/>
          <p:cNvSpPr/>
          <p:nvPr/>
        </p:nvSpPr>
        <p:spPr>
          <a:xfrm>
            <a:off x="999902" y="4115470"/>
            <a:ext cx="44909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perimeter different from area?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9" name="Google Shape;3599;p7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0" name="Google Shape;3600;p73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Can two shapes have the same perimeter but different areas?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1" name="Google Shape;3601;p73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2" name="Google Shape;3602;p7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3" name="Google Shape;3603;p73"/>
          <p:cNvSpPr/>
          <p:nvPr/>
        </p:nvSpPr>
        <p:spPr>
          <a:xfrm>
            <a:off x="6424464" y="4115470"/>
            <a:ext cx="132918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4" name="Google Shape;3604;p73"/>
          <p:cNvSpPr/>
          <p:nvPr/>
        </p:nvSpPr>
        <p:spPr>
          <a:xfrm>
            <a:off x="6586389" y="4182145"/>
            <a:ext cx="108153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perimeter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5" name="Google Shape;3605;p73"/>
          <p:cNvSpPr/>
          <p:nvPr/>
        </p:nvSpPr>
        <p:spPr>
          <a:xfrm>
            <a:off x="7839373" y="4115470"/>
            <a:ext cx="115751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6" name="Google Shape;3606;p73"/>
          <p:cNvSpPr/>
          <p:nvPr/>
        </p:nvSpPr>
        <p:spPr>
          <a:xfrm>
            <a:off x="8001298" y="4182145"/>
            <a:ext cx="9098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polygon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7" name="Google Shape;3607;p73"/>
          <p:cNvSpPr/>
          <p:nvPr/>
        </p:nvSpPr>
        <p:spPr>
          <a:xfrm>
            <a:off x="9082608" y="4115470"/>
            <a:ext cx="147518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8" name="Google Shape;3608;p73"/>
          <p:cNvSpPr/>
          <p:nvPr/>
        </p:nvSpPr>
        <p:spPr>
          <a:xfrm>
            <a:off x="9244533" y="4182145"/>
            <a:ext cx="122753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side length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9" name="Google Shape;3609;p73"/>
          <p:cNvSpPr/>
          <p:nvPr/>
        </p:nvSpPr>
        <p:spPr>
          <a:xfrm>
            <a:off x="6424464" y="4619997"/>
            <a:ext cx="140888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0" name="Google Shape;3610;p73"/>
          <p:cNvSpPr/>
          <p:nvPr/>
        </p:nvSpPr>
        <p:spPr>
          <a:xfrm>
            <a:off x="6586389" y="4686672"/>
            <a:ext cx="116123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dimension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1" name="Google Shape;3611;p73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2" name="Google Shape;3612;p73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3" name="Google Shape;3613;p73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4" name="Google Shape;3614;p73"/>
          <p:cNvSpPr/>
          <p:nvPr/>
        </p:nvSpPr>
        <p:spPr>
          <a:xfrm>
            <a:off x="1247477" y="6260827"/>
            <a:ext cx="36790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Find the perimeter of polygons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5" name="Google Shape;3615;p73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6" name="Google Shape;3616;p73"/>
          <p:cNvSpPr/>
          <p:nvPr/>
        </p:nvSpPr>
        <p:spPr>
          <a:xfrm>
            <a:off x="1247477" y="6699721"/>
            <a:ext cx="587468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Find an unknown side length given the perimeter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7" name="Google Shape;3617;p73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8" name="Google Shape;3618;p73"/>
          <p:cNvSpPr/>
          <p:nvPr/>
        </p:nvSpPr>
        <p:spPr>
          <a:xfrm>
            <a:off x="1247477" y="7138615"/>
            <a:ext cx="77765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rectangles with the same perimeter and different areas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9" name="Google Shape;3619;p73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0" name="Google Shape;3620;p73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1" name="Google Shape;3621;p73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2" name="Google Shape;3622;p73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Perimeter and area are used interchangeably. Repeated side-by-side comparison, with units attached, separates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3" name="Google Shape;3623;p73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4" name="Google Shape;3624;p73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5" name="Google Shape;3625;p73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6" name="Google Shape;3626;p73"/>
          <p:cNvSpPr/>
          <p:nvPr/>
        </p:nvSpPr>
        <p:spPr>
          <a:xfrm>
            <a:off x="1218902" y="10098807"/>
            <a:ext cx="437181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perimeter of a shape.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7" name="Google Shape;3627;p73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8" name="Google Shape;3628;p73"/>
          <p:cNvSpPr/>
          <p:nvPr/>
        </p:nvSpPr>
        <p:spPr>
          <a:xfrm>
            <a:off x="1218902" y="10541050"/>
            <a:ext cx="394698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a missing side length.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9" name="Google Shape;3629;p7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0" name="Google Shape;3630;p7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1" name="Google Shape;3631;p73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3.MD.D.8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636" name="Shape 3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7" name="Google Shape;3637;p74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8" name="Google Shape;3638;p74"/>
          <p:cNvSpPr/>
          <p:nvPr/>
        </p:nvSpPr>
        <p:spPr>
          <a:xfrm>
            <a:off x="533326" y="533326"/>
            <a:ext cx="10239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GEOMETRY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9" name="Google Shape;3639;p74"/>
          <p:cNvSpPr/>
          <p:nvPr/>
        </p:nvSpPr>
        <p:spPr>
          <a:xfrm>
            <a:off x="533326" y="847651"/>
            <a:ext cx="9587555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Reason with Shapes and Their Attributes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0" name="Google Shape;3640;p74"/>
          <p:cNvSpPr/>
          <p:nvPr/>
        </p:nvSpPr>
        <p:spPr>
          <a:xfrm>
            <a:off x="10127382" y="533326"/>
            <a:ext cx="1483668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1" name="Google Shape;3641;p74"/>
          <p:cNvSpPr/>
          <p:nvPr/>
        </p:nvSpPr>
        <p:spPr>
          <a:xfrm>
            <a:off x="10336932" y="647626"/>
            <a:ext cx="11407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3.G.A.1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2" name="Google Shape;3642;p74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3" name="Google Shape;3643;p74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4" name="Google Shape;3644;p74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5" name="Google Shape;3645;p74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that shapes in different categories may share attributes, and that shared attributes can define a larger category.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6" name="Google Shape;3646;p74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7" name="Google Shape;3647;p74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8" name="Google Shape;3648;p74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9" name="Google Shape;3649;p74"/>
          <p:cNvSpPr/>
          <p:nvPr/>
        </p:nvSpPr>
        <p:spPr>
          <a:xfrm>
            <a:off x="999902" y="4635401"/>
            <a:ext cx="48148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attributes do these shapes share?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0" name="Google Shape;3650;p74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1" name="Google Shape;3651;p74"/>
          <p:cNvSpPr/>
          <p:nvPr/>
        </p:nvSpPr>
        <p:spPr>
          <a:xfrm>
            <a:off x="999902" y="5083894"/>
            <a:ext cx="46178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can one shape have two names?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2" name="Google Shape;3652;p74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3" name="Google Shape;3653;p74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4" name="Google Shape;3654;p74"/>
          <p:cNvSpPr/>
          <p:nvPr/>
        </p:nvSpPr>
        <p:spPr>
          <a:xfrm>
            <a:off x="6424464" y="4635401"/>
            <a:ext cx="118385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5" name="Google Shape;3655;p74"/>
          <p:cNvSpPr/>
          <p:nvPr/>
        </p:nvSpPr>
        <p:spPr>
          <a:xfrm>
            <a:off x="6586389" y="4702076"/>
            <a:ext cx="9362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6" name="Google Shape;3656;p74"/>
          <p:cNvSpPr/>
          <p:nvPr/>
        </p:nvSpPr>
        <p:spPr>
          <a:xfrm>
            <a:off x="7694042" y="4635401"/>
            <a:ext cx="163368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7" name="Google Shape;3657;p74"/>
          <p:cNvSpPr/>
          <p:nvPr/>
        </p:nvSpPr>
        <p:spPr>
          <a:xfrm>
            <a:off x="7855967" y="4702076"/>
            <a:ext cx="13860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quadrilateral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8" name="Google Shape;3658;p74"/>
          <p:cNvSpPr/>
          <p:nvPr/>
        </p:nvSpPr>
        <p:spPr>
          <a:xfrm>
            <a:off x="9413453" y="4635401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9" name="Google Shape;3659;p74"/>
          <p:cNvSpPr/>
          <p:nvPr/>
        </p:nvSpPr>
        <p:spPr>
          <a:xfrm>
            <a:off x="9575378" y="4702076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rhombus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0" name="Google Shape;3660;p74"/>
          <p:cNvSpPr/>
          <p:nvPr/>
        </p:nvSpPr>
        <p:spPr>
          <a:xfrm>
            <a:off x="6424464" y="5139928"/>
            <a:ext cx="130306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1" name="Google Shape;3661;p74"/>
          <p:cNvSpPr/>
          <p:nvPr/>
        </p:nvSpPr>
        <p:spPr>
          <a:xfrm>
            <a:off x="6586389" y="5206603"/>
            <a:ext cx="10554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rectangle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2" name="Google Shape;3662;p74"/>
          <p:cNvSpPr/>
          <p:nvPr/>
        </p:nvSpPr>
        <p:spPr>
          <a:xfrm>
            <a:off x="7813253" y="5139928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3" name="Google Shape;3663;p74"/>
          <p:cNvSpPr/>
          <p:nvPr/>
        </p:nvSpPr>
        <p:spPr>
          <a:xfrm>
            <a:off x="7975178" y="5206603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square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4" name="Google Shape;3664;p74"/>
          <p:cNvSpPr/>
          <p:nvPr/>
        </p:nvSpPr>
        <p:spPr>
          <a:xfrm>
            <a:off x="8950672" y="5139928"/>
            <a:ext cx="123676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5" name="Google Shape;3665;p74"/>
          <p:cNvSpPr/>
          <p:nvPr/>
        </p:nvSpPr>
        <p:spPr>
          <a:xfrm>
            <a:off x="9112597" y="5206603"/>
            <a:ext cx="98911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6" name="Google Shape;3666;p74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7" name="Google Shape;3667;p74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8" name="Google Shape;3668;p74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9" name="Google Shape;3669;p74"/>
          <p:cNvSpPr/>
          <p:nvPr/>
        </p:nvSpPr>
        <p:spPr>
          <a:xfrm>
            <a:off x="1247477" y="6587207"/>
            <a:ext cx="81100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that shapes in different categories may share attributes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0" name="Google Shape;3670;p74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1" name="Google Shape;3671;p74"/>
          <p:cNvSpPr/>
          <p:nvPr/>
        </p:nvSpPr>
        <p:spPr>
          <a:xfrm>
            <a:off x="1247477" y="7026101"/>
            <a:ext cx="78424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rhombuses, rectangles, and squares as quadrilaterals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2" name="Google Shape;3672;p74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3" name="Google Shape;3673;p74"/>
          <p:cNvSpPr/>
          <p:nvPr/>
        </p:nvSpPr>
        <p:spPr>
          <a:xfrm>
            <a:off x="1247477" y="7464996"/>
            <a:ext cx="82362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examples of quadrilaterals that do not belong to a subcategory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4" name="Google Shape;3674;p74"/>
          <p:cNvSpPr/>
          <p:nvPr/>
        </p:nvSpPr>
        <p:spPr>
          <a:xfrm>
            <a:off x="533326" y="820861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5" name="Google Shape;3675;p74"/>
          <p:cNvSpPr/>
          <p:nvPr/>
        </p:nvSpPr>
        <p:spPr>
          <a:xfrm>
            <a:off x="533326" y="820861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6" name="Google Shape;3676;p74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7" name="Google Shape;3677;p74"/>
          <p:cNvSpPr/>
          <p:nvPr/>
        </p:nvSpPr>
        <p:spPr>
          <a:xfrm>
            <a:off x="895201" y="876091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insist a square is not a rectangle. Sorting by attribute rather than by name resolves this.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8" name="Google Shape;3678;p74"/>
          <p:cNvSpPr/>
          <p:nvPr/>
        </p:nvSpPr>
        <p:spPr>
          <a:xfrm>
            <a:off x="533326" y="983471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9" name="Google Shape;3679;p74"/>
          <p:cNvSpPr/>
          <p:nvPr/>
        </p:nvSpPr>
        <p:spPr>
          <a:xfrm>
            <a:off x="780901" y="1002513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0" name="Google Shape;3680;p74"/>
          <p:cNvSpPr/>
          <p:nvPr/>
        </p:nvSpPr>
        <p:spPr>
          <a:xfrm>
            <a:off x="780901" y="1045376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1" name="Google Shape;3681;p74"/>
          <p:cNvSpPr/>
          <p:nvPr/>
        </p:nvSpPr>
        <p:spPr>
          <a:xfrm>
            <a:off x="1218902" y="10425187"/>
            <a:ext cx="448158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sort shapes by their attributes.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2" name="Google Shape;3682;p74"/>
          <p:cNvSpPr/>
          <p:nvPr/>
        </p:nvSpPr>
        <p:spPr>
          <a:xfrm>
            <a:off x="780901" y="1089600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3" name="Google Shape;3683;p74"/>
          <p:cNvSpPr/>
          <p:nvPr/>
        </p:nvSpPr>
        <p:spPr>
          <a:xfrm>
            <a:off x="1218902" y="10867430"/>
            <a:ext cx="578701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why a square is also a rectangle.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4" name="Google Shape;3684;p7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5" name="Google Shape;3685;p7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6" name="Google Shape;3686;p74"/>
          <p:cNvSpPr/>
          <p:nvPr/>
        </p:nvSpPr>
        <p:spPr>
          <a:xfrm>
            <a:off x="10790634" y="14897174"/>
            <a:ext cx="896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3.G.A.1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69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p75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3" name="Google Shape;3693;p75"/>
          <p:cNvSpPr/>
          <p:nvPr/>
        </p:nvSpPr>
        <p:spPr>
          <a:xfrm>
            <a:off x="533326" y="533326"/>
            <a:ext cx="10239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3RD GRADE MATH · GEOMETRY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4" name="Google Shape;3694;p75"/>
          <p:cNvSpPr/>
          <p:nvPr/>
        </p:nvSpPr>
        <p:spPr>
          <a:xfrm>
            <a:off x="533326" y="847651"/>
            <a:ext cx="9587555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Reason with Shapes and Their Attributes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5" name="Google Shape;3695;p75"/>
          <p:cNvSpPr/>
          <p:nvPr/>
        </p:nvSpPr>
        <p:spPr>
          <a:xfrm>
            <a:off x="10127382" y="533326"/>
            <a:ext cx="1483668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6" name="Google Shape;3696;p75"/>
          <p:cNvSpPr/>
          <p:nvPr/>
        </p:nvSpPr>
        <p:spPr>
          <a:xfrm>
            <a:off x="10336932" y="647626"/>
            <a:ext cx="11407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3.G.A.2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7" name="Google Shape;3697;p75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8" name="Google Shape;3698;p75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9" name="Google Shape;3699;p75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0" name="Google Shape;3700;p75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Partition shapes into parts with equal areas; express the area of each part as a unit fraction of the whole.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1" name="Google Shape;3701;p75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2" name="Google Shape;3702;p75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3" name="Google Shape;3703;p75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4" name="Google Shape;3704;p75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partitioning connect shapes to fractions?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5" name="Google Shape;3705;p75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6" name="Google Shape;3706;p75"/>
          <p:cNvSpPr/>
          <p:nvPr/>
        </p:nvSpPr>
        <p:spPr>
          <a:xfrm>
            <a:off x="999902" y="5418088"/>
            <a:ext cx="292199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whole here?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7" name="Google Shape;3707;p75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8" name="Google Shape;3708;p75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9" name="Google Shape;3709;p75"/>
          <p:cNvSpPr/>
          <p:nvPr/>
        </p:nvSpPr>
        <p:spPr>
          <a:xfrm>
            <a:off x="6424464" y="4635401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0" name="Google Shape;3710;p75"/>
          <p:cNvSpPr/>
          <p:nvPr/>
        </p:nvSpPr>
        <p:spPr>
          <a:xfrm>
            <a:off x="6586389" y="4702076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partition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1" name="Google Shape;3711;p75"/>
          <p:cNvSpPr/>
          <p:nvPr/>
        </p:nvSpPr>
        <p:spPr>
          <a:xfrm>
            <a:off x="7680871" y="4635401"/>
            <a:ext cx="144884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2" name="Google Shape;3712;p75"/>
          <p:cNvSpPr/>
          <p:nvPr/>
        </p:nvSpPr>
        <p:spPr>
          <a:xfrm>
            <a:off x="7842796" y="4702076"/>
            <a:ext cx="120119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equal area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3" name="Google Shape;3713;p75"/>
          <p:cNvSpPr/>
          <p:nvPr/>
        </p:nvSpPr>
        <p:spPr>
          <a:xfrm>
            <a:off x="9215438" y="4635401"/>
            <a:ext cx="155421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4" name="Google Shape;3714;p75"/>
          <p:cNvSpPr/>
          <p:nvPr/>
        </p:nvSpPr>
        <p:spPr>
          <a:xfrm>
            <a:off x="9377363" y="4702076"/>
            <a:ext cx="1306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 fraction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5" name="Google Shape;3715;p75"/>
          <p:cNvSpPr/>
          <p:nvPr/>
        </p:nvSpPr>
        <p:spPr>
          <a:xfrm>
            <a:off x="6424464" y="5139928"/>
            <a:ext cx="94565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6" name="Google Shape;3716;p75"/>
          <p:cNvSpPr/>
          <p:nvPr/>
        </p:nvSpPr>
        <p:spPr>
          <a:xfrm>
            <a:off x="6586389" y="5206603"/>
            <a:ext cx="6980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whole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75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8" name="Google Shape;3718;p75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75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0" name="Google Shape;3720;p75"/>
          <p:cNvSpPr/>
          <p:nvPr/>
        </p:nvSpPr>
        <p:spPr>
          <a:xfrm>
            <a:off x="1247477" y="6780758"/>
            <a:ext cx="52082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Partition shapes into parts with equal areas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1" name="Google Shape;3721;p75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2" name="Google Shape;3722;p75"/>
          <p:cNvSpPr/>
          <p:nvPr/>
        </p:nvSpPr>
        <p:spPr>
          <a:xfrm>
            <a:off x="1247477" y="7219652"/>
            <a:ext cx="581378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Express each part as a unit fraction of the whole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3" name="Google Shape;3723;p75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4" name="Google Shape;3724;p75"/>
          <p:cNvSpPr/>
          <p:nvPr/>
        </p:nvSpPr>
        <p:spPr>
          <a:xfrm>
            <a:off x="1247477" y="7658546"/>
            <a:ext cx="50977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equal areas that differ in shape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5" name="Google Shape;3725;p75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6" name="Google Shape;3726;p75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7" name="Google Shape;3727;p75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p75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assume equal parts must be identical in shape. Equal area is the requirement, not congruence.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9" name="Google Shape;3729;p75"/>
          <p:cNvSpPr/>
          <p:nvPr/>
        </p:nvSpPr>
        <p:spPr>
          <a:xfrm>
            <a:off x="533326" y="10028262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0" name="Google Shape;3730;p75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1" name="Google Shape;3731;p75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2" name="Google Shape;3732;p75"/>
          <p:cNvSpPr/>
          <p:nvPr/>
        </p:nvSpPr>
        <p:spPr>
          <a:xfrm>
            <a:off x="1218902" y="10618738"/>
            <a:ext cx="445064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split a shape into equal areas.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3" name="Google Shape;3733;p75"/>
          <p:cNvSpPr/>
          <p:nvPr/>
        </p:nvSpPr>
        <p:spPr>
          <a:xfrm>
            <a:off x="780901" y="1108955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4" name="Google Shape;3734;p75"/>
          <p:cNvSpPr/>
          <p:nvPr/>
        </p:nvSpPr>
        <p:spPr>
          <a:xfrm>
            <a:off x="1218902" y="11060981"/>
            <a:ext cx="435585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name each part as a fraction.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5" name="Google Shape;3735;p7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6" name="Google Shape;3736;p7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7" name="Google Shape;3737;p75"/>
          <p:cNvSpPr/>
          <p:nvPr/>
        </p:nvSpPr>
        <p:spPr>
          <a:xfrm>
            <a:off x="10790634" y="14897174"/>
            <a:ext cx="896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3.G.A.2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