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</p:sldIdLst>
  <p:sldSz cy="15716250" cx="12144375"/>
  <p:notesSz cx="15716250" cy="121443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31" Type="http://schemas.openxmlformats.org/officeDocument/2006/relationships/slide" Target="slides/slide27.xml"/><Relationship Id="rId75" Type="http://schemas.openxmlformats.org/officeDocument/2006/relationships/slide" Target="slides/slide71.xml"/><Relationship Id="rId30" Type="http://schemas.openxmlformats.org/officeDocument/2006/relationships/slide" Target="slides/slide26.xml"/><Relationship Id="rId74" Type="http://schemas.openxmlformats.org/officeDocument/2006/relationships/slide" Target="slides/slide70.xml"/><Relationship Id="rId33" Type="http://schemas.openxmlformats.org/officeDocument/2006/relationships/slide" Target="slides/slide29.xml"/><Relationship Id="rId77" Type="http://schemas.openxmlformats.org/officeDocument/2006/relationships/slide" Target="slides/slide73.xml"/><Relationship Id="rId32" Type="http://schemas.openxmlformats.org/officeDocument/2006/relationships/slide" Target="slides/slide28.xml"/><Relationship Id="rId76" Type="http://schemas.openxmlformats.org/officeDocument/2006/relationships/slide" Target="slides/slide7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8" Type="http://schemas.openxmlformats.org/officeDocument/2006/relationships/slide" Target="slides/slide74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slide" Target="slides/slide64.xml"/><Relationship Id="rId23" Type="http://schemas.openxmlformats.org/officeDocument/2006/relationships/slide" Target="slides/slide19.xml"/><Relationship Id="rId67" Type="http://schemas.openxmlformats.org/officeDocument/2006/relationships/slide" Target="slides/slide63.xml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slide" Target="slides/slide6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1" name="Google Shape;4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2" name="Google Shape;47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4" name="Google Shape;5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2" name="Google Shape;68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1" name="Google Shape;731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2" name="Google Shape;732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4" name="Google Shape;7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5" name="Google Shape;785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5" name="Google Shape;83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6" name="Google Shape;83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6" name="Google Shape;88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7" name="Google Shape;88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8" name="Google Shape;938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6" name="Google Shape;98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7" name="Google Shape;98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3" name="Shape 10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Google Shape;103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5" name="Google Shape;103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6" name="Google Shape;103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8" name="Google Shape;1088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9" name="Google Shape;1089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7" name="Google Shape;113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8" name="Google Shape;113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6" name="Google Shape;1186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7" name="Google Shape;1187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7" name="Shape 1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8" name="Google Shape;123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9" name="Google Shape;123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8" name="Google Shape;1288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7" name="Google Shape;133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8" name="Google Shape;133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2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4" name="Google Shape;1384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5" name="Google Shape;1385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3" name="Shape 1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" name="Google Shape;143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5" name="Google Shape;143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6" name="Google Shape;143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4" name="Google Shape;148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1" name="Google Shape;1541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2" name="Google Shape;1542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4" name="Google Shape;1594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5" name="Google Shape;1595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7" name="Shape 1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" name="Google Shape;1648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9" name="Google Shape;1649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0" name="Google Shape;1650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8" name="Shape 1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" name="Google Shape;1699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0" name="Google Shape;1700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1" name="Google Shape;1701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8" name="Google Shape;179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9" name="Google Shape;179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5" name="Shape 1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6" name="Google Shape;1846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47" name="Google Shape;1847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8" name="Google Shape;1848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8" name="Shape 1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9" name="Google Shape;1899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0" name="Google Shape;1900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1" name="Google Shape;1901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9" name="Google Shape;1949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0" name="Google Shape;1950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8" name="Google Shape;199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9" name="Google Shape;199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5" name="Shape 2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6" name="Google Shape;2046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7" name="Google Shape;2047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8" name="Google Shape;2048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4" name="Google Shape;2094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5" name="Google Shape;2095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1" name="Google Shape;2141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2" name="Google Shape;2142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2" name="Google Shape;2202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3" name="Google Shape;2203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3" name="Shape 2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4" name="Google Shape;2254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5" name="Google Shape;2255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6" name="Google Shape;2256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4" name="Google Shape;2304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5" name="Google Shape;2305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7" name="Google Shape;2357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8" name="Google Shape;2358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4" name="Shape 2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5" name="Google Shape;2405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6" name="Google Shape;2406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7" name="Google Shape;2407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1" name="Shape 2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2" name="Google Shape;2452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3" name="Google Shape;2453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4" name="Google Shape;2454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2" name="Shape 2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3" name="Google Shape;2513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4" name="Google Shape;2514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5" name="Google Shape;2515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9" name="Shape 2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" name="Google Shape;2570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1" name="Google Shape;2571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2" name="Google Shape;2572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2" name="Shape 2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3" name="Google Shape;2623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4" name="Google Shape;2624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5" name="Google Shape;2625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5" name="Shape 2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6" name="Google Shape;2676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7" name="Google Shape;2677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8" name="Google Shape;2678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0" name="Shape 2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1" name="Google Shape;2731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2" name="Google Shape;2732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3" name="Google Shape;2733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9" name="Shape 2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0" name="Google Shape;2780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1" name="Google Shape;2781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2" name="Google Shape;2782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8" name="Shape 2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9" name="Google Shape;2829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0" name="Google Shape;2830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1" name="Google Shape;2831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1" name="Shape 2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2" name="Google Shape;2882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3" name="Google Shape;2883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4" name="Google Shape;2884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2" name="Shape 2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3" name="Google Shape;2933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4" name="Google Shape;2934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5" name="Google Shape;2935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3" name="Shape 2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4" name="Google Shape;2984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5" name="Google Shape;2985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6" name="Google Shape;2986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4" name="Shape 3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5" name="Google Shape;3035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6" name="Google Shape;3036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7" name="Google Shape;3037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1" name="Shape 3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" name="Google Shape;3082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3" name="Google Shape;3083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4" name="Google Shape;3084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2" name="Shape 3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" name="Google Shape;3133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34" name="Google Shape;3134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5" name="Google Shape;3135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7" name="Shape 3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8" name="Google Shape;318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9" name="Google Shape;318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0" name="Google Shape;319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2" name="Shape 3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3" name="Google Shape;3243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4" name="Google Shape;3244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5" name="Google Shape;3245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1" name="Shape 3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2" name="Google Shape;3292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3" name="Google Shape;3293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4" name="Google Shape;3294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0" name="Shape 3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1" name="Google Shape;3341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42" name="Google Shape;3342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3" name="Google Shape;3343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1" name="Shape 3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2" name="Google Shape;3392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3" name="Google Shape;3393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4" name="Google Shape;3394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0" name="Shape 3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1" name="Google Shape;3441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2" name="Google Shape;3442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3" name="Google Shape;3443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9" name="Shape 3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0" name="Google Shape;3500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1" name="Google Shape;3501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2" name="Google Shape;3502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4" name="Shape 3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5" name="Google Shape;3555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6" name="Google Shape;3556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7" name="Google Shape;3557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3" name="Shape 3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4" name="Google Shape;3604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05" name="Google Shape;3605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6" name="Google Shape;3606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6" name="Shape 3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7" name="Google Shape;3657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58" name="Google Shape;3658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9" name="Google Shape;3659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7" name="Shape 3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8" name="Google Shape;3718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9" name="Google Shape;3719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0" name="Google Shape;3720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8" name="Shape 3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9" name="Google Shape;3769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0" name="Google Shape;3770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1" name="Google Shape;3771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0"/>
            <a:ext cx="2023914" cy="342900"/>
          </a:xfrm>
          <a:prstGeom prst="rect">
            <a:avLst/>
          </a:prstGeom>
          <a:solidFill>
            <a:srgbClr val="7F9C7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2023914" y="0"/>
            <a:ext cx="2024137" cy="342900"/>
          </a:xfrm>
          <a:prstGeom prst="rect">
            <a:avLst/>
          </a:prstGeom>
          <a:solidFill>
            <a:srgbClr val="D9A2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048051" y="0"/>
            <a:ext cx="2023914" cy="34290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071964" y="0"/>
            <a:ext cx="2024137" cy="342900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096101" y="0"/>
            <a:ext cx="2024137" cy="342900"/>
          </a:xfrm>
          <a:prstGeom prst="rect">
            <a:avLst/>
          </a:prstGeom>
          <a:solidFill>
            <a:srgbClr val="8A6A8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0120238" y="0"/>
            <a:ext cx="2024137" cy="34290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66601" y="742876"/>
            <a:ext cx="11892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CLEAR LEARNING TARGETS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666601" y="1495276"/>
            <a:ext cx="11135508" cy="21410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5133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9000"/>
              <a:buFont typeface="Arial"/>
              <a:buNone/>
            </a:pPr>
            <a:r>
              <a:rPr b="1" i="0" lang="en-US" sz="90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Unpacked Standards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666601" y="3788643"/>
            <a:ext cx="11892290" cy="6810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89F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64789F"/>
                </a:solidFill>
                <a:latin typeface="Arial"/>
                <a:ea typeface="Arial"/>
                <a:cs typeface="Arial"/>
                <a:sym typeface="Arial"/>
              </a:rPr>
              <a:t>ELA &amp; Math · 2nd Grade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666601" y="4888781"/>
            <a:ext cx="10811173" cy="2256979"/>
          </a:xfrm>
          <a:prstGeom prst="roundRect">
            <a:avLst>
              <a:gd fmla="val 675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1028477" y="5212482"/>
            <a:ext cx="11096164" cy="33813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950"/>
              <a:buFont typeface="Arial"/>
              <a:buNone/>
            </a:pPr>
            <a:r>
              <a:rPr b="1" i="0" lang="en-US" sz="1950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WHAT IS ON EACH PAGE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028477" y="5664771"/>
            <a:ext cx="10390044" cy="1195388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One standard per page, broken down into the parts you teach from: the essential questions that frame the lesson, the skills a student has to be able to do, the vocabulary they need, the misconception to watch for, and the student-facing "I can" targets.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666601" y="7450485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942752" y="7688461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942752" y="8050337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What the lesson is really asking.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6157913" y="7450485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6434063" y="7688461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6434063" y="8050337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What the student must be able to do.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666601" y="8793063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942752" y="9031039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942752" y="9392915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The words to teach explicitly.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6157913" y="8793063"/>
            <a:ext cx="5319861" cy="1171129"/>
          </a:xfrm>
          <a:prstGeom prst="roundRect">
            <a:avLst>
              <a:gd fmla="val 11386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434063" y="9031039"/>
            <a:ext cx="5244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6434063" y="9392915"/>
            <a:ext cx="5244316" cy="37140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667"/>
              </a:lnSpc>
              <a:spcBef>
                <a:spcPts val="0"/>
              </a:spcBef>
              <a:spcAft>
                <a:spcPts val="0"/>
              </a:spcAft>
              <a:buClr>
                <a:srgbClr val="6E7269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6E7269"/>
                </a:solidFill>
                <a:latin typeface="Arial"/>
                <a:ea typeface="Arial"/>
                <a:cs typeface="Arial"/>
                <a:sym typeface="Arial"/>
              </a:rPr>
              <a:t>Where students reliably go wrong.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66601" y="14447118"/>
            <a:ext cx="10811173" cy="28575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666601" y="14704293"/>
            <a:ext cx="11135508" cy="383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73 standards unpacked — 47 ELA, 26 Math · School Year 2026–2027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such questions as who, what, where, when, why, and how to demonstrate understanding of key details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999902" y="4115470"/>
            <a:ext cx="49810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an answer inside the story?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kinds of questions can a text answer?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6424464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6586389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402934" y="4115470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7564859" y="4182145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8712473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8874398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9889406" y="4115470"/>
            <a:ext cx="13160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10051331" y="4182145"/>
            <a:ext cx="10683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6424464" y="4619997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6586389" y="4686672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setting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7535317" y="4619997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7697242" y="4686672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1247477" y="6260827"/>
            <a:ext cx="77824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questions about key details before, during, and after reading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1247477" y="6699721"/>
            <a:ext cx="69441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Answer who, what, where, when, why, and how questions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1247477" y="7138615"/>
            <a:ext cx="57990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Point to the part of the text that gave the answer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4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4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answer from personal experience rather than from the text. Requiring them to point to the line that proves it builds the habit early.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1218902" y="10098807"/>
            <a:ext cx="419353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ask questions about a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1218902" y="10541050"/>
            <a:ext cx="574993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answer in the words of the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5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stories, including fables and folktales from diverse cultures, and determine their central message, lesson, or moral.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999902" y="4115470"/>
            <a:ext cx="46024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author trying to teach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a lesson different from what happened?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6424464" y="4115470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6586389" y="4182145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7350249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512174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folktale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8514011" y="4115470"/>
            <a:ext cx="20701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8675936" y="4182145"/>
            <a:ext cx="18224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central message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424464" y="4619997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6586389" y="4686672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lesson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522146" y="4619997"/>
            <a:ext cx="9190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7684071" y="4686672"/>
            <a:ext cx="6714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8526959" y="4619997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5"/>
          <p:cNvSpPr/>
          <p:nvPr/>
        </p:nvSpPr>
        <p:spPr>
          <a:xfrm>
            <a:off x="8688884" y="4686672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1247477" y="6260827"/>
            <a:ext cx="54505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stories including fables and folktales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1247477" y="6699721"/>
            <a:ext cx="5873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central message, lesson, or moral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247477" y="7138615"/>
            <a:ext cx="393618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Retell events in the correct 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retell every event instead of naming the lesson. Retelling is a step toward the message, not the message itself.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1218902" y="10098807"/>
            <a:ext cx="333356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retell a story in order.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1218902" y="10541050"/>
            <a:ext cx="395754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the lesson of the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how characters in a story respond to major events and challenges.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characters react when something goes wrong?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6"/>
          <p:cNvSpPr/>
          <p:nvPr/>
        </p:nvSpPr>
        <p:spPr>
          <a:xfrm>
            <a:off x="999902" y="4538290"/>
            <a:ext cx="40724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a character change?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6424464" y="3755603"/>
            <a:ext cx="13160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6586389" y="3822278"/>
            <a:ext cx="10683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7826201" y="3755603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7988126" y="3822278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respond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9096003" y="3755603"/>
            <a:ext cx="134280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9257928" y="3822278"/>
            <a:ext cx="109515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challenge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24464" y="4260131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6586389" y="4326806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problem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7694042" y="4260131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7855967" y="4326806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8924106" y="4260131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9086031" y="4326806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1247477" y="5900961"/>
            <a:ext cx="560186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major events and challenges in a 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1247477" y="6339855"/>
            <a:ext cx="59800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how characters respond to those events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1247477" y="6778749"/>
            <a:ext cx="59102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a character’s feelings to what happened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6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describe what a character did but not why, missing the link between event and response.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1218902" y="9738940"/>
            <a:ext cx="515763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what problem a character faces.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218902" y="10181183"/>
            <a:ext cx="540958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describe how the character responds.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7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how words and phrases supply rhythm and meaning in a story, poem, or song.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an author’s words create rhythm and feeling?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999902" y="4538290"/>
            <a:ext cx="45876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did the author choose that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6424464" y="3755603"/>
            <a:ext cx="105124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6586389" y="3822278"/>
            <a:ext cx="80359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rhythm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561436" y="3755603"/>
            <a:ext cx="98516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7"/>
          <p:cNvSpPr/>
          <p:nvPr/>
        </p:nvSpPr>
        <p:spPr>
          <a:xfrm>
            <a:off x="7723361" y="3822278"/>
            <a:ext cx="7375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rhyme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8632329" y="3755603"/>
            <a:ext cx="17002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8794254" y="3822278"/>
            <a:ext cx="1452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repeated line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6424464" y="4260131"/>
            <a:ext cx="140888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6586389" y="4326806"/>
            <a:ext cx="11612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alliteration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7919070" y="4260131"/>
            <a:ext cx="78715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8080995" y="4326806"/>
            <a:ext cx="5395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beat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7"/>
          <p:cNvSpPr/>
          <p:nvPr/>
        </p:nvSpPr>
        <p:spPr>
          <a:xfrm>
            <a:off x="1247477" y="5900961"/>
            <a:ext cx="72066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words and phrases that supply rhythm and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1247477" y="6339855"/>
            <a:ext cx="59046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repeated lines, rhyme, and alliteration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1247477" y="6778749"/>
            <a:ext cx="414344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effect of a word choice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find the rhyming words but stop there, without considering what the sound adds to the meaning or mood.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1218902" y="9738940"/>
            <a:ext cx="654139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words that make a story sound interesting.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1218902" y="10181183"/>
            <a:ext cx="496879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say what a word helps me picture.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overall structure of a story, including describing how the beginning introduces the story and the ending concludes the action.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999902" y="4115470"/>
            <a:ext cx="405798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a story begin and end?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999902" y="4563963"/>
            <a:ext cx="29217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order matter?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424464" y="4115470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8"/>
          <p:cNvSpPr/>
          <p:nvPr/>
        </p:nvSpPr>
        <p:spPr>
          <a:xfrm>
            <a:off x="6586389" y="4182145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beginning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7866385" y="4115470"/>
            <a:ext cx="102490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8"/>
          <p:cNvSpPr/>
          <p:nvPr/>
        </p:nvSpPr>
        <p:spPr>
          <a:xfrm>
            <a:off x="8028310" y="4182145"/>
            <a:ext cx="7772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middle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8977015" y="4115470"/>
            <a:ext cx="103852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8"/>
          <p:cNvSpPr/>
          <p:nvPr/>
        </p:nvSpPr>
        <p:spPr>
          <a:xfrm>
            <a:off x="9138940" y="4182145"/>
            <a:ext cx="7908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ending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10101263" y="4115470"/>
            <a:ext cx="1249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8"/>
          <p:cNvSpPr/>
          <p:nvPr/>
        </p:nvSpPr>
        <p:spPr>
          <a:xfrm>
            <a:off x="10263188" y="4182145"/>
            <a:ext cx="1002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structure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6424464" y="4619997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6586389" y="4686672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introduce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7813253" y="4619997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7975178" y="4686672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conclude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1247477" y="6067276"/>
            <a:ext cx="47382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overall structure of a 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8"/>
          <p:cNvSpPr/>
          <p:nvPr/>
        </p:nvSpPr>
        <p:spPr>
          <a:xfrm>
            <a:off x="1247477" y="6506170"/>
            <a:ext cx="56325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the beginning introduces the 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1247477" y="6945064"/>
            <a:ext cx="53754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the ending concludes the 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8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the last sentence as the ending rather than the resolution of the problem.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33326" y="896830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1218902" y="9558784"/>
            <a:ext cx="552008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what the beginning of a story does.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780901" y="1002960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1218902" y="10001027"/>
            <a:ext cx="531012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how the ending finishes the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533326" y="533326"/>
            <a:ext cx="652764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33326" y="847651"/>
            <a:ext cx="652764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Acknowledge differences in the points of view of characters, including by speaking in a different voice for each character when reading dialogue aloud.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9"/>
          <p:cNvSpPr/>
          <p:nvPr/>
        </p:nvSpPr>
        <p:spPr>
          <a:xfrm>
            <a:off x="999902" y="4115470"/>
            <a:ext cx="333061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Who is speaking right 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9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my voice show a different character?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6424464" y="4115470"/>
            <a:ext cx="16468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9"/>
          <p:cNvSpPr/>
          <p:nvPr/>
        </p:nvSpPr>
        <p:spPr>
          <a:xfrm>
            <a:off x="6586389" y="4182145"/>
            <a:ext cx="13992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point of view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8157046" y="4115470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9"/>
          <p:cNvSpPr/>
          <p:nvPr/>
        </p:nvSpPr>
        <p:spPr>
          <a:xfrm>
            <a:off x="8318971" y="4182145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dialogue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9"/>
          <p:cNvSpPr/>
          <p:nvPr/>
        </p:nvSpPr>
        <p:spPr>
          <a:xfrm>
            <a:off x="9466585" y="4115470"/>
            <a:ext cx="115728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9"/>
          <p:cNvSpPr/>
          <p:nvPr/>
        </p:nvSpPr>
        <p:spPr>
          <a:xfrm>
            <a:off x="9628510" y="4182145"/>
            <a:ext cx="90963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narrator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9"/>
          <p:cNvSpPr/>
          <p:nvPr/>
        </p:nvSpPr>
        <p:spPr>
          <a:xfrm>
            <a:off x="6424464" y="4619997"/>
            <a:ext cx="13160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9"/>
          <p:cNvSpPr/>
          <p:nvPr/>
        </p:nvSpPr>
        <p:spPr>
          <a:xfrm>
            <a:off x="6586389" y="4686672"/>
            <a:ext cx="10683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character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9"/>
          <p:cNvSpPr/>
          <p:nvPr/>
        </p:nvSpPr>
        <p:spPr>
          <a:xfrm>
            <a:off x="7826201" y="4619997"/>
            <a:ext cx="20174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9"/>
          <p:cNvSpPr/>
          <p:nvPr/>
        </p:nvSpPr>
        <p:spPr>
          <a:xfrm>
            <a:off x="7988126" y="4686672"/>
            <a:ext cx="17697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quotation marks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9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9"/>
          <p:cNvSpPr/>
          <p:nvPr/>
        </p:nvSpPr>
        <p:spPr>
          <a:xfrm>
            <a:off x="1247477" y="6260827"/>
            <a:ext cx="64343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Acknowledge differences in characters’ points of view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9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9"/>
          <p:cNvSpPr/>
          <p:nvPr/>
        </p:nvSpPr>
        <p:spPr>
          <a:xfrm>
            <a:off x="1247477" y="6699721"/>
            <a:ext cx="42851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who is speaking in dialogue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9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9"/>
          <p:cNvSpPr/>
          <p:nvPr/>
        </p:nvSpPr>
        <p:spPr>
          <a:xfrm>
            <a:off x="1247477" y="7138615"/>
            <a:ext cx="74900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dialogue aloud using a different voice for each character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all dialogue in one flat voice and lose track of who is talking, especially when the speaker tag comes after the quotation.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1218902" y="10098807"/>
            <a:ext cx="322379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who is speaking.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1218902" y="10541050"/>
            <a:ext cx="565613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each character in a different voice.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9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0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0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1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information gained from the illustrations and words in a print or digital text to demonstrate understanding of its characters, setting, or plot.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10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1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1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0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the pictures tell me that the words do not?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999902" y="4898157"/>
            <a:ext cx="51625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words and pictures work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6424464" y="4115470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0"/>
          <p:cNvSpPr/>
          <p:nvPr/>
        </p:nvSpPr>
        <p:spPr>
          <a:xfrm>
            <a:off x="6586389" y="4182145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illustration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7905676" y="4115470"/>
            <a:ext cx="10251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0"/>
          <p:cNvSpPr/>
          <p:nvPr/>
        </p:nvSpPr>
        <p:spPr>
          <a:xfrm>
            <a:off x="8067601" y="4182145"/>
            <a:ext cx="7774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setting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9016529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9178454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plot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9809931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0"/>
          <p:cNvSpPr/>
          <p:nvPr/>
        </p:nvSpPr>
        <p:spPr>
          <a:xfrm>
            <a:off x="9971856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424464" y="4619997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6586389" y="4686672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digital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0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1247477" y="6260827"/>
            <a:ext cx="68129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illustrations and words together to understand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1247477" y="6699721"/>
            <a:ext cx="68581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characters, setting, and plot using both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0"/>
          <p:cNvSpPr/>
          <p:nvPr/>
        </p:nvSpPr>
        <p:spPr>
          <a:xfrm>
            <a:off x="1247477" y="7138615"/>
            <a:ext cx="47084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Notice details shown only in the picture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illustrations as decoration and skip them, missing information the author deliberately placed there.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1218902" y="10098807"/>
            <a:ext cx="733850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the pictures and the words to understand a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1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10266015" y="533326"/>
            <a:ext cx="134503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10475565" y="647626"/>
            <a:ext cx="100213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1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two or more versions of the same story by different authors or from different cultures.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1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999902" y="4115470"/>
            <a:ext cx="51622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the same story be told two ways?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"/>
          <p:cNvSpPr/>
          <p:nvPr/>
        </p:nvSpPr>
        <p:spPr>
          <a:xfrm>
            <a:off x="999902" y="4563963"/>
            <a:ext cx="49810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stays the same and what changes?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6424464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11"/>
          <p:cNvSpPr/>
          <p:nvPr/>
        </p:nvSpPr>
        <p:spPr>
          <a:xfrm>
            <a:off x="6586389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version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1"/>
          <p:cNvSpPr/>
          <p:nvPr/>
        </p:nvSpPr>
        <p:spPr>
          <a:xfrm>
            <a:off x="7601396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7763321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8937054" y="4115470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1"/>
          <p:cNvSpPr/>
          <p:nvPr/>
        </p:nvSpPr>
        <p:spPr>
          <a:xfrm>
            <a:off x="9098979" y="4182145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contrast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10193238" y="4115470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10355163" y="4182145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culture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424464" y="4619997"/>
            <a:ext cx="9987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11"/>
          <p:cNvSpPr/>
          <p:nvPr/>
        </p:nvSpPr>
        <p:spPr>
          <a:xfrm>
            <a:off x="6586389" y="4686672"/>
            <a:ext cx="7511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1247477" y="6067276"/>
            <a:ext cx="58884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two or more versions of the same story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11"/>
          <p:cNvSpPr/>
          <p:nvPr/>
        </p:nvSpPr>
        <p:spPr>
          <a:xfrm>
            <a:off x="1247477" y="6506170"/>
            <a:ext cx="68377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similarities and differences in plot and characters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1247477" y="6945064"/>
            <a:ext cx="43752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Notice how culture shapes a version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1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list differences without noticing that the underlying story structure is the same.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11"/>
          <p:cNvSpPr/>
          <p:nvPr/>
        </p:nvSpPr>
        <p:spPr>
          <a:xfrm>
            <a:off x="1218902" y="9558784"/>
            <a:ext cx="574944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versions of the same story.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10896674" y="14897174"/>
            <a:ext cx="79057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533326" y="533326"/>
            <a:ext cx="102042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LITERATURE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533326" y="847651"/>
            <a:ext cx="955490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10095681" y="533326"/>
            <a:ext cx="1515368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12"/>
          <p:cNvSpPr/>
          <p:nvPr/>
        </p:nvSpPr>
        <p:spPr>
          <a:xfrm>
            <a:off x="10305231" y="647626"/>
            <a:ext cx="11724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RL.2.10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By the end of the year, read and comprehend literature in the grades 2-3 text complexity band proficiently, with scaffolding as needed at the high end of the range.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1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999902" y="4635401"/>
            <a:ext cx="46028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do when the text gets hard?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12"/>
          <p:cNvSpPr/>
          <p:nvPr/>
        </p:nvSpPr>
        <p:spPr>
          <a:xfrm>
            <a:off x="999902" y="5083894"/>
            <a:ext cx="35278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I understood?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6424464" y="4635401"/>
            <a:ext cx="164708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12"/>
          <p:cNvSpPr/>
          <p:nvPr/>
        </p:nvSpPr>
        <p:spPr>
          <a:xfrm>
            <a:off x="6586389" y="4702076"/>
            <a:ext cx="13994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comprehend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8157270" y="4635401"/>
            <a:ext cx="18062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8319195" y="4702076"/>
            <a:ext cx="15586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independently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12"/>
          <p:cNvSpPr/>
          <p:nvPr/>
        </p:nvSpPr>
        <p:spPr>
          <a:xfrm>
            <a:off x="10049247" y="4635401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12"/>
          <p:cNvSpPr/>
          <p:nvPr/>
        </p:nvSpPr>
        <p:spPr>
          <a:xfrm>
            <a:off x="10211172" y="4702076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reread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6424464" y="5139928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6586389" y="5206603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1247477" y="6587207"/>
            <a:ext cx="51480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comprehend grade 2-3 literature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1247477" y="7026101"/>
            <a:ext cx="5037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scaffolds at the high end of the range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1247477" y="7464996"/>
            <a:ext cx="366385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Self-monitor for understanding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12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12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keep decoding after meaning has broken down. Teach the stop-and-check habit explicitly.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533326" y="983471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3" name="Google Shape;513;p12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1218902" y="10425187"/>
            <a:ext cx="448134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stories at my grade level.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780901" y="1089600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2"/>
          <p:cNvSpPr/>
          <p:nvPr/>
        </p:nvSpPr>
        <p:spPr>
          <a:xfrm>
            <a:off x="1218902" y="10867430"/>
            <a:ext cx="536267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stop and reread when I am confused.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1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10764292" y="14897174"/>
            <a:ext cx="9229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RL.2.10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3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13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1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1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such questions as who, what, where, when, why, and how to demonstrate understanding of key details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13"/>
          <p:cNvSpPr/>
          <p:nvPr/>
        </p:nvSpPr>
        <p:spPr>
          <a:xfrm>
            <a:off x="999902" y="4115470"/>
            <a:ext cx="38907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in the text is the answer?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999902" y="4563963"/>
            <a:ext cx="345168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still want to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1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6424464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6586389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7402934" y="4115470"/>
            <a:ext cx="16865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6" name="Google Shape;546;p13"/>
          <p:cNvSpPr/>
          <p:nvPr/>
        </p:nvSpPr>
        <p:spPr>
          <a:xfrm>
            <a:off x="7564859" y="4182145"/>
            <a:ext cx="143894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informational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13"/>
          <p:cNvSpPr/>
          <p:nvPr/>
        </p:nvSpPr>
        <p:spPr>
          <a:xfrm>
            <a:off x="9175254" y="4115470"/>
            <a:ext cx="82666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13"/>
          <p:cNvSpPr/>
          <p:nvPr/>
        </p:nvSpPr>
        <p:spPr>
          <a:xfrm>
            <a:off x="9337179" y="4182145"/>
            <a:ext cx="57901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10087645" y="4115470"/>
            <a:ext cx="7074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10249570" y="4182145"/>
            <a:ext cx="4598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fact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13"/>
          <p:cNvSpPr/>
          <p:nvPr/>
        </p:nvSpPr>
        <p:spPr>
          <a:xfrm>
            <a:off x="6424464" y="4619997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13"/>
          <p:cNvSpPr/>
          <p:nvPr/>
        </p:nvSpPr>
        <p:spPr>
          <a:xfrm>
            <a:off x="6586389" y="4686672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6" name="Google Shape;556;p13"/>
          <p:cNvSpPr/>
          <p:nvPr/>
        </p:nvSpPr>
        <p:spPr>
          <a:xfrm>
            <a:off x="1247477" y="6067276"/>
            <a:ext cx="62528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questions about key details in informational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13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p13"/>
          <p:cNvSpPr/>
          <p:nvPr/>
        </p:nvSpPr>
        <p:spPr>
          <a:xfrm>
            <a:off x="1247477" y="6506170"/>
            <a:ext cx="57025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Answer who, what, where, when, why, and how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13"/>
          <p:cNvSpPr/>
          <p:nvPr/>
        </p:nvSpPr>
        <p:spPr>
          <a:xfrm>
            <a:off x="1247477" y="6945064"/>
            <a:ext cx="33465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Locate the supporting detail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13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13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answer with prior knowledge about the topic rather than with what this particular text says.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13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13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8" name="Google Shape;568;p13"/>
          <p:cNvSpPr/>
          <p:nvPr/>
        </p:nvSpPr>
        <p:spPr>
          <a:xfrm>
            <a:off x="1218902" y="9905256"/>
            <a:ext cx="688813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ask and answer questions about a nonfiction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1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3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13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4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14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3" name="Google Shape;583;p1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1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main topic of a multiparagraph text as well as the focus of specific paragraphs within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p1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14"/>
          <p:cNvSpPr/>
          <p:nvPr/>
        </p:nvSpPr>
        <p:spPr>
          <a:xfrm>
            <a:off x="999902" y="4115470"/>
            <a:ext cx="36935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this text mostly about?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14"/>
          <p:cNvSpPr/>
          <p:nvPr/>
        </p:nvSpPr>
        <p:spPr>
          <a:xfrm>
            <a:off x="999902" y="4563963"/>
            <a:ext cx="38006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each paragraph about?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1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14"/>
          <p:cNvSpPr/>
          <p:nvPr/>
        </p:nvSpPr>
        <p:spPr>
          <a:xfrm>
            <a:off x="6424464" y="4115470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14"/>
          <p:cNvSpPr/>
          <p:nvPr/>
        </p:nvSpPr>
        <p:spPr>
          <a:xfrm>
            <a:off x="6586389" y="4182145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main topic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14"/>
          <p:cNvSpPr/>
          <p:nvPr/>
        </p:nvSpPr>
        <p:spPr>
          <a:xfrm>
            <a:off x="7918847" y="4115470"/>
            <a:ext cx="140910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14"/>
          <p:cNvSpPr/>
          <p:nvPr/>
        </p:nvSpPr>
        <p:spPr>
          <a:xfrm>
            <a:off x="8080772" y="4182145"/>
            <a:ext cx="11614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paragraph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9413677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9575602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10392147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1" name="Google Shape;601;p14"/>
          <p:cNvSpPr/>
          <p:nvPr/>
        </p:nvSpPr>
        <p:spPr>
          <a:xfrm>
            <a:off x="10554072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14"/>
          <p:cNvSpPr/>
          <p:nvPr/>
        </p:nvSpPr>
        <p:spPr>
          <a:xfrm>
            <a:off x="6424464" y="4619997"/>
            <a:ext cx="143544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14"/>
          <p:cNvSpPr/>
          <p:nvPr/>
        </p:nvSpPr>
        <p:spPr>
          <a:xfrm>
            <a:off x="6586389" y="4686672"/>
            <a:ext cx="118779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7" name="Google Shape;607;p14"/>
          <p:cNvSpPr/>
          <p:nvPr/>
        </p:nvSpPr>
        <p:spPr>
          <a:xfrm>
            <a:off x="1247477" y="6067276"/>
            <a:ext cx="55866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main topic of a multiparagraph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14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9" name="Google Shape;609;p14"/>
          <p:cNvSpPr/>
          <p:nvPr/>
        </p:nvSpPr>
        <p:spPr>
          <a:xfrm>
            <a:off x="1247477" y="6506170"/>
            <a:ext cx="47993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focus of specific paragraphs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1247477" y="6945064"/>
            <a:ext cx="60254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the main topic from a supporting detail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14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name the most interesting detail as the main topic. The main topic is what the whole text is about, not the best part.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1218902" y="9905256"/>
            <a:ext cx="331809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name the main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14"/>
          <p:cNvSpPr/>
          <p:nvPr/>
        </p:nvSpPr>
        <p:spPr>
          <a:xfrm>
            <a:off x="1218902" y="10347499"/>
            <a:ext cx="479664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what one paragraph is about.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1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4" name="Google Shape;624;p14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15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5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Key Ideas and Details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5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5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1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1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1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the connection between a series of historical events, scientific ideas or concepts, or steps in technical procedures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15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1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1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15"/>
          <p:cNvSpPr/>
          <p:nvPr/>
        </p:nvSpPr>
        <p:spPr>
          <a:xfrm>
            <a:off x="999902" y="4115470"/>
            <a:ext cx="41937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happens first, next, and last?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1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15"/>
          <p:cNvSpPr/>
          <p:nvPr/>
        </p:nvSpPr>
        <p:spPr>
          <a:xfrm>
            <a:off x="999902" y="4563963"/>
            <a:ext cx="48757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one event connected to another?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15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1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15"/>
          <p:cNvSpPr/>
          <p:nvPr/>
        </p:nvSpPr>
        <p:spPr>
          <a:xfrm>
            <a:off x="6424464" y="4115470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15"/>
          <p:cNvSpPr/>
          <p:nvPr/>
        </p:nvSpPr>
        <p:spPr>
          <a:xfrm>
            <a:off x="6586389" y="4182145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15"/>
          <p:cNvSpPr/>
          <p:nvPr/>
        </p:nvSpPr>
        <p:spPr>
          <a:xfrm>
            <a:off x="7866385" y="4115470"/>
            <a:ext cx="147518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15"/>
          <p:cNvSpPr/>
          <p:nvPr/>
        </p:nvSpPr>
        <p:spPr>
          <a:xfrm>
            <a:off x="8028310" y="4182145"/>
            <a:ext cx="1227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connection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15"/>
          <p:cNvSpPr/>
          <p:nvPr/>
        </p:nvSpPr>
        <p:spPr>
          <a:xfrm>
            <a:off x="9427294" y="4115470"/>
            <a:ext cx="95904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15"/>
          <p:cNvSpPr/>
          <p:nvPr/>
        </p:nvSpPr>
        <p:spPr>
          <a:xfrm>
            <a:off x="9589219" y="4182145"/>
            <a:ext cx="71139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cause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15"/>
          <p:cNvSpPr/>
          <p:nvPr/>
        </p:nvSpPr>
        <p:spPr>
          <a:xfrm>
            <a:off x="6424464" y="4619997"/>
            <a:ext cx="9016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15"/>
          <p:cNvSpPr/>
          <p:nvPr/>
        </p:nvSpPr>
        <p:spPr>
          <a:xfrm>
            <a:off x="6586389" y="4686672"/>
            <a:ext cx="6540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effect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15"/>
          <p:cNvSpPr/>
          <p:nvPr/>
        </p:nvSpPr>
        <p:spPr>
          <a:xfrm>
            <a:off x="7411864" y="4619997"/>
            <a:ext cx="1395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15"/>
          <p:cNvSpPr/>
          <p:nvPr/>
        </p:nvSpPr>
        <p:spPr>
          <a:xfrm>
            <a:off x="7573789" y="4686672"/>
            <a:ext cx="1148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procedure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15"/>
          <p:cNvSpPr/>
          <p:nvPr/>
        </p:nvSpPr>
        <p:spPr>
          <a:xfrm>
            <a:off x="8893299" y="4619997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15"/>
          <p:cNvSpPr/>
          <p:nvPr/>
        </p:nvSpPr>
        <p:spPr>
          <a:xfrm>
            <a:off x="9055224" y="4686672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step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15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15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15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15"/>
          <p:cNvSpPr/>
          <p:nvPr/>
        </p:nvSpPr>
        <p:spPr>
          <a:xfrm>
            <a:off x="1247477" y="6067276"/>
            <a:ext cx="79025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connections between historical events or scientific ideas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15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15"/>
          <p:cNvSpPr/>
          <p:nvPr/>
        </p:nvSpPr>
        <p:spPr>
          <a:xfrm>
            <a:off x="1247477" y="6506170"/>
            <a:ext cx="47689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steps in a technical procedure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5" name="Google Shape;665;p15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15"/>
          <p:cNvSpPr/>
          <p:nvPr/>
        </p:nvSpPr>
        <p:spPr>
          <a:xfrm>
            <a:off x="1247477" y="6945064"/>
            <a:ext cx="42704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sequence and cause language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7" name="Google Shape;667;p15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15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15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0" name="Google Shape;670;p15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list events without connecting them, treating a process as a set of unrelated facts.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15"/>
          <p:cNvSpPr/>
          <p:nvPr/>
        </p:nvSpPr>
        <p:spPr>
          <a:xfrm>
            <a:off x="533326" y="896830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15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15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15"/>
          <p:cNvSpPr/>
          <p:nvPr/>
        </p:nvSpPr>
        <p:spPr>
          <a:xfrm>
            <a:off x="1218902" y="9558784"/>
            <a:ext cx="40886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describe the steps in order.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15"/>
          <p:cNvSpPr/>
          <p:nvPr/>
        </p:nvSpPr>
        <p:spPr>
          <a:xfrm>
            <a:off x="780901" y="1002960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15"/>
          <p:cNvSpPr/>
          <p:nvPr/>
        </p:nvSpPr>
        <p:spPr>
          <a:xfrm>
            <a:off x="1218902" y="10001027"/>
            <a:ext cx="514289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how one event leads to another.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1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1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15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16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16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16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1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1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words and phrases in a text relevant to a grade 2 topic or subject area.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16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1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999902" y="4115470"/>
            <a:ext cx="50264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figure out a word I do not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1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does this text explain its own words?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16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16"/>
          <p:cNvSpPr/>
          <p:nvPr/>
        </p:nvSpPr>
        <p:spPr>
          <a:xfrm>
            <a:off x="6424464" y="4115470"/>
            <a:ext cx="159394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16"/>
          <p:cNvSpPr/>
          <p:nvPr/>
        </p:nvSpPr>
        <p:spPr>
          <a:xfrm>
            <a:off x="6586389" y="4182145"/>
            <a:ext cx="13462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 clue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16"/>
          <p:cNvSpPr/>
          <p:nvPr/>
        </p:nvSpPr>
        <p:spPr>
          <a:xfrm>
            <a:off x="8104138" y="4115470"/>
            <a:ext cx="1210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8266063" y="4182145"/>
            <a:ext cx="962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glossary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6" name="Google Shape;706;p16"/>
          <p:cNvSpPr/>
          <p:nvPr/>
        </p:nvSpPr>
        <p:spPr>
          <a:xfrm>
            <a:off x="9400059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9561984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8" name="Google Shape;708;p16"/>
          <p:cNvSpPr/>
          <p:nvPr/>
        </p:nvSpPr>
        <p:spPr>
          <a:xfrm>
            <a:off x="6424464" y="4619997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6586389" y="4686672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topic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0" name="Google Shape;710;p16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16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1247477" y="6260827"/>
            <a:ext cx="65856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grade 2 topic-specific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16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1247477" y="6699721"/>
            <a:ext cx="42544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clues and text features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16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1247477" y="7138615"/>
            <a:ext cx="18014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glossary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16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16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16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skip unknown words entirely rather than using the surrounding sentence, bold print, or glossary.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16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3" name="Google Shape;723;p16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4" name="Google Shape;724;p16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1218902" y="10098807"/>
            <a:ext cx="507929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figure out what a new word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6" name="Google Shape;726;p1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8" name="Google Shape;728;p16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p1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5" name="Google Shape;735;p17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17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17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8" name="Google Shape;738;p17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1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1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1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and use various text features to locate key facts or information in a text efficiently.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17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17"/>
          <p:cNvSpPr/>
          <p:nvPr/>
        </p:nvSpPr>
        <p:spPr>
          <a:xfrm>
            <a:off x="999902" y="3755603"/>
            <a:ext cx="36788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information fast?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17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17"/>
          <p:cNvSpPr/>
          <p:nvPr/>
        </p:nvSpPr>
        <p:spPr>
          <a:xfrm>
            <a:off x="999902" y="4204097"/>
            <a:ext cx="40724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the text features tell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17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0" name="Google Shape;750;p1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7"/>
          <p:cNvSpPr/>
          <p:nvPr/>
        </p:nvSpPr>
        <p:spPr>
          <a:xfrm>
            <a:off x="6424464" y="3755603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7"/>
          <p:cNvSpPr/>
          <p:nvPr/>
        </p:nvSpPr>
        <p:spPr>
          <a:xfrm>
            <a:off x="6586389" y="3822278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7601620" y="3755603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17"/>
          <p:cNvSpPr/>
          <p:nvPr/>
        </p:nvSpPr>
        <p:spPr>
          <a:xfrm>
            <a:off x="7763545" y="3822278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bold print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17"/>
          <p:cNvSpPr/>
          <p:nvPr/>
        </p:nvSpPr>
        <p:spPr>
          <a:xfrm>
            <a:off x="8990409" y="3755603"/>
            <a:ext cx="15546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17"/>
          <p:cNvSpPr/>
          <p:nvPr/>
        </p:nvSpPr>
        <p:spPr>
          <a:xfrm>
            <a:off x="9152334" y="3822278"/>
            <a:ext cx="13070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subheading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7"/>
          <p:cNvSpPr/>
          <p:nvPr/>
        </p:nvSpPr>
        <p:spPr>
          <a:xfrm>
            <a:off x="6424464" y="4260131"/>
            <a:ext cx="1210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>
            <a:off x="6586389" y="4326806"/>
            <a:ext cx="962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glossary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7720385" y="4260131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0" name="Google Shape;760;p17"/>
          <p:cNvSpPr/>
          <p:nvPr/>
        </p:nvSpPr>
        <p:spPr>
          <a:xfrm>
            <a:off x="7882310" y="4326806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index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17"/>
          <p:cNvSpPr/>
          <p:nvPr/>
        </p:nvSpPr>
        <p:spPr>
          <a:xfrm>
            <a:off x="8698855" y="4260131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2" name="Google Shape;762;p17"/>
          <p:cNvSpPr/>
          <p:nvPr/>
        </p:nvSpPr>
        <p:spPr>
          <a:xfrm>
            <a:off x="8860780" y="4326806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icon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17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17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17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6" name="Google Shape;766;p17"/>
          <p:cNvSpPr/>
          <p:nvPr/>
        </p:nvSpPr>
        <p:spPr>
          <a:xfrm>
            <a:off x="1247477" y="5707410"/>
            <a:ext cx="83271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captions, bold print, subheadings, glossaries, indexes, and icons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7" name="Google Shape;767;p17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8" name="Google Shape;768;p17"/>
          <p:cNvSpPr/>
          <p:nvPr/>
        </p:nvSpPr>
        <p:spPr>
          <a:xfrm>
            <a:off x="1247477" y="6146304"/>
            <a:ext cx="31741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Locate key facts efficiently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17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0" name="Google Shape;770;p17"/>
          <p:cNvSpPr/>
          <p:nvPr/>
        </p:nvSpPr>
        <p:spPr>
          <a:xfrm>
            <a:off x="1247477" y="6585198"/>
            <a:ext cx="43759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the purpose of a text feature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17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17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17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17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straight through from the top, ignoring the features designed to help them navigate.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17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6" name="Google Shape;776;p17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17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8" name="Google Shape;778;p17"/>
          <p:cNvSpPr/>
          <p:nvPr/>
        </p:nvSpPr>
        <p:spPr>
          <a:xfrm>
            <a:off x="1218902" y="9545389"/>
            <a:ext cx="530963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text features to find facts quickly.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1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1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17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1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18"/>
          <p:cNvSpPr/>
          <p:nvPr/>
        </p:nvSpPr>
        <p:spPr>
          <a:xfrm>
            <a:off x="533326" y="533326"/>
            <a:ext cx="80960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9" name="Google Shape;789;p18"/>
          <p:cNvSpPr/>
          <p:nvPr/>
        </p:nvSpPr>
        <p:spPr>
          <a:xfrm>
            <a:off x="533326" y="847651"/>
            <a:ext cx="80960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Craft and Structure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0" name="Google Shape;790;p18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18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2" name="Google Shape;792;p1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p1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4" name="Google Shape;794;p1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1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main purpose of a text, including what the author wants to answer, explain, or describe.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1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1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1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9" name="Google Shape;799;p18"/>
          <p:cNvSpPr/>
          <p:nvPr/>
        </p:nvSpPr>
        <p:spPr>
          <a:xfrm>
            <a:off x="999902" y="4115470"/>
            <a:ext cx="35879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did the author write this?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1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1" name="Google Shape;801;p18"/>
          <p:cNvSpPr/>
          <p:nvPr/>
        </p:nvSpPr>
        <p:spPr>
          <a:xfrm>
            <a:off x="999902" y="4563963"/>
            <a:ext cx="48752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author want me to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2" name="Google Shape;802;p1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3" name="Google Shape;803;p1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4" name="Google Shape;804;p18"/>
          <p:cNvSpPr/>
          <p:nvPr/>
        </p:nvSpPr>
        <p:spPr>
          <a:xfrm>
            <a:off x="6424464" y="4115470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5" name="Google Shape;805;p18"/>
          <p:cNvSpPr/>
          <p:nvPr/>
        </p:nvSpPr>
        <p:spPr>
          <a:xfrm>
            <a:off x="6586389" y="4182145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6" name="Google Shape;806;p18"/>
          <p:cNvSpPr/>
          <p:nvPr/>
        </p:nvSpPr>
        <p:spPr>
          <a:xfrm>
            <a:off x="7694265" y="4115470"/>
            <a:ext cx="9987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7" name="Google Shape;807;p18"/>
          <p:cNvSpPr/>
          <p:nvPr/>
        </p:nvSpPr>
        <p:spPr>
          <a:xfrm>
            <a:off x="7856190" y="4182145"/>
            <a:ext cx="7511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8" name="Google Shape;808;p18"/>
          <p:cNvSpPr/>
          <p:nvPr/>
        </p:nvSpPr>
        <p:spPr>
          <a:xfrm>
            <a:off x="8778776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9" name="Google Shape;809;p18"/>
          <p:cNvSpPr/>
          <p:nvPr/>
        </p:nvSpPr>
        <p:spPr>
          <a:xfrm>
            <a:off x="8940701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0" name="Google Shape;810;p18"/>
          <p:cNvSpPr/>
          <p:nvPr/>
        </p:nvSpPr>
        <p:spPr>
          <a:xfrm>
            <a:off x="9942537" y="4115470"/>
            <a:ext cx="12235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1" name="Google Shape;811;p18"/>
          <p:cNvSpPr/>
          <p:nvPr/>
        </p:nvSpPr>
        <p:spPr>
          <a:xfrm>
            <a:off x="10104462" y="4182145"/>
            <a:ext cx="9759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describe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18"/>
          <p:cNvSpPr/>
          <p:nvPr/>
        </p:nvSpPr>
        <p:spPr>
          <a:xfrm>
            <a:off x="6424464" y="4619997"/>
            <a:ext cx="98516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3" name="Google Shape;813;p18"/>
          <p:cNvSpPr/>
          <p:nvPr/>
        </p:nvSpPr>
        <p:spPr>
          <a:xfrm>
            <a:off x="6586389" y="4686672"/>
            <a:ext cx="7375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4" name="Google Shape;814;p18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p1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6" name="Google Shape;816;p1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18"/>
          <p:cNvSpPr/>
          <p:nvPr/>
        </p:nvSpPr>
        <p:spPr>
          <a:xfrm>
            <a:off x="1247477" y="6067276"/>
            <a:ext cx="41031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main purpose of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1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9" name="Google Shape;819;p18"/>
          <p:cNvSpPr/>
          <p:nvPr/>
        </p:nvSpPr>
        <p:spPr>
          <a:xfrm>
            <a:off x="1247477" y="6506170"/>
            <a:ext cx="7751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what the author wants to answer, explain, or describe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1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18"/>
          <p:cNvSpPr/>
          <p:nvPr/>
        </p:nvSpPr>
        <p:spPr>
          <a:xfrm>
            <a:off x="1247477" y="6945064"/>
            <a:ext cx="51929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inform, entertain, and persuade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2" name="Google Shape;822;p18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3" name="Google Shape;823;p18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4" name="Google Shape;824;p18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5" name="Google Shape;825;p18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state the topic when asked for the purpose. Topic is what it is about; purpose is why it was written.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6" name="Google Shape;826;p18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7" name="Google Shape;827;p18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8" name="Google Shape;828;p18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9" name="Google Shape;829;p18"/>
          <p:cNvSpPr/>
          <p:nvPr/>
        </p:nvSpPr>
        <p:spPr>
          <a:xfrm>
            <a:off x="1218902" y="9905256"/>
            <a:ext cx="484330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why the author wrote the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0" name="Google Shape;830;p1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1" name="Google Shape;831;p1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2" name="Google Shape;832;p18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1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9" name="Google Shape;839;p19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19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19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19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19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19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5" name="Google Shape;845;p1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6" name="Google Shape;846;p19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specific images contribute to and clarify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19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8" name="Google Shape;848;p19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19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0" name="Google Shape;850;p19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this picture help me understand?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19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2" name="Google Shape;852;p19"/>
          <p:cNvSpPr/>
          <p:nvPr/>
        </p:nvSpPr>
        <p:spPr>
          <a:xfrm>
            <a:off x="999902" y="4538290"/>
            <a:ext cx="351184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would I miss without it?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19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19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5" name="Google Shape;855;p19"/>
          <p:cNvSpPr/>
          <p:nvPr/>
        </p:nvSpPr>
        <p:spPr>
          <a:xfrm>
            <a:off x="6424464" y="3755603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19"/>
          <p:cNvSpPr/>
          <p:nvPr/>
        </p:nvSpPr>
        <p:spPr>
          <a:xfrm>
            <a:off x="6586389" y="3822278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diagram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19"/>
          <p:cNvSpPr/>
          <p:nvPr/>
        </p:nvSpPr>
        <p:spPr>
          <a:xfrm>
            <a:off x="7694042" y="3755603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19"/>
          <p:cNvSpPr/>
          <p:nvPr/>
        </p:nvSpPr>
        <p:spPr>
          <a:xfrm>
            <a:off x="7855967" y="3822278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image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9" name="Google Shape;859;p19"/>
          <p:cNvSpPr/>
          <p:nvPr/>
        </p:nvSpPr>
        <p:spPr>
          <a:xfrm>
            <a:off x="8751987" y="3755603"/>
            <a:ext cx="82666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19"/>
          <p:cNvSpPr/>
          <p:nvPr/>
        </p:nvSpPr>
        <p:spPr>
          <a:xfrm>
            <a:off x="8913912" y="3822278"/>
            <a:ext cx="57901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19"/>
          <p:cNvSpPr/>
          <p:nvPr/>
        </p:nvSpPr>
        <p:spPr>
          <a:xfrm>
            <a:off x="9664378" y="3755603"/>
            <a:ext cx="945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19"/>
          <p:cNvSpPr/>
          <p:nvPr/>
        </p:nvSpPr>
        <p:spPr>
          <a:xfrm>
            <a:off x="9826303" y="3822278"/>
            <a:ext cx="697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19"/>
          <p:cNvSpPr/>
          <p:nvPr/>
        </p:nvSpPr>
        <p:spPr>
          <a:xfrm>
            <a:off x="6424464" y="4260131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4" name="Google Shape;864;p19"/>
          <p:cNvSpPr/>
          <p:nvPr/>
        </p:nvSpPr>
        <p:spPr>
          <a:xfrm>
            <a:off x="6586389" y="4326806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map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19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6" name="Google Shape;866;p19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7" name="Google Shape;867;p19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8" name="Google Shape;868;p19"/>
          <p:cNvSpPr/>
          <p:nvPr/>
        </p:nvSpPr>
        <p:spPr>
          <a:xfrm>
            <a:off x="1247477" y="5900961"/>
            <a:ext cx="60559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how images contribute to and clarify a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9" name="Google Shape;869;p19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0" name="Google Shape;870;p19"/>
          <p:cNvSpPr/>
          <p:nvPr/>
        </p:nvSpPr>
        <p:spPr>
          <a:xfrm>
            <a:off x="1247477" y="6339855"/>
            <a:ext cx="52234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Interpret diagrams, maps, and photographs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19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19"/>
          <p:cNvSpPr/>
          <p:nvPr/>
        </p:nvSpPr>
        <p:spPr>
          <a:xfrm>
            <a:off x="1247477" y="6778749"/>
            <a:ext cx="38455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the image to the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19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4" name="Google Shape;874;p19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5" name="Google Shape;875;p19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19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look at pictures without reading the labels or captions, which carry most of the information.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19"/>
          <p:cNvSpPr/>
          <p:nvPr/>
        </p:nvSpPr>
        <p:spPr>
          <a:xfrm>
            <a:off x="533326" y="9148465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8" name="Google Shape;878;p19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19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19"/>
          <p:cNvSpPr/>
          <p:nvPr/>
        </p:nvSpPr>
        <p:spPr>
          <a:xfrm>
            <a:off x="1218902" y="9738940"/>
            <a:ext cx="60853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how a picture or diagram helps 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1" name="Google Shape;881;p1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1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19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888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2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0" name="Google Shape;890;p20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1" name="Google Shape;891;p20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2" name="Google Shape;892;p20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3" name="Google Shape;893;p20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4" name="Google Shape;894;p20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5" name="Google Shape;895;p20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2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20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how reasons support specific points the author makes in a text.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8" name="Google Shape;898;p20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20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0" name="Google Shape;900;p20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20"/>
          <p:cNvSpPr/>
          <p:nvPr/>
        </p:nvSpPr>
        <p:spPr>
          <a:xfrm>
            <a:off x="999902" y="3755603"/>
            <a:ext cx="51023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author want me to believe?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2" name="Google Shape;902;p20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3" name="Google Shape;903;p20"/>
          <p:cNvSpPr/>
          <p:nvPr/>
        </p:nvSpPr>
        <p:spPr>
          <a:xfrm>
            <a:off x="999902" y="4204097"/>
            <a:ext cx="30732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reasons back it up?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4" name="Google Shape;904;p20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5" name="Google Shape;905;p20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6" name="Google Shape;906;p20"/>
          <p:cNvSpPr/>
          <p:nvPr/>
        </p:nvSpPr>
        <p:spPr>
          <a:xfrm>
            <a:off x="6424464" y="3755603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7" name="Google Shape;907;p20"/>
          <p:cNvSpPr/>
          <p:nvPr/>
        </p:nvSpPr>
        <p:spPr>
          <a:xfrm>
            <a:off x="6586389" y="3822278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8" name="Google Shape;908;p20"/>
          <p:cNvSpPr/>
          <p:nvPr/>
        </p:nvSpPr>
        <p:spPr>
          <a:xfrm>
            <a:off x="7350249" y="3755603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20"/>
          <p:cNvSpPr/>
          <p:nvPr/>
        </p:nvSpPr>
        <p:spPr>
          <a:xfrm>
            <a:off x="7512174" y="3822278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0" name="Google Shape;910;p20"/>
          <p:cNvSpPr/>
          <p:nvPr/>
        </p:nvSpPr>
        <p:spPr>
          <a:xfrm>
            <a:off x="8487668" y="3755603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1" name="Google Shape;911;p20"/>
          <p:cNvSpPr/>
          <p:nvPr/>
        </p:nvSpPr>
        <p:spPr>
          <a:xfrm>
            <a:off x="8649593" y="3822278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support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2" name="Google Shape;912;p20"/>
          <p:cNvSpPr/>
          <p:nvPr/>
        </p:nvSpPr>
        <p:spPr>
          <a:xfrm>
            <a:off x="9691167" y="3755603"/>
            <a:ext cx="9987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3" name="Google Shape;913;p20"/>
          <p:cNvSpPr/>
          <p:nvPr/>
        </p:nvSpPr>
        <p:spPr>
          <a:xfrm>
            <a:off x="9853092" y="3822278"/>
            <a:ext cx="7511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author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4" name="Google Shape;914;p20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5" name="Google Shape;915;p20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6" name="Google Shape;916;p20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7" name="Google Shape;917;p20"/>
          <p:cNvSpPr/>
          <p:nvPr/>
        </p:nvSpPr>
        <p:spPr>
          <a:xfrm>
            <a:off x="1247477" y="5566767"/>
            <a:ext cx="42394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points an author makes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8" name="Google Shape;918;p20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20"/>
          <p:cNvSpPr/>
          <p:nvPr/>
        </p:nvSpPr>
        <p:spPr>
          <a:xfrm>
            <a:off x="1247477" y="6005661"/>
            <a:ext cx="52231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how reasons support those points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20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20"/>
          <p:cNvSpPr/>
          <p:nvPr/>
        </p:nvSpPr>
        <p:spPr>
          <a:xfrm>
            <a:off x="1247477" y="6444555"/>
            <a:ext cx="41026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a point from its reason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2" name="Google Shape;922;p20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3" name="Google Shape;923;p20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4" name="Google Shape;924;p20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5" name="Google Shape;925;p20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repeat a fact from the text instead of identifying the reason that supports the author’s claim.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6" name="Google Shape;926;p20"/>
          <p:cNvSpPr/>
          <p:nvPr/>
        </p:nvSpPr>
        <p:spPr>
          <a:xfrm>
            <a:off x="533326" y="881427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20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8" name="Google Shape;928;p20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20"/>
          <p:cNvSpPr/>
          <p:nvPr/>
        </p:nvSpPr>
        <p:spPr>
          <a:xfrm>
            <a:off x="1218902" y="9404747"/>
            <a:ext cx="348090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author’s point.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0" name="Google Shape;930;p20"/>
          <p:cNvSpPr/>
          <p:nvPr/>
        </p:nvSpPr>
        <p:spPr>
          <a:xfrm>
            <a:off x="780901" y="987556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20"/>
          <p:cNvSpPr/>
          <p:nvPr/>
        </p:nvSpPr>
        <p:spPr>
          <a:xfrm>
            <a:off x="1218902" y="9846990"/>
            <a:ext cx="457637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reason that supports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2" name="Google Shape;932;p2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3" name="Google Shape;933;p2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20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2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1" name="Google Shape;941;p21"/>
          <p:cNvSpPr/>
          <p:nvPr/>
        </p:nvSpPr>
        <p:spPr>
          <a:xfrm>
            <a:off x="533326" y="533326"/>
            <a:ext cx="103295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21"/>
          <p:cNvSpPr/>
          <p:nvPr/>
        </p:nvSpPr>
        <p:spPr>
          <a:xfrm>
            <a:off x="533326" y="847651"/>
            <a:ext cx="1032950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21"/>
          <p:cNvSpPr/>
          <p:nvPr/>
        </p:nvSpPr>
        <p:spPr>
          <a:xfrm>
            <a:off x="10361116" y="533326"/>
            <a:ext cx="1249933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21"/>
          <p:cNvSpPr/>
          <p:nvPr/>
        </p:nvSpPr>
        <p:spPr>
          <a:xfrm>
            <a:off x="10570666" y="647626"/>
            <a:ext cx="90703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21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21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7" name="Google Shape;947;p2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8" name="Google Shape;948;p21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and contrast the most important points presented by two texts on the same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9" name="Google Shape;949;p21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0" name="Google Shape;950;p21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1" name="Google Shape;951;p21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2" name="Google Shape;952;p21"/>
          <p:cNvSpPr/>
          <p:nvPr/>
        </p:nvSpPr>
        <p:spPr>
          <a:xfrm>
            <a:off x="999902" y="3755603"/>
            <a:ext cx="46129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two books on one topic differ?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3" name="Google Shape;953;p21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4" name="Google Shape;954;p21"/>
          <p:cNvSpPr/>
          <p:nvPr/>
        </p:nvSpPr>
        <p:spPr>
          <a:xfrm>
            <a:off x="999902" y="4204097"/>
            <a:ext cx="310346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one told me more?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5" name="Google Shape;955;p21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21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21"/>
          <p:cNvSpPr/>
          <p:nvPr/>
        </p:nvSpPr>
        <p:spPr>
          <a:xfrm>
            <a:off x="6424464" y="3755603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8" name="Google Shape;958;p21"/>
          <p:cNvSpPr/>
          <p:nvPr/>
        </p:nvSpPr>
        <p:spPr>
          <a:xfrm>
            <a:off x="6586389" y="3822278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21"/>
          <p:cNvSpPr/>
          <p:nvPr/>
        </p:nvSpPr>
        <p:spPr>
          <a:xfrm>
            <a:off x="7760122" y="3755603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0" name="Google Shape;960;p21"/>
          <p:cNvSpPr/>
          <p:nvPr/>
        </p:nvSpPr>
        <p:spPr>
          <a:xfrm>
            <a:off x="7922047" y="3822278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contrast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1" name="Google Shape;961;p21"/>
          <p:cNvSpPr/>
          <p:nvPr/>
        </p:nvSpPr>
        <p:spPr>
          <a:xfrm>
            <a:off x="9016305" y="3755603"/>
            <a:ext cx="82666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2" name="Google Shape;962;p21"/>
          <p:cNvSpPr/>
          <p:nvPr/>
        </p:nvSpPr>
        <p:spPr>
          <a:xfrm>
            <a:off x="9178230" y="3822278"/>
            <a:ext cx="57901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21"/>
          <p:cNvSpPr/>
          <p:nvPr/>
        </p:nvSpPr>
        <p:spPr>
          <a:xfrm>
            <a:off x="6424464" y="4260131"/>
            <a:ext cx="18982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4" name="Google Shape;964;p21"/>
          <p:cNvSpPr/>
          <p:nvPr/>
        </p:nvSpPr>
        <p:spPr>
          <a:xfrm>
            <a:off x="6586389" y="4326806"/>
            <a:ext cx="16505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important point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5" name="Google Shape;965;p21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6" name="Google Shape;966;p21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21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8" name="Google Shape;968;p21"/>
          <p:cNvSpPr/>
          <p:nvPr/>
        </p:nvSpPr>
        <p:spPr>
          <a:xfrm>
            <a:off x="1247477" y="5707410"/>
            <a:ext cx="79175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the most important points in two texts on the same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9" name="Google Shape;969;p21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21"/>
          <p:cNvSpPr/>
          <p:nvPr/>
        </p:nvSpPr>
        <p:spPr>
          <a:xfrm>
            <a:off x="1247477" y="6146304"/>
            <a:ext cx="519274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Contrast the information each text provides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1" name="Google Shape;971;p21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2" name="Google Shape;972;p21"/>
          <p:cNvSpPr/>
          <p:nvPr/>
        </p:nvSpPr>
        <p:spPr>
          <a:xfrm>
            <a:off x="1247477" y="6585198"/>
            <a:ext cx="59498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Notice what one text includes that the other omits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3" name="Google Shape;973;p21"/>
          <p:cNvSpPr/>
          <p:nvPr/>
        </p:nvSpPr>
        <p:spPr>
          <a:xfrm>
            <a:off x="533326" y="732881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4" name="Google Shape;974;p21"/>
          <p:cNvSpPr/>
          <p:nvPr/>
        </p:nvSpPr>
        <p:spPr>
          <a:xfrm>
            <a:off x="533326" y="732881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5" name="Google Shape;975;p21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6" name="Google Shape;976;p21"/>
          <p:cNvSpPr/>
          <p:nvPr/>
        </p:nvSpPr>
        <p:spPr>
          <a:xfrm>
            <a:off x="895201" y="788111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compare surface features like length or pictures instead of the ideas.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7" name="Google Shape;977;p21"/>
          <p:cNvSpPr/>
          <p:nvPr/>
        </p:nvSpPr>
        <p:spPr>
          <a:xfrm>
            <a:off x="533326" y="860844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21"/>
          <p:cNvSpPr/>
          <p:nvPr/>
        </p:nvSpPr>
        <p:spPr>
          <a:xfrm>
            <a:off x="780901" y="879886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9" name="Google Shape;979;p21"/>
          <p:cNvSpPr/>
          <p:nvPr/>
        </p:nvSpPr>
        <p:spPr>
          <a:xfrm>
            <a:off x="780901" y="922749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0" name="Google Shape;980;p21"/>
          <p:cNvSpPr/>
          <p:nvPr/>
        </p:nvSpPr>
        <p:spPr>
          <a:xfrm>
            <a:off x="1218902" y="9198918"/>
            <a:ext cx="577105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texts about the same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1" name="Google Shape;981;p2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2" name="Google Shape;982;p2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3" name="Google Shape;983;p21"/>
          <p:cNvSpPr/>
          <p:nvPr/>
        </p:nvSpPr>
        <p:spPr>
          <a:xfrm>
            <a:off x="10975925" y="14897174"/>
            <a:ext cx="71132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2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22"/>
          <p:cNvSpPr/>
          <p:nvPr/>
        </p:nvSpPr>
        <p:spPr>
          <a:xfrm>
            <a:off x="533326" y="533326"/>
            <a:ext cx="103088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INFORMATIONAL 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1" name="Google Shape;991;p22"/>
          <p:cNvSpPr/>
          <p:nvPr/>
        </p:nvSpPr>
        <p:spPr>
          <a:xfrm>
            <a:off x="533326" y="847651"/>
            <a:ext cx="9652858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Integration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22"/>
          <p:cNvSpPr/>
          <p:nvPr/>
        </p:nvSpPr>
        <p:spPr>
          <a:xfrm>
            <a:off x="10190783" y="533326"/>
            <a:ext cx="1420267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3" name="Google Shape;993;p22"/>
          <p:cNvSpPr/>
          <p:nvPr/>
        </p:nvSpPr>
        <p:spPr>
          <a:xfrm>
            <a:off x="10400333" y="647626"/>
            <a:ext cx="107736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RI.2.10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4" name="Google Shape;994;p2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5" name="Google Shape;995;p2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6" name="Google Shape;996;p2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7" name="Google Shape;997;p2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By the end of year, read and comprehend informational texts in the grades 2-3 text complexity band proficiently, with scaffolding as needed.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8" name="Google Shape;998;p22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2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2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1" name="Google Shape;1001;p22"/>
          <p:cNvSpPr/>
          <p:nvPr/>
        </p:nvSpPr>
        <p:spPr>
          <a:xfrm>
            <a:off x="999902" y="4635401"/>
            <a:ext cx="51478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helps me when nonfiction gets hard?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22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3" name="Google Shape;1003;p22"/>
          <p:cNvSpPr/>
          <p:nvPr/>
        </p:nvSpPr>
        <p:spPr>
          <a:xfrm>
            <a:off x="999902" y="5083894"/>
            <a:ext cx="42544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check my understanding?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22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5" name="Google Shape;1005;p2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6" name="Google Shape;1006;p22"/>
          <p:cNvSpPr/>
          <p:nvPr/>
        </p:nvSpPr>
        <p:spPr>
          <a:xfrm>
            <a:off x="6424464" y="4635401"/>
            <a:ext cx="164708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22"/>
          <p:cNvSpPr/>
          <p:nvPr/>
        </p:nvSpPr>
        <p:spPr>
          <a:xfrm>
            <a:off x="6586389" y="4702076"/>
            <a:ext cx="13994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comprehend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8" name="Google Shape;1008;p22"/>
          <p:cNvSpPr/>
          <p:nvPr/>
        </p:nvSpPr>
        <p:spPr>
          <a:xfrm>
            <a:off x="8157270" y="4635401"/>
            <a:ext cx="168659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9" name="Google Shape;1009;p22"/>
          <p:cNvSpPr/>
          <p:nvPr/>
        </p:nvSpPr>
        <p:spPr>
          <a:xfrm>
            <a:off x="8319195" y="4702076"/>
            <a:ext cx="143894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informational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0" name="Google Shape;1010;p22"/>
          <p:cNvSpPr/>
          <p:nvPr/>
        </p:nvSpPr>
        <p:spPr>
          <a:xfrm>
            <a:off x="9929589" y="4635401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1" name="Google Shape;1011;p22"/>
          <p:cNvSpPr/>
          <p:nvPr/>
        </p:nvSpPr>
        <p:spPr>
          <a:xfrm>
            <a:off x="10091514" y="4702076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2" name="Google Shape;1012;p22"/>
          <p:cNvSpPr/>
          <p:nvPr/>
        </p:nvSpPr>
        <p:spPr>
          <a:xfrm>
            <a:off x="6424464" y="5139928"/>
            <a:ext cx="11398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22"/>
          <p:cNvSpPr/>
          <p:nvPr/>
        </p:nvSpPr>
        <p:spPr>
          <a:xfrm>
            <a:off x="6586389" y="5206603"/>
            <a:ext cx="8922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scaffold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4" name="Google Shape;1014;p22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5" name="Google Shape;1015;p22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6" name="Google Shape;1016;p22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22"/>
          <p:cNvSpPr/>
          <p:nvPr/>
        </p:nvSpPr>
        <p:spPr>
          <a:xfrm>
            <a:off x="1247477" y="6587207"/>
            <a:ext cx="61622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comprehend grade 2-3 informational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8" name="Google Shape;1018;p22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9" name="Google Shape;1019;p22"/>
          <p:cNvSpPr/>
          <p:nvPr/>
        </p:nvSpPr>
        <p:spPr>
          <a:xfrm>
            <a:off x="1247477" y="7026101"/>
            <a:ext cx="503730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scaffolds at the high end of the range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22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1" name="Google Shape;1021;p22"/>
          <p:cNvSpPr/>
          <p:nvPr/>
        </p:nvSpPr>
        <p:spPr>
          <a:xfrm>
            <a:off x="1247477" y="7464996"/>
            <a:ext cx="43909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Monitor understanding while reading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2" name="Google Shape;1022;p22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22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4" name="Google Shape;1024;p22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22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Dense nonfiction vocabulary causes students to give up. Pre-teaching three or four key terms changes the outcome.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6" name="Google Shape;1026;p22"/>
          <p:cNvSpPr/>
          <p:nvPr/>
        </p:nvSpPr>
        <p:spPr>
          <a:xfrm>
            <a:off x="533326" y="983471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7" name="Google Shape;1027;p22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22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9" name="Google Shape;1029;p22"/>
          <p:cNvSpPr/>
          <p:nvPr/>
        </p:nvSpPr>
        <p:spPr>
          <a:xfrm>
            <a:off x="1218902" y="10425187"/>
            <a:ext cx="485926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nonfiction at my grade level.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0" name="Google Shape;1030;p2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2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22"/>
          <p:cNvSpPr/>
          <p:nvPr/>
        </p:nvSpPr>
        <p:spPr>
          <a:xfrm>
            <a:off x="10843543" y="14897174"/>
            <a:ext cx="84370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RI.2.10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p2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9" name="Google Shape;1039;p23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0" name="Google Shape;1040;p23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1" name="Google Shape;1041;p23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2" name="Google Shape;1042;p23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RF.2.3.A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23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4" name="Google Shape;1044;p23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2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6" name="Google Shape;1046;p23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long and short vowels when reading regularly spelled one-syllable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23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8" name="Google Shape;1048;p23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23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0" name="Google Shape;1050;p23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the vowel sound change the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1" name="Google Shape;1051;p23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23"/>
          <p:cNvSpPr/>
          <p:nvPr/>
        </p:nvSpPr>
        <p:spPr>
          <a:xfrm>
            <a:off x="999902" y="4538290"/>
            <a:ext cx="425394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a vowel long or short?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3" name="Google Shape;1053;p23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23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5" name="Google Shape;1055;p23"/>
          <p:cNvSpPr/>
          <p:nvPr/>
        </p:nvSpPr>
        <p:spPr>
          <a:xfrm>
            <a:off x="6424464" y="3755603"/>
            <a:ext cx="14486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6" name="Google Shape;1056;p23"/>
          <p:cNvSpPr/>
          <p:nvPr/>
        </p:nvSpPr>
        <p:spPr>
          <a:xfrm>
            <a:off x="6586389" y="3822278"/>
            <a:ext cx="12009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long vowel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23"/>
          <p:cNvSpPr/>
          <p:nvPr/>
        </p:nvSpPr>
        <p:spPr>
          <a:xfrm>
            <a:off x="7958807" y="3755603"/>
            <a:ext cx="15276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8" name="Google Shape;1058;p23"/>
          <p:cNvSpPr/>
          <p:nvPr/>
        </p:nvSpPr>
        <p:spPr>
          <a:xfrm>
            <a:off x="8120732" y="3822278"/>
            <a:ext cx="12799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short vowel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9" name="Google Shape;1059;p23"/>
          <p:cNvSpPr/>
          <p:nvPr/>
        </p:nvSpPr>
        <p:spPr>
          <a:xfrm>
            <a:off x="9572179" y="3755603"/>
            <a:ext cx="82644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0" name="Google Shape;1060;p23"/>
          <p:cNvSpPr/>
          <p:nvPr/>
        </p:nvSpPr>
        <p:spPr>
          <a:xfrm>
            <a:off x="9734104" y="3822278"/>
            <a:ext cx="57879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CVC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23"/>
          <p:cNvSpPr/>
          <p:nvPr/>
        </p:nvSpPr>
        <p:spPr>
          <a:xfrm>
            <a:off x="6424464" y="4260131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2" name="Google Shape;1062;p23"/>
          <p:cNvSpPr/>
          <p:nvPr/>
        </p:nvSpPr>
        <p:spPr>
          <a:xfrm>
            <a:off x="6586389" y="4326806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silent 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3" name="Google Shape;1063;p23"/>
          <p:cNvSpPr/>
          <p:nvPr/>
        </p:nvSpPr>
        <p:spPr>
          <a:xfrm>
            <a:off x="7588225" y="4260131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23"/>
          <p:cNvSpPr/>
          <p:nvPr/>
        </p:nvSpPr>
        <p:spPr>
          <a:xfrm>
            <a:off x="7750150" y="4326806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syllable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23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6" name="Google Shape;1066;p23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7" name="Google Shape;1067;p23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8" name="Google Shape;1068;p23"/>
          <p:cNvSpPr/>
          <p:nvPr/>
        </p:nvSpPr>
        <p:spPr>
          <a:xfrm>
            <a:off x="1247477" y="5900961"/>
            <a:ext cx="66612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long and short vowels in one-syllable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9" name="Google Shape;1069;p23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0" name="Google Shape;1070;p23"/>
          <p:cNvSpPr/>
          <p:nvPr/>
        </p:nvSpPr>
        <p:spPr>
          <a:xfrm>
            <a:off x="1247477" y="6339855"/>
            <a:ext cx="41785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the CVC and CVCe patterns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1" name="Google Shape;1071;p23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2" name="Google Shape;1072;p23"/>
          <p:cNvSpPr/>
          <p:nvPr/>
        </p:nvSpPr>
        <p:spPr>
          <a:xfrm>
            <a:off x="1247477" y="6778749"/>
            <a:ext cx="482930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regularly spelled words accurately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3" name="Google Shape;1073;p23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4" name="Google Shape;1074;p23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23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6" name="Google Shape;1076;p23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guess the vowel sound from the first letter rather than scanning the whole word for a silent e or vowel team.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7" name="Google Shape;1077;p23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8" name="Google Shape;1078;p23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23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0" name="Google Shape;1080;p23"/>
          <p:cNvSpPr/>
          <p:nvPr/>
        </p:nvSpPr>
        <p:spPr>
          <a:xfrm>
            <a:off x="1218902" y="9738940"/>
            <a:ext cx="432393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if a vowel is long or short.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23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2" name="Google Shape;1082;p23"/>
          <p:cNvSpPr/>
          <p:nvPr/>
        </p:nvSpPr>
        <p:spPr>
          <a:xfrm>
            <a:off x="1218902" y="10181183"/>
            <a:ext cx="372671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words with silent 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2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23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5" name="Google Shape;1085;p23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RF.2.3.A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2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24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3" name="Google Shape;1093;p24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4" name="Google Shape;1094;p24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5" name="Google Shape;1095;p24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RF.2.3.B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6" name="Google Shape;1096;p24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7" name="Google Shape;1097;p24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2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9" name="Google Shape;1099;p24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spelling-sound correspondences for additional common vowel teams.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0" name="Google Shape;1100;p24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1" name="Google Shape;1101;p24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2" name="Google Shape;1102;p24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3" name="Google Shape;1103;p24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sound do these two letters make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4" name="Google Shape;1104;p24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5" name="Google Shape;1105;p24"/>
          <p:cNvSpPr/>
          <p:nvPr/>
        </p:nvSpPr>
        <p:spPr>
          <a:xfrm>
            <a:off x="999902" y="4538290"/>
            <a:ext cx="50714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which team is in the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6" name="Google Shape;1106;p24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7" name="Google Shape;1107;p24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24"/>
          <p:cNvSpPr/>
          <p:nvPr/>
        </p:nvSpPr>
        <p:spPr>
          <a:xfrm>
            <a:off x="6424464" y="3755603"/>
            <a:ext cx="15276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9" name="Google Shape;1109;p24"/>
          <p:cNvSpPr/>
          <p:nvPr/>
        </p:nvSpPr>
        <p:spPr>
          <a:xfrm>
            <a:off x="6586389" y="3822278"/>
            <a:ext cx="12799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vowel team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0" name="Google Shape;1110;p24"/>
          <p:cNvSpPr/>
          <p:nvPr/>
        </p:nvSpPr>
        <p:spPr>
          <a:xfrm>
            <a:off x="8037835" y="3755603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24"/>
          <p:cNvSpPr/>
          <p:nvPr/>
        </p:nvSpPr>
        <p:spPr>
          <a:xfrm>
            <a:off x="8199760" y="3822278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24"/>
          <p:cNvSpPr/>
          <p:nvPr/>
        </p:nvSpPr>
        <p:spPr>
          <a:xfrm>
            <a:off x="9241334" y="3755603"/>
            <a:ext cx="193818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3" name="Google Shape;1113;p24"/>
          <p:cNvSpPr/>
          <p:nvPr/>
        </p:nvSpPr>
        <p:spPr>
          <a:xfrm>
            <a:off x="9403259" y="3822278"/>
            <a:ext cx="169053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spelling pattern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4" name="Google Shape;1114;p24"/>
          <p:cNvSpPr/>
          <p:nvPr/>
        </p:nvSpPr>
        <p:spPr>
          <a:xfrm>
            <a:off x="6424464" y="4260131"/>
            <a:ext cx="110482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5" name="Google Shape;1115;p24"/>
          <p:cNvSpPr/>
          <p:nvPr/>
        </p:nvSpPr>
        <p:spPr>
          <a:xfrm>
            <a:off x="6586389" y="4326806"/>
            <a:ext cx="8571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decode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6" name="Google Shape;1116;p24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7" name="Google Shape;1117;p24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8" name="Google Shape;1118;p24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9" name="Google Shape;1119;p24"/>
          <p:cNvSpPr/>
          <p:nvPr/>
        </p:nvSpPr>
        <p:spPr>
          <a:xfrm>
            <a:off x="1247477" y="5900961"/>
            <a:ext cx="77815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spelling-sound correspondences for common vowel teams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0" name="Google Shape;1120;p24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24"/>
          <p:cNvSpPr/>
          <p:nvPr/>
        </p:nvSpPr>
        <p:spPr>
          <a:xfrm>
            <a:off x="1247477" y="6339855"/>
            <a:ext cx="71403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words with ai, ay, ea, ee, oa, ow, and similar teams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2" name="Google Shape;1122;p24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24"/>
          <p:cNvSpPr/>
          <p:nvPr/>
        </p:nvSpPr>
        <p:spPr>
          <a:xfrm>
            <a:off x="1247477" y="6778749"/>
            <a:ext cx="36336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teams in connected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4" name="Google Shape;1124;p24"/>
          <p:cNvSpPr/>
          <p:nvPr/>
        </p:nvSpPr>
        <p:spPr>
          <a:xfrm>
            <a:off x="533326" y="7522369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5" name="Google Shape;1125;p24"/>
          <p:cNvSpPr/>
          <p:nvPr/>
        </p:nvSpPr>
        <p:spPr>
          <a:xfrm>
            <a:off x="533326" y="7522369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6" name="Google Shape;1126;p24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7" name="Google Shape;1127;p24"/>
          <p:cNvSpPr/>
          <p:nvPr/>
        </p:nvSpPr>
        <p:spPr>
          <a:xfrm>
            <a:off x="895201" y="8074670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sound out each vowel separately in a team, reading "boat" as "bo-at".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8" name="Google Shape;1128;p24"/>
          <p:cNvSpPr/>
          <p:nvPr/>
        </p:nvSpPr>
        <p:spPr>
          <a:xfrm>
            <a:off x="533326" y="8801993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9" name="Google Shape;1129;p24"/>
          <p:cNvSpPr/>
          <p:nvPr/>
        </p:nvSpPr>
        <p:spPr>
          <a:xfrm>
            <a:off x="780901" y="899241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24"/>
          <p:cNvSpPr/>
          <p:nvPr/>
        </p:nvSpPr>
        <p:spPr>
          <a:xfrm>
            <a:off x="780901" y="942104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24"/>
          <p:cNvSpPr/>
          <p:nvPr/>
        </p:nvSpPr>
        <p:spPr>
          <a:xfrm>
            <a:off x="1218902" y="9392469"/>
            <a:ext cx="440251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words with vowel teams.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2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3" name="Google Shape;1133;p24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24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RF.2.3.B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2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1" name="Google Shape;1141;p25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2" name="Google Shape;1142;p25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3" name="Google Shape;1143;p25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4" name="Google Shape;1144;p25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RF.2.3.C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5" name="Google Shape;1145;p25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6" name="Google Shape;1146;p25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7" name="Google Shape;1147;p2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8" name="Google Shape;1148;p25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regularly spelled two-syllable words with long vowels.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25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0" name="Google Shape;1150;p25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1" name="Google Shape;1151;p25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25"/>
          <p:cNvSpPr/>
          <p:nvPr/>
        </p:nvSpPr>
        <p:spPr>
          <a:xfrm>
            <a:off x="999902" y="3755603"/>
            <a:ext cx="41635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break a long word apart?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3" name="Google Shape;1153;p25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4" name="Google Shape;1154;p25"/>
          <p:cNvSpPr/>
          <p:nvPr/>
        </p:nvSpPr>
        <p:spPr>
          <a:xfrm>
            <a:off x="999902" y="4204097"/>
            <a:ext cx="366434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does one syllable end?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5" name="Google Shape;1155;p25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6" name="Google Shape;1156;p25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7" name="Google Shape;1157;p25"/>
          <p:cNvSpPr/>
          <p:nvPr/>
        </p:nvSpPr>
        <p:spPr>
          <a:xfrm>
            <a:off x="6424464" y="3755603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8" name="Google Shape;1158;p25"/>
          <p:cNvSpPr/>
          <p:nvPr/>
        </p:nvSpPr>
        <p:spPr>
          <a:xfrm>
            <a:off x="6586389" y="3822278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syllable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9" name="Google Shape;1159;p25"/>
          <p:cNvSpPr/>
          <p:nvPr/>
        </p:nvSpPr>
        <p:spPr>
          <a:xfrm>
            <a:off x="7627739" y="3755603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25"/>
          <p:cNvSpPr/>
          <p:nvPr/>
        </p:nvSpPr>
        <p:spPr>
          <a:xfrm>
            <a:off x="7789664" y="3822278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divide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1" name="Google Shape;1161;p25"/>
          <p:cNvSpPr/>
          <p:nvPr/>
        </p:nvSpPr>
        <p:spPr>
          <a:xfrm>
            <a:off x="8659118" y="3755603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25"/>
          <p:cNvSpPr/>
          <p:nvPr/>
        </p:nvSpPr>
        <p:spPr>
          <a:xfrm>
            <a:off x="8821043" y="3822278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blend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3" name="Google Shape;1163;p25"/>
          <p:cNvSpPr/>
          <p:nvPr/>
        </p:nvSpPr>
        <p:spPr>
          <a:xfrm>
            <a:off x="9650983" y="3755603"/>
            <a:ext cx="156738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4" name="Google Shape;1164;p25"/>
          <p:cNvSpPr/>
          <p:nvPr/>
        </p:nvSpPr>
        <p:spPr>
          <a:xfrm>
            <a:off x="9812908" y="3822278"/>
            <a:ext cx="13197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two-syllable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5" name="Google Shape;1165;p25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6" name="Google Shape;1166;p25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25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25"/>
          <p:cNvSpPr/>
          <p:nvPr/>
        </p:nvSpPr>
        <p:spPr>
          <a:xfrm>
            <a:off x="1247477" y="5566767"/>
            <a:ext cx="73574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regularly spelled two-syllable words with long vowels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9" name="Google Shape;1169;p25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25"/>
          <p:cNvSpPr/>
          <p:nvPr/>
        </p:nvSpPr>
        <p:spPr>
          <a:xfrm>
            <a:off x="1247477" y="6005661"/>
            <a:ext cx="31940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Divide words into syllables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1" name="Google Shape;1171;p25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2" name="Google Shape;1172;p25"/>
          <p:cNvSpPr/>
          <p:nvPr/>
        </p:nvSpPr>
        <p:spPr>
          <a:xfrm>
            <a:off x="1247477" y="6444555"/>
            <a:ext cx="46630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Blend syllables back into a whole word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3" name="Google Shape;1173;p25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4" name="Google Shape;1174;p25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p25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6" name="Google Shape;1176;p25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divide syllables in the wrong place and produce a nonword, then abandon the attempt rather than trying another split.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7" name="Google Shape;1177;p25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25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9" name="Google Shape;1179;p25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25"/>
          <p:cNvSpPr/>
          <p:nvPr/>
        </p:nvSpPr>
        <p:spPr>
          <a:xfrm>
            <a:off x="1218902" y="9404747"/>
            <a:ext cx="613302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break a long word into syllables and read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1" name="Google Shape;1181;p2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2" name="Google Shape;1182;p25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3" name="Google Shape;1183;p25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RF.2.3.C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2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0" name="Google Shape;1190;p26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1" name="Google Shape;1191;p26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26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3" name="Google Shape;1193;p26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RF.2.3.D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4" name="Google Shape;1194;p2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5" name="Google Shape;1195;p2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6" name="Google Shape;1196;p2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7" name="Google Shape;1197;p2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words with common prefixes and suffixes.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8" name="Google Shape;1198;p26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9" name="Google Shape;1199;p2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0" name="Google Shape;1200;p2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1" name="Google Shape;1201;p26"/>
          <p:cNvSpPr/>
          <p:nvPr/>
        </p:nvSpPr>
        <p:spPr>
          <a:xfrm>
            <a:off x="999902" y="375560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a word part change the meaning?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2" name="Google Shape;1202;p26"/>
          <p:cNvSpPr/>
          <p:nvPr/>
        </p:nvSpPr>
        <p:spPr>
          <a:xfrm>
            <a:off x="790501" y="464299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3" name="Google Shape;1203;p26"/>
          <p:cNvSpPr/>
          <p:nvPr/>
        </p:nvSpPr>
        <p:spPr>
          <a:xfrm>
            <a:off x="999902" y="4538290"/>
            <a:ext cx="28461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base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4" name="Google Shape;1204;p26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5" name="Google Shape;1205;p2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6" name="Google Shape;1206;p26"/>
          <p:cNvSpPr/>
          <p:nvPr/>
        </p:nvSpPr>
        <p:spPr>
          <a:xfrm>
            <a:off x="6424464" y="3755603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26"/>
          <p:cNvSpPr/>
          <p:nvPr/>
        </p:nvSpPr>
        <p:spPr>
          <a:xfrm>
            <a:off x="6586389" y="3822278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8" name="Google Shape;1208;p26"/>
          <p:cNvSpPr/>
          <p:nvPr/>
        </p:nvSpPr>
        <p:spPr>
          <a:xfrm>
            <a:off x="7416105" y="3755603"/>
            <a:ext cx="87510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9" name="Google Shape;1209;p26"/>
          <p:cNvSpPr/>
          <p:nvPr/>
        </p:nvSpPr>
        <p:spPr>
          <a:xfrm>
            <a:off x="7578030" y="3822278"/>
            <a:ext cx="62745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suffix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26"/>
          <p:cNvSpPr/>
          <p:nvPr/>
        </p:nvSpPr>
        <p:spPr>
          <a:xfrm>
            <a:off x="8376940" y="3755603"/>
            <a:ext cx="142205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1" name="Google Shape;1211;p26"/>
          <p:cNvSpPr/>
          <p:nvPr/>
        </p:nvSpPr>
        <p:spPr>
          <a:xfrm>
            <a:off x="8538865" y="3822278"/>
            <a:ext cx="11744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base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2" name="Google Shape;1212;p26"/>
          <p:cNvSpPr/>
          <p:nvPr/>
        </p:nvSpPr>
        <p:spPr>
          <a:xfrm>
            <a:off x="9884718" y="3755603"/>
            <a:ext cx="7561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26"/>
          <p:cNvSpPr/>
          <p:nvPr/>
        </p:nvSpPr>
        <p:spPr>
          <a:xfrm>
            <a:off x="10046643" y="3822278"/>
            <a:ext cx="5084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affix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26"/>
          <p:cNvSpPr/>
          <p:nvPr/>
        </p:nvSpPr>
        <p:spPr>
          <a:xfrm>
            <a:off x="6424464" y="4260131"/>
            <a:ext cx="123698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5" name="Google Shape;1215;p26"/>
          <p:cNvSpPr/>
          <p:nvPr/>
        </p:nvSpPr>
        <p:spPr>
          <a:xfrm>
            <a:off x="6586389" y="4326806"/>
            <a:ext cx="98933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6" name="Google Shape;1216;p26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7" name="Google Shape;1217;p26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8" name="Google Shape;1218;p26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9" name="Google Shape;1219;p26"/>
          <p:cNvSpPr/>
          <p:nvPr/>
        </p:nvSpPr>
        <p:spPr>
          <a:xfrm>
            <a:off x="1247477" y="5900961"/>
            <a:ext cx="59746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Decode words with common prefixes and suffixes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0" name="Google Shape;1220;p26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1" name="Google Shape;1221;p26"/>
          <p:cNvSpPr/>
          <p:nvPr/>
        </p:nvSpPr>
        <p:spPr>
          <a:xfrm>
            <a:off x="1247477" y="6339855"/>
            <a:ext cx="26648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the base word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2" name="Google Shape;1222;p26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3" name="Google Shape;1223;p26"/>
          <p:cNvSpPr/>
          <p:nvPr/>
        </p:nvSpPr>
        <p:spPr>
          <a:xfrm>
            <a:off x="1247477" y="6778749"/>
            <a:ext cx="48096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affix to help determine meaning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4" name="Google Shape;1224;p26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5" name="Google Shape;1225;p26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6" name="Google Shape;1226;p26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7" name="Google Shape;1227;p26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strip letters that only look like a prefix, treating "under" in "understand" or "re" in "read" as affixes.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8" name="Google Shape;1228;p26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9" name="Google Shape;1229;p26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0" name="Google Shape;1230;p26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26"/>
          <p:cNvSpPr/>
          <p:nvPr/>
        </p:nvSpPr>
        <p:spPr>
          <a:xfrm>
            <a:off x="1218902" y="9738940"/>
            <a:ext cx="475932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the prefix or suffix in a word.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2" name="Google Shape;1232;p26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3" name="Google Shape;1233;p26"/>
          <p:cNvSpPr/>
          <p:nvPr/>
        </p:nvSpPr>
        <p:spPr>
          <a:xfrm>
            <a:off x="1218902" y="10181183"/>
            <a:ext cx="531503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the word and tell what it means.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4" name="Google Shape;1234;p2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5" name="Google Shape;1235;p26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6" name="Google Shape;1236;p26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RF.2.3.D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2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27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27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5" name="Google Shape;1245;p27"/>
          <p:cNvSpPr/>
          <p:nvPr/>
        </p:nvSpPr>
        <p:spPr>
          <a:xfrm>
            <a:off x="10004822" y="533326"/>
            <a:ext cx="1606228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6" name="Google Shape;1246;p27"/>
          <p:cNvSpPr/>
          <p:nvPr/>
        </p:nvSpPr>
        <p:spPr>
          <a:xfrm>
            <a:off x="10214372" y="647626"/>
            <a:ext cx="126332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RF.2.3.E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7" name="Google Shape;1247;p2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8" name="Google Shape;1248;p2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9" name="Google Shape;1249;p2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0" name="Google Shape;1250;p2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words with inconsistent but common spelling-sound correspondences.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1" name="Google Shape;1251;p27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2" name="Google Shape;1252;p2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2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4" name="Google Shape;1254;p27"/>
          <p:cNvSpPr/>
          <p:nvPr/>
        </p:nvSpPr>
        <p:spPr>
          <a:xfrm>
            <a:off x="999902" y="3755603"/>
            <a:ext cx="48747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this word not follow the rules?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5" name="Google Shape;1255;p27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6" name="Google Shape;1256;p27"/>
          <p:cNvSpPr/>
          <p:nvPr/>
        </p:nvSpPr>
        <p:spPr>
          <a:xfrm>
            <a:off x="999902" y="4204097"/>
            <a:ext cx="23156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part is tricky?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27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8" name="Google Shape;1258;p2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9" name="Google Shape;1259;p27"/>
          <p:cNvSpPr/>
          <p:nvPr/>
        </p:nvSpPr>
        <p:spPr>
          <a:xfrm>
            <a:off x="6424464" y="3755603"/>
            <a:ext cx="119680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0" name="Google Shape;1260;p27"/>
          <p:cNvSpPr/>
          <p:nvPr/>
        </p:nvSpPr>
        <p:spPr>
          <a:xfrm>
            <a:off x="6586389" y="3822278"/>
            <a:ext cx="94915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irregular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1" name="Google Shape;1261;p27"/>
          <p:cNvSpPr/>
          <p:nvPr/>
        </p:nvSpPr>
        <p:spPr>
          <a:xfrm>
            <a:off x="7706990" y="3755603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2" name="Google Shape;1262;p27"/>
          <p:cNvSpPr/>
          <p:nvPr/>
        </p:nvSpPr>
        <p:spPr>
          <a:xfrm>
            <a:off x="7868915" y="3822278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inconsistent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3" name="Google Shape;1263;p27"/>
          <p:cNvSpPr/>
          <p:nvPr/>
        </p:nvSpPr>
        <p:spPr>
          <a:xfrm>
            <a:off x="9373493" y="3755603"/>
            <a:ext cx="134280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4" name="Google Shape;1264;p27"/>
          <p:cNvSpPr/>
          <p:nvPr/>
        </p:nvSpPr>
        <p:spPr>
          <a:xfrm>
            <a:off x="9535418" y="3822278"/>
            <a:ext cx="109515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5" name="Google Shape;1265;p27"/>
          <p:cNvSpPr/>
          <p:nvPr/>
        </p:nvSpPr>
        <p:spPr>
          <a:xfrm>
            <a:off x="6424464" y="4260131"/>
            <a:ext cx="135552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27"/>
          <p:cNvSpPr/>
          <p:nvPr/>
        </p:nvSpPr>
        <p:spPr>
          <a:xfrm>
            <a:off x="6586389" y="4326806"/>
            <a:ext cx="110787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tricky part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7" name="Google Shape;1267;p27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8" name="Google Shape;1268;p27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9" name="Google Shape;1269;p27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0" name="Google Shape;1270;p27"/>
          <p:cNvSpPr/>
          <p:nvPr/>
        </p:nvSpPr>
        <p:spPr>
          <a:xfrm>
            <a:off x="1247477" y="5707410"/>
            <a:ext cx="77515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words with inconsistent spelling-sound correspondences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1" name="Google Shape;1271;p27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2" name="Google Shape;1272;p27"/>
          <p:cNvSpPr/>
          <p:nvPr/>
        </p:nvSpPr>
        <p:spPr>
          <a:xfrm>
            <a:off x="1247477" y="6146304"/>
            <a:ext cx="35123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those words accurately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3" name="Google Shape;1273;p27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4" name="Google Shape;1274;p27"/>
          <p:cNvSpPr/>
          <p:nvPr/>
        </p:nvSpPr>
        <p:spPr>
          <a:xfrm>
            <a:off x="1247477" y="6585198"/>
            <a:ext cx="40270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Flag the irregular part of the word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5" name="Google Shape;1275;p27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6" name="Google Shape;1276;p27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7" name="Google Shape;1277;p27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27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over-apply phonics rules and produce a nonword rather than recognizing an exception.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9" name="Google Shape;1279;p27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0" name="Google Shape;1280;p27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1" name="Google Shape;1281;p27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2" name="Google Shape;1282;p27"/>
          <p:cNvSpPr/>
          <p:nvPr/>
        </p:nvSpPr>
        <p:spPr>
          <a:xfrm>
            <a:off x="1218902" y="9545389"/>
            <a:ext cx="555102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words that do not follow the rules.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3" name="Google Shape;1283;p2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4" name="Google Shape;1284;p27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5" name="Google Shape;1285;p27"/>
          <p:cNvSpPr/>
          <p:nvPr/>
        </p:nvSpPr>
        <p:spPr>
          <a:xfrm>
            <a:off x="10698212" y="14897174"/>
            <a:ext cx="9890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RF.2.3.E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2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2" name="Google Shape;1292;p28"/>
          <p:cNvSpPr/>
          <p:nvPr/>
        </p:nvSpPr>
        <p:spPr>
          <a:xfrm>
            <a:off x="533326" y="533326"/>
            <a:ext cx="87615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3" name="Google Shape;1293;p28"/>
          <p:cNvSpPr/>
          <p:nvPr/>
        </p:nvSpPr>
        <p:spPr>
          <a:xfrm>
            <a:off x="533326" y="847651"/>
            <a:ext cx="876156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Phonics and Word Recognition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4" name="Google Shape;1294;p28"/>
          <p:cNvSpPr/>
          <p:nvPr/>
        </p:nvSpPr>
        <p:spPr>
          <a:xfrm>
            <a:off x="10020895" y="533326"/>
            <a:ext cx="15901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5" name="Google Shape;1295;p28"/>
          <p:cNvSpPr/>
          <p:nvPr/>
        </p:nvSpPr>
        <p:spPr>
          <a:xfrm>
            <a:off x="10230445" y="647626"/>
            <a:ext cx="12472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RF.2.3.F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6" name="Google Shape;1296;p28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7" name="Google Shape;1297;p28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2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28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and read grade-appropriate irregularly spelled words.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0" name="Google Shape;1300;p28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28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28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3" name="Google Shape;1303;p28"/>
          <p:cNvSpPr/>
          <p:nvPr/>
        </p:nvSpPr>
        <p:spPr>
          <a:xfrm>
            <a:off x="999902" y="3755603"/>
            <a:ext cx="45265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words should I know instantly?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4" name="Google Shape;1304;p28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5" name="Google Shape;1305;p28"/>
          <p:cNvSpPr/>
          <p:nvPr/>
        </p:nvSpPr>
        <p:spPr>
          <a:xfrm>
            <a:off x="999902" y="4204097"/>
            <a:ext cx="38151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learn a word by sight?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28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7" name="Google Shape;1307;p28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8" name="Google Shape;1308;p28"/>
          <p:cNvSpPr/>
          <p:nvPr/>
        </p:nvSpPr>
        <p:spPr>
          <a:xfrm>
            <a:off x="6424464" y="3755603"/>
            <a:ext cx="140865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9" name="Google Shape;1309;p28"/>
          <p:cNvSpPr/>
          <p:nvPr/>
        </p:nvSpPr>
        <p:spPr>
          <a:xfrm>
            <a:off x="6586389" y="3822278"/>
            <a:ext cx="116100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sight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0" name="Google Shape;1310;p28"/>
          <p:cNvSpPr/>
          <p:nvPr/>
        </p:nvSpPr>
        <p:spPr>
          <a:xfrm>
            <a:off x="7918847" y="3755603"/>
            <a:ext cx="189845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1" name="Google Shape;1311;p28"/>
          <p:cNvSpPr/>
          <p:nvPr/>
        </p:nvSpPr>
        <p:spPr>
          <a:xfrm>
            <a:off x="8080772" y="3822278"/>
            <a:ext cx="16508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high-frequency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2" name="Google Shape;1312;p28"/>
          <p:cNvSpPr/>
          <p:nvPr/>
        </p:nvSpPr>
        <p:spPr>
          <a:xfrm>
            <a:off x="9903023" y="3755603"/>
            <a:ext cx="13557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3" name="Google Shape;1313;p28"/>
          <p:cNvSpPr/>
          <p:nvPr/>
        </p:nvSpPr>
        <p:spPr>
          <a:xfrm>
            <a:off x="10064948" y="3822278"/>
            <a:ext cx="11081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automatic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4" name="Google Shape;1314;p28"/>
          <p:cNvSpPr/>
          <p:nvPr/>
        </p:nvSpPr>
        <p:spPr>
          <a:xfrm>
            <a:off x="6424464" y="4260131"/>
            <a:ext cx="119680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5" name="Google Shape;1315;p28"/>
          <p:cNvSpPr/>
          <p:nvPr/>
        </p:nvSpPr>
        <p:spPr>
          <a:xfrm>
            <a:off x="6586389" y="4326806"/>
            <a:ext cx="94915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irregular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6" name="Google Shape;1316;p28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7" name="Google Shape;1317;p28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8" name="Google Shape;1318;p28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9" name="Google Shape;1319;p28"/>
          <p:cNvSpPr/>
          <p:nvPr/>
        </p:nvSpPr>
        <p:spPr>
          <a:xfrm>
            <a:off x="1247477" y="5707410"/>
            <a:ext cx="769114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and read grade-appropriate irregularly spelled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0" name="Google Shape;1320;p28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1" name="Google Shape;1321;p28"/>
          <p:cNvSpPr/>
          <p:nvPr/>
        </p:nvSpPr>
        <p:spPr>
          <a:xfrm>
            <a:off x="1247477" y="6146304"/>
            <a:ext cx="53742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automaticity with high-frequency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2" name="Google Shape;1322;p28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3" name="Google Shape;1323;p28"/>
          <p:cNvSpPr/>
          <p:nvPr/>
        </p:nvSpPr>
        <p:spPr>
          <a:xfrm>
            <a:off x="1247477" y="6585198"/>
            <a:ext cx="42392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sight words in connected text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28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28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28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7" name="Google Shape;1327;p28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recognize a sight word on a flashcard but not inside a sentence. Practice must move into text.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28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9" name="Google Shape;1329;p28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0" name="Google Shape;1330;p28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28"/>
          <p:cNvSpPr/>
          <p:nvPr/>
        </p:nvSpPr>
        <p:spPr>
          <a:xfrm>
            <a:off x="1218902" y="9545389"/>
            <a:ext cx="73277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my sight words without stopping to sound them out.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2" name="Google Shape;1332;p2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3" name="Google Shape;1333;p28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4" name="Google Shape;1334;p28"/>
          <p:cNvSpPr/>
          <p:nvPr/>
        </p:nvSpPr>
        <p:spPr>
          <a:xfrm>
            <a:off x="10711383" y="14897174"/>
            <a:ext cx="97586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RF.2.3.F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2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29"/>
          <p:cNvSpPr/>
          <p:nvPr/>
        </p:nvSpPr>
        <p:spPr>
          <a:xfrm>
            <a:off x="533326" y="533326"/>
            <a:ext cx="8292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29"/>
          <p:cNvSpPr/>
          <p:nvPr/>
        </p:nvSpPr>
        <p:spPr>
          <a:xfrm>
            <a:off x="533326" y="847651"/>
            <a:ext cx="829277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3" name="Google Shape;1343;p29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9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RF.2.4.A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5" name="Google Shape;1345;p29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9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2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8" name="Google Shape;1348;p29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with purpose and understanding.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9" name="Google Shape;1349;p29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29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1" name="Google Shape;1351;p29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2" name="Google Shape;1352;p29"/>
          <p:cNvSpPr/>
          <p:nvPr/>
        </p:nvSpPr>
        <p:spPr>
          <a:xfrm>
            <a:off x="999902" y="3755603"/>
            <a:ext cx="27854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am I reading this?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3" name="Google Shape;1353;p29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29"/>
          <p:cNvSpPr/>
          <p:nvPr/>
        </p:nvSpPr>
        <p:spPr>
          <a:xfrm>
            <a:off x="999902" y="4204097"/>
            <a:ext cx="27250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am I looking for?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5" name="Google Shape;1355;p29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29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7" name="Google Shape;1357;p29"/>
          <p:cNvSpPr/>
          <p:nvPr/>
        </p:nvSpPr>
        <p:spPr>
          <a:xfrm>
            <a:off x="6424464" y="3755603"/>
            <a:ext cx="118407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8" name="Google Shape;1358;p29"/>
          <p:cNvSpPr/>
          <p:nvPr/>
        </p:nvSpPr>
        <p:spPr>
          <a:xfrm>
            <a:off x="6586389" y="3822278"/>
            <a:ext cx="9364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purpose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9" name="Google Shape;1359;p29"/>
          <p:cNvSpPr/>
          <p:nvPr/>
        </p:nvSpPr>
        <p:spPr>
          <a:xfrm>
            <a:off x="7694265" y="3755603"/>
            <a:ext cx="15149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0" name="Google Shape;1360;p29"/>
          <p:cNvSpPr/>
          <p:nvPr/>
        </p:nvSpPr>
        <p:spPr>
          <a:xfrm>
            <a:off x="7856190" y="3822278"/>
            <a:ext cx="12672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1" name="Google Shape;1361;p29"/>
          <p:cNvSpPr/>
          <p:nvPr/>
        </p:nvSpPr>
        <p:spPr>
          <a:xfrm>
            <a:off x="9294912" y="3755603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2" name="Google Shape;1362;p29"/>
          <p:cNvSpPr/>
          <p:nvPr/>
        </p:nvSpPr>
        <p:spPr>
          <a:xfrm>
            <a:off x="9456837" y="3822278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predict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29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4" name="Google Shape;1364;p29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5" name="Google Shape;1365;p29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6" name="Google Shape;1366;p29"/>
          <p:cNvSpPr/>
          <p:nvPr/>
        </p:nvSpPr>
        <p:spPr>
          <a:xfrm>
            <a:off x="1247477" y="5566767"/>
            <a:ext cx="42090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with purpose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7" name="Google Shape;1367;p29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29"/>
          <p:cNvSpPr/>
          <p:nvPr/>
        </p:nvSpPr>
        <p:spPr>
          <a:xfrm>
            <a:off x="1247477" y="6005661"/>
            <a:ext cx="35282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Set a purpose before reading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9" name="Google Shape;1369;p29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0" name="Google Shape;1370;p29"/>
          <p:cNvSpPr/>
          <p:nvPr/>
        </p:nvSpPr>
        <p:spPr>
          <a:xfrm>
            <a:off x="1247477" y="6444555"/>
            <a:ext cx="44206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Check whether the purpose was met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1" name="Google Shape;1371;p29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29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3" name="Google Shape;1373;p29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4" name="Google Shape;1374;p29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to finish rather than to find out. Naming a purpose out loud before reading changes the behavior.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5" name="Google Shape;1375;p29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6" name="Google Shape;1376;p29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7" name="Google Shape;1377;p29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8" name="Google Shape;1378;p29"/>
          <p:cNvSpPr/>
          <p:nvPr/>
        </p:nvSpPr>
        <p:spPr>
          <a:xfrm>
            <a:off x="1218902" y="9404747"/>
            <a:ext cx="511023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say why I am reading before I start.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9" name="Google Shape;1379;p2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0" name="Google Shape;1380;p29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1" name="Google Shape;1381;p29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RF.2.4.A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386" name="Shape 1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7" name="Google Shape;1387;p3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8" name="Google Shape;1388;p30"/>
          <p:cNvSpPr/>
          <p:nvPr/>
        </p:nvSpPr>
        <p:spPr>
          <a:xfrm>
            <a:off x="533326" y="533326"/>
            <a:ext cx="8292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9" name="Google Shape;1389;p30"/>
          <p:cNvSpPr/>
          <p:nvPr/>
        </p:nvSpPr>
        <p:spPr>
          <a:xfrm>
            <a:off x="533326" y="847651"/>
            <a:ext cx="829277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0" name="Google Shape;1390;p30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1" name="Google Shape;1391;p30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RF.2.4.B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2" name="Google Shape;1392;p3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3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4" name="Google Shape;1394;p3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5" name="Google Shape;1395;p3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grade-level text orally with accuracy, appropriate rate, and expression on successive readings.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6" name="Google Shape;1396;p30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7" name="Google Shape;1397;p3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3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9" name="Google Shape;1399;p30"/>
          <p:cNvSpPr/>
          <p:nvPr/>
        </p:nvSpPr>
        <p:spPr>
          <a:xfrm>
            <a:off x="999902" y="4115470"/>
            <a:ext cx="47087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smooth reading sound like?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0" name="Google Shape;1400;p3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30"/>
          <p:cNvSpPr/>
          <p:nvPr/>
        </p:nvSpPr>
        <p:spPr>
          <a:xfrm>
            <a:off x="999902" y="4563963"/>
            <a:ext cx="31798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rereading help?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2" name="Google Shape;1402;p30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3" name="Google Shape;1403;p3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4" name="Google Shape;1404;p30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5" name="Google Shape;1405;p30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6" name="Google Shape;1406;p30"/>
          <p:cNvSpPr/>
          <p:nvPr/>
        </p:nvSpPr>
        <p:spPr>
          <a:xfrm>
            <a:off x="7588225" y="4115470"/>
            <a:ext cx="127627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30"/>
          <p:cNvSpPr/>
          <p:nvPr/>
        </p:nvSpPr>
        <p:spPr>
          <a:xfrm>
            <a:off x="7750150" y="4182145"/>
            <a:ext cx="10286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accuracy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8" name="Google Shape;1408;p30"/>
          <p:cNvSpPr/>
          <p:nvPr/>
        </p:nvSpPr>
        <p:spPr>
          <a:xfrm>
            <a:off x="8950226" y="4115470"/>
            <a:ext cx="7340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30"/>
          <p:cNvSpPr/>
          <p:nvPr/>
        </p:nvSpPr>
        <p:spPr>
          <a:xfrm>
            <a:off x="9112151" y="4182145"/>
            <a:ext cx="4863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0" name="Google Shape;1410;p30"/>
          <p:cNvSpPr/>
          <p:nvPr/>
        </p:nvSpPr>
        <p:spPr>
          <a:xfrm>
            <a:off x="9769971" y="4115470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1" name="Google Shape;1411;p30"/>
          <p:cNvSpPr/>
          <p:nvPr/>
        </p:nvSpPr>
        <p:spPr>
          <a:xfrm>
            <a:off x="9931896" y="4182145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expression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30"/>
          <p:cNvSpPr/>
          <p:nvPr/>
        </p:nvSpPr>
        <p:spPr>
          <a:xfrm>
            <a:off x="6424464" y="4619997"/>
            <a:ext cx="123698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3" name="Google Shape;1413;p30"/>
          <p:cNvSpPr/>
          <p:nvPr/>
        </p:nvSpPr>
        <p:spPr>
          <a:xfrm>
            <a:off x="6586389" y="4686672"/>
            <a:ext cx="98933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phrasing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4" name="Google Shape;1414;p30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5" name="Google Shape;1415;p30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6" name="Google Shape;1416;p30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30"/>
          <p:cNvSpPr/>
          <p:nvPr/>
        </p:nvSpPr>
        <p:spPr>
          <a:xfrm>
            <a:off x="1247477" y="6067276"/>
            <a:ext cx="71558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orally with accuracy, appropriate rate, and expression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8" name="Google Shape;1418;p30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30"/>
          <p:cNvSpPr/>
          <p:nvPr/>
        </p:nvSpPr>
        <p:spPr>
          <a:xfrm>
            <a:off x="1247477" y="6506170"/>
            <a:ext cx="38907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Improve on successive readings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0" name="Google Shape;1420;p30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1" name="Google Shape;1421;p30"/>
          <p:cNvSpPr/>
          <p:nvPr/>
        </p:nvSpPr>
        <p:spPr>
          <a:xfrm>
            <a:off x="1247477" y="6945064"/>
            <a:ext cx="49970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Attend to punctuation while reading aloud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2" name="Google Shape;1422;p30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3" name="Google Shape;1423;p30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4" name="Google Shape;1424;p30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5" name="Google Shape;1425;p30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equate fluency with speed and race through, ignoring punctuation and meaning.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30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7" name="Google Shape;1427;p30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8" name="Google Shape;1428;p30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30"/>
          <p:cNvSpPr/>
          <p:nvPr/>
        </p:nvSpPr>
        <p:spPr>
          <a:xfrm>
            <a:off x="1218902" y="9558784"/>
            <a:ext cx="62116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read out loud smoothly and with expression.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0" name="Google Shape;1430;p3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1" name="Google Shape;1431;p30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2" name="Google Shape;1432;p30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RF.2.4.B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3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31"/>
          <p:cNvSpPr/>
          <p:nvPr/>
        </p:nvSpPr>
        <p:spPr>
          <a:xfrm>
            <a:off x="533326" y="533326"/>
            <a:ext cx="829277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READING FOUNDATIONAL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31"/>
          <p:cNvSpPr/>
          <p:nvPr/>
        </p:nvSpPr>
        <p:spPr>
          <a:xfrm>
            <a:off x="533326" y="847651"/>
            <a:ext cx="829277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31"/>
          <p:cNvSpPr/>
          <p:nvPr/>
        </p:nvSpPr>
        <p:spPr>
          <a:xfrm>
            <a:off x="9989195" y="533326"/>
            <a:ext cx="162185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2" name="Google Shape;1442;p31"/>
          <p:cNvSpPr/>
          <p:nvPr/>
        </p:nvSpPr>
        <p:spPr>
          <a:xfrm>
            <a:off x="10198745" y="647626"/>
            <a:ext cx="127895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RF.2.4.C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3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4" name="Google Shape;1444;p3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5" name="Google Shape;1445;p3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6" name="Google Shape;1446;p3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confirm or self-correct word recognition and understanding, rereading as necessary.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7" name="Google Shape;1447;p31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3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9" name="Google Shape;1449;p3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0" name="Google Shape;1450;p31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do when it does not make sense?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1" name="Google Shape;1451;p31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31"/>
          <p:cNvSpPr/>
          <p:nvPr/>
        </p:nvSpPr>
        <p:spPr>
          <a:xfrm>
            <a:off x="999902" y="4898157"/>
            <a:ext cx="28156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fix a mistake?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3" name="Google Shape;1453;p31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4" name="Google Shape;1454;p3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5" name="Google Shape;1455;p31"/>
          <p:cNvSpPr/>
          <p:nvPr/>
        </p:nvSpPr>
        <p:spPr>
          <a:xfrm>
            <a:off x="6424464" y="4115470"/>
            <a:ext cx="15008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6" name="Google Shape;1456;p31"/>
          <p:cNvSpPr/>
          <p:nvPr/>
        </p:nvSpPr>
        <p:spPr>
          <a:xfrm>
            <a:off x="6586389" y="4182145"/>
            <a:ext cx="12532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self-correct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31"/>
          <p:cNvSpPr/>
          <p:nvPr/>
        </p:nvSpPr>
        <p:spPr>
          <a:xfrm>
            <a:off x="8011046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8" name="Google Shape;1458;p31"/>
          <p:cNvSpPr/>
          <p:nvPr/>
        </p:nvSpPr>
        <p:spPr>
          <a:xfrm>
            <a:off x="8172971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31"/>
          <p:cNvSpPr/>
          <p:nvPr/>
        </p:nvSpPr>
        <p:spPr>
          <a:xfrm>
            <a:off x="9187979" y="4115470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0" name="Google Shape;1460;p31"/>
          <p:cNvSpPr/>
          <p:nvPr/>
        </p:nvSpPr>
        <p:spPr>
          <a:xfrm>
            <a:off x="9349904" y="4182145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reread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31"/>
          <p:cNvSpPr/>
          <p:nvPr/>
        </p:nvSpPr>
        <p:spPr>
          <a:xfrm>
            <a:off x="6424464" y="4619997"/>
            <a:ext cx="111755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2" name="Google Shape;1462;p31"/>
          <p:cNvSpPr/>
          <p:nvPr/>
        </p:nvSpPr>
        <p:spPr>
          <a:xfrm>
            <a:off x="6586389" y="4686672"/>
            <a:ext cx="8699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monitor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3" name="Google Shape;1463;p31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4" name="Google Shape;1464;p31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5" name="Google Shape;1465;p31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6" name="Google Shape;1466;p31"/>
          <p:cNvSpPr/>
          <p:nvPr/>
        </p:nvSpPr>
        <p:spPr>
          <a:xfrm>
            <a:off x="1247477" y="6260827"/>
            <a:ext cx="65242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context to confirm or self-correct word recognition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7" name="Google Shape;1467;p31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8" name="Google Shape;1468;p31"/>
          <p:cNvSpPr/>
          <p:nvPr/>
        </p:nvSpPr>
        <p:spPr>
          <a:xfrm>
            <a:off x="1247477" y="6699721"/>
            <a:ext cx="25737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Reread as necessary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9" name="Google Shape;1469;p31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0" name="Google Shape;1470;p31"/>
          <p:cNvSpPr/>
          <p:nvPr/>
        </p:nvSpPr>
        <p:spPr>
          <a:xfrm>
            <a:off x="1247477" y="7138615"/>
            <a:ext cx="41029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Monitor for meaning while reading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1" name="Google Shape;1471;p31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2" name="Google Shape;1472;p31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3" name="Google Shape;1473;p31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4" name="Google Shape;1474;p31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continue past an error without noticing. Building the pause-and-check habit matters more than the correction itself.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5" name="Google Shape;1475;p31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6" name="Google Shape;1476;p31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7" name="Google Shape;1477;p31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8" name="Google Shape;1478;p31"/>
          <p:cNvSpPr/>
          <p:nvPr/>
        </p:nvSpPr>
        <p:spPr>
          <a:xfrm>
            <a:off x="1218902" y="10098807"/>
            <a:ext cx="484281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notice a mistake and fix it myself.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3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0" name="Google Shape;1480;p31"/>
          <p:cNvSpPr/>
          <p:nvPr/>
        </p:nvSpPr>
        <p:spPr>
          <a:xfrm>
            <a:off x="533326" y="14897174"/>
            <a:ext cx="334731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1,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31"/>
          <p:cNvSpPr/>
          <p:nvPr/>
        </p:nvSpPr>
        <p:spPr>
          <a:xfrm>
            <a:off x="10685041" y="14897174"/>
            <a:ext cx="100220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RF.2.4.C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3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8" name="Google Shape;1488;p32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9" name="Google Shape;1489;p32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0" name="Google Shape;1490;p32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1" name="Google Shape;1491;p32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2" name="Google Shape;1492;p3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3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4" name="Google Shape;1494;p3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5" name="Google Shape;1495;p3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opinion pieces in which they introduce the topic, state an opinion, supply reasons, use linking words, and provide a concluding statement.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6" name="Google Shape;1496;p32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7" name="Google Shape;1497;p3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8" name="Google Shape;1498;p3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9" name="Google Shape;1499;p32"/>
          <p:cNvSpPr/>
          <p:nvPr/>
        </p:nvSpPr>
        <p:spPr>
          <a:xfrm>
            <a:off x="999902" y="4115470"/>
            <a:ext cx="31339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think, and why?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32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1" name="Google Shape;1501;p32"/>
          <p:cNvSpPr/>
          <p:nvPr/>
        </p:nvSpPr>
        <p:spPr>
          <a:xfrm>
            <a:off x="999902" y="4563963"/>
            <a:ext cx="399733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close an opinion piece?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2" name="Google Shape;1502;p32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3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4" name="Google Shape;1504;p32"/>
          <p:cNvSpPr/>
          <p:nvPr/>
        </p:nvSpPr>
        <p:spPr>
          <a:xfrm>
            <a:off x="6424464" y="4115470"/>
            <a:ext cx="1091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5" name="Google Shape;1505;p32"/>
          <p:cNvSpPr/>
          <p:nvPr/>
        </p:nvSpPr>
        <p:spPr>
          <a:xfrm>
            <a:off x="6586389" y="4182145"/>
            <a:ext cx="843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opinion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6" name="Google Shape;1506;p32"/>
          <p:cNvSpPr/>
          <p:nvPr/>
        </p:nvSpPr>
        <p:spPr>
          <a:xfrm>
            <a:off x="7601620" y="4115470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7" name="Google Shape;1507;p32"/>
          <p:cNvSpPr/>
          <p:nvPr/>
        </p:nvSpPr>
        <p:spPr>
          <a:xfrm>
            <a:off x="7763545" y="4182145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reason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8" name="Google Shape;1508;p32"/>
          <p:cNvSpPr/>
          <p:nvPr/>
        </p:nvSpPr>
        <p:spPr>
          <a:xfrm>
            <a:off x="8739039" y="4115470"/>
            <a:ext cx="15807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9" name="Google Shape;1509;p32"/>
          <p:cNvSpPr/>
          <p:nvPr/>
        </p:nvSpPr>
        <p:spPr>
          <a:xfrm>
            <a:off x="8900964" y="4182145"/>
            <a:ext cx="13331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linking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0" name="Google Shape;1510;p32"/>
          <p:cNvSpPr/>
          <p:nvPr/>
        </p:nvSpPr>
        <p:spPr>
          <a:xfrm>
            <a:off x="6424464" y="4619997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1" name="Google Shape;1511;p32"/>
          <p:cNvSpPr/>
          <p:nvPr/>
        </p:nvSpPr>
        <p:spPr>
          <a:xfrm>
            <a:off x="6586389" y="4686672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introduce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2" name="Google Shape;1512;p32"/>
          <p:cNvSpPr/>
          <p:nvPr/>
        </p:nvSpPr>
        <p:spPr>
          <a:xfrm>
            <a:off x="7813253" y="4619997"/>
            <a:ext cx="14486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3" name="Google Shape;1513;p32"/>
          <p:cNvSpPr/>
          <p:nvPr/>
        </p:nvSpPr>
        <p:spPr>
          <a:xfrm>
            <a:off x="7975178" y="4686672"/>
            <a:ext cx="12009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4" name="Google Shape;1514;p32"/>
          <p:cNvSpPr/>
          <p:nvPr/>
        </p:nvSpPr>
        <p:spPr>
          <a:xfrm>
            <a:off x="533326" y="5448226"/>
            <a:ext cx="11077724" cy="2927821"/>
          </a:xfrm>
          <a:prstGeom prst="roundRect">
            <a:avLst>
              <a:gd fmla="val 455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5" name="Google Shape;1515;p32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6" name="Google Shape;1516;p32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7" name="Google Shape;1517;p32"/>
          <p:cNvSpPr/>
          <p:nvPr/>
        </p:nvSpPr>
        <p:spPr>
          <a:xfrm>
            <a:off x="1247477" y="6067276"/>
            <a:ext cx="32250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Introduce the topic or book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8" name="Google Shape;1518;p32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9" name="Google Shape;1519;p32"/>
          <p:cNvSpPr/>
          <p:nvPr/>
        </p:nvSpPr>
        <p:spPr>
          <a:xfrm>
            <a:off x="1247477" y="6506170"/>
            <a:ext cx="19687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State an opinion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0" name="Google Shape;1520;p32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1" name="Google Shape;1521;p32"/>
          <p:cNvSpPr/>
          <p:nvPr/>
        </p:nvSpPr>
        <p:spPr>
          <a:xfrm>
            <a:off x="1247477" y="6945064"/>
            <a:ext cx="48000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Supply reasons that support the opinion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32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32"/>
          <p:cNvSpPr/>
          <p:nvPr/>
        </p:nvSpPr>
        <p:spPr>
          <a:xfrm>
            <a:off x="1247477" y="7383959"/>
            <a:ext cx="55110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linking words such as because, and, also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4" name="Google Shape;1524;p32"/>
          <p:cNvSpPr/>
          <p:nvPr/>
        </p:nvSpPr>
        <p:spPr>
          <a:xfrm>
            <a:off x="809476" y="7851428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5" name="Google Shape;1525;p32"/>
          <p:cNvSpPr/>
          <p:nvPr/>
        </p:nvSpPr>
        <p:spPr>
          <a:xfrm>
            <a:off x="1247477" y="7822853"/>
            <a:ext cx="38003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concluding statement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6" name="Google Shape;1526;p32"/>
          <p:cNvSpPr/>
          <p:nvPr/>
        </p:nvSpPr>
        <p:spPr>
          <a:xfrm>
            <a:off x="533326" y="8566472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7" name="Google Shape;1527;p32"/>
          <p:cNvSpPr/>
          <p:nvPr/>
        </p:nvSpPr>
        <p:spPr>
          <a:xfrm>
            <a:off x="533326" y="8566472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8" name="Google Shape;1528;p32"/>
          <p:cNvSpPr/>
          <p:nvPr/>
        </p:nvSpPr>
        <p:spPr>
          <a:xfrm>
            <a:off x="895201" y="8756898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9" name="Google Shape;1529;p32"/>
          <p:cNvSpPr/>
          <p:nvPr/>
        </p:nvSpPr>
        <p:spPr>
          <a:xfrm>
            <a:off x="895201" y="9118774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state an opinion and stop, or give the same reason twice in different words.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0" name="Google Shape;1530;p32"/>
          <p:cNvSpPr/>
          <p:nvPr/>
        </p:nvSpPr>
        <p:spPr>
          <a:xfrm>
            <a:off x="533326" y="9846097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1" name="Google Shape;1531;p32"/>
          <p:cNvSpPr/>
          <p:nvPr/>
        </p:nvSpPr>
        <p:spPr>
          <a:xfrm>
            <a:off x="780901" y="10036522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2" name="Google Shape;1532;p32"/>
          <p:cNvSpPr/>
          <p:nvPr/>
        </p:nvSpPr>
        <p:spPr>
          <a:xfrm>
            <a:off x="780901" y="10465147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3" name="Google Shape;1533;p32"/>
          <p:cNvSpPr/>
          <p:nvPr/>
        </p:nvSpPr>
        <p:spPr>
          <a:xfrm>
            <a:off x="1218902" y="10436572"/>
            <a:ext cx="50476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my opinion and give reasons.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4" name="Google Shape;1534;p32"/>
          <p:cNvSpPr/>
          <p:nvPr/>
        </p:nvSpPr>
        <p:spPr>
          <a:xfrm>
            <a:off x="780901" y="1090739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5" name="Google Shape;1535;p32"/>
          <p:cNvSpPr/>
          <p:nvPr/>
        </p:nvSpPr>
        <p:spPr>
          <a:xfrm>
            <a:off x="1218902" y="10878815"/>
            <a:ext cx="443443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finish with a closing sentence.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6" name="Google Shape;1536;p3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7" name="Google Shape;1537;p3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8" name="Google Shape;1538;p32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3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5" name="Google Shape;1545;p33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33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7" name="Google Shape;1547;p33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8" name="Google Shape;1548;p33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9" name="Google Shape;1549;p3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0" name="Google Shape;1550;p3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1" name="Google Shape;1551;p3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2" name="Google Shape;1552;p3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informative/explanatory texts in which they introduce a topic, use facts and definitions to develop points, and provide a concluding statement.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3" name="Google Shape;1553;p33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4" name="Google Shape;1554;p3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5" name="Google Shape;1555;p3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6" name="Google Shape;1556;p33"/>
          <p:cNvSpPr/>
          <p:nvPr/>
        </p:nvSpPr>
        <p:spPr>
          <a:xfrm>
            <a:off x="999902" y="4115470"/>
            <a:ext cx="445113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my reader need to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7" name="Google Shape;1557;p3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8" name="Google Shape;1558;p33"/>
          <p:cNvSpPr/>
          <p:nvPr/>
        </p:nvSpPr>
        <p:spPr>
          <a:xfrm>
            <a:off x="999902" y="4563963"/>
            <a:ext cx="41127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facts differ from opinions?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9" name="Google Shape;1559;p33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0" name="Google Shape;1560;p3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1" name="Google Shape;1561;p33"/>
          <p:cNvSpPr/>
          <p:nvPr/>
        </p:nvSpPr>
        <p:spPr>
          <a:xfrm>
            <a:off x="6424464" y="4115470"/>
            <a:ext cx="148790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2" name="Google Shape;1562;p33"/>
          <p:cNvSpPr/>
          <p:nvPr/>
        </p:nvSpPr>
        <p:spPr>
          <a:xfrm>
            <a:off x="6586389" y="4182145"/>
            <a:ext cx="124025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3" name="Google Shape;1563;p33"/>
          <p:cNvSpPr/>
          <p:nvPr/>
        </p:nvSpPr>
        <p:spPr>
          <a:xfrm>
            <a:off x="7998098" y="4115470"/>
            <a:ext cx="7074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4" name="Google Shape;1564;p33"/>
          <p:cNvSpPr/>
          <p:nvPr/>
        </p:nvSpPr>
        <p:spPr>
          <a:xfrm>
            <a:off x="8160023" y="4182145"/>
            <a:ext cx="4598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fact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5" name="Google Shape;1565;p33"/>
          <p:cNvSpPr/>
          <p:nvPr/>
        </p:nvSpPr>
        <p:spPr>
          <a:xfrm>
            <a:off x="8791277" y="4115470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33"/>
          <p:cNvSpPr/>
          <p:nvPr/>
        </p:nvSpPr>
        <p:spPr>
          <a:xfrm>
            <a:off x="8953202" y="4182145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definition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7" name="Google Shape;1567;p33"/>
          <p:cNvSpPr/>
          <p:nvPr/>
        </p:nvSpPr>
        <p:spPr>
          <a:xfrm>
            <a:off x="10153724" y="4115470"/>
            <a:ext cx="82666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8" name="Google Shape;1568;p33"/>
          <p:cNvSpPr/>
          <p:nvPr/>
        </p:nvSpPr>
        <p:spPr>
          <a:xfrm>
            <a:off x="10315649" y="4182145"/>
            <a:ext cx="57901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33"/>
          <p:cNvSpPr/>
          <p:nvPr/>
        </p:nvSpPr>
        <p:spPr>
          <a:xfrm>
            <a:off x="6424464" y="4619997"/>
            <a:ext cx="14486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33"/>
          <p:cNvSpPr/>
          <p:nvPr/>
        </p:nvSpPr>
        <p:spPr>
          <a:xfrm>
            <a:off x="6586389" y="4686672"/>
            <a:ext cx="12009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1" name="Google Shape;1571;p33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2" name="Google Shape;1572;p33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3" name="Google Shape;1573;p33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4" name="Google Shape;1574;p33"/>
          <p:cNvSpPr/>
          <p:nvPr/>
        </p:nvSpPr>
        <p:spPr>
          <a:xfrm>
            <a:off x="1247477" y="6067276"/>
            <a:ext cx="20138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Introduce a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5" name="Google Shape;1575;p33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6" name="Google Shape;1576;p33"/>
          <p:cNvSpPr/>
          <p:nvPr/>
        </p:nvSpPr>
        <p:spPr>
          <a:xfrm>
            <a:off x="1247477" y="6506170"/>
            <a:ext cx="510262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facts and definitions to develop points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7" name="Google Shape;1577;p33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8" name="Google Shape;1578;p33"/>
          <p:cNvSpPr/>
          <p:nvPr/>
        </p:nvSpPr>
        <p:spPr>
          <a:xfrm>
            <a:off x="1247477" y="6945064"/>
            <a:ext cx="505670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concluding statement or section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9" name="Google Shape;1579;p33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0" name="Google Shape;1580;p33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1" name="Google Shape;1581;p33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2" name="Google Shape;1582;p33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slip into opinion inside an informative piece. Sorting fact from opinion before drafting helps.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3" name="Google Shape;1583;p33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4" name="Google Shape;1584;p33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5" name="Google Shape;1585;p33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6" name="Google Shape;1586;p33"/>
          <p:cNvSpPr/>
          <p:nvPr/>
        </p:nvSpPr>
        <p:spPr>
          <a:xfrm>
            <a:off x="1218902" y="9905256"/>
            <a:ext cx="539411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to teach someone about a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7" name="Google Shape;1587;p33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33"/>
          <p:cNvSpPr/>
          <p:nvPr/>
        </p:nvSpPr>
        <p:spPr>
          <a:xfrm>
            <a:off x="1218902" y="10347499"/>
            <a:ext cx="355334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facts in my 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3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0" name="Google Shape;1590;p3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1" name="Google Shape;1591;p33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3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8" name="Google Shape;1598;p34"/>
          <p:cNvSpPr/>
          <p:nvPr/>
        </p:nvSpPr>
        <p:spPr>
          <a:xfrm>
            <a:off x="533326" y="533326"/>
            <a:ext cx="72525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9" name="Google Shape;1599;p34"/>
          <p:cNvSpPr/>
          <p:nvPr/>
        </p:nvSpPr>
        <p:spPr>
          <a:xfrm>
            <a:off x="533326" y="847651"/>
            <a:ext cx="7252558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Text Types and Purposes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0" name="Google Shape;1600;p34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1" name="Google Shape;1601;p34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2" name="Google Shape;1602;p3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3" name="Google Shape;1603;p3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4" name="Google Shape;1604;p3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5" name="Google Shape;1605;p3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narratives in which they recount a well-elaborated event, include details, use temporal words, and provide a sense of closure.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6" name="Google Shape;1606;p3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7" name="Google Shape;1607;p3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3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9" name="Google Shape;1609;p34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make my reader feel like they were there?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0" name="Google Shape;1610;p34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1" name="Google Shape;1611;p34"/>
          <p:cNvSpPr/>
          <p:nvPr/>
        </p:nvSpPr>
        <p:spPr>
          <a:xfrm>
            <a:off x="999902" y="4898157"/>
            <a:ext cx="38760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order do the events go in?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2" name="Google Shape;1612;p3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3" name="Google Shape;1613;p3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4" name="Google Shape;1614;p34"/>
          <p:cNvSpPr/>
          <p:nvPr/>
        </p:nvSpPr>
        <p:spPr>
          <a:xfrm>
            <a:off x="642446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5" name="Google Shape;1615;p34"/>
          <p:cNvSpPr/>
          <p:nvPr/>
        </p:nvSpPr>
        <p:spPr>
          <a:xfrm>
            <a:off x="658638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narrative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6" name="Google Shape;1616;p34"/>
          <p:cNvSpPr/>
          <p:nvPr/>
        </p:nvSpPr>
        <p:spPr>
          <a:xfrm>
            <a:off x="7760122" y="4115470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7" name="Google Shape;1617;p34"/>
          <p:cNvSpPr/>
          <p:nvPr/>
        </p:nvSpPr>
        <p:spPr>
          <a:xfrm>
            <a:off x="7922047" y="4182145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event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8" name="Google Shape;1618;p34"/>
          <p:cNvSpPr/>
          <p:nvPr/>
        </p:nvSpPr>
        <p:spPr>
          <a:xfrm>
            <a:off x="8751987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9" name="Google Shape;1619;p34"/>
          <p:cNvSpPr/>
          <p:nvPr/>
        </p:nvSpPr>
        <p:spPr>
          <a:xfrm>
            <a:off x="8913912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0" name="Google Shape;1620;p34"/>
          <p:cNvSpPr/>
          <p:nvPr/>
        </p:nvSpPr>
        <p:spPr>
          <a:xfrm>
            <a:off x="6424464" y="4619997"/>
            <a:ext cx="18319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1" name="Google Shape;1621;p34"/>
          <p:cNvSpPr/>
          <p:nvPr/>
        </p:nvSpPr>
        <p:spPr>
          <a:xfrm>
            <a:off x="6586389" y="4686672"/>
            <a:ext cx="15842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temporal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2" name="Google Shape;1622;p34"/>
          <p:cNvSpPr/>
          <p:nvPr/>
        </p:nvSpPr>
        <p:spPr>
          <a:xfrm>
            <a:off x="8342114" y="4619997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3" name="Google Shape;1623;p34"/>
          <p:cNvSpPr/>
          <p:nvPr/>
        </p:nvSpPr>
        <p:spPr>
          <a:xfrm>
            <a:off x="8504039" y="4686672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closure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4" name="Google Shape;1624;p34"/>
          <p:cNvSpPr/>
          <p:nvPr/>
        </p:nvSpPr>
        <p:spPr>
          <a:xfrm>
            <a:off x="533326" y="5641777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5" name="Google Shape;1625;p3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6" name="Google Shape;1626;p3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7" name="Google Shape;1627;p34"/>
          <p:cNvSpPr/>
          <p:nvPr/>
        </p:nvSpPr>
        <p:spPr>
          <a:xfrm>
            <a:off x="1247477" y="6260827"/>
            <a:ext cx="734317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a well-elaborated event or short sequence of events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8" name="Google Shape;1628;p3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9" name="Google Shape;1629;p34"/>
          <p:cNvSpPr/>
          <p:nvPr/>
        </p:nvSpPr>
        <p:spPr>
          <a:xfrm>
            <a:off x="1247477" y="6699721"/>
            <a:ext cx="62535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Include details about thoughts, feelings, and actions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0" name="Google Shape;1630;p3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1" name="Google Shape;1631;p34"/>
          <p:cNvSpPr/>
          <p:nvPr/>
        </p:nvSpPr>
        <p:spPr>
          <a:xfrm>
            <a:off x="1247477" y="7138615"/>
            <a:ext cx="42234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temporal words to signal order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2" name="Google Shape;1632;p34"/>
          <p:cNvSpPr/>
          <p:nvPr/>
        </p:nvSpPr>
        <p:spPr>
          <a:xfrm>
            <a:off x="809476" y="76060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3" name="Google Shape;1633;p34"/>
          <p:cNvSpPr/>
          <p:nvPr/>
        </p:nvSpPr>
        <p:spPr>
          <a:xfrm>
            <a:off x="1247477" y="7577510"/>
            <a:ext cx="32097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a sense of closure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4" name="Google Shape;1634;p34"/>
          <p:cNvSpPr/>
          <p:nvPr/>
        </p:nvSpPr>
        <p:spPr>
          <a:xfrm>
            <a:off x="533326" y="83211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5" name="Google Shape;1635;p34"/>
          <p:cNvSpPr/>
          <p:nvPr/>
        </p:nvSpPr>
        <p:spPr>
          <a:xfrm>
            <a:off x="533326" y="83211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34"/>
          <p:cNvSpPr/>
          <p:nvPr/>
        </p:nvSpPr>
        <p:spPr>
          <a:xfrm>
            <a:off x="895201" y="851155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7" name="Google Shape;1637;p34"/>
          <p:cNvSpPr/>
          <p:nvPr/>
        </p:nvSpPr>
        <p:spPr>
          <a:xfrm>
            <a:off x="895201" y="88734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write a bare list of events with no detail about feelings, producing a summary rather than a story.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8" name="Google Shape;1638;p34"/>
          <p:cNvSpPr/>
          <p:nvPr/>
        </p:nvSpPr>
        <p:spPr>
          <a:xfrm>
            <a:off x="533326" y="99472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9" name="Google Shape;1639;p34"/>
          <p:cNvSpPr/>
          <p:nvPr/>
        </p:nvSpPr>
        <p:spPr>
          <a:xfrm>
            <a:off x="780901" y="1013765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0" name="Google Shape;1640;p34"/>
          <p:cNvSpPr/>
          <p:nvPr/>
        </p:nvSpPr>
        <p:spPr>
          <a:xfrm>
            <a:off x="780901" y="1056627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1" name="Google Shape;1641;p34"/>
          <p:cNvSpPr/>
          <p:nvPr/>
        </p:nvSpPr>
        <p:spPr>
          <a:xfrm>
            <a:off x="1218902" y="10537701"/>
            <a:ext cx="479566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story with details in order.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2" name="Google Shape;1642;p34"/>
          <p:cNvSpPr/>
          <p:nvPr/>
        </p:nvSpPr>
        <p:spPr>
          <a:xfrm>
            <a:off x="780901" y="1100851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3" name="Google Shape;1643;p34"/>
          <p:cNvSpPr/>
          <p:nvPr/>
        </p:nvSpPr>
        <p:spPr>
          <a:xfrm>
            <a:off x="1218902" y="10979944"/>
            <a:ext cx="471708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end my story so it feels finished.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4" name="Google Shape;1644;p3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5" name="Google Shape;1645;p3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6" name="Google Shape;1646;p34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3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3" name="Google Shape;1653;p35"/>
          <p:cNvSpPr/>
          <p:nvPr/>
        </p:nvSpPr>
        <p:spPr>
          <a:xfrm>
            <a:off x="533326" y="533326"/>
            <a:ext cx="72510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4" name="Google Shape;1654;p35"/>
          <p:cNvSpPr/>
          <p:nvPr/>
        </p:nvSpPr>
        <p:spPr>
          <a:xfrm>
            <a:off x="533326" y="847651"/>
            <a:ext cx="725108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Research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5" name="Google Shape;1655;p35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6" name="Google Shape;1656;p35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7" name="Google Shape;1657;p3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8" name="Google Shape;1658;p3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9" name="Google Shape;1659;p3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0" name="Google Shape;1660;p3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guidance and support from adults and peers, focus on a topic and strengthen writing as needed by revising and editing.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1" name="Google Shape;1661;p35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2" name="Google Shape;1662;p3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3" name="Google Shape;1663;p3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4" name="Google Shape;1664;p35"/>
          <p:cNvSpPr/>
          <p:nvPr/>
        </p:nvSpPr>
        <p:spPr>
          <a:xfrm>
            <a:off x="999902" y="4115470"/>
            <a:ext cx="40417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make my writing better?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3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6" name="Google Shape;1666;p35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difference between revising and editing?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7" name="Google Shape;1667;p35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8" name="Google Shape;1668;p3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9" name="Google Shape;1669;p35"/>
          <p:cNvSpPr/>
          <p:nvPr/>
        </p:nvSpPr>
        <p:spPr>
          <a:xfrm>
            <a:off x="6424464" y="4115470"/>
            <a:ext cx="95882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0" name="Google Shape;1670;p35"/>
          <p:cNvSpPr/>
          <p:nvPr/>
        </p:nvSpPr>
        <p:spPr>
          <a:xfrm>
            <a:off x="6586389" y="4182145"/>
            <a:ext cx="71117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revise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1" name="Google Shape;1671;p35"/>
          <p:cNvSpPr/>
          <p:nvPr/>
        </p:nvSpPr>
        <p:spPr>
          <a:xfrm>
            <a:off x="7469014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2" name="Google Shape;1672;p35"/>
          <p:cNvSpPr/>
          <p:nvPr/>
        </p:nvSpPr>
        <p:spPr>
          <a:xfrm>
            <a:off x="7630939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edit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3" name="Google Shape;1673;p35"/>
          <p:cNvSpPr/>
          <p:nvPr/>
        </p:nvSpPr>
        <p:spPr>
          <a:xfrm>
            <a:off x="8262417" y="4115470"/>
            <a:ext cx="80010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4" name="Google Shape;1674;p35"/>
          <p:cNvSpPr/>
          <p:nvPr/>
        </p:nvSpPr>
        <p:spPr>
          <a:xfrm>
            <a:off x="8424342" y="4182145"/>
            <a:ext cx="55245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draft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5" name="Google Shape;1675;p35"/>
          <p:cNvSpPr/>
          <p:nvPr/>
        </p:nvSpPr>
        <p:spPr>
          <a:xfrm>
            <a:off x="9148242" y="4115470"/>
            <a:ext cx="12898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6" name="Google Shape;1676;p35"/>
          <p:cNvSpPr/>
          <p:nvPr/>
        </p:nvSpPr>
        <p:spPr>
          <a:xfrm>
            <a:off x="9310167" y="4182145"/>
            <a:ext cx="10422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feedback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7" name="Google Shape;1677;p35"/>
          <p:cNvSpPr/>
          <p:nvPr/>
        </p:nvSpPr>
        <p:spPr>
          <a:xfrm>
            <a:off x="6424464" y="4619997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8" name="Google Shape;1678;p35"/>
          <p:cNvSpPr/>
          <p:nvPr/>
        </p:nvSpPr>
        <p:spPr>
          <a:xfrm>
            <a:off x="6586389" y="4686672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focus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35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0" name="Google Shape;1680;p35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1" name="Google Shape;1681;p35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2" name="Google Shape;1682;p35"/>
          <p:cNvSpPr/>
          <p:nvPr/>
        </p:nvSpPr>
        <p:spPr>
          <a:xfrm>
            <a:off x="1247477" y="6260827"/>
            <a:ext cx="19986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Focus on a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3" name="Google Shape;1683;p35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4" name="Google Shape;1684;p35"/>
          <p:cNvSpPr/>
          <p:nvPr/>
        </p:nvSpPr>
        <p:spPr>
          <a:xfrm>
            <a:off x="1247477" y="6699721"/>
            <a:ext cx="51171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Strengthen writing by revising with support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5" name="Google Shape;1685;p35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6" name="Google Shape;1686;p35"/>
          <p:cNvSpPr/>
          <p:nvPr/>
        </p:nvSpPr>
        <p:spPr>
          <a:xfrm>
            <a:off x="1247477" y="7138615"/>
            <a:ext cx="39364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Edit for conventions with support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7" name="Google Shape;1687;p35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8" name="Google Shape;1688;p35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9" name="Google Shape;1689;p35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0" name="Google Shape;1690;p35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recopy neatly and call it revising. Revising changes content; editing fixes conventions.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1" name="Google Shape;1691;p35"/>
          <p:cNvSpPr/>
          <p:nvPr/>
        </p:nvSpPr>
        <p:spPr>
          <a:xfrm>
            <a:off x="533326" y="916185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2" name="Google Shape;1692;p35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3" name="Google Shape;1693;p35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4" name="Google Shape;1694;p35"/>
          <p:cNvSpPr/>
          <p:nvPr/>
        </p:nvSpPr>
        <p:spPr>
          <a:xfrm>
            <a:off x="1218902" y="9752335"/>
            <a:ext cx="531381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my writing better after I write 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5" name="Google Shape;1695;p3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6" name="Google Shape;1696;p3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7" name="Google Shape;1697;p35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702" name="Shape 1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3" name="Google Shape;1703;p3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36"/>
          <p:cNvSpPr/>
          <p:nvPr/>
        </p:nvSpPr>
        <p:spPr>
          <a:xfrm>
            <a:off x="533326" y="533326"/>
            <a:ext cx="72510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5" name="Google Shape;1705;p36"/>
          <p:cNvSpPr/>
          <p:nvPr/>
        </p:nvSpPr>
        <p:spPr>
          <a:xfrm>
            <a:off x="533326" y="847651"/>
            <a:ext cx="725108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Research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6" name="Google Shape;1706;p36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7" name="Google Shape;1707;p36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8" name="Google Shape;1708;p3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9" name="Google Shape;1709;p3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0" name="Google Shape;1710;p3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3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With guidance and support from adults, use a variety of digital tools to produce and publish 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2" name="Google Shape;1712;p3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3" name="Google Shape;1713;p3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4" name="Google Shape;1714;p3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5" name="Google Shape;1715;p36"/>
          <p:cNvSpPr/>
          <p:nvPr/>
        </p:nvSpPr>
        <p:spPr>
          <a:xfrm>
            <a:off x="999902" y="4115470"/>
            <a:ext cx="434480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a computer help me write?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6" name="Google Shape;1716;p3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7" name="Google Shape;1717;p36"/>
          <p:cNvSpPr/>
          <p:nvPr/>
        </p:nvSpPr>
        <p:spPr>
          <a:xfrm>
            <a:off x="999902" y="4563963"/>
            <a:ext cx="36488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publish for a reader?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p3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9" name="Google Shape;1719;p3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0" name="Google Shape;1720;p36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36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publish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2" name="Google Shape;1722;p36"/>
          <p:cNvSpPr/>
          <p:nvPr/>
        </p:nvSpPr>
        <p:spPr>
          <a:xfrm>
            <a:off x="7588225" y="4115470"/>
            <a:ext cx="139571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3" name="Google Shape;1723;p36"/>
          <p:cNvSpPr/>
          <p:nvPr/>
        </p:nvSpPr>
        <p:spPr>
          <a:xfrm>
            <a:off x="7750150" y="4182145"/>
            <a:ext cx="11480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digital tool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4" name="Google Shape;1724;p36"/>
          <p:cNvSpPr/>
          <p:nvPr/>
        </p:nvSpPr>
        <p:spPr>
          <a:xfrm>
            <a:off x="9069660" y="4115470"/>
            <a:ext cx="130306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5" name="Google Shape;1725;p36"/>
          <p:cNvSpPr/>
          <p:nvPr/>
        </p:nvSpPr>
        <p:spPr>
          <a:xfrm>
            <a:off x="9231585" y="4182145"/>
            <a:ext cx="10554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keyboard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6" name="Google Shape;1726;p36"/>
          <p:cNvSpPr/>
          <p:nvPr/>
        </p:nvSpPr>
        <p:spPr>
          <a:xfrm>
            <a:off x="6424464" y="4619997"/>
            <a:ext cx="14883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7" name="Google Shape;1727;p36"/>
          <p:cNvSpPr/>
          <p:nvPr/>
        </p:nvSpPr>
        <p:spPr>
          <a:xfrm>
            <a:off x="6586389" y="4686672"/>
            <a:ext cx="12407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collaborate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8" name="Google Shape;1728;p36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9" name="Google Shape;1729;p3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0" name="Google Shape;1730;p3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1" name="Google Shape;1731;p36"/>
          <p:cNvSpPr/>
          <p:nvPr/>
        </p:nvSpPr>
        <p:spPr>
          <a:xfrm>
            <a:off x="1247477" y="6067276"/>
            <a:ext cx="56170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digital tools to produce and publish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2" name="Google Shape;1732;p3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3" name="Google Shape;1733;p36"/>
          <p:cNvSpPr/>
          <p:nvPr/>
        </p:nvSpPr>
        <p:spPr>
          <a:xfrm>
            <a:off x="1247477" y="6506170"/>
            <a:ext cx="48298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Collaborate with peers using technology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4" name="Google Shape;1734;p3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5" name="Google Shape;1735;p36"/>
          <p:cNvSpPr/>
          <p:nvPr/>
        </p:nvSpPr>
        <p:spPr>
          <a:xfrm>
            <a:off x="1247477" y="6945064"/>
            <a:ext cx="27555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basic keyboarding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6" name="Google Shape;1736;p36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7" name="Google Shape;1737;p36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8" name="Google Shape;1738;p36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9" name="Google Shape;1739;p36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Time goes into fonts and colors rather than the writing itself. Set the expectation that content comes first.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0" name="Google Shape;1740;p36"/>
          <p:cNvSpPr/>
          <p:nvPr/>
        </p:nvSpPr>
        <p:spPr>
          <a:xfrm>
            <a:off x="533326" y="931478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1" name="Google Shape;1741;p36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2" name="Google Shape;1742;p36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3" name="Google Shape;1743;p36"/>
          <p:cNvSpPr/>
          <p:nvPr/>
        </p:nvSpPr>
        <p:spPr>
          <a:xfrm>
            <a:off x="1218902" y="9905256"/>
            <a:ext cx="617918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 computer to write and share my work.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4" name="Google Shape;1744;p3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5" name="Google Shape;1745;p3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6" name="Google Shape;1746;p36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3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3" name="Google Shape;1753;p37"/>
          <p:cNvSpPr/>
          <p:nvPr/>
        </p:nvSpPr>
        <p:spPr>
          <a:xfrm>
            <a:off x="533326" y="533326"/>
            <a:ext cx="72510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4" name="Google Shape;1754;p37"/>
          <p:cNvSpPr/>
          <p:nvPr/>
        </p:nvSpPr>
        <p:spPr>
          <a:xfrm>
            <a:off x="533326" y="847651"/>
            <a:ext cx="725108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Research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37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6" name="Google Shape;1756;p37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7" name="Google Shape;1757;p37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8" name="Google Shape;1758;p37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9" name="Google Shape;1759;p3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0" name="Google Shape;1760;p37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Participate in shared research and writing projects.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1" name="Google Shape;1761;p37"/>
          <p:cNvSpPr/>
          <p:nvPr/>
        </p:nvSpPr>
        <p:spPr>
          <a:xfrm>
            <a:off x="533326" y="3136553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37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37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4" name="Google Shape;1764;p37"/>
          <p:cNvSpPr/>
          <p:nvPr/>
        </p:nvSpPr>
        <p:spPr>
          <a:xfrm>
            <a:off x="999902" y="3755603"/>
            <a:ext cx="35430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we find out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5" name="Google Shape;1765;p37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6" name="Google Shape;1766;p37"/>
          <p:cNvSpPr/>
          <p:nvPr/>
        </p:nvSpPr>
        <p:spPr>
          <a:xfrm>
            <a:off x="999902" y="4204097"/>
            <a:ext cx="47079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did we learn from several books?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37"/>
          <p:cNvSpPr/>
          <p:nvPr/>
        </p:nvSpPr>
        <p:spPr>
          <a:xfrm>
            <a:off x="6167289" y="3136553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8" name="Google Shape;1768;p37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9" name="Google Shape;1769;p37"/>
          <p:cNvSpPr/>
          <p:nvPr/>
        </p:nvSpPr>
        <p:spPr>
          <a:xfrm>
            <a:off x="6424464" y="3755603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37"/>
          <p:cNvSpPr/>
          <p:nvPr/>
        </p:nvSpPr>
        <p:spPr>
          <a:xfrm>
            <a:off x="6586389" y="3822278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1" name="Google Shape;1771;p37"/>
          <p:cNvSpPr/>
          <p:nvPr/>
        </p:nvSpPr>
        <p:spPr>
          <a:xfrm>
            <a:off x="7760122" y="3755603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2" name="Google Shape;1772;p37"/>
          <p:cNvSpPr/>
          <p:nvPr/>
        </p:nvSpPr>
        <p:spPr>
          <a:xfrm>
            <a:off x="7922047" y="3822278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shared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3" name="Google Shape;1773;p37"/>
          <p:cNvSpPr/>
          <p:nvPr/>
        </p:nvSpPr>
        <p:spPr>
          <a:xfrm>
            <a:off x="8897541" y="3755603"/>
            <a:ext cx="82666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4" name="Google Shape;1774;p37"/>
          <p:cNvSpPr/>
          <p:nvPr/>
        </p:nvSpPr>
        <p:spPr>
          <a:xfrm>
            <a:off x="9059466" y="3822278"/>
            <a:ext cx="57901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topic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5" name="Google Shape;1775;p37"/>
          <p:cNvSpPr/>
          <p:nvPr/>
        </p:nvSpPr>
        <p:spPr>
          <a:xfrm>
            <a:off x="9809931" y="3755603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6" name="Google Shape;1776;p37"/>
          <p:cNvSpPr/>
          <p:nvPr/>
        </p:nvSpPr>
        <p:spPr>
          <a:xfrm>
            <a:off x="9971856" y="3822278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7" name="Google Shape;1777;p37"/>
          <p:cNvSpPr/>
          <p:nvPr/>
        </p:nvSpPr>
        <p:spPr>
          <a:xfrm>
            <a:off x="533326" y="494771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8" name="Google Shape;1778;p37"/>
          <p:cNvSpPr/>
          <p:nvPr/>
        </p:nvSpPr>
        <p:spPr>
          <a:xfrm>
            <a:off x="809476" y="516671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9" name="Google Shape;1779;p37"/>
          <p:cNvSpPr/>
          <p:nvPr/>
        </p:nvSpPr>
        <p:spPr>
          <a:xfrm>
            <a:off x="809476" y="559534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0" name="Google Shape;1780;p37"/>
          <p:cNvSpPr/>
          <p:nvPr/>
        </p:nvSpPr>
        <p:spPr>
          <a:xfrm>
            <a:off x="1247477" y="5566767"/>
            <a:ext cx="46475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Participate in shared research projects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1" name="Google Shape;1781;p37"/>
          <p:cNvSpPr/>
          <p:nvPr/>
        </p:nvSpPr>
        <p:spPr>
          <a:xfrm>
            <a:off x="809476" y="60342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37"/>
          <p:cNvSpPr/>
          <p:nvPr/>
        </p:nvSpPr>
        <p:spPr>
          <a:xfrm>
            <a:off x="1247477" y="6005661"/>
            <a:ext cx="39671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several books on one topic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3" name="Google Shape;1783;p37"/>
          <p:cNvSpPr/>
          <p:nvPr/>
        </p:nvSpPr>
        <p:spPr>
          <a:xfrm>
            <a:off x="809476" y="64731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4" name="Google Shape;1784;p37"/>
          <p:cNvSpPr/>
          <p:nvPr/>
        </p:nvSpPr>
        <p:spPr>
          <a:xfrm>
            <a:off x="1247477" y="6444555"/>
            <a:ext cx="40120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a shared written product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37"/>
          <p:cNvSpPr/>
          <p:nvPr/>
        </p:nvSpPr>
        <p:spPr>
          <a:xfrm>
            <a:off x="533326" y="718817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6" name="Google Shape;1786;p37"/>
          <p:cNvSpPr/>
          <p:nvPr/>
        </p:nvSpPr>
        <p:spPr>
          <a:xfrm>
            <a:off x="533326" y="718817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7" name="Google Shape;1787;p37"/>
          <p:cNvSpPr/>
          <p:nvPr/>
        </p:nvSpPr>
        <p:spPr>
          <a:xfrm>
            <a:off x="895201" y="737860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8" name="Google Shape;1788;p37"/>
          <p:cNvSpPr/>
          <p:nvPr/>
        </p:nvSpPr>
        <p:spPr>
          <a:xfrm>
            <a:off x="895201" y="774047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One student does the work while others watch. Assigning distinct roles keeps everyone in the research.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9" name="Google Shape;1789;p37"/>
          <p:cNvSpPr/>
          <p:nvPr/>
        </p:nvSpPr>
        <p:spPr>
          <a:xfrm>
            <a:off x="533326" y="881427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0" name="Google Shape;1790;p37"/>
          <p:cNvSpPr/>
          <p:nvPr/>
        </p:nvSpPr>
        <p:spPr>
          <a:xfrm>
            <a:off x="780901" y="900469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1" name="Google Shape;1791;p37"/>
          <p:cNvSpPr/>
          <p:nvPr/>
        </p:nvSpPr>
        <p:spPr>
          <a:xfrm>
            <a:off x="780901" y="943332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2" name="Google Shape;1792;p37"/>
          <p:cNvSpPr/>
          <p:nvPr/>
        </p:nvSpPr>
        <p:spPr>
          <a:xfrm>
            <a:off x="1218902" y="9404747"/>
            <a:ext cx="553408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work with my class to research a topic.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3" name="Google Shape;1793;p3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4" name="Google Shape;1794;p3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5" name="Google Shape;1795;p37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00" name="Shape 1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1" name="Google Shape;1801;p3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2" name="Google Shape;1802;p38"/>
          <p:cNvSpPr/>
          <p:nvPr/>
        </p:nvSpPr>
        <p:spPr>
          <a:xfrm>
            <a:off x="533326" y="533326"/>
            <a:ext cx="725108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WRITING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3" name="Google Shape;1803;p38"/>
          <p:cNvSpPr/>
          <p:nvPr/>
        </p:nvSpPr>
        <p:spPr>
          <a:xfrm>
            <a:off x="533326" y="847651"/>
            <a:ext cx="725108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Production and Research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4" name="Google Shape;1804;p38"/>
          <p:cNvSpPr/>
          <p:nvPr/>
        </p:nvSpPr>
        <p:spPr>
          <a:xfrm>
            <a:off x="10404425" y="533326"/>
            <a:ext cx="120662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5" name="Google Shape;1805;p38"/>
          <p:cNvSpPr/>
          <p:nvPr/>
        </p:nvSpPr>
        <p:spPr>
          <a:xfrm>
            <a:off x="10613975" y="647626"/>
            <a:ext cx="86372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W.2.8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6" name="Google Shape;1806;p3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7" name="Google Shape;1807;p3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8" name="Google Shape;1808;p3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9" name="Google Shape;1809;p3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Recall information from experiences or gather information from provided sources to answer a question.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0" name="Google Shape;1810;p38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1" name="Google Shape;1811;p3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2" name="Google Shape;1812;p3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3" name="Google Shape;1813;p38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I find the answer to my question?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4" name="Google Shape;1814;p38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5" name="Google Shape;1815;p38"/>
          <p:cNvSpPr/>
          <p:nvPr/>
        </p:nvSpPr>
        <p:spPr>
          <a:xfrm>
            <a:off x="999902" y="4898157"/>
            <a:ext cx="29976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already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6" name="Google Shape;1816;p38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7" name="Google Shape;1817;p3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8" name="Google Shape;1818;p38"/>
          <p:cNvSpPr/>
          <p:nvPr/>
        </p:nvSpPr>
        <p:spPr>
          <a:xfrm>
            <a:off x="6424464" y="4115470"/>
            <a:ext cx="89252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9" name="Google Shape;1819;p38"/>
          <p:cNvSpPr/>
          <p:nvPr/>
        </p:nvSpPr>
        <p:spPr>
          <a:xfrm>
            <a:off x="6586389" y="4182145"/>
            <a:ext cx="6448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recall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0" name="Google Shape;1820;p38"/>
          <p:cNvSpPr/>
          <p:nvPr/>
        </p:nvSpPr>
        <p:spPr>
          <a:xfrm>
            <a:off x="7402711" y="4115470"/>
            <a:ext cx="99878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1" name="Google Shape;1821;p38"/>
          <p:cNvSpPr/>
          <p:nvPr/>
        </p:nvSpPr>
        <p:spPr>
          <a:xfrm>
            <a:off x="7564636" y="4182145"/>
            <a:ext cx="7511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gather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2" name="Google Shape;1822;p38"/>
          <p:cNvSpPr/>
          <p:nvPr/>
        </p:nvSpPr>
        <p:spPr>
          <a:xfrm>
            <a:off x="8487221" y="4115470"/>
            <a:ext cx="103829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3" name="Google Shape;1823;p38"/>
          <p:cNvSpPr/>
          <p:nvPr/>
        </p:nvSpPr>
        <p:spPr>
          <a:xfrm>
            <a:off x="8649146" y="4182145"/>
            <a:ext cx="7906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source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4" name="Google Shape;1824;p38"/>
          <p:cNvSpPr/>
          <p:nvPr/>
        </p:nvSpPr>
        <p:spPr>
          <a:xfrm>
            <a:off x="9611246" y="4115470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5" name="Google Shape;1825;p38"/>
          <p:cNvSpPr/>
          <p:nvPr/>
        </p:nvSpPr>
        <p:spPr>
          <a:xfrm>
            <a:off x="9773171" y="4182145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6" name="Google Shape;1826;p38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7" name="Google Shape;1827;p38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8" name="Google Shape;1828;p38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9" name="Google Shape;1829;p38"/>
          <p:cNvSpPr/>
          <p:nvPr/>
        </p:nvSpPr>
        <p:spPr>
          <a:xfrm>
            <a:off x="1247477" y="6260827"/>
            <a:ext cx="434456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Recall information from experiences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38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1" name="Google Shape;1831;p38"/>
          <p:cNvSpPr/>
          <p:nvPr/>
        </p:nvSpPr>
        <p:spPr>
          <a:xfrm>
            <a:off x="1247477" y="6699721"/>
            <a:ext cx="50260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Gather information from provided sources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2" name="Google Shape;1832;p38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3" name="Google Shape;1833;p38"/>
          <p:cNvSpPr/>
          <p:nvPr/>
        </p:nvSpPr>
        <p:spPr>
          <a:xfrm>
            <a:off x="1247477" y="7138615"/>
            <a:ext cx="53295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Answer a question using what was gathered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4" name="Google Shape;1834;p38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5" name="Google Shape;1835;p38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6" name="Google Shape;1836;p38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38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copy whole sentences from the source. Note-taking in words and phrases must be taught directly.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8" name="Google Shape;1838;p38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38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0" name="Google Shape;1840;p38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1" name="Google Shape;1841;p38"/>
          <p:cNvSpPr/>
          <p:nvPr/>
        </p:nvSpPr>
        <p:spPr>
          <a:xfrm>
            <a:off x="1218902" y="10098807"/>
            <a:ext cx="539386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information to answer a question.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2" name="Google Shape;1842;p3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3" name="Google Shape;1843;p3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4" name="Google Shape;1844;p38"/>
          <p:cNvSpPr/>
          <p:nvPr/>
        </p:nvSpPr>
        <p:spPr>
          <a:xfrm>
            <a:off x="11002491" y="14897174"/>
            <a:ext cx="6847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W.2.8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3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1" name="Google Shape;1851;p39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2" name="Google Shape;1852;p39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3" name="Google Shape;1853;p39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4" name="Google Shape;1854;p39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5" name="Google Shape;1855;p39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6" name="Google Shape;1856;p39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7" name="Google Shape;1857;p3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39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Participate in collaborative conversations with diverse partners about grade 2 topics and texts with peers and adults.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9" name="Google Shape;1859;p39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0" name="Google Shape;1860;p39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1" name="Google Shape;1861;p39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2" name="Google Shape;1862;p39"/>
          <p:cNvSpPr/>
          <p:nvPr/>
        </p:nvSpPr>
        <p:spPr>
          <a:xfrm>
            <a:off x="999902" y="4115470"/>
            <a:ext cx="44818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add to what someone said?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3" name="Google Shape;1863;p39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4" name="Google Shape;1864;p39"/>
          <p:cNvSpPr/>
          <p:nvPr/>
        </p:nvSpPr>
        <p:spPr>
          <a:xfrm>
            <a:off x="999902" y="4563963"/>
            <a:ext cx="41937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a good conversation?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5" name="Google Shape;1865;p39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6" name="Google Shape;1866;p39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7" name="Google Shape;1867;p39"/>
          <p:cNvSpPr/>
          <p:nvPr/>
        </p:nvSpPr>
        <p:spPr>
          <a:xfrm>
            <a:off x="6424464" y="4115470"/>
            <a:ext cx="143522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8" name="Google Shape;1868;p39"/>
          <p:cNvSpPr/>
          <p:nvPr/>
        </p:nvSpPr>
        <p:spPr>
          <a:xfrm>
            <a:off x="6586389" y="4182145"/>
            <a:ext cx="118757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discussion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9" name="Google Shape;1869;p39"/>
          <p:cNvSpPr/>
          <p:nvPr/>
        </p:nvSpPr>
        <p:spPr>
          <a:xfrm>
            <a:off x="7945413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0" name="Google Shape;1870;p39"/>
          <p:cNvSpPr/>
          <p:nvPr/>
        </p:nvSpPr>
        <p:spPr>
          <a:xfrm>
            <a:off x="8107338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partner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1" name="Google Shape;1871;p39"/>
          <p:cNvSpPr/>
          <p:nvPr/>
        </p:nvSpPr>
        <p:spPr>
          <a:xfrm>
            <a:off x="9109174" y="4115470"/>
            <a:ext cx="7340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2" name="Google Shape;1872;p39"/>
          <p:cNvSpPr/>
          <p:nvPr/>
        </p:nvSpPr>
        <p:spPr>
          <a:xfrm>
            <a:off x="9271099" y="4182145"/>
            <a:ext cx="4863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turn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3" name="Google Shape;1873;p39"/>
          <p:cNvSpPr/>
          <p:nvPr/>
        </p:nvSpPr>
        <p:spPr>
          <a:xfrm>
            <a:off x="9928920" y="4115470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4" name="Google Shape;1874;p39"/>
          <p:cNvSpPr/>
          <p:nvPr/>
        </p:nvSpPr>
        <p:spPr>
          <a:xfrm>
            <a:off x="10090845" y="4182145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build 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5" name="Google Shape;1875;p39"/>
          <p:cNvSpPr/>
          <p:nvPr/>
        </p:nvSpPr>
        <p:spPr>
          <a:xfrm>
            <a:off x="6424464" y="4619997"/>
            <a:ext cx="945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6" name="Google Shape;1876;p39"/>
          <p:cNvSpPr/>
          <p:nvPr/>
        </p:nvSpPr>
        <p:spPr>
          <a:xfrm>
            <a:off x="6586389" y="4686672"/>
            <a:ext cx="697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7" name="Google Shape;1877;p39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8" name="Google Shape;1878;p39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39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0" name="Google Shape;1880;p39"/>
          <p:cNvSpPr/>
          <p:nvPr/>
        </p:nvSpPr>
        <p:spPr>
          <a:xfrm>
            <a:off x="1247477" y="6067276"/>
            <a:ext cx="48143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Follow agreed-upon rules for discussion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1" name="Google Shape;1881;p39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2" name="Google Shape;1882;p39"/>
          <p:cNvSpPr/>
          <p:nvPr/>
        </p:nvSpPr>
        <p:spPr>
          <a:xfrm>
            <a:off x="1247477" y="6506170"/>
            <a:ext cx="50618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on others’ talk in multiple exchanges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3" name="Google Shape;1883;p39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4" name="Google Shape;1884;p39"/>
          <p:cNvSpPr/>
          <p:nvPr/>
        </p:nvSpPr>
        <p:spPr>
          <a:xfrm>
            <a:off x="1247477" y="6945064"/>
            <a:ext cx="419353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for clarification when confused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5" name="Google Shape;1885;p39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6" name="Google Shape;1886;p39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7" name="Google Shape;1887;p39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8" name="Google Shape;1888;p39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wait for their turn to say a prepared idea instead of responding to what was just said.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9" name="Google Shape;1889;p39"/>
          <p:cNvSpPr/>
          <p:nvPr/>
        </p:nvSpPr>
        <p:spPr>
          <a:xfrm>
            <a:off x="533326" y="896830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0" name="Google Shape;1890;p39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1" name="Google Shape;1891;p39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2" name="Google Shape;1892;p39"/>
          <p:cNvSpPr/>
          <p:nvPr/>
        </p:nvSpPr>
        <p:spPr>
          <a:xfrm>
            <a:off x="1218902" y="9558784"/>
            <a:ext cx="330237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take turns and listen.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3" name="Google Shape;1893;p39"/>
          <p:cNvSpPr/>
          <p:nvPr/>
        </p:nvSpPr>
        <p:spPr>
          <a:xfrm>
            <a:off x="780901" y="1002960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4" name="Google Shape;1894;p39"/>
          <p:cNvSpPr/>
          <p:nvPr/>
        </p:nvSpPr>
        <p:spPr>
          <a:xfrm>
            <a:off x="1218902" y="10001027"/>
            <a:ext cx="506407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on to what someone else said.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5" name="Google Shape;1895;p3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6" name="Google Shape;1896;p3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7" name="Google Shape;1897;p39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SL.2.1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902" name="Shape 1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3" name="Google Shape;1903;p4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4" name="Google Shape;1904;p40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5" name="Google Shape;1905;p40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6" name="Google Shape;1906;p40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7" name="Google Shape;1907;p40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8" name="Google Shape;1908;p4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9" name="Google Shape;1909;p4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0" name="Google Shape;1910;p4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1" name="Google Shape;1911;p4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or describe key ideas or details from a text read aloud or information presented orally or through other media.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2" name="Google Shape;1912;p40"/>
          <p:cNvSpPr/>
          <p:nvPr/>
        </p:nvSpPr>
        <p:spPr>
          <a:xfrm>
            <a:off x="533326" y="3496419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3" name="Google Shape;1913;p4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4" name="Google Shape;1914;p4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5" name="Google Shape;1915;p40"/>
          <p:cNvSpPr/>
          <p:nvPr/>
        </p:nvSpPr>
        <p:spPr>
          <a:xfrm>
            <a:off x="999902" y="4115470"/>
            <a:ext cx="19986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did I hear?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6" name="Google Shape;1916;p4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7" name="Google Shape;1917;p40"/>
          <p:cNvSpPr/>
          <p:nvPr/>
        </p:nvSpPr>
        <p:spPr>
          <a:xfrm>
            <a:off x="999902" y="4563963"/>
            <a:ext cx="39057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remember key details?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8" name="Google Shape;1918;p40"/>
          <p:cNvSpPr/>
          <p:nvPr/>
        </p:nvSpPr>
        <p:spPr>
          <a:xfrm>
            <a:off x="6167289" y="3496419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9" name="Google Shape;1919;p4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0" name="Google Shape;1920;p40"/>
          <p:cNvSpPr/>
          <p:nvPr/>
        </p:nvSpPr>
        <p:spPr>
          <a:xfrm>
            <a:off x="6424464" y="4115470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1" name="Google Shape;1921;p40"/>
          <p:cNvSpPr/>
          <p:nvPr/>
        </p:nvSpPr>
        <p:spPr>
          <a:xfrm>
            <a:off x="6586389" y="4182145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2" name="Google Shape;1922;p40"/>
          <p:cNvSpPr/>
          <p:nvPr/>
        </p:nvSpPr>
        <p:spPr>
          <a:xfrm>
            <a:off x="7627962" y="4115470"/>
            <a:ext cx="121041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3" name="Google Shape;1923;p40"/>
          <p:cNvSpPr/>
          <p:nvPr/>
        </p:nvSpPr>
        <p:spPr>
          <a:xfrm>
            <a:off x="7789887" y="4182145"/>
            <a:ext cx="96276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key idea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4" name="Google Shape;1924;p40"/>
          <p:cNvSpPr/>
          <p:nvPr/>
        </p:nvSpPr>
        <p:spPr>
          <a:xfrm>
            <a:off x="8924106" y="4115470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5" name="Google Shape;1925;p40"/>
          <p:cNvSpPr/>
          <p:nvPr/>
        </p:nvSpPr>
        <p:spPr>
          <a:xfrm>
            <a:off x="9086031" y="4182145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6" name="Google Shape;1926;p40"/>
          <p:cNvSpPr/>
          <p:nvPr/>
        </p:nvSpPr>
        <p:spPr>
          <a:xfrm>
            <a:off x="9902577" y="4115470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40"/>
          <p:cNvSpPr/>
          <p:nvPr/>
        </p:nvSpPr>
        <p:spPr>
          <a:xfrm>
            <a:off x="10064502" y="4182145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media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8" name="Google Shape;1928;p40"/>
          <p:cNvSpPr/>
          <p:nvPr/>
        </p:nvSpPr>
        <p:spPr>
          <a:xfrm>
            <a:off x="533326" y="530758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9" name="Google Shape;1929;p40"/>
          <p:cNvSpPr/>
          <p:nvPr/>
        </p:nvSpPr>
        <p:spPr>
          <a:xfrm>
            <a:off x="809476" y="552658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0" name="Google Shape;1930;p40"/>
          <p:cNvSpPr/>
          <p:nvPr/>
        </p:nvSpPr>
        <p:spPr>
          <a:xfrm>
            <a:off x="809476" y="595520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1" name="Google Shape;1931;p40"/>
          <p:cNvSpPr/>
          <p:nvPr/>
        </p:nvSpPr>
        <p:spPr>
          <a:xfrm>
            <a:off x="1247477" y="5926634"/>
            <a:ext cx="49658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Recount key ideas from a text read aloud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2" name="Google Shape;1932;p40"/>
          <p:cNvSpPr/>
          <p:nvPr/>
        </p:nvSpPr>
        <p:spPr>
          <a:xfrm>
            <a:off x="809476" y="639410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3" name="Google Shape;1933;p40"/>
          <p:cNvSpPr/>
          <p:nvPr/>
        </p:nvSpPr>
        <p:spPr>
          <a:xfrm>
            <a:off x="1247477" y="6365528"/>
            <a:ext cx="81294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details from information presented orally or through media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40"/>
          <p:cNvSpPr/>
          <p:nvPr/>
        </p:nvSpPr>
        <p:spPr>
          <a:xfrm>
            <a:off x="809476" y="683299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5" name="Google Shape;1935;p40"/>
          <p:cNvSpPr/>
          <p:nvPr/>
        </p:nvSpPr>
        <p:spPr>
          <a:xfrm>
            <a:off x="1247477" y="6804422"/>
            <a:ext cx="171086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Listen actively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6" name="Google Shape;1936;p40"/>
          <p:cNvSpPr/>
          <p:nvPr/>
        </p:nvSpPr>
        <p:spPr>
          <a:xfrm>
            <a:off x="533326" y="7548042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7" name="Google Shape;1937;p40"/>
          <p:cNvSpPr/>
          <p:nvPr/>
        </p:nvSpPr>
        <p:spPr>
          <a:xfrm>
            <a:off x="533326" y="7548042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8" name="Google Shape;1938;p40"/>
          <p:cNvSpPr/>
          <p:nvPr/>
        </p:nvSpPr>
        <p:spPr>
          <a:xfrm>
            <a:off x="895201" y="773846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9" name="Google Shape;1939;p40"/>
          <p:cNvSpPr/>
          <p:nvPr/>
        </p:nvSpPr>
        <p:spPr>
          <a:xfrm>
            <a:off x="895201" y="8100343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remember the first and last things they heard and lose the middle. Note-taking supports, even pictorial, help.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0" name="Google Shape;1940;p40"/>
          <p:cNvSpPr/>
          <p:nvPr/>
        </p:nvSpPr>
        <p:spPr>
          <a:xfrm>
            <a:off x="533326" y="917413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1" name="Google Shape;1941;p40"/>
          <p:cNvSpPr/>
          <p:nvPr/>
        </p:nvSpPr>
        <p:spPr>
          <a:xfrm>
            <a:off x="780901" y="9364563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2" name="Google Shape;1942;p40"/>
          <p:cNvSpPr/>
          <p:nvPr/>
        </p:nvSpPr>
        <p:spPr>
          <a:xfrm>
            <a:off x="780901" y="979318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3" name="Google Shape;1943;p40"/>
          <p:cNvSpPr/>
          <p:nvPr/>
        </p:nvSpPr>
        <p:spPr>
          <a:xfrm>
            <a:off x="1218902" y="9764613"/>
            <a:ext cx="586535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the key ideas from something I heard.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4" name="Google Shape;1944;p4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5" name="Google Shape;1945;p4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6" name="Google Shape;1946;p40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SL.2.2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1951" name="Shape 1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2" name="Google Shape;1952;p4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3" name="Google Shape;1953;p41"/>
          <p:cNvSpPr/>
          <p:nvPr/>
        </p:nvSpPr>
        <p:spPr>
          <a:xfrm>
            <a:off x="533326" y="533326"/>
            <a:ext cx="975537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4" name="Google Shape;1954;p41"/>
          <p:cNvSpPr/>
          <p:nvPr/>
        </p:nvSpPr>
        <p:spPr>
          <a:xfrm>
            <a:off x="533326" y="847651"/>
            <a:ext cx="975537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Comprehension and Collaboration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5" name="Google Shape;1955;p41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6" name="Google Shape;1956;p41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7" name="Google Shape;1957;p4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8" name="Google Shape;1958;p4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4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0" name="Google Shape;1960;p4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about what a speaker says in order to clarify comprehension, gather information, or deepen understanding.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1" name="Google Shape;1961;p4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2" name="Google Shape;1962;p4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4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4" name="Google Shape;1964;p41"/>
          <p:cNvSpPr/>
          <p:nvPr/>
        </p:nvSpPr>
        <p:spPr>
          <a:xfrm>
            <a:off x="999902" y="4115470"/>
            <a:ext cx="51632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question would help me understand?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4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6" name="Google Shape;1966;p41"/>
          <p:cNvSpPr/>
          <p:nvPr/>
        </p:nvSpPr>
        <p:spPr>
          <a:xfrm>
            <a:off x="999902" y="4563963"/>
            <a:ext cx="34821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 I still need to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7" name="Google Shape;1967;p4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8" name="Google Shape;1968;p4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9" name="Google Shape;1969;p41"/>
          <p:cNvSpPr/>
          <p:nvPr/>
        </p:nvSpPr>
        <p:spPr>
          <a:xfrm>
            <a:off x="6424464" y="4115470"/>
            <a:ext cx="945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0" name="Google Shape;1970;p41"/>
          <p:cNvSpPr/>
          <p:nvPr/>
        </p:nvSpPr>
        <p:spPr>
          <a:xfrm>
            <a:off x="6586389" y="4182145"/>
            <a:ext cx="697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1" name="Google Shape;1971;p41"/>
          <p:cNvSpPr/>
          <p:nvPr/>
        </p:nvSpPr>
        <p:spPr>
          <a:xfrm>
            <a:off x="7455619" y="4115470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2" name="Google Shape;1972;p41"/>
          <p:cNvSpPr/>
          <p:nvPr/>
        </p:nvSpPr>
        <p:spPr>
          <a:xfrm>
            <a:off x="7617544" y="4182145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speaker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3" name="Google Shape;1973;p41"/>
          <p:cNvSpPr/>
          <p:nvPr/>
        </p:nvSpPr>
        <p:spPr>
          <a:xfrm>
            <a:off x="8712026" y="4115470"/>
            <a:ext cx="122381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4" name="Google Shape;1974;p41"/>
          <p:cNvSpPr/>
          <p:nvPr/>
        </p:nvSpPr>
        <p:spPr>
          <a:xfrm>
            <a:off x="8873951" y="4182145"/>
            <a:ext cx="97616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question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5" name="Google Shape;1975;p41"/>
          <p:cNvSpPr/>
          <p:nvPr/>
        </p:nvSpPr>
        <p:spPr>
          <a:xfrm>
            <a:off x="6424464" y="4619997"/>
            <a:ext cx="15149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41"/>
          <p:cNvSpPr/>
          <p:nvPr/>
        </p:nvSpPr>
        <p:spPr>
          <a:xfrm>
            <a:off x="6586389" y="4686672"/>
            <a:ext cx="12672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7" name="Google Shape;1977;p4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8" name="Google Shape;1978;p4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9" name="Google Shape;1979;p4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0" name="Google Shape;1980;p41"/>
          <p:cNvSpPr/>
          <p:nvPr/>
        </p:nvSpPr>
        <p:spPr>
          <a:xfrm>
            <a:off x="1247477" y="6067276"/>
            <a:ext cx="64952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Ask and answer questions about what a speaker says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1" name="Google Shape;1981;p4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2" name="Google Shape;1982;p41"/>
          <p:cNvSpPr/>
          <p:nvPr/>
        </p:nvSpPr>
        <p:spPr>
          <a:xfrm>
            <a:off x="1247477" y="6506170"/>
            <a:ext cx="27098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Clarify comprehension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3" name="Google Shape;1983;p4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4" name="Google Shape;1984;p41"/>
          <p:cNvSpPr/>
          <p:nvPr/>
        </p:nvSpPr>
        <p:spPr>
          <a:xfrm>
            <a:off x="1247477" y="6945064"/>
            <a:ext cx="34973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Gather additional information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5" name="Google Shape;1985;p41"/>
          <p:cNvSpPr/>
          <p:nvPr/>
        </p:nvSpPr>
        <p:spPr>
          <a:xfrm>
            <a:off x="533326" y="7688684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6" name="Google Shape;1986;p41"/>
          <p:cNvSpPr/>
          <p:nvPr/>
        </p:nvSpPr>
        <p:spPr>
          <a:xfrm>
            <a:off x="533326" y="7688684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7" name="Google Shape;1987;p4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8" name="Google Shape;1988;p41"/>
          <p:cNvSpPr/>
          <p:nvPr/>
        </p:nvSpPr>
        <p:spPr>
          <a:xfrm>
            <a:off x="895201" y="8240985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ask questions already answered because they were not listening for the answer.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41"/>
          <p:cNvSpPr/>
          <p:nvPr/>
        </p:nvSpPr>
        <p:spPr>
          <a:xfrm>
            <a:off x="533326" y="8968308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0" name="Google Shape;1990;p41"/>
          <p:cNvSpPr/>
          <p:nvPr/>
        </p:nvSpPr>
        <p:spPr>
          <a:xfrm>
            <a:off x="780901" y="915873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1" name="Google Shape;1991;p41"/>
          <p:cNvSpPr/>
          <p:nvPr/>
        </p:nvSpPr>
        <p:spPr>
          <a:xfrm>
            <a:off x="780901" y="958735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2" name="Google Shape;1992;p41"/>
          <p:cNvSpPr/>
          <p:nvPr/>
        </p:nvSpPr>
        <p:spPr>
          <a:xfrm>
            <a:off x="1218902" y="9558784"/>
            <a:ext cx="519004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ask a question to understand better.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3" name="Google Shape;1993;p4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4" name="Google Shape;1994;p41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5" name="Google Shape;1995;p41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SL.2.3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4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2" name="Google Shape;2002;p42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3" name="Google Shape;2003;p42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4" name="Google Shape;2004;p42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5" name="Google Shape;2005;p42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SL.2.4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6" name="Google Shape;2006;p42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7" name="Google Shape;2007;p42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8" name="Google Shape;2008;p4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9" name="Google Shape;2009;p42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a story or recount an experience with appropriate facts and relevant, descriptive details, speaking audibly in coherent sentences.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0" name="Google Shape;2010;p42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1" name="Google Shape;2011;p42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2" name="Google Shape;2012;p42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3" name="Google Shape;2013;p42"/>
          <p:cNvSpPr/>
          <p:nvPr/>
        </p:nvSpPr>
        <p:spPr>
          <a:xfrm>
            <a:off x="999902" y="4635401"/>
            <a:ext cx="45569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keep my listener interested?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4" name="Google Shape;2014;p42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5" name="Google Shape;2015;p42"/>
          <p:cNvSpPr/>
          <p:nvPr/>
        </p:nvSpPr>
        <p:spPr>
          <a:xfrm>
            <a:off x="999902" y="5083894"/>
            <a:ext cx="31636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details matter most?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6" name="Google Shape;2016;p42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7" name="Google Shape;2017;p42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8" name="Google Shape;2018;p42"/>
          <p:cNvSpPr/>
          <p:nvPr/>
        </p:nvSpPr>
        <p:spPr>
          <a:xfrm>
            <a:off x="6424464" y="4635401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9" name="Google Shape;2019;p42"/>
          <p:cNvSpPr/>
          <p:nvPr/>
        </p:nvSpPr>
        <p:spPr>
          <a:xfrm>
            <a:off x="6586389" y="4702076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audibly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0" name="Google Shape;2020;p42"/>
          <p:cNvSpPr/>
          <p:nvPr/>
        </p:nvSpPr>
        <p:spPr>
          <a:xfrm>
            <a:off x="7588225" y="4635401"/>
            <a:ext cx="146156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1" name="Google Shape;2021;p42"/>
          <p:cNvSpPr/>
          <p:nvPr/>
        </p:nvSpPr>
        <p:spPr>
          <a:xfrm>
            <a:off x="7750150" y="4702076"/>
            <a:ext cx="12139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descriptive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2" name="Google Shape;2022;p42"/>
          <p:cNvSpPr/>
          <p:nvPr/>
        </p:nvSpPr>
        <p:spPr>
          <a:xfrm>
            <a:off x="9135517" y="4635401"/>
            <a:ext cx="12501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3" name="Google Shape;2023;p42"/>
          <p:cNvSpPr/>
          <p:nvPr/>
        </p:nvSpPr>
        <p:spPr>
          <a:xfrm>
            <a:off x="9297442" y="4702076"/>
            <a:ext cx="10025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coherent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4" name="Google Shape;2024;p42"/>
          <p:cNvSpPr/>
          <p:nvPr/>
        </p:nvSpPr>
        <p:spPr>
          <a:xfrm>
            <a:off x="6424464" y="5139928"/>
            <a:ext cx="111777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5" name="Google Shape;2025;p42"/>
          <p:cNvSpPr/>
          <p:nvPr/>
        </p:nvSpPr>
        <p:spPr>
          <a:xfrm>
            <a:off x="6586389" y="5206603"/>
            <a:ext cx="8701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6" name="Google Shape;2026;p42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7" name="Google Shape;2027;p42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8" name="Google Shape;2028;p42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9" name="Google Shape;2029;p42"/>
          <p:cNvSpPr/>
          <p:nvPr/>
        </p:nvSpPr>
        <p:spPr>
          <a:xfrm>
            <a:off x="1247477" y="6587207"/>
            <a:ext cx="837185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a story or recount an experience with facts and descriptive details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0" name="Google Shape;2030;p42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1" name="Google Shape;2031;p42"/>
          <p:cNvSpPr/>
          <p:nvPr/>
        </p:nvSpPr>
        <p:spPr>
          <a:xfrm>
            <a:off x="1247477" y="7026101"/>
            <a:ext cx="171110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Speak audibly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2" name="Google Shape;2032;p42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3" name="Google Shape;2033;p42"/>
          <p:cNvSpPr/>
          <p:nvPr/>
        </p:nvSpPr>
        <p:spPr>
          <a:xfrm>
            <a:off x="1247477" y="7464996"/>
            <a:ext cx="29372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coherent sentences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4" name="Google Shape;2034;p42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5" name="Google Shape;2035;p42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6" name="Google Shape;2036;p42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7" name="Google Shape;2037;p42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speak toward the floor at low volume. Audibility is part of the standard and needs direct practice.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8" name="Google Shape;2038;p42"/>
          <p:cNvSpPr/>
          <p:nvPr/>
        </p:nvSpPr>
        <p:spPr>
          <a:xfrm>
            <a:off x="533326" y="983471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42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0" name="Google Shape;2040;p42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1" name="Google Shape;2041;p42"/>
          <p:cNvSpPr/>
          <p:nvPr/>
        </p:nvSpPr>
        <p:spPr>
          <a:xfrm>
            <a:off x="1218902" y="10425187"/>
            <a:ext cx="658952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about something clearly and loudly enough.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2" name="Google Shape;2042;p4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3" name="Google Shape;2043;p42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4" name="Google Shape;2044;p42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SL.2.4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43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1" name="Google Shape;2051;p43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2" name="Google Shape;2052;p43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3" name="Google Shape;2053;p43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4" name="Google Shape;2054;p43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5" name="Google Shape;2055;p43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6" name="Google Shape;2056;p43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7" name="Google Shape;2057;p43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8" name="Google Shape;2058;p43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audio recordings of stories or poems; add drawings or other visual displays to clarify ideas, thoughts, and feelings.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9" name="Google Shape;2059;p43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0" name="Google Shape;2060;p43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1" name="Google Shape;2061;p43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2" name="Google Shape;2062;p43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a picture or recording help me share?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3" name="Google Shape;2063;p43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4" name="Google Shape;2064;p43"/>
          <p:cNvSpPr/>
          <p:nvPr/>
        </p:nvSpPr>
        <p:spPr>
          <a:xfrm>
            <a:off x="999902" y="5418088"/>
            <a:ext cx="35877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should my visual show?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5" name="Google Shape;2065;p43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6" name="Google Shape;2066;p43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7" name="Google Shape;2067;p43"/>
          <p:cNvSpPr/>
          <p:nvPr/>
        </p:nvSpPr>
        <p:spPr>
          <a:xfrm>
            <a:off x="6424464" y="4635401"/>
            <a:ext cx="196475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8" name="Google Shape;2068;p43"/>
          <p:cNvSpPr/>
          <p:nvPr/>
        </p:nvSpPr>
        <p:spPr>
          <a:xfrm>
            <a:off x="6586389" y="4702076"/>
            <a:ext cx="17171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audio recording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9" name="Google Shape;2069;p43"/>
          <p:cNvSpPr/>
          <p:nvPr/>
        </p:nvSpPr>
        <p:spPr>
          <a:xfrm>
            <a:off x="8474943" y="4635401"/>
            <a:ext cx="173950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0" name="Google Shape;2070;p43"/>
          <p:cNvSpPr/>
          <p:nvPr/>
        </p:nvSpPr>
        <p:spPr>
          <a:xfrm>
            <a:off x="8636868" y="4702076"/>
            <a:ext cx="149185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visual display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1" name="Google Shape;2071;p43"/>
          <p:cNvSpPr/>
          <p:nvPr/>
        </p:nvSpPr>
        <p:spPr>
          <a:xfrm>
            <a:off x="10300171" y="4635401"/>
            <a:ext cx="94543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2" name="Google Shape;2072;p43"/>
          <p:cNvSpPr/>
          <p:nvPr/>
        </p:nvSpPr>
        <p:spPr>
          <a:xfrm>
            <a:off x="10462096" y="4702076"/>
            <a:ext cx="6977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3" name="Google Shape;2073;p43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4" name="Google Shape;2074;p43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5" name="Google Shape;2075;p43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6" name="Google Shape;2076;p43"/>
          <p:cNvSpPr/>
          <p:nvPr/>
        </p:nvSpPr>
        <p:spPr>
          <a:xfrm>
            <a:off x="1247477" y="6780758"/>
            <a:ext cx="52985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Create audio recordings of stories or poems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7" name="Google Shape;2077;p43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8" name="Google Shape;2078;p43"/>
          <p:cNvSpPr/>
          <p:nvPr/>
        </p:nvSpPr>
        <p:spPr>
          <a:xfrm>
            <a:off x="1247477" y="7219652"/>
            <a:ext cx="56163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drawings or visual displays to clarify ideas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9" name="Google Shape;2079;p43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0" name="Google Shape;2080;p43"/>
          <p:cNvSpPr/>
          <p:nvPr/>
        </p:nvSpPr>
        <p:spPr>
          <a:xfrm>
            <a:off x="1247477" y="7658546"/>
            <a:ext cx="331588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Match the visual to the idea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1" name="Google Shape;2081;p43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2" name="Google Shape;2082;p43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3" name="Google Shape;2083;p43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4" name="Google Shape;2084;p43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Visuals are decorative rather than clarifying. Ask what the picture explains that words alone do not.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5" name="Google Shape;2085;p43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6" name="Google Shape;2086;p43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7" name="Google Shape;2087;p43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8" name="Google Shape;2088;p43"/>
          <p:cNvSpPr/>
          <p:nvPr/>
        </p:nvSpPr>
        <p:spPr>
          <a:xfrm>
            <a:off x="1218902" y="10618738"/>
            <a:ext cx="630565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 picture or recording to share my ideas.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9" name="Google Shape;2089;p4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0" name="Google Shape;2090;p43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1" name="Google Shape;2091;p43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SL.2.5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096" name="Shape 2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7" name="Google Shape;2097;p44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8" name="Google Shape;2098;p44"/>
          <p:cNvSpPr/>
          <p:nvPr/>
        </p:nvSpPr>
        <p:spPr>
          <a:xfrm>
            <a:off x="533326" y="533326"/>
            <a:ext cx="1040906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SPEAKING AND LISTENING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9" name="Google Shape;2099;p44"/>
          <p:cNvSpPr/>
          <p:nvPr/>
        </p:nvSpPr>
        <p:spPr>
          <a:xfrm>
            <a:off x="533326" y="847651"/>
            <a:ext cx="9746674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Presentation of Knowledge and Ideas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0" name="Google Shape;2100;p44"/>
          <p:cNvSpPr/>
          <p:nvPr/>
        </p:nvSpPr>
        <p:spPr>
          <a:xfrm>
            <a:off x="10281865" y="533326"/>
            <a:ext cx="1329184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1" name="Google Shape;2101;p44"/>
          <p:cNvSpPr/>
          <p:nvPr/>
        </p:nvSpPr>
        <p:spPr>
          <a:xfrm>
            <a:off x="10491415" y="647626"/>
            <a:ext cx="986284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SL.2.6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2" name="Google Shape;2102;p44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3" name="Google Shape;2103;p44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4" name="Google Shape;2104;p44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5" name="Google Shape;2105;p44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complete sentences when appropriate to task and situation in order to provide requested detail or clarification.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6" name="Google Shape;2106;p44"/>
          <p:cNvSpPr/>
          <p:nvPr/>
        </p:nvSpPr>
        <p:spPr>
          <a:xfrm>
            <a:off x="533326" y="4016350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7" name="Google Shape;2107;p44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8" name="Google Shape;2108;p44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9" name="Google Shape;2109;p44"/>
          <p:cNvSpPr/>
          <p:nvPr/>
        </p:nvSpPr>
        <p:spPr>
          <a:xfrm>
            <a:off x="999902" y="4635401"/>
            <a:ext cx="39067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do I need a full sentence?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0" name="Google Shape;2110;p44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1" name="Google Shape;2111;p44"/>
          <p:cNvSpPr/>
          <p:nvPr/>
        </p:nvSpPr>
        <p:spPr>
          <a:xfrm>
            <a:off x="999902" y="5083894"/>
            <a:ext cx="32247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give more detail?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2" name="Google Shape;2112;p44"/>
          <p:cNvSpPr/>
          <p:nvPr/>
        </p:nvSpPr>
        <p:spPr>
          <a:xfrm>
            <a:off x="6167289" y="4016350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3" name="Google Shape;2113;p44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4" name="Google Shape;2114;p44"/>
          <p:cNvSpPr/>
          <p:nvPr/>
        </p:nvSpPr>
        <p:spPr>
          <a:xfrm>
            <a:off x="6424464" y="4635401"/>
            <a:ext cx="232194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5" name="Google Shape;2115;p44"/>
          <p:cNvSpPr/>
          <p:nvPr/>
        </p:nvSpPr>
        <p:spPr>
          <a:xfrm>
            <a:off x="6586389" y="4702076"/>
            <a:ext cx="207429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complete sentence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6" name="Google Shape;2116;p44"/>
          <p:cNvSpPr/>
          <p:nvPr/>
        </p:nvSpPr>
        <p:spPr>
          <a:xfrm>
            <a:off x="8832131" y="4635401"/>
            <a:ext cx="89274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7" name="Google Shape;2117;p44"/>
          <p:cNvSpPr/>
          <p:nvPr/>
        </p:nvSpPr>
        <p:spPr>
          <a:xfrm>
            <a:off x="8994056" y="4702076"/>
            <a:ext cx="6450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detail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8" name="Google Shape;2118;p44"/>
          <p:cNvSpPr/>
          <p:nvPr/>
        </p:nvSpPr>
        <p:spPr>
          <a:xfrm>
            <a:off x="9810601" y="4635401"/>
            <a:ext cx="1514475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9" name="Google Shape;2119;p44"/>
          <p:cNvSpPr/>
          <p:nvPr/>
        </p:nvSpPr>
        <p:spPr>
          <a:xfrm>
            <a:off x="9972526" y="4702076"/>
            <a:ext cx="12668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clarification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0" name="Google Shape;2120;p44"/>
          <p:cNvSpPr/>
          <p:nvPr/>
        </p:nvSpPr>
        <p:spPr>
          <a:xfrm>
            <a:off x="533326" y="5827514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1" name="Google Shape;2121;p44"/>
          <p:cNvSpPr/>
          <p:nvPr/>
        </p:nvSpPr>
        <p:spPr>
          <a:xfrm>
            <a:off x="809476" y="6046515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2" name="Google Shape;2122;p44"/>
          <p:cNvSpPr/>
          <p:nvPr/>
        </p:nvSpPr>
        <p:spPr>
          <a:xfrm>
            <a:off x="809476" y="647514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3" name="Google Shape;2123;p44"/>
          <p:cNvSpPr/>
          <p:nvPr/>
        </p:nvSpPr>
        <p:spPr>
          <a:xfrm>
            <a:off x="1247477" y="6446565"/>
            <a:ext cx="81911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complete sentences when appropriate to task and situation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4" name="Google Shape;2124;p44"/>
          <p:cNvSpPr/>
          <p:nvPr/>
        </p:nvSpPr>
        <p:spPr>
          <a:xfrm>
            <a:off x="809476" y="69140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5" name="Google Shape;2125;p44"/>
          <p:cNvSpPr/>
          <p:nvPr/>
        </p:nvSpPr>
        <p:spPr>
          <a:xfrm>
            <a:off x="1247477" y="6885459"/>
            <a:ext cx="46932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Provide requested detail or clarification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6" name="Google Shape;2126;p44"/>
          <p:cNvSpPr/>
          <p:nvPr/>
        </p:nvSpPr>
        <p:spPr>
          <a:xfrm>
            <a:off x="809476" y="7352928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7" name="Google Shape;2127;p44"/>
          <p:cNvSpPr/>
          <p:nvPr/>
        </p:nvSpPr>
        <p:spPr>
          <a:xfrm>
            <a:off x="1247477" y="7324353"/>
            <a:ext cx="355825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Adjust speech to the situation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8" name="Google Shape;2128;p44"/>
          <p:cNvSpPr/>
          <p:nvPr/>
        </p:nvSpPr>
        <p:spPr>
          <a:xfrm>
            <a:off x="533326" y="8067973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9" name="Google Shape;2129;p44"/>
          <p:cNvSpPr/>
          <p:nvPr/>
        </p:nvSpPr>
        <p:spPr>
          <a:xfrm>
            <a:off x="533326" y="8067973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0" name="Google Shape;2130;p44"/>
          <p:cNvSpPr/>
          <p:nvPr/>
        </p:nvSpPr>
        <p:spPr>
          <a:xfrm>
            <a:off x="895201" y="8258398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1" name="Google Shape;2131;p44"/>
          <p:cNvSpPr/>
          <p:nvPr/>
        </p:nvSpPr>
        <p:spPr>
          <a:xfrm>
            <a:off x="895201" y="8620274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answer in one word when a full sentence is called for. Prompting for the full response builds the habit.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2" name="Google Shape;2132;p44"/>
          <p:cNvSpPr/>
          <p:nvPr/>
        </p:nvSpPr>
        <p:spPr>
          <a:xfrm>
            <a:off x="533326" y="969406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3" name="Google Shape;2133;p44"/>
          <p:cNvSpPr/>
          <p:nvPr/>
        </p:nvSpPr>
        <p:spPr>
          <a:xfrm>
            <a:off x="780901" y="988449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4" name="Google Shape;2134;p44"/>
          <p:cNvSpPr/>
          <p:nvPr/>
        </p:nvSpPr>
        <p:spPr>
          <a:xfrm>
            <a:off x="780901" y="1031311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5" name="Google Shape;2135;p44"/>
          <p:cNvSpPr/>
          <p:nvPr/>
        </p:nvSpPr>
        <p:spPr>
          <a:xfrm>
            <a:off x="1218902" y="10284544"/>
            <a:ext cx="467042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answer in a complete sentence.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6" name="Google Shape;2136;p4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7" name="Google Shape;2137;p44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8" name="Google Shape;2138;p44"/>
          <p:cNvSpPr/>
          <p:nvPr/>
        </p:nvSpPr>
        <p:spPr>
          <a:xfrm>
            <a:off x="10909846" y="14897174"/>
            <a:ext cx="7774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SL.2.6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4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5" name="Google Shape;2145;p45"/>
          <p:cNvSpPr/>
          <p:nvPr/>
        </p:nvSpPr>
        <p:spPr>
          <a:xfrm>
            <a:off x="533326" y="533326"/>
            <a:ext cx="93693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6" name="Google Shape;2146;p45"/>
          <p:cNvSpPr/>
          <p:nvPr/>
        </p:nvSpPr>
        <p:spPr>
          <a:xfrm>
            <a:off x="533326" y="847651"/>
            <a:ext cx="936934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Conventions of Standard English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7" name="Google Shape;2147;p45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8" name="Google Shape;2148;p45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L.2.1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9" name="Google Shape;2149;p4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0" name="Google Shape;2150;p4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1" name="Google Shape;2151;p4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2" name="Google Shape;2152;p4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command of the conventions of standard English grammar and usage when writing or speaking.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3" name="Google Shape;2153;p45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4" name="Google Shape;2154;p4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5" name="Google Shape;2155;p4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6" name="Google Shape;2156;p45"/>
          <p:cNvSpPr/>
          <p:nvPr/>
        </p:nvSpPr>
        <p:spPr>
          <a:xfrm>
            <a:off x="999902" y="4115470"/>
            <a:ext cx="38305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my sentence sound right?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7" name="Google Shape;2157;p45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8" name="Google Shape;2158;p45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parts of a sentence work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9" name="Google Shape;2159;p45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0" name="Google Shape;2160;p4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1" name="Google Shape;2161;p45"/>
          <p:cNvSpPr/>
          <p:nvPr/>
        </p:nvSpPr>
        <p:spPr>
          <a:xfrm>
            <a:off x="6424464" y="4115470"/>
            <a:ext cx="85323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2" name="Google Shape;2162;p45"/>
          <p:cNvSpPr/>
          <p:nvPr/>
        </p:nvSpPr>
        <p:spPr>
          <a:xfrm>
            <a:off x="6586389" y="4182145"/>
            <a:ext cx="60558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noun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3" name="Google Shape;2163;p45"/>
          <p:cNvSpPr/>
          <p:nvPr/>
        </p:nvSpPr>
        <p:spPr>
          <a:xfrm>
            <a:off x="7363420" y="4115470"/>
            <a:ext cx="78692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4" name="Google Shape;2164;p45"/>
          <p:cNvSpPr/>
          <p:nvPr/>
        </p:nvSpPr>
        <p:spPr>
          <a:xfrm>
            <a:off x="7525345" y="4182145"/>
            <a:ext cx="53927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verb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5" name="Google Shape;2165;p45"/>
          <p:cNvSpPr/>
          <p:nvPr/>
        </p:nvSpPr>
        <p:spPr>
          <a:xfrm>
            <a:off x="8236074" y="4115470"/>
            <a:ext cx="126332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6" name="Google Shape;2166;p45"/>
          <p:cNvSpPr/>
          <p:nvPr/>
        </p:nvSpPr>
        <p:spPr>
          <a:xfrm>
            <a:off x="8397999" y="4182145"/>
            <a:ext cx="101567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adjective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7" name="Google Shape;2167;p45"/>
          <p:cNvSpPr/>
          <p:nvPr/>
        </p:nvSpPr>
        <p:spPr>
          <a:xfrm>
            <a:off x="9585127" y="4115470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8" name="Google Shape;2168;p45"/>
          <p:cNvSpPr/>
          <p:nvPr/>
        </p:nvSpPr>
        <p:spPr>
          <a:xfrm>
            <a:off x="9747052" y="4182145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adverb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9" name="Google Shape;2169;p45"/>
          <p:cNvSpPr/>
          <p:nvPr/>
        </p:nvSpPr>
        <p:spPr>
          <a:xfrm>
            <a:off x="6424464" y="4619997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0" name="Google Shape;2170;p45"/>
          <p:cNvSpPr/>
          <p:nvPr/>
        </p:nvSpPr>
        <p:spPr>
          <a:xfrm>
            <a:off x="6586389" y="4686672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plural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1" name="Google Shape;2171;p45"/>
          <p:cNvSpPr/>
          <p:nvPr/>
        </p:nvSpPr>
        <p:spPr>
          <a:xfrm>
            <a:off x="7416105" y="4619997"/>
            <a:ext cx="119680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2" name="Google Shape;2172;p45"/>
          <p:cNvSpPr/>
          <p:nvPr/>
        </p:nvSpPr>
        <p:spPr>
          <a:xfrm>
            <a:off x="7578030" y="4686672"/>
            <a:ext cx="94915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irregular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3" name="Google Shape;2173;p45"/>
          <p:cNvSpPr/>
          <p:nvPr/>
        </p:nvSpPr>
        <p:spPr>
          <a:xfrm>
            <a:off x="8698632" y="4619997"/>
            <a:ext cx="119747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4" name="Google Shape;2174;p45"/>
          <p:cNvSpPr/>
          <p:nvPr/>
        </p:nvSpPr>
        <p:spPr>
          <a:xfrm>
            <a:off x="8860557" y="4686672"/>
            <a:ext cx="9498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pronoun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5" name="Google Shape;2175;p45"/>
          <p:cNvSpPr/>
          <p:nvPr/>
        </p:nvSpPr>
        <p:spPr>
          <a:xfrm>
            <a:off x="533326" y="5641777"/>
            <a:ext cx="11077724" cy="2927821"/>
          </a:xfrm>
          <a:prstGeom prst="roundRect">
            <a:avLst>
              <a:gd fmla="val 455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6" name="Google Shape;2176;p45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7" name="Google Shape;2177;p45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8" name="Google Shape;2178;p45"/>
          <p:cNvSpPr/>
          <p:nvPr/>
        </p:nvSpPr>
        <p:spPr>
          <a:xfrm>
            <a:off x="1247477" y="6260827"/>
            <a:ext cx="56625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collective nouns and irregular plural nouns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45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0" name="Google Shape;2180;p45"/>
          <p:cNvSpPr/>
          <p:nvPr/>
        </p:nvSpPr>
        <p:spPr>
          <a:xfrm>
            <a:off x="1247477" y="6699721"/>
            <a:ext cx="27857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reflexive pronouns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45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2" name="Google Shape;2182;p45"/>
          <p:cNvSpPr/>
          <p:nvPr/>
        </p:nvSpPr>
        <p:spPr>
          <a:xfrm>
            <a:off x="1247477" y="7138615"/>
            <a:ext cx="513209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Form and use past tense of irregular verbs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3" name="Google Shape;2183;p45"/>
          <p:cNvSpPr/>
          <p:nvPr/>
        </p:nvSpPr>
        <p:spPr>
          <a:xfrm>
            <a:off x="809476" y="76060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4" name="Google Shape;2184;p45"/>
          <p:cNvSpPr/>
          <p:nvPr/>
        </p:nvSpPr>
        <p:spPr>
          <a:xfrm>
            <a:off x="1247477" y="7577510"/>
            <a:ext cx="44506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adjectives and adverbs correctly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5" name="Google Shape;2185;p45"/>
          <p:cNvSpPr/>
          <p:nvPr/>
        </p:nvSpPr>
        <p:spPr>
          <a:xfrm>
            <a:off x="809476" y="80449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6" name="Google Shape;2186;p45"/>
          <p:cNvSpPr/>
          <p:nvPr/>
        </p:nvSpPr>
        <p:spPr>
          <a:xfrm>
            <a:off x="1247477" y="8016404"/>
            <a:ext cx="501201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Produce and expand complete sentences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7" name="Google Shape;2187;p45"/>
          <p:cNvSpPr/>
          <p:nvPr/>
        </p:nvSpPr>
        <p:spPr>
          <a:xfrm>
            <a:off x="533326" y="8760023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8" name="Google Shape;2188;p45"/>
          <p:cNvSpPr/>
          <p:nvPr/>
        </p:nvSpPr>
        <p:spPr>
          <a:xfrm>
            <a:off x="533326" y="8760023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9" name="Google Shape;2189;p45"/>
          <p:cNvSpPr/>
          <p:nvPr/>
        </p:nvSpPr>
        <p:spPr>
          <a:xfrm>
            <a:off x="895201" y="8950449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0" name="Google Shape;2190;p45"/>
          <p:cNvSpPr/>
          <p:nvPr/>
        </p:nvSpPr>
        <p:spPr>
          <a:xfrm>
            <a:off x="895201" y="931232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regularize irregular verbs, writing "runned" or "goed". These forms must be taught as memorized exceptions.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1" name="Google Shape;2191;p45"/>
          <p:cNvSpPr/>
          <p:nvPr/>
        </p:nvSpPr>
        <p:spPr>
          <a:xfrm>
            <a:off x="533326" y="1038612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2" name="Google Shape;2192;p45"/>
          <p:cNvSpPr/>
          <p:nvPr/>
        </p:nvSpPr>
        <p:spPr>
          <a:xfrm>
            <a:off x="780901" y="1057654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3" name="Google Shape;2193;p45"/>
          <p:cNvSpPr/>
          <p:nvPr/>
        </p:nvSpPr>
        <p:spPr>
          <a:xfrm>
            <a:off x="780901" y="1100517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4" name="Google Shape;2194;p45"/>
          <p:cNvSpPr/>
          <p:nvPr/>
        </p:nvSpPr>
        <p:spPr>
          <a:xfrm>
            <a:off x="1218902" y="10976595"/>
            <a:ext cx="396246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complete sentences.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5" name="Google Shape;2195;p45"/>
          <p:cNvSpPr/>
          <p:nvPr/>
        </p:nvSpPr>
        <p:spPr>
          <a:xfrm>
            <a:off x="780901" y="114474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6" name="Google Shape;2196;p45"/>
          <p:cNvSpPr/>
          <p:nvPr/>
        </p:nvSpPr>
        <p:spPr>
          <a:xfrm>
            <a:off x="1218902" y="11418838"/>
            <a:ext cx="601735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nouns, verbs, and adjectives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7" name="Google Shape;2197;p4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8" name="Google Shape;2198;p45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9" name="Google Shape;2199;p45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L.2.1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4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6" name="Google Shape;2206;p46"/>
          <p:cNvSpPr/>
          <p:nvPr/>
        </p:nvSpPr>
        <p:spPr>
          <a:xfrm>
            <a:off x="533326" y="533326"/>
            <a:ext cx="93693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7" name="Google Shape;2207;p46"/>
          <p:cNvSpPr/>
          <p:nvPr/>
        </p:nvSpPr>
        <p:spPr>
          <a:xfrm>
            <a:off x="533326" y="847651"/>
            <a:ext cx="936934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Conventions of Standard English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8" name="Google Shape;2208;p46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46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L.2.2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0" name="Google Shape;2210;p46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1" name="Google Shape;2211;p46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2" name="Google Shape;2212;p4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3" name="Google Shape;2213;p46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command of the conventions of standard English capitalization, punctuation, and spelling when writing.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46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5" name="Google Shape;2215;p46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6" name="Google Shape;2216;p46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7" name="Google Shape;2217;p46"/>
          <p:cNvSpPr/>
          <p:nvPr/>
        </p:nvSpPr>
        <p:spPr>
          <a:xfrm>
            <a:off x="999902" y="4115470"/>
            <a:ext cx="43450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capitals and commas go?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8" name="Google Shape;2218;p46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9" name="Google Shape;2219;p46"/>
          <p:cNvSpPr/>
          <p:nvPr/>
        </p:nvSpPr>
        <p:spPr>
          <a:xfrm>
            <a:off x="999902" y="4563963"/>
            <a:ext cx="45719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spell a word I am unsure of?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0" name="Google Shape;2220;p46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1" name="Google Shape;2221;p46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2" name="Google Shape;2222;p46"/>
          <p:cNvSpPr/>
          <p:nvPr/>
        </p:nvSpPr>
        <p:spPr>
          <a:xfrm>
            <a:off x="6424464" y="4115470"/>
            <a:ext cx="131623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3" name="Google Shape;2223;p46"/>
          <p:cNvSpPr/>
          <p:nvPr/>
        </p:nvSpPr>
        <p:spPr>
          <a:xfrm>
            <a:off x="6586389" y="4182145"/>
            <a:ext cx="106858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capitalize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4" name="Google Shape;2224;p46"/>
          <p:cNvSpPr/>
          <p:nvPr/>
        </p:nvSpPr>
        <p:spPr>
          <a:xfrm>
            <a:off x="7826425" y="4115470"/>
            <a:ext cx="110415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5" name="Google Shape;2225;p46"/>
          <p:cNvSpPr/>
          <p:nvPr/>
        </p:nvSpPr>
        <p:spPr>
          <a:xfrm>
            <a:off x="7988350" y="4182145"/>
            <a:ext cx="85650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comma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6" name="Google Shape;2226;p46"/>
          <p:cNvSpPr/>
          <p:nvPr/>
        </p:nvSpPr>
        <p:spPr>
          <a:xfrm>
            <a:off x="9016305" y="4115470"/>
            <a:ext cx="151492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7" name="Google Shape;2227;p46"/>
          <p:cNvSpPr/>
          <p:nvPr/>
        </p:nvSpPr>
        <p:spPr>
          <a:xfrm>
            <a:off x="9178230" y="4182145"/>
            <a:ext cx="126727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apostrophe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8" name="Google Shape;2228;p46"/>
          <p:cNvSpPr/>
          <p:nvPr/>
        </p:nvSpPr>
        <p:spPr>
          <a:xfrm>
            <a:off x="6424464" y="4619997"/>
            <a:ext cx="148813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9" name="Google Shape;2229;p46"/>
          <p:cNvSpPr/>
          <p:nvPr/>
        </p:nvSpPr>
        <p:spPr>
          <a:xfrm>
            <a:off x="6586389" y="4686672"/>
            <a:ext cx="124048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contraction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0" name="Google Shape;2230;p46"/>
          <p:cNvSpPr/>
          <p:nvPr/>
        </p:nvSpPr>
        <p:spPr>
          <a:xfrm>
            <a:off x="7998321" y="4619997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1" name="Google Shape;2231;p46"/>
          <p:cNvSpPr/>
          <p:nvPr/>
        </p:nvSpPr>
        <p:spPr>
          <a:xfrm>
            <a:off x="8160246" y="4686672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possessive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2" name="Google Shape;2232;p46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3" name="Google Shape;2233;p46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4" name="Google Shape;2234;p46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5" name="Google Shape;2235;p46"/>
          <p:cNvSpPr/>
          <p:nvPr/>
        </p:nvSpPr>
        <p:spPr>
          <a:xfrm>
            <a:off x="1247477" y="6067276"/>
            <a:ext cx="71462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Capitalize holidays, product names, and geographic names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6" name="Google Shape;2236;p46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7" name="Google Shape;2237;p46"/>
          <p:cNvSpPr/>
          <p:nvPr/>
        </p:nvSpPr>
        <p:spPr>
          <a:xfrm>
            <a:off x="1247477" y="6506170"/>
            <a:ext cx="57828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commas in greetings and closings of letters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8" name="Google Shape;2238;p46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9" name="Google Shape;2239;p46"/>
          <p:cNvSpPr/>
          <p:nvPr/>
        </p:nvSpPr>
        <p:spPr>
          <a:xfrm>
            <a:off x="1247477" y="6945064"/>
            <a:ext cx="60861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apostrophes for contractions and possessives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0" name="Google Shape;2240;p46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1" name="Google Shape;2241;p46"/>
          <p:cNvSpPr/>
          <p:nvPr/>
        </p:nvSpPr>
        <p:spPr>
          <a:xfrm>
            <a:off x="1247477" y="7383959"/>
            <a:ext cx="53747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spelling patterns and consult references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2" name="Google Shape;2242;p46"/>
          <p:cNvSpPr/>
          <p:nvPr/>
        </p:nvSpPr>
        <p:spPr>
          <a:xfrm>
            <a:off x="533326" y="8127578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3" name="Google Shape;2243;p46"/>
          <p:cNvSpPr/>
          <p:nvPr/>
        </p:nvSpPr>
        <p:spPr>
          <a:xfrm>
            <a:off x="533326" y="8127578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4" name="Google Shape;2244;p46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5" name="Google Shape;2245;p46"/>
          <p:cNvSpPr/>
          <p:nvPr/>
        </p:nvSpPr>
        <p:spPr>
          <a:xfrm>
            <a:off x="895201" y="8679879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Apostrophes get added to every word ending in s, including simple plurals.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6" name="Google Shape;2246;p46"/>
          <p:cNvSpPr/>
          <p:nvPr/>
        </p:nvSpPr>
        <p:spPr>
          <a:xfrm>
            <a:off x="533326" y="9407203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7" name="Google Shape;2247;p46"/>
          <p:cNvSpPr/>
          <p:nvPr/>
        </p:nvSpPr>
        <p:spPr>
          <a:xfrm>
            <a:off x="780901" y="959762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8" name="Google Shape;2248;p46"/>
          <p:cNvSpPr/>
          <p:nvPr/>
        </p:nvSpPr>
        <p:spPr>
          <a:xfrm>
            <a:off x="780901" y="100262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9" name="Google Shape;2249;p46"/>
          <p:cNvSpPr/>
          <p:nvPr/>
        </p:nvSpPr>
        <p:spPr>
          <a:xfrm>
            <a:off x="1218902" y="9997678"/>
            <a:ext cx="688175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capitals, commas, and apostrophes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0" name="Google Shape;2250;p4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1" name="Google Shape;2251;p46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2" name="Google Shape;2252;p46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L.2.2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4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9" name="Google Shape;2259;p47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0" name="Google Shape;2260;p47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1" name="Google Shape;2261;p47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2" name="Google Shape;2262;p47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L.2.3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3" name="Google Shape;2263;p4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4" name="Google Shape;2264;p4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5" name="Google Shape;2265;p4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6" name="Google Shape;2266;p4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knowledge of language and its conventions when writing, speaking, reading, or listening.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7" name="Google Shape;2267;p47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8" name="Google Shape;2268;p4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9" name="Google Shape;2269;p4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0" name="Google Shape;2270;p47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my language change with my audience?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1" name="Google Shape;2271;p47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2" name="Google Shape;2272;p47"/>
          <p:cNvSpPr/>
          <p:nvPr/>
        </p:nvSpPr>
        <p:spPr>
          <a:xfrm>
            <a:off x="999902" y="4898157"/>
            <a:ext cx="35879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version sounds better?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3" name="Google Shape;2273;p47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4" name="Google Shape;2274;p4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5" name="Google Shape;2275;p47"/>
          <p:cNvSpPr/>
          <p:nvPr/>
        </p:nvSpPr>
        <p:spPr>
          <a:xfrm>
            <a:off x="6424464" y="4115470"/>
            <a:ext cx="985168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6" name="Google Shape;2276;p47"/>
          <p:cNvSpPr/>
          <p:nvPr/>
        </p:nvSpPr>
        <p:spPr>
          <a:xfrm>
            <a:off x="6586389" y="4182145"/>
            <a:ext cx="7375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formal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7" name="Google Shape;2277;p47"/>
          <p:cNvSpPr/>
          <p:nvPr/>
        </p:nvSpPr>
        <p:spPr>
          <a:xfrm>
            <a:off x="7495356" y="4115470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8" name="Google Shape;2278;p47"/>
          <p:cNvSpPr/>
          <p:nvPr/>
        </p:nvSpPr>
        <p:spPr>
          <a:xfrm>
            <a:off x="7657281" y="4182145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informal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9" name="Google Shape;2279;p47"/>
          <p:cNvSpPr/>
          <p:nvPr/>
        </p:nvSpPr>
        <p:spPr>
          <a:xfrm>
            <a:off x="8751540" y="4115470"/>
            <a:ext cx="147518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0" name="Google Shape;2280;p47"/>
          <p:cNvSpPr/>
          <p:nvPr/>
        </p:nvSpPr>
        <p:spPr>
          <a:xfrm>
            <a:off x="8913465" y="4182145"/>
            <a:ext cx="122753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convention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1" name="Google Shape;2281;p47"/>
          <p:cNvSpPr/>
          <p:nvPr/>
        </p:nvSpPr>
        <p:spPr>
          <a:xfrm>
            <a:off x="6424464" y="4619997"/>
            <a:ext cx="128989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2" name="Google Shape;2282;p47"/>
          <p:cNvSpPr/>
          <p:nvPr/>
        </p:nvSpPr>
        <p:spPr>
          <a:xfrm>
            <a:off x="6586389" y="4686672"/>
            <a:ext cx="10422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audience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3" name="Google Shape;2283;p47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4" name="Google Shape;2284;p47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5" name="Google Shape;2285;p47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6" name="Google Shape;2286;p47"/>
          <p:cNvSpPr/>
          <p:nvPr/>
        </p:nvSpPr>
        <p:spPr>
          <a:xfrm>
            <a:off x="1247477" y="6260827"/>
            <a:ext cx="90545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knowledge of language and its conventions when writing and speaking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7" name="Google Shape;2287;p47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8" name="Google Shape;2288;p47"/>
          <p:cNvSpPr/>
          <p:nvPr/>
        </p:nvSpPr>
        <p:spPr>
          <a:xfrm>
            <a:off x="1247477" y="6699721"/>
            <a:ext cx="544985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formal and informal uses of English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9" name="Google Shape;2289;p47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0" name="Google Shape;2290;p47"/>
          <p:cNvSpPr/>
          <p:nvPr/>
        </p:nvSpPr>
        <p:spPr>
          <a:xfrm>
            <a:off x="1247477" y="7138615"/>
            <a:ext cx="36790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Choose words for the situation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1" name="Google Shape;2291;p47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47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3" name="Google Shape;2293;p47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4" name="Google Shape;2294;p47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write exactly as they speak, including fillers, because the audience is never made explicit.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47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6" name="Google Shape;2296;p47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7" name="Google Shape;2297;p47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8" name="Google Shape;2298;p47"/>
          <p:cNvSpPr/>
          <p:nvPr/>
        </p:nvSpPr>
        <p:spPr>
          <a:xfrm>
            <a:off x="1218902" y="10098807"/>
            <a:ext cx="64628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choose the right words for who I am talking to.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9" name="Google Shape;2299;p4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47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1" name="Google Shape;2301;p47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L.2.3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306" name="Shape 2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7" name="Google Shape;2307;p4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8" name="Google Shape;2308;p48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48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0" name="Google Shape;2310;p48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1" name="Google Shape;2311;p48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L.2.4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2" name="Google Shape;2312;p4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4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4" name="Google Shape;2314;p4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5" name="Google Shape;2315;p4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or clarify the meaning of unknown and multiple-meaning words and phrases based on grade 2 reading and content.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6" name="Google Shape;2316;p48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7" name="Google Shape;2317;p4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8" name="Google Shape;2318;p4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9" name="Google Shape;2319;p48"/>
          <p:cNvSpPr/>
          <p:nvPr/>
        </p:nvSpPr>
        <p:spPr>
          <a:xfrm>
            <a:off x="999902" y="4115470"/>
            <a:ext cx="401206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clues are around the word?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0" name="Google Shape;2320;p48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1" name="Google Shape;2321;p48"/>
          <p:cNvSpPr/>
          <p:nvPr/>
        </p:nvSpPr>
        <p:spPr>
          <a:xfrm>
            <a:off x="999902" y="4563963"/>
            <a:ext cx="301285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word parts help?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2" name="Google Shape;2322;p48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3" name="Google Shape;2323;p4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4" name="Google Shape;2324;p48"/>
          <p:cNvSpPr/>
          <p:nvPr/>
        </p:nvSpPr>
        <p:spPr>
          <a:xfrm>
            <a:off x="6424464" y="4115470"/>
            <a:ext cx="1593949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5" name="Google Shape;2325;p48"/>
          <p:cNvSpPr/>
          <p:nvPr/>
        </p:nvSpPr>
        <p:spPr>
          <a:xfrm>
            <a:off x="6586389" y="4182145"/>
            <a:ext cx="13462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context clue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6" name="Google Shape;2326;p48"/>
          <p:cNvSpPr/>
          <p:nvPr/>
        </p:nvSpPr>
        <p:spPr>
          <a:xfrm>
            <a:off x="8104138" y="4115470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7" name="Google Shape;2327;p48"/>
          <p:cNvSpPr/>
          <p:nvPr/>
        </p:nvSpPr>
        <p:spPr>
          <a:xfrm>
            <a:off x="8266063" y="4182145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prefix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8" name="Google Shape;2328;p48"/>
          <p:cNvSpPr/>
          <p:nvPr/>
        </p:nvSpPr>
        <p:spPr>
          <a:xfrm>
            <a:off x="9095780" y="4115470"/>
            <a:ext cx="13160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9" name="Google Shape;2329;p48"/>
          <p:cNvSpPr/>
          <p:nvPr/>
        </p:nvSpPr>
        <p:spPr>
          <a:xfrm>
            <a:off x="9257705" y="4182145"/>
            <a:ext cx="10683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root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0" name="Google Shape;2330;p48"/>
          <p:cNvSpPr/>
          <p:nvPr/>
        </p:nvSpPr>
        <p:spPr>
          <a:xfrm>
            <a:off x="6424464" y="4619997"/>
            <a:ext cx="201744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1" name="Google Shape;2331;p48"/>
          <p:cNvSpPr/>
          <p:nvPr/>
        </p:nvSpPr>
        <p:spPr>
          <a:xfrm>
            <a:off x="6586389" y="4686672"/>
            <a:ext cx="17697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compound word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2" name="Google Shape;2332;p48"/>
          <p:cNvSpPr/>
          <p:nvPr/>
        </p:nvSpPr>
        <p:spPr>
          <a:xfrm>
            <a:off x="8527628" y="4619997"/>
            <a:ext cx="121019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3" name="Google Shape;2333;p48"/>
          <p:cNvSpPr/>
          <p:nvPr/>
        </p:nvSpPr>
        <p:spPr>
          <a:xfrm>
            <a:off x="8689553" y="4686672"/>
            <a:ext cx="962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glossary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4" name="Google Shape;2334;p48"/>
          <p:cNvSpPr/>
          <p:nvPr/>
        </p:nvSpPr>
        <p:spPr>
          <a:xfrm>
            <a:off x="533326" y="5448226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5" name="Google Shape;2335;p48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6" name="Google Shape;2336;p48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7" name="Google Shape;2337;p48"/>
          <p:cNvSpPr/>
          <p:nvPr/>
        </p:nvSpPr>
        <p:spPr>
          <a:xfrm>
            <a:off x="1247477" y="6067276"/>
            <a:ext cx="443591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sentence-level context as a clue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8" name="Google Shape;2338;p48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9" name="Google Shape;2339;p48"/>
          <p:cNvSpPr/>
          <p:nvPr/>
        </p:nvSpPr>
        <p:spPr>
          <a:xfrm>
            <a:off x="1247477" y="6506170"/>
            <a:ext cx="79175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the meaning of a new word formed with a known prefix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0" name="Google Shape;2340;p48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1" name="Google Shape;2341;p48"/>
          <p:cNvSpPr/>
          <p:nvPr/>
        </p:nvSpPr>
        <p:spPr>
          <a:xfrm>
            <a:off x="1247477" y="6945064"/>
            <a:ext cx="65102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known root word to figure out an unknown word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2" name="Google Shape;2342;p48"/>
          <p:cNvSpPr/>
          <p:nvPr/>
        </p:nvSpPr>
        <p:spPr>
          <a:xfrm>
            <a:off x="809476" y="741253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3" name="Google Shape;2343;p48"/>
          <p:cNvSpPr/>
          <p:nvPr/>
        </p:nvSpPr>
        <p:spPr>
          <a:xfrm>
            <a:off x="1247477" y="7383959"/>
            <a:ext cx="376969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glossaries and dictionaries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4" name="Google Shape;2344;p48"/>
          <p:cNvSpPr/>
          <p:nvPr/>
        </p:nvSpPr>
        <p:spPr>
          <a:xfrm>
            <a:off x="533326" y="812757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5" name="Google Shape;2345;p48"/>
          <p:cNvSpPr/>
          <p:nvPr/>
        </p:nvSpPr>
        <p:spPr>
          <a:xfrm>
            <a:off x="533326" y="812757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48"/>
          <p:cNvSpPr/>
          <p:nvPr/>
        </p:nvSpPr>
        <p:spPr>
          <a:xfrm>
            <a:off x="895201" y="831800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7" name="Google Shape;2347;p48"/>
          <p:cNvSpPr/>
          <p:nvPr/>
        </p:nvSpPr>
        <p:spPr>
          <a:xfrm>
            <a:off x="895201" y="867987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look up every unknown word instead of trying context first, which interrupts comprehension.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8" name="Google Shape;2348;p48"/>
          <p:cNvSpPr/>
          <p:nvPr/>
        </p:nvSpPr>
        <p:spPr>
          <a:xfrm>
            <a:off x="533326" y="975367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9" name="Google Shape;2349;p48"/>
          <p:cNvSpPr/>
          <p:nvPr/>
        </p:nvSpPr>
        <p:spPr>
          <a:xfrm>
            <a:off x="780901" y="994410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0" name="Google Shape;2350;p48"/>
          <p:cNvSpPr/>
          <p:nvPr/>
        </p:nvSpPr>
        <p:spPr>
          <a:xfrm>
            <a:off x="780901" y="103727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1" name="Google Shape;2351;p48"/>
          <p:cNvSpPr/>
          <p:nvPr/>
        </p:nvSpPr>
        <p:spPr>
          <a:xfrm>
            <a:off x="1218902" y="10344150"/>
            <a:ext cx="506357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clues to figure out a new word.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2" name="Google Shape;2352;p4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3" name="Google Shape;2353;p48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4" name="Google Shape;2354;p48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L.2.4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p49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1" name="Google Shape;2361;p49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2" name="Google Shape;2362;p49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3" name="Google Shape;2363;p49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4" name="Google Shape;2364;p49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L.2.5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5" name="Google Shape;2365;p49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6" name="Google Shape;2366;p49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7" name="Google Shape;2367;p49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8" name="Google Shape;2368;p49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Demonstrate understanding of word relationships and nuances in word meanings.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9" name="Google Shape;2369;p49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0" name="Google Shape;2370;p49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1" name="Google Shape;2371;p49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2" name="Google Shape;2372;p49"/>
          <p:cNvSpPr/>
          <p:nvPr/>
        </p:nvSpPr>
        <p:spPr>
          <a:xfrm>
            <a:off x="999902" y="3755603"/>
            <a:ext cx="36184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these words related?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3" name="Google Shape;2373;p49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4" name="Google Shape;2374;p49"/>
          <p:cNvSpPr/>
          <p:nvPr/>
        </p:nvSpPr>
        <p:spPr>
          <a:xfrm>
            <a:off x="999902" y="420409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is the small difference between them?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5" name="Google Shape;2375;p49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6" name="Google Shape;2376;p49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7" name="Google Shape;2377;p49"/>
          <p:cNvSpPr/>
          <p:nvPr/>
        </p:nvSpPr>
        <p:spPr>
          <a:xfrm>
            <a:off x="6424464" y="3755603"/>
            <a:ext cx="2335113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8" name="Google Shape;2378;p49"/>
          <p:cNvSpPr/>
          <p:nvPr/>
        </p:nvSpPr>
        <p:spPr>
          <a:xfrm>
            <a:off x="6586389" y="3822278"/>
            <a:ext cx="208746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shades of meaning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49"/>
          <p:cNvSpPr/>
          <p:nvPr/>
        </p:nvSpPr>
        <p:spPr>
          <a:xfrm>
            <a:off x="8845302" y="3755603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0" name="Google Shape;2380;p49"/>
          <p:cNvSpPr/>
          <p:nvPr/>
        </p:nvSpPr>
        <p:spPr>
          <a:xfrm>
            <a:off x="9007227" y="3822278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related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1" name="Google Shape;2381;p49"/>
          <p:cNvSpPr/>
          <p:nvPr/>
        </p:nvSpPr>
        <p:spPr>
          <a:xfrm>
            <a:off x="9982721" y="3755603"/>
            <a:ext cx="1276276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2" name="Google Shape;2382;p49"/>
          <p:cNvSpPr/>
          <p:nvPr/>
        </p:nvSpPr>
        <p:spPr>
          <a:xfrm>
            <a:off x="10144646" y="3822278"/>
            <a:ext cx="102862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synonym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3" name="Google Shape;2383;p49"/>
          <p:cNvSpPr/>
          <p:nvPr/>
        </p:nvSpPr>
        <p:spPr>
          <a:xfrm>
            <a:off x="6424464" y="4260131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4" name="Google Shape;2384;p49"/>
          <p:cNvSpPr/>
          <p:nvPr/>
        </p:nvSpPr>
        <p:spPr>
          <a:xfrm>
            <a:off x="6586389" y="4326806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5" name="Google Shape;2385;p49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6" name="Google Shape;2386;p49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7" name="Google Shape;2387;p49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8" name="Google Shape;2388;p49"/>
          <p:cNvSpPr/>
          <p:nvPr/>
        </p:nvSpPr>
        <p:spPr>
          <a:xfrm>
            <a:off x="1247477" y="5900961"/>
            <a:ext cx="70703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real-life connections between words and their uses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9" name="Google Shape;2389;p49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0" name="Google Shape;2390;p49"/>
          <p:cNvSpPr/>
          <p:nvPr/>
        </p:nvSpPr>
        <p:spPr>
          <a:xfrm>
            <a:off x="1247477" y="6339855"/>
            <a:ext cx="89931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Distinguish shades of meaning among closely related verbs and adjectives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1" name="Google Shape;2391;p49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2" name="Google Shape;2392;p49"/>
          <p:cNvSpPr/>
          <p:nvPr/>
        </p:nvSpPr>
        <p:spPr>
          <a:xfrm>
            <a:off x="1247477" y="6778749"/>
            <a:ext cx="31488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Sort words into categories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3" name="Google Shape;2393;p49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4" name="Google Shape;2394;p49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49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6" name="Google Shape;2396;p49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treat all synonyms as interchangeable, missing intensity differences between "toss" and "hurl".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7" name="Google Shape;2397;p49"/>
          <p:cNvSpPr/>
          <p:nvPr/>
        </p:nvSpPr>
        <p:spPr>
          <a:xfrm>
            <a:off x="533326" y="9148465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8" name="Google Shape;2398;p49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9" name="Google Shape;2399;p49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0" name="Google Shape;2400;p49"/>
          <p:cNvSpPr/>
          <p:nvPr/>
        </p:nvSpPr>
        <p:spPr>
          <a:xfrm>
            <a:off x="1218902" y="9738940"/>
            <a:ext cx="908399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the difference between words that mean almost the same thing.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1" name="Google Shape;2401;p4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2" name="Google Shape;2402;p49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3" name="Google Shape;2403;p49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L.2.5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408" name="Shape 2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9" name="Google Shape;2409;p5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0" name="Google Shape;2410;p50"/>
          <p:cNvSpPr/>
          <p:nvPr/>
        </p:nvSpPr>
        <p:spPr>
          <a:xfrm>
            <a:off x="533326" y="533326"/>
            <a:ext cx="788022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2ND GRADE ELA · LANGUAGE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1" name="Google Shape;2411;p50"/>
          <p:cNvSpPr/>
          <p:nvPr/>
        </p:nvSpPr>
        <p:spPr>
          <a:xfrm>
            <a:off x="533326" y="847651"/>
            <a:ext cx="7880226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Knowledge and Vocabulary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2" name="Google Shape;2412;p50"/>
          <p:cNvSpPr/>
          <p:nvPr/>
        </p:nvSpPr>
        <p:spPr>
          <a:xfrm>
            <a:off x="10483900" y="533326"/>
            <a:ext cx="1127150" cy="557213"/>
          </a:xfrm>
          <a:prstGeom prst="roundRect">
            <a:avLst>
              <a:gd fmla="val 17094" name="adj"/>
            </a:avLst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3" name="Google Shape;2413;p50"/>
          <p:cNvSpPr/>
          <p:nvPr/>
        </p:nvSpPr>
        <p:spPr>
          <a:xfrm>
            <a:off x="10693450" y="647626"/>
            <a:ext cx="7842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L.2.6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4" name="Google Shape;2414;p5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1F7F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5" name="Google Shape;2415;p5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6" name="Google Shape;2416;p5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7" name="Google Shape;2417;p5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words and phrases acquired through conversations, reading and being read to, and responding to texts.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8" name="Google Shape;2418;p50"/>
          <p:cNvSpPr/>
          <p:nvPr/>
        </p:nvSpPr>
        <p:spPr>
          <a:xfrm>
            <a:off x="533326" y="3496419"/>
            <a:ext cx="5443538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9" name="Google Shape;2419;p5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0" name="Google Shape;2420;p5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1" name="Google Shape;2421;p50"/>
          <p:cNvSpPr/>
          <p:nvPr/>
        </p:nvSpPr>
        <p:spPr>
          <a:xfrm>
            <a:off x="999902" y="4115470"/>
            <a:ext cx="410267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make a new word mine?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2" name="Google Shape;2422;p50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5F8F9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50"/>
          <p:cNvSpPr/>
          <p:nvPr/>
        </p:nvSpPr>
        <p:spPr>
          <a:xfrm>
            <a:off x="999902" y="4563963"/>
            <a:ext cx="34821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Where do I hear new words?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4" name="Google Shape;2424;p50"/>
          <p:cNvSpPr/>
          <p:nvPr/>
        </p:nvSpPr>
        <p:spPr>
          <a:xfrm>
            <a:off x="6167289" y="3496419"/>
            <a:ext cx="5443761" cy="1620738"/>
          </a:xfrm>
          <a:prstGeom prst="roundRect">
            <a:avLst>
              <a:gd fmla="val 822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5" name="Google Shape;2425;p5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6" name="Google Shape;2426;p50"/>
          <p:cNvSpPr/>
          <p:nvPr/>
        </p:nvSpPr>
        <p:spPr>
          <a:xfrm>
            <a:off x="6424464" y="4115470"/>
            <a:ext cx="1104602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7" name="Google Shape;2427;p50"/>
          <p:cNvSpPr/>
          <p:nvPr/>
        </p:nvSpPr>
        <p:spPr>
          <a:xfrm>
            <a:off x="6586389" y="4182145"/>
            <a:ext cx="85695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acquire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8" name="Google Shape;2428;p50"/>
          <p:cNvSpPr/>
          <p:nvPr/>
        </p:nvSpPr>
        <p:spPr>
          <a:xfrm>
            <a:off x="7614791" y="4115470"/>
            <a:ext cx="1223590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50"/>
          <p:cNvSpPr/>
          <p:nvPr/>
        </p:nvSpPr>
        <p:spPr>
          <a:xfrm>
            <a:off x="7776716" y="4182145"/>
            <a:ext cx="9759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describe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0" name="Google Shape;2430;p50"/>
          <p:cNvSpPr/>
          <p:nvPr/>
        </p:nvSpPr>
        <p:spPr>
          <a:xfrm>
            <a:off x="8924106" y="4115470"/>
            <a:ext cx="1474961" cy="418802"/>
          </a:xfrm>
          <a:prstGeom prst="roundRect">
            <a:avLst>
              <a:gd fmla="val 50000" name="adj"/>
            </a:avLst>
          </a:prstGeom>
          <a:solidFill>
            <a:srgbClr val="DCEA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1" name="Google Shape;2431;p50"/>
          <p:cNvSpPr/>
          <p:nvPr/>
        </p:nvSpPr>
        <p:spPr>
          <a:xfrm>
            <a:off x="9086031" y="4182145"/>
            <a:ext cx="12273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2" name="Google Shape;2432;p50"/>
          <p:cNvSpPr/>
          <p:nvPr/>
        </p:nvSpPr>
        <p:spPr>
          <a:xfrm>
            <a:off x="533326" y="530758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3" name="Google Shape;2433;p50"/>
          <p:cNvSpPr/>
          <p:nvPr/>
        </p:nvSpPr>
        <p:spPr>
          <a:xfrm>
            <a:off x="809476" y="552658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E7C88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E7C88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4" name="Google Shape;2434;p50"/>
          <p:cNvSpPr/>
          <p:nvPr/>
        </p:nvSpPr>
        <p:spPr>
          <a:xfrm>
            <a:off x="809476" y="595520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5" name="Google Shape;2435;p50"/>
          <p:cNvSpPr/>
          <p:nvPr/>
        </p:nvSpPr>
        <p:spPr>
          <a:xfrm>
            <a:off x="1247477" y="5926634"/>
            <a:ext cx="811547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words and phrases acquired through conversation and reading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6" name="Google Shape;2436;p50"/>
          <p:cNvSpPr/>
          <p:nvPr/>
        </p:nvSpPr>
        <p:spPr>
          <a:xfrm>
            <a:off x="809476" y="639410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7" name="Google Shape;2437;p50"/>
          <p:cNvSpPr/>
          <p:nvPr/>
        </p:nvSpPr>
        <p:spPr>
          <a:xfrm>
            <a:off x="1247477" y="6365528"/>
            <a:ext cx="47539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adjectives and adverbs to describe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8" name="Google Shape;2438;p50"/>
          <p:cNvSpPr/>
          <p:nvPr/>
        </p:nvSpPr>
        <p:spPr>
          <a:xfrm>
            <a:off x="809476" y="683299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5F8F9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9" name="Google Shape;2439;p50"/>
          <p:cNvSpPr/>
          <p:nvPr/>
        </p:nvSpPr>
        <p:spPr>
          <a:xfrm>
            <a:off x="1247477" y="6804422"/>
            <a:ext cx="549602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new vocabulary in speaking and writing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0" name="Google Shape;2440;p50"/>
          <p:cNvSpPr/>
          <p:nvPr/>
        </p:nvSpPr>
        <p:spPr>
          <a:xfrm>
            <a:off x="533326" y="7548042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1" name="Google Shape;2441;p50"/>
          <p:cNvSpPr/>
          <p:nvPr/>
        </p:nvSpPr>
        <p:spPr>
          <a:xfrm>
            <a:off x="533326" y="7548042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50"/>
          <p:cNvSpPr/>
          <p:nvPr/>
        </p:nvSpPr>
        <p:spPr>
          <a:xfrm>
            <a:off x="895201" y="773846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3" name="Google Shape;2443;p50"/>
          <p:cNvSpPr/>
          <p:nvPr/>
        </p:nvSpPr>
        <p:spPr>
          <a:xfrm>
            <a:off x="895201" y="8100343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recognize a new word but never use it. Production, not recognition, is the goal here.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4" name="Google Shape;2444;p50"/>
          <p:cNvSpPr/>
          <p:nvPr/>
        </p:nvSpPr>
        <p:spPr>
          <a:xfrm>
            <a:off x="533326" y="8827666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5" name="Google Shape;2445;p50"/>
          <p:cNvSpPr/>
          <p:nvPr/>
        </p:nvSpPr>
        <p:spPr>
          <a:xfrm>
            <a:off x="780901" y="9018091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6" name="Google Shape;2446;p50"/>
          <p:cNvSpPr/>
          <p:nvPr/>
        </p:nvSpPr>
        <p:spPr>
          <a:xfrm>
            <a:off x="780901" y="944671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7" name="Google Shape;2447;p50"/>
          <p:cNvSpPr/>
          <p:nvPr/>
        </p:nvSpPr>
        <p:spPr>
          <a:xfrm>
            <a:off x="1218902" y="9418141"/>
            <a:ext cx="531479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new words when I talk and write.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8" name="Google Shape;2448;p5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9" name="Google Shape;2449;p50"/>
          <p:cNvSpPr/>
          <p:nvPr/>
        </p:nvSpPr>
        <p:spPr>
          <a:xfrm>
            <a:off x="533326" y="14897174"/>
            <a:ext cx="229948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All quarters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0" name="Google Shape;2450;p50"/>
          <p:cNvSpPr/>
          <p:nvPr/>
        </p:nvSpPr>
        <p:spPr>
          <a:xfrm>
            <a:off x="11068571" y="14897174"/>
            <a:ext cx="6186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L.2.6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455" name="Shape 2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6" name="Google Shape;2456;p5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51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8" name="Google Shape;2458;p51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Solve Problems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9" name="Google Shape;2459;p51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0" name="Google Shape;2460;p51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2.OA.A.1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1" name="Google Shape;2461;p5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2" name="Google Shape;2462;p5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3" name="Google Shape;2463;p5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4" name="Google Shape;2464;p5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addition and subtraction within 100 to solve one- and two-step word problems involving all situations, with unknowns in all positions.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5" name="Google Shape;2465;p51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6" name="Google Shape;2466;p5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7" name="Google Shape;2467;p5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8" name="Google Shape;2468;p51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decide whether to add or subtract in a word problem?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9" name="Google Shape;2469;p51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0" name="Google Shape;2470;p51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unknown in a problem represent?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1" name="Google Shape;2471;p51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2" name="Google Shape;2472;p5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3" name="Google Shape;2473;p51"/>
          <p:cNvSpPr/>
          <p:nvPr/>
        </p:nvSpPr>
        <p:spPr>
          <a:xfrm>
            <a:off x="6424464" y="4115470"/>
            <a:ext cx="72084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4" name="Google Shape;2474;p51"/>
          <p:cNvSpPr/>
          <p:nvPr/>
        </p:nvSpPr>
        <p:spPr>
          <a:xfrm>
            <a:off x="6586389" y="4182145"/>
            <a:ext cx="4731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add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5" name="Google Shape;2475;p51"/>
          <p:cNvSpPr/>
          <p:nvPr/>
        </p:nvSpPr>
        <p:spPr>
          <a:xfrm>
            <a:off x="7231038" y="4115470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6" name="Google Shape;2476;p51"/>
          <p:cNvSpPr/>
          <p:nvPr/>
        </p:nvSpPr>
        <p:spPr>
          <a:xfrm>
            <a:off x="7392963" y="4182145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subtract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7" name="Google Shape;2477;p51"/>
          <p:cNvSpPr/>
          <p:nvPr/>
        </p:nvSpPr>
        <p:spPr>
          <a:xfrm>
            <a:off x="8487221" y="4115470"/>
            <a:ext cx="77353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8" name="Google Shape;2478;p51"/>
          <p:cNvSpPr/>
          <p:nvPr/>
        </p:nvSpPr>
        <p:spPr>
          <a:xfrm>
            <a:off x="8649146" y="4182145"/>
            <a:ext cx="52588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9" name="Google Shape;2479;p51"/>
          <p:cNvSpPr/>
          <p:nvPr/>
        </p:nvSpPr>
        <p:spPr>
          <a:xfrm>
            <a:off x="9346481" y="4115470"/>
            <a:ext cx="136490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0" name="Google Shape;2480;p51"/>
          <p:cNvSpPr/>
          <p:nvPr/>
        </p:nvSpPr>
        <p:spPr>
          <a:xfrm>
            <a:off x="9508406" y="4182145"/>
            <a:ext cx="111725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difference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1" name="Google Shape;2481;p51"/>
          <p:cNvSpPr/>
          <p:nvPr/>
        </p:nvSpPr>
        <p:spPr>
          <a:xfrm>
            <a:off x="6424464" y="4619997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2" name="Google Shape;2482;p51"/>
          <p:cNvSpPr/>
          <p:nvPr/>
        </p:nvSpPr>
        <p:spPr>
          <a:xfrm>
            <a:off x="6586389" y="4686672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3" name="Google Shape;2483;p51"/>
          <p:cNvSpPr/>
          <p:nvPr/>
        </p:nvSpPr>
        <p:spPr>
          <a:xfrm>
            <a:off x="7786911" y="4619997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4" name="Google Shape;2484;p51"/>
          <p:cNvSpPr/>
          <p:nvPr/>
        </p:nvSpPr>
        <p:spPr>
          <a:xfrm>
            <a:off x="7948836" y="4686672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5" name="Google Shape;2485;p51"/>
          <p:cNvSpPr/>
          <p:nvPr/>
        </p:nvSpPr>
        <p:spPr>
          <a:xfrm>
            <a:off x="9109844" y="4619997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6" name="Google Shape;2486;p51"/>
          <p:cNvSpPr/>
          <p:nvPr/>
        </p:nvSpPr>
        <p:spPr>
          <a:xfrm>
            <a:off x="9271769" y="4686672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7" name="Google Shape;2487;p51"/>
          <p:cNvSpPr/>
          <p:nvPr/>
        </p:nvSpPr>
        <p:spPr>
          <a:xfrm>
            <a:off x="533326" y="5975970"/>
            <a:ext cx="11077724" cy="2488927"/>
          </a:xfrm>
          <a:prstGeom prst="roundRect">
            <a:avLst>
              <a:gd fmla="val 5358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8" name="Google Shape;2488;p51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9" name="Google Shape;2489;p51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0" name="Google Shape;2490;p51"/>
          <p:cNvSpPr/>
          <p:nvPr/>
        </p:nvSpPr>
        <p:spPr>
          <a:xfrm>
            <a:off x="1247477" y="6595021"/>
            <a:ext cx="79637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one- and two-step problems with a drawing or equation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1" name="Google Shape;2491;p51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2" name="Google Shape;2492;p51"/>
          <p:cNvSpPr/>
          <p:nvPr/>
        </p:nvSpPr>
        <p:spPr>
          <a:xfrm>
            <a:off x="1247477" y="7033915"/>
            <a:ext cx="469326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symbol for the unknown quantity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3" name="Google Shape;2493;p51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4" name="Google Shape;2494;p51"/>
          <p:cNvSpPr/>
          <p:nvPr/>
        </p:nvSpPr>
        <p:spPr>
          <a:xfrm>
            <a:off x="1247477" y="7472809"/>
            <a:ext cx="43757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within 100 to solve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5" name="Google Shape;2495;p51"/>
          <p:cNvSpPr/>
          <p:nvPr/>
        </p:nvSpPr>
        <p:spPr>
          <a:xfrm>
            <a:off x="809476" y="7940278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6" name="Google Shape;2496;p51"/>
          <p:cNvSpPr/>
          <p:nvPr/>
        </p:nvSpPr>
        <p:spPr>
          <a:xfrm>
            <a:off x="1247477" y="7911703"/>
            <a:ext cx="63282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Check that the answer makes sense for the situation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7" name="Google Shape;2497;p51"/>
          <p:cNvSpPr/>
          <p:nvPr/>
        </p:nvSpPr>
        <p:spPr>
          <a:xfrm>
            <a:off x="533326" y="8655323"/>
            <a:ext cx="11077724" cy="1782142"/>
          </a:xfrm>
          <a:custGeom>
            <a:rect b="b" l="l" r="r" t="t"/>
            <a:pathLst>
              <a:path extrusionOk="0" h="1782142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648792"/>
                </a:lnTo>
                <a:cubicBezTo>
                  <a:pt x="11077724" y="1722439"/>
                  <a:pt x="11018021" y="1782142"/>
                  <a:pt x="10944374" y="1782142"/>
                </a:cubicBezTo>
                <a:lnTo>
                  <a:pt x="0" y="1782142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8" name="Google Shape;2498;p51"/>
          <p:cNvSpPr/>
          <p:nvPr/>
        </p:nvSpPr>
        <p:spPr>
          <a:xfrm>
            <a:off x="533326" y="8655323"/>
            <a:ext cx="114300" cy="1782142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9" name="Google Shape;2499;p51"/>
          <p:cNvSpPr/>
          <p:nvPr/>
        </p:nvSpPr>
        <p:spPr>
          <a:xfrm>
            <a:off x="895201" y="8845748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0" name="Google Shape;2500;p51"/>
          <p:cNvSpPr/>
          <p:nvPr/>
        </p:nvSpPr>
        <p:spPr>
          <a:xfrm>
            <a:off x="895201" y="9207624"/>
            <a:ext cx="10782321" cy="10775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hunt for keywords ("altogether means add") instead of reading the situation. Keyword strategies break down on two-step and compare problems. Ask students to retell the story before touching numbers.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1" name="Google Shape;2501;p51"/>
          <p:cNvSpPr/>
          <p:nvPr/>
        </p:nvSpPr>
        <p:spPr>
          <a:xfrm>
            <a:off x="533326" y="10627891"/>
            <a:ext cx="11077724" cy="2012528"/>
          </a:xfrm>
          <a:prstGeom prst="roundRect">
            <a:avLst>
              <a:gd fmla="val 6626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2" name="Google Shape;2502;p51"/>
          <p:cNvSpPr/>
          <p:nvPr/>
        </p:nvSpPr>
        <p:spPr>
          <a:xfrm>
            <a:off x="780901" y="1081831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3" name="Google Shape;2503;p51"/>
          <p:cNvSpPr/>
          <p:nvPr/>
        </p:nvSpPr>
        <p:spPr>
          <a:xfrm>
            <a:off x="780901" y="1124694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4" name="Google Shape;2504;p51"/>
          <p:cNvSpPr/>
          <p:nvPr/>
        </p:nvSpPr>
        <p:spPr>
          <a:xfrm>
            <a:off x="1218902" y="11218366"/>
            <a:ext cx="709195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a word problem with a picture or an equation.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5" name="Google Shape;2505;p51"/>
          <p:cNvSpPr/>
          <p:nvPr/>
        </p:nvSpPr>
        <p:spPr>
          <a:xfrm>
            <a:off x="780901" y="1168918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6" name="Google Shape;2506;p51"/>
          <p:cNvSpPr/>
          <p:nvPr/>
        </p:nvSpPr>
        <p:spPr>
          <a:xfrm>
            <a:off x="1218902" y="11660609"/>
            <a:ext cx="61013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 symbol for the number I do not know.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7" name="Google Shape;2507;p51"/>
          <p:cNvSpPr/>
          <p:nvPr/>
        </p:nvSpPr>
        <p:spPr>
          <a:xfrm>
            <a:off x="780901" y="12131427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8" name="Google Shape;2508;p51"/>
          <p:cNvSpPr/>
          <p:nvPr/>
        </p:nvSpPr>
        <p:spPr>
          <a:xfrm>
            <a:off x="1218902" y="12102852"/>
            <a:ext cx="452824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problems with two steps.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9" name="Google Shape;2509;p5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5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1" name="Google Shape;2511;p51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2.OA.A.1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5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52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9" name="Google Shape;2519;p52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Within 20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0" name="Google Shape;2520;p52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1" name="Google Shape;2521;p52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2.OA.B.2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2" name="Google Shape;2522;p5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3" name="Google Shape;2523;p5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5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5" name="Google Shape;2525;p5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Fluently add and subtract within 20 using mental strategies. Know from memory all sums of two one-digit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6" name="Google Shape;2526;p52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7" name="Google Shape;2527;p5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8" name="Google Shape;2528;p5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9" name="Google Shape;2529;p52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strategies help me add and subtract quickly?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0" name="Google Shape;2530;p52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1" name="Google Shape;2531;p52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facts I know help me find facts I do not know?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2" name="Google Shape;2532;p52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3" name="Google Shape;2533;p5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52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5" name="Google Shape;2535;p52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fluently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6" name="Google Shape;2536;p52"/>
          <p:cNvSpPr/>
          <p:nvPr/>
        </p:nvSpPr>
        <p:spPr>
          <a:xfrm>
            <a:off x="7588225" y="4115470"/>
            <a:ext cx="163346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52"/>
          <p:cNvSpPr/>
          <p:nvPr/>
        </p:nvSpPr>
        <p:spPr>
          <a:xfrm>
            <a:off x="7750150" y="4182145"/>
            <a:ext cx="13858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mental math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8" name="Google Shape;2538;p52"/>
          <p:cNvSpPr/>
          <p:nvPr/>
        </p:nvSpPr>
        <p:spPr>
          <a:xfrm>
            <a:off x="9307413" y="4115470"/>
            <a:ext cx="115751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9" name="Google Shape;2539;p52"/>
          <p:cNvSpPr/>
          <p:nvPr/>
        </p:nvSpPr>
        <p:spPr>
          <a:xfrm>
            <a:off x="9469338" y="4182145"/>
            <a:ext cx="90986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doubles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0" name="Google Shape;2540;p52"/>
          <p:cNvSpPr/>
          <p:nvPr/>
        </p:nvSpPr>
        <p:spPr>
          <a:xfrm>
            <a:off x="6424464" y="4619997"/>
            <a:ext cx="130284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1" name="Google Shape;2541;p52"/>
          <p:cNvSpPr/>
          <p:nvPr/>
        </p:nvSpPr>
        <p:spPr>
          <a:xfrm>
            <a:off x="6586389" y="4686672"/>
            <a:ext cx="105519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make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2" name="Google Shape;2542;p52"/>
          <p:cNvSpPr/>
          <p:nvPr/>
        </p:nvSpPr>
        <p:spPr>
          <a:xfrm>
            <a:off x="7813030" y="4619997"/>
            <a:ext cx="123698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3" name="Google Shape;2543;p52"/>
          <p:cNvSpPr/>
          <p:nvPr/>
        </p:nvSpPr>
        <p:spPr>
          <a:xfrm>
            <a:off x="7974955" y="4686672"/>
            <a:ext cx="98933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count 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4" name="Google Shape;2544;p52"/>
          <p:cNvSpPr/>
          <p:nvPr/>
        </p:nvSpPr>
        <p:spPr>
          <a:xfrm>
            <a:off x="9135740" y="4619997"/>
            <a:ext cx="139526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5" name="Google Shape;2545;p52"/>
          <p:cNvSpPr/>
          <p:nvPr/>
        </p:nvSpPr>
        <p:spPr>
          <a:xfrm>
            <a:off x="9297665" y="4686672"/>
            <a:ext cx="114761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fact family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6" name="Google Shape;2546;p52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7" name="Google Shape;2547;p52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8" name="Google Shape;2548;p52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9" name="Google Shape;2549;p52"/>
          <p:cNvSpPr/>
          <p:nvPr/>
        </p:nvSpPr>
        <p:spPr>
          <a:xfrm>
            <a:off x="1247477" y="6595021"/>
            <a:ext cx="79335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mental strategies: doubles, near doubles, make ten, count 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0" name="Google Shape;2550;p52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1" name="Google Shape;2551;p52"/>
          <p:cNvSpPr/>
          <p:nvPr/>
        </p:nvSpPr>
        <p:spPr>
          <a:xfrm>
            <a:off x="1247477" y="7033915"/>
            <a:ext cx="41485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fluently within 20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2" name="Google Shape;2552;p52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52"/>
          <p:cNvSpPr/>
          <p:nvPr/>
        </p:nvSpPr>
        <p:spPr>
          <a:xfrm>
            <a:off x="1247477" y="7472809"/>
            <a:ext cx="649375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Know all sums of two one-digit numbers from memory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4" name="Google Shape;2554;p52"/>
          <p:cNvSpPr/>
          <p:nvPr/>
        </p:nvSpPr>
        <p:spPr>
          <a:xfrm>
            <a:off x="533326" y="8216429"/>
            <a:ext cx="11077724" cy="1782142"/>
          </a:xfrm>
          <a:custGeom>
            <a:rect b="b" l="l" r="r" t="t"/>
            <a:pathLst>
              <a:path extrusionOk="0" h="1782142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648792"/>
                </a:lnTo>
                <a:cubicBezTo>
                  <a:pt x="11077724" y="1722439"/>
                  <a:pt x="11018021" y="1782142"/>
                  <a:pt x="10944374" y="1782142"/>
                </a:cubicBezTo>
                <a:lnTo>
                  <a:pt x="0" y="1782142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5" name="Google Shape;2555;p52"/>
          <p:cNvSpPr/>
          <p:nvPr/>
        </p:nvSpPr>
        <p:spPr>
          <a:xfrm>
            <a:off x="533326" y="8216429"/>
            <a:ext cx="114300" cy="1782142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6" name="Google Shape;2556;p52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7" name="Google Shape;2557;p52"/>
          <p:cNvSpPr/>
          <p:nvPr/>
        </p:nvSpPr>
        <p:spPr>
          <a:xfrm>
            <a:off x="895201" y="8768730"/>
            <a:ext cx="10782321" cy="10775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Fluency is treated as speed alone. A student who counts on fingers accurately is not yet fluent, but a student rushed into timed drills often builds anxiety instead of strategy. Build the strategy first, then the speed.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8" name="Google Shape;2558;p52"/>
          <p:cNvSpPr/>
          <p:nvPr/>
        </p:nvSpPr>
        <p:spPr>
          <a:xfrm>
            <a:off x="533326" y="10188997"/>
            <a:ext cx="11077724" cy="2012528"/>
          </a:xfrm>
          <a:prstGeom prst="roundRect">
            <a:avLst>
              <a:gd fmla="val 6626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52"/>
          <p:cNvSpPr/>
          <p:nvPr/>
        </p:nvSpPr>
        <p:spPr>
          <a:xfrm>
            <a:off x="780901" y="10379422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0" name="Google Shape;2560;p52"/>
          <p:cNvSpPr/>
          <p:nvPr/>
        </p:nvSpPr>
        <p:spPr>
          <a:xfrm>
            <a:off x="780901" y="10808047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1" name="Google Shape;2561;p52"/>
          <p:cNvSpPr/>
          <p:nvPr/>
        </p:nvSpPr>
        <p:spPr>
          <a:xfrm>
            <a:off x="1218902" y="10779472"/>
            <a:ext cx="553555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within 20 in my head.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2" name="Google Shape;2562;p52"/>
          <p:cNvSpPr/>
          <p:nvPr/>
        </p:nvSpPr>
        <p:spPr>
          <a:xfrm>
            <a:off x="780901" y="1125029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3" name="Google Shape;2563;p52"/>
          <p:cNvSpPr/>
          <p:nvPr/>
        </p:nvSpPr>
        <p:spPr>
          <a:xfrm>
            <a:off x="1218902" y="11221715"/>
            <a:ext cx="548865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doubles and make ten to help me.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4" name="Google Shape;2564;p52"/>
          <p:cNvSpPr/>
          <p:nvPr/>
        </p:nvSpPr>
        <p:spPr>
          <a:xfrm>
            <a:off x="780901" y="1169253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5" name="Google Shape;2565;p52"/>
          <p:cNvSpPr/>
          <p:nvPr/>
        </p:nvSpPr>
        <p:spPr>
          <a:xfrm>
            <a:off x="1218902" y="11663958"/>
            <a:ext cx="356316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my sums by memory.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6" name="Google Shape;2566;p5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7" name="Google Shape;2567;p5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8" name="Google Shape;2568;p52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2.OA.B.2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5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5" name="Google Shape;2575;p53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6" name="Google Shape;2576;p53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Foundations for Multiplication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7" name="Google Shape;2577;p53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8" name="Google Shape;2578;p53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2.OA.C.3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9" name="Google Shape;2579;p5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0" name="Google Shape;2580;p5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1" name="Google Shape;2581;p5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2" name="Google Shape;2582;p5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Determine whether a group of objects (up to 20) has an odd or even number of members; write an equation to express an even number as a sum of two equal addends.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3" name="Google Shape;2583;p5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4" name="Google Shape;2584;p5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5" name="Google Shape;2585;p5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53"/>
          <p:cNvSpPr/>
          <p:nvPr/>
        </p:nvSpPr>
        <p:spPr>
          <a:xfrm>
            <a:off x="999902" y="4115470"/>
            <a:ext cx="50112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I tell if a number is odd or even?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7" name="Google Shape;2587;p5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8" name="Google Shape;2588;p53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can even numbers be split into two equal groups?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5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0" name="Google Shape;2590;p5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1" name="Google Shape;2591;p53"/>
          <p:cNvSpPr/>
          <p:nvPr/>
        </p:nvSpPr>
        <p:spPr>
          <a:xfrm>
            <a:off x="6424464" y="4115470"/>
            <a:ext cx="72084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2" name="Google Shape;2592;p53"/>
          <p:cNvSpPr/>
          <p:nvPr/>
        </p:nvSpPr>
        <p:spPr>
          <a:xfrm>
            <a:off x="6586389" y="4182145"/>
            <a:ext cx="4731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odd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3" name="Google Shape;2593;p53"/>
          <p:cNvSpPr/>
          <p:nvPr/>
        </p:nvSpPr>
        <p:spPr>
          <a:xfrm>
            <a:off x="7231038" y="4115470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4" name="Google Shape;2594;p53"/>
          <p:cNvSpPr/>
          <p:nvPr/>
        </p:nvSpPr>
        <p:spPr>
          <a:xfrm>
            <a:off x="7392963" y="4182145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even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5" name="Google Shape;2595;p53"/>
          <p:cNvSpPr/>
          <p:nvPr/>
        </p:nvSpPr>
        <p:spPr>
          <a:xfrm>
            <a:off x="8156823" y="4115470"/>
            <a:ext cx="72062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6" name="Google Shape;2596;p53"/>
          <p:cNvSpPr/>
          <p:nvPr/>
        </p:nvSpPr>
        <p:spPr>
          <a:xfrm>
            <a:off x="8318748" y="4182145"/>
            <a:ext cx="47297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pair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7" name="Google Shape;2597;p53"/>
          <p:cNvSpPr/>
          <p:nvPr/>
        </p:nvSpPr>
        <p:spPr>
          <a:xfrm>
            <a:off x="8963174" y="4115470"/>
            <a:ext cx="188572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8" name="Google Shape;2598;p53"/>
          <p:cNvSpPr/>
          <p:nvPr/>
        </p:nvSpPr>
        <p:spPr>
          <a:xfrm>
            <a:off x="9125099" y="4182145"/>
            <a:ext cx="163807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addends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9" name="Google Shape;2599;p53"/>
          <p:cNvSpPr/>
          <p:nvPr/>
        </p:nvSpPr>
        <p:spPr>
          <a:xfrm>
            <a:off x="6424464" y="4619997"/>
            <a:ext cx="77353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0" name="Google Shape;2600;p53"/>
          <p:cNvSpPr/>
          <p:nvPr/>
        </p:nvSpPr>
        <p:spPr>
          <a:xfrm>
            <a:off x="6586389" y="4686672"/>
            <a:ext cx="52588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sum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1" name="Google Shape;2601;p5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2" name="Google Shape;2602;p5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3" name="Google Shape;2603;p5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4" name="Google Shape;2604;p53"/>
          <p:cNvSpPr/>
          <p:nvPr/>
        </p:nvSpPr>
        <p:spPr>
          <a:xfrm>
            <a:off x="1247477" y="6260827"/>
            <a:ext cx="414835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Pair objects to test for odd or even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5" name="Google Shape;2605;p5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6" name="Google Shape;2606;p53"/>
          <p:cNvSpPr/>
          <p:nvPr/>
        </p:nvSpPr>
        <p:spPr>
          <a:xfrm>
            <a:off x="1247477" y="6699721"/>
            <a:ext cx="14535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by 2s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7" name="Google Shape;2607;p5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8" name="Google Shape;2608;p53"/>
          <p:cNvSpPr/>
          <p:nvPr/>
        </p:nvSpPr>
        <p:spPr>
          <a:xfrm>
            <a:off x="1247477" y="7138615"/>
            <a:ext cx="652052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an even number as a sum of two equal addends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9" name="Google Shape;2609;p53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0" name="Google Shape;2610;p53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1" name="Google Shape;2611;p5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2" name="Google Shape;2612;p53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memorize "ends in 0, 2, 4, 6, 8" without understanding pairing. They then cannot explain why, and cannot apply the idea to a set of objects that is not written as a numeral.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3" name="Google Shape;2613;p53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4" name="Google Shape;2614;p53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5" name="Google Shape;2615;p53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6" name="Google Shape;2616;p53"/>
          <p:cNvSpPr/>
          <p:nvPr/>
        </p:nvSpPr>
        <p:spPr>
          <a:xfrm>
            <a:off x="1218902" y="10098807"/>
            <a:ext cx="5913239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if a group has an odd or even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7" name="Google Shape;2617;p53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8" name="Google Shape;2618;p53"/>
          <p:cNvSpPr/>
          <p:nvPr/>
        </p:nvSpPr>
        <p:spPr>
          <a:xfrm>
            <a:off x="1218902" y="10541050"/>
            <a:ext cx="586535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an even number as two equal parts.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9" name="Google Shape;2619;p5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0" name="Google Shape;2620;p5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1" name="Google Shape;2621;p53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2.OA.C.3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26" name="Shape 2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7" name="Google Shape;2627;p5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8" name="Google Shape;2628;p54"/>
          <p:cNvSpPr/>
          <p:nvPr/>
        </p:nvSpPr>
        <p:spPr>
          <a:xfrm>
            <a:off x="533326" y="533326"/>
            <a:ext cx="971804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OPERATIONS AND ALGEBRAIC THINKING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9" name="Google Shape;2629;p54"/>
          <p:cNvSpPr/>
          <p:nvPr/>
        </p:nvSpPr>
        <p:spPr>
          <a:xfrm>
            <a:off x="533326" y="847651"/>
            <a:ext cx="9718045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Foundations for Multiplication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0" name="Google Shape;2630;p54"/>
          <p:cNvSpPr/>
          <p:nvPr/>
        </p:nvSpPr>
        <p:spPr>
          <a:xfrm>
            <a:off x="9909721" y="533326"/>
            <a:ext cx="170132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1" name="Google Shape;2631;p54"/>
          <p:cNvSpPr/>
          <p:nvPr/>
        </p:nvSpPr>
        <p:spPr>
          <a:xfrm>
            <a:off x="10119271" y="647626"/>
            <a:ext cx="135842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2.OA.C.4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2" name="Google Shape;2632;p5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3" name="Google Shape;2633;p5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4" name="Google Shape;2634;p5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5" name="Google Shape;2635;p5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addition to find the total number of objects arranged in rectangular arrays with up to 5 rows and 5 columns; write an equation as a sum of equal addends.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6" name="Google Shape;2636;p54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7" name="Google Shape;2637;p5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8" name="Google Shape;2638;p5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9" name="Google Shape;2639;p54"/>
          <p:cNvSpPr/>
          <p:nvPr/>
        </p:nvSpPr>
        <p:spPr>
          <a:xfrm>
            <a:off x="999902" y="4115470"/>
            <a:ext cx="481457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an array help me find a total?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0" name="Google Shape;2640;p5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1" name="Google Shape;2641;p54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repeated addition related to rows and columns?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2" name="Google Shape;2642;p54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3" name="Google Shape;2643;p5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4" name="Google Shape;2644;p54"/>
          <p:cNvSpPr/>
          <p:nvPr/>
        </p:nvSpPr>
        <p:spPr>
          <a:xfrm>
            <a:off x="6424464" y="4115470"/>
            <a:ext cx="86618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5" name="Google Shape;2645;p54"/>
          <p:cNvSpPr/>
          <p:nvPr/>
        </p:nvSpPr>
        <p:spPr>
          <a:xfrm>
            <a:off x="6586389" y="4182145"/>
            <a:ext cx="6185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array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6" name="Google Shape;2646;p54"/>
          <p:cNvSpPr/>
          <p:nvPr/>
        </p:nvSpPr>
        <p:spPr>
          <a:xfrm>
            <a:off x="7376368" y="4115470"/>
            <a:ext cx="7074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7" name="Google Shape;2647;p54"/>
          <p:cNvSpPr/>
          <p:nvPr/>
        </p:nvSpPr>
        <p:spPr>
          <a:xfrm>
            <a:off x="7538293" y="4182145"/>
            <a:ext cx="4598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8" name="Google Shape;2648;p54"/>
          <p:cNvSpPr/>
          <p:nvPr/>
        </p:nvSpPr>
        <p:spPr>
          <a:xfrm>
            <a:off x="8169548" y="4115470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9" name="Google Shape;2649;p54"/>
          <p:cNvSpPr/>
          <p:nvPr/>
        </p:nvSpPr>
        <p:spPr>
          <a:xfrm>
            <a:off x="8331473" y="4182145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0" name="Google Shape;2650;p54"/>
          <p:cNvSpPr/>
          <p:nvPr/>
        </p:nvSpPr>
        <p:spPr>
          <a:xfrm>
            <a:off x="6424464" y="4619997"/>
            <a:ext cx="216344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1" name="Google Shape;2651;p54"/>
          <p:cNvSpPr/>
          <p:nvPr/>
        </p:nvSpPr>
        <p:spPr>
          <a:xfrm>
            <a:off x="6586389" y="4686672"/>
            <a:ext cx="19157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repeated addition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2" name="Google Shape;2652;p54"/>
          <p:cNvSpPr/>
          <p:nvPr/>
        </p:nvSpPr>
        <p:spPr>
          <a:xfrm>
            <a:off x="8673629" y="4619997"/>
            <a:ext cx="170021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3" name="Google Shape;2653;p54"/>
          <p:cNvSpPr/>
          <p:nvPr/>
        </p:nvSpPr>
        <p:spPr>
          <a:xfrm>
            <a:off x="8835554" y="4686672"/>
            <a:ext cx="14525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groups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4" name="Google Shape;2654;p54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5" name="Google Shape;2655;p54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6" name="Google Shape;2656;p54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7" name="Google Shape;2657;p54"/>
          <p:cNvSpPr/>
          <p:nvPr/>
        </p:nvSpPr>
        <p:spPr>
          <a:xfrm>
            <a:off x="1247477" y="6260827"/>
            <a:ext cx="55716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Build and draw rectangular arrays up to 5 by 5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8" name="Google Shape;2658;p54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9" name="Google Shape;2659;p54"/>
          <p:cNvSpPr/>
          <p:nvPr/>
        </p:nvSpPr>
        <p:spPr>
          <a:xfrm>
            <a:off x="1247477" y="6699721"/>
            <a:ext cx="45569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the total using rows or columns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0" name="Google Shape;2660;p54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1" name="Google Shape;2661;p54"/>
          <p:cNvSpPr/>
          <p:nvPr/>
        </p:nvSpPr>
        <p:spPr>
          <a:xfrm>
            <a:off x="1247477" y="7138615"/>
            <a:ext cx="547613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an equation as a sum of equal addends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2" name="Google Shape;2662;p54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54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4" name="Google Shape;2664;p54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5" name="Google Shape;2665;p54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count every square one by one rather than using the structure of rows. Push them to say "3 rows of 4" and write 4 + 4 + 4.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6" name="Google Shape;2666;p54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7" name="Google Shape;2667;p54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8" name="Google Shape;2668;p54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9" name="Google Shape;2669;p54"/>
          <p:cNvSpPr/>
          <p:nvPr/>
        </p:nvSpPr>
        <p:spPr>
          <a:xfrm>
            <a:off x="1218902" y="10098807"/>
            <a:ext cx="542480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build an array with rows and columns.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0" name="Google Shape;2670;p54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1" name="Google Shape;2671;p54"/>
          <p:cNvSpPr/>
          <p:nvPr/>
        </p:nvSpPr>
        <p:spPr>
          <a:xfrm>
            <a:off x="1218902" y="10541050"/>
            <a:ext cx="556158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an addition sentence for an array.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2" name="Google Shape;2672;p5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3" name="Google Shape;2673;p5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4" name="Google Shape;2674;p54"/>
          <p:cNvSpPr/>
          <p:nvPr/>
        </p:nvSpPr>
        <p:spPr>
          <a:xfrm>
            <a:off x="10618738" y="14897174"/>
            <a:ext cx="106851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2.OA.C.4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679" name="Shape 2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0" name="Google Shape;2680;p5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1" name="Google Shape;2681;p55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2" name="Google Shape;2682;p55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Place Value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3" name="Google Shape;2683;p55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4" name="Google Shape;2684;p55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5" name="Google Shape;2685;p5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6" name="Google Shape;2686;p5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7" name="Google Shape;2687;p5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8" name="Google Shape;2688;p5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that the three digits of a three-digit number represent amounts of hundreds, tens, and ones.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9" name="Google Shape;2689;p55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0" name="Google Shape;2690;p5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1" name="Google Shape;2691;p5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2" name="Google Shape;2692;p55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each digit in a three-digit number tell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3" name="Google Shape;2693;p55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4" name="Google Shape;2694;p55"/>
          <p:cNvSpPr/>
          <p:nvPr/>
        </p:nvSpPr>
        <p:spPr>
          <a:xfrm>
            <a:off x="999902" y="4898157"/>
            <a:ext cx="43909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many tens are in one hundred?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5" name="Google Shape;2695;p55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6" name="Google Shape;2696;p5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7" name="Google Shape;2697;p55"/>
          <p:cNvSpPr/>
          <p:nvPr/>
        </p:nvSpPr>
        <p:spPr>
          <a:xfrm>
            <a:off x="6424464" y="4115470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8" name="Google Shape;2698;p55"/>
          <p:cNvSpPr/>
          <p:nvPr/>
        </p:nvSpPr>
        <p:spPr>
          <a:xfrm>
            <a:off x="6586389" y="4182145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digit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9" name="Google Shape;2699;p55"/>
          <p:cNvSpPr/>
          <p:nvPr/>
        </p:nvSpPr>
        <p:spPr>
          <a:xfrm>
            <a:off x="7270552" y="4115470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0" name="Google Shape;2700;p55"/>
          <p:cNvSpPr/>
          <p:nvPr/>
        </p:nvSpPr>
        <p:spPr>
          <a:xfrm>
            <a:off x="7432477" y="4182145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1" name="Google Shape;2701;p55"/>
          <p:cNvSpPr/>
          <p:nvPr/>
        </p:nvSpPr>
        <p:spPr>
          <a:xfrm>
            <a:off x="8884369" y="4115470"/>
            <a:ext cx="13164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2" name="Google Shape;2702;p55"/>
          <p:cNvSpPr/>
          <p:nvPr/>
        </p:nvSpPr>
        <p:spPr>
          <a:xfrm>
            <a:off x="9046294" y="4182145"/>
            <a:ext cx="1068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hundreds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3" name="Google Shape;2703;p55"/>
          <p:cNvSpPr/>
          <p:nvPr/>
        </p:nvSpPr>
        <p:spPr>
          <a:xfrm>
            <a:off x="10286554" y="4115470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4" name="Google Shape;2704;p55"/>
          <p:cNvSpPr/>
          <p:nvPr/>
        </p:nvSpPr>
        <p:spPr>
          <a:xfrm>
            <a:off x="10448479" y="4182145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tens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5" name="Google Shape;2705;p55"/>
          <p:cNvSpPr/>
          <p:nvPr/>
        </p:nvSpPr>
        <p:spPr>
          <a:xfrm>
            <a:off x="6424464" y="4619997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6" name="Google Shape;2706;p55"/>
          <p:cNvSpPr/>
          <p:nvPr/>
        </p:nvSpPr>
        <p:spPr>
          <a:xfrm>
            <a:off x="6586389" y="4686672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ones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7" name="Google Shape;2707;p55"/>
          <p:cNvSpPr/>
          <p:nvPr/>
        </p:nvSpPr>
        <p:spPr>
          <a:xfrm>
            <a:off x="7350249" y="4619997"/>
            <a:ext cx="10385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8" name="Google Shape;2708;p55"/>
          <p:cNvSpPr/>
          <p:nvPr/>
        </p:nvSpPr>
        <p:spPr>
          <a:xfrm>
            <a:off x="7512174" y="4686672"/>
            <a:ext cx="7908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bundle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9" name="Google Shape;2709;p55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0" name="Google Shape;2710;p55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1" name="Google Shape;2711;p55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2" name="Google Shape;2712;p55"/>
          <p:cNvSpPr/>
          <p:nvPr/>
        </p:nvSpPr>
        <p:spPr>
          <a:xfrm>
            <a:off x="1247477" y="6260827"/>
            <a:ext cx="682871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hundreds, tens, and ones in a three-digit number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3" name="Google Shape;2713;p55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4" name="Google Shape;2714;p55"/>
          <p:cNvSpPr/>
          <p:nvPr/>
        </p:nvSpPr>
        <p:spPr>
          <a:xfrm>
            <a:off x="1247477" y="6699721"/>
            <a:ext cx="33463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100 as ten tens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5" name="Google Shape;2715;p55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6" name="Google Shape;2716;p55"/>
          <p:cNvSpPr/>
          <p:nvPr/>
        </p:nvSpPr>
        <p:spPr>
          <a:xfrm>
            <a:off x="1247477" y="7138615"/>
            <a:ext cx="59360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100, 200, 300 as bundles of hundreds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7" name="Google Shape;2717;p55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8" name="Google Shape;2718;p55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9" name="Google Shape;2719;p55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0" name="Google Shape;2720;p55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342 as "three, four, two" and treat digits as separate numbers rather than as values. Base-ten blocks and expanded form both help make the value visible.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1" name="Google Shape;2721;p55"/>
          <p:cNvSpPr/>
          <p:nvPr/>
        </p:nvSpPr>
        <p:spPr>
          <a:xfrm>
            <a:off x="533326" y="950833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2" name="Google Shape;2722;p55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3" name="Google Shape;2723;p55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4" name="Google Shape;2724;p55"/>
          <p:cNvSpPr/>
          <p:nvPr/>
        </p:nvSpPr>
        <p:spPr>
          <a:xfrm>
            <a:off x="1218902" y="10098807"/>
            <a:ext cx="572366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what each digit in a number is worth.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5" name="Google Shape;2725;p55"/>
          <p:cNvSpPr/>
          <p:nvPr/>
        </p:nvSpPr>
        <p:spPr>
          <a:xfrm>
            <a:off x="780901" y="1056962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6" name="Google Shape;2726;p55"/>
          <p:cNvSpPr/>
          <p:nvPr/>
        </p:nvSpPr>
        <p:spPr>
          <a:xfrm>
            <a:off x="1218902" y="10541050"/>
            <a:ext cx="490641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that 100 is the same as 10 tens.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7" name="Google Shape;2727;p5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8" name="Google Shape;2728;p5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9" name="Google Shape;2729;p55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734" name="Shape 2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5" name="Google Shape;2735;p5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6" name="Google Shape;2736;p56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7" name="Google Shape;2737;p56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Place Value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8" name="Google Shape;2738;p56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9" name="Google Shape;2739;p56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0" name="Google Shape;2740;p5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1" name="Google Shape;2741;p5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2" name="Google Shape;2742;p5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3" name="Google Shape;2743;p5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within 1000; skip-count by 5s, 10s, and 100s.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4" name="Google Shape;2744;p56"/>
          <p:cNvSpPr/>
          <p:nvPr/>
        </p:nvSpPr>
        <p:spPr>
          <a:xfrm>
            <a:off x="533326" y="3136553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5" name="Google Shape;2745;p5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6" name="Google Shape;2746;p5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7" name="Google Shape;2747;p56"/>
          <p:cNvSpPr/>
          <p:nvPr/>
        </p:nvSpPr>
        <p:spPr>
          <a:xfrm>
            <a:off x="999902" y="3755603"/>
            <a:ext cx="50719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patterns do I see when I skip count?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8" name="Google Shape;2748;p56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9" name="Google Shape;2749;p56"/>
          <p:cNvSpPr/>
          <p:nvPr/>
        </p:nvSpPr>
        <p:spPr>
          <a:xfrm>
            <a:off x="999902" y="420409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counting by tens help me count large amounts?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0" name="Google Shape;2750;p56"/>
          <p:cNvSpPr/>
          <p:nvPr/>
        </p:nvSpPr>
        <p:spPr>
          <a:xfrm>
            <a:off x="6167289" y="3136553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1" name="Google Shape;2751;p5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2" name="Google Shape;2752;p56"/>
          <p:cNvSpPr/>
          <p:nvPr/>
        </p:nvSpPr>
        <p:spPr>
          <a:xfrm>
            <a:off x="6424464" y="3755603"/>
            <a:ext cx="139548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3" name="Google Shape;2753;p56"/>
          <p:cNvSpPr/>
          <p:nvPr/>
        </p:nvSpPr>
        <p:spPr>
          <a:xfrm>
            <a:off x="6586389" y="3822278"/>
            <a:ext cx="114783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skip count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4" name="Google Shape;2754;p56"/>
          <p:cNvSpPr/>
          <p:nvPr/>
        </p:nvSpPr>
        <p:spPr>
          <a:xfrm>
            <a:off x="7905676" y="3755603"/>
            <a:ext cx="106486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5" name="Google Shape;2755;p56"/>
          <p:cNvSpPr/>
          <p:nvPr/>
        </p:nvSpPr>
        <p:spPr>
          <a:xfrm>
            <a:off x="8067601" y="3822278"/>
            <a:ext cx="81721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pattern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6" name="Google Shape;2756;p56"/>
          <p:cNvSpPr/>
          <p:nvPr/>
        </p:nvSpPr>
        <p:spPr>
          <a:xfrm>
            <a:off x="9056266" y="3755603"/>
            <a:ext cx="135619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7" name="Google Shape;2757;p56"/>
          <p:cNvSpPr/>
          <p:nvPr/>
        </p:nvSpPr>
        <p:spPr>
          <a:xfrm>
            <a:off x="9218191" y="3822278"/>
            <a:ext cx="1108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sequence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8" name="Google Shape;2758;p56"/>
          <p:cNvSpPr/>
          <p:nvPr/>
        </p:nvSpPr>
        <p:spPr>
          <a:xfrm>
            <a:off x="533326" y="528191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9" name="Google Shape;2759;p56"/>
          <p:cNvSpPr/>
          <p:nvPr/>
        </p:nvSpPr>
        <p:spPr>
          <a:xfrm>
            <a:off x="809476" y="550091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0" name="Google Shape;2760;p56"/>
          <p:cNvSpPr/>
          <p:nvPr/>
        </p:nvSpPr>
        <p:spPr>
          <a:xfrm>
            <a:off x="809476" y="592953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1" name="Google Shape;2761;p56"/>
          <p:cNvSpPr/>
          <p:nvPr/>
        </p:nvSpPr>
        <p:spPr>
          <a:xfrm>
            <a:off x="1247477" y="5900961"/>
            <a:ext cx="321004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within 1000 by ones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2" name="Google Shape;2762;p56"/>
          <p:cNvSpPr/>
          <p:nvPr/>
        </p:nvSpPr>
        <p:spPr>
          <a:xfrm>
            <a:off x="809476" y="636843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3" name="Google Shape;2763;p56"/>
          <p:cNvSpPr/>
          <p:nvPr/>
        </p:nvSpPr>
        <p:spPr>
          <a:xfrm>
            <a:off x="1247477" y="6339855"/>
            <a:ext cx="386104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Skip count by 5s, 10s, and 100s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4" name="Google Shape;2764;p56"/>
          <p:cNvSpPr/>
          <p:nvPr/>
        </p:nvSpPr>
        <p:spPr>
          <a:xfrm>
            <a:off x="809476" y="680732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5" name="Google Shape;2765;p56"/>
          <p:cNvSpPr/>
          <p:nvPr/>
        </p:nvSpPr>
        <p:spPr>
          <a:xfrm>
            <a:off x="1247477" y="6778749"/>
            <a:ext cx="516254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Continue a count starting from any number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6" name="Google Shape;2766;p56"/>
          <p:cNvSpPr/>
          <p:nvPr/>
        </p:nvSpPr>
        <p:spPr>
          <a:xfrm>
            <a:off x="533326" y="752236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7" name="Google Shape;2767;p56"/>
          <p:cNvSpPr/>
          <p:nvPr/>
        </p:nvSpPr>
        <p:spPr>
          <a:xfrm>
            <a:off x="533326" y="752236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8" name="Google Shape;2768;p56"/>
          <p:cNvSpPr/>
          <p:nvPr/>
        </p:nvSpPr>
        <p:spPr>
          <a:xfrm>
            <a:off x="895201" y="771279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9" name="Google Shape;2769;p56"/>
          <p:cNvSpPr/>
          <p:nvPr/>
        </p:nvSpPr>
        <p:spPr>
          <a:xfrm>
            <a:off x="895201" y="807467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can skip count from zero but not from 250. Practice starting counts at numbers other than multiples of the skip.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56"/>
          <p:cNvSpPr/>
          <p:nvPr/>
        </p:nvSpPr>
        <p:spPr>
          <a:xfrm>
            <a:off x="533326" y="914846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1" name="Google Shape;2771;p56"/>
          <p:cNvSpPr/>
          <p:nvPr/>
        </p:nvSpPr>
        <p:spPr>
          <a:xfrm>
            <a:off x="780901" y="933889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2" name="Google Shape;2772;p56"/>
          <p:cNvSpPr/>
          <p:nvPr/>
        </p:nvSpPr>
        <p:spPr>
          <a:xfrm>
            <a:off x="780901" y="976751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3" name="Google Shape;2773;p56"/>
          <p:cNvSpPr/>
          <p:nvPr/>
        </p:nvSpPr>
        <p:spPr>
          <a:xfrm>
            <a:off x="1218902" y="9738940"/>
            <a:ext cx="248513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count to 1000.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4" name="Google Shape;2774;p56"/>
          <p:cNvSpPr/>
          <p:nvPr/>
        </p:nvSpPr>
        <p:spPr>
          <a:xfrm>
            <a:off x="780901" y="102097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5" name="Google Shape;2775;p56"/>
          <p:cNvSpPr/>
          <p:nvPr/>
        </p:nvSpPr>
        <p:spPr>
          <a:xfrm>
            <a:off x="1218902" y="10181183"/>
            <a:ext cx="693479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skip count by 5s, 10s, and 100s from any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6" name="Google Shape;2776;p5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7" name="Google Shape;2777;p5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8" name="Google Shape;2778;p56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783" name="Shape 2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4" name="Google Shape;2784;p5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5" name="Google Shape;2785;p57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6" name="Google Shape;2786;p57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Place Value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7" name="Google Shape;2787;p57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8" name="Google Shape;2788;p57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9" name="Google Shape;2789;p5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0" name="Google Shape;2790;p5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1" name="Google Shape;2791;p5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2" name="Google Shape;2792;p5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write numbers to 1000 using base-ten numerals, number names, and expanded form.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3" name="Google Shape;2793;p57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4" name="Google Shape;2794;p5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5" name="Google Shape;2795;p5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6" name="Google Shape;2796;p57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many ways can I write the same number?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7" name="Google Shape;2797;p57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8" name="Google Shape;2798;p57"/>
          <p:cNvSpPr/>
          <p:nvPr/>
        </p:nvSpPr>
        <p:spPr>
          <a:xfrm>
            <a:off x="999902" y="4898157"/>
            <a:ext cx="45115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expanded form show 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9" name="Google Shape;2799;p57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0" name="Google Shape;2800;p5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1" name="Google Shape;2801;p57"/>
          <p:cNvSpPr/>
          <p:nvPr/>
        </p:nvSpPr>
        <p:spPr>
          <a:xfrm>
            <a:off x="6424464" y="4115470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2" name="Google Shape;2802;p57"/>
          <p:cNvSpPr/>
          <p:nvPr/>
        </p:nvSpPr>
        <p:spPr>
          <a:xfrm>
            <a:off x="6586389" y="4182145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3" name="Google Shape;2803;p57"/>
          <p:cNvSpPr/>
          <p:nvPr/>
        </p:nvSpPr>
        <p:spPr>
          <a:xfrm>
            <a:off x="7694042" y="4115470"/>
            <a:ext cx="17924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4" name="Google Shape;2804;p57"/>
          <p:cNvSpPr/>
          <p:nvPr/>
        </p:nvSpPr>
        <p:spPr>
          <a:xfrm>
            <a:off x="7855967" y="4182145"/>
            <a:ext cx="15447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number name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5" name="Google Shape;2805;p57"/>
          <p:cNvSpPr/>
          <p:nvPr/>
        </p:nvSpPr>
        <p:spPr>
          <a:xfrm>
            <a:off x="6424464" y="4619997"/>
            <a:ext cx="19116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6" name="Google Shape;2806;p57"/>
          <p:cNvSpPr/>
          <p:nvPr/>
        </p:nvSpPr>
        <p:spPr>
          <a:xfrm>
            <a:off x="6586389" y="4686672"/>
            <a:ext cx="16639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expanded form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7" name="Google Shape;2807;p57"/>
          <p:cNvSpPr/>
          <p:nvPr/>
        </p:nvSpPr>
        <p:spPr>
          <a:xfrm>
            <a:off x="8421812" y="4619997"/>
            <a:ext cx="179241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8" name="Google Shape;2808;p57"/>
          <p:cNvSpPr/>
          <p:nvPr/>
        </p:nvSpPr>
        <p:spPr>
          <a:xfrm>
            <a:off x="8583737" y="4686672"/>
            <a:ext cx="154476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standard form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9" name="Google Shape;2809;p57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0" name="Google Shape;2810;p57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1" name="Google Shape;2811;p57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2" name="Google Shape;2812;p57"/>
          <p:cNvSpPr/>
          <p:nvPr/>
        </p:nvSpPr>
        <p:spPr>
          <a:xfrm>
            <a:off x="1247477" y="6260827"/>
            <a:ext cx="401231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Read and write numerals to 1000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3" name="Google Shape;2813;p57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4" name="Google Shape;2814;p57"/>
          <p:cNvSpPr/>
          <p:nvPr/>
        </p:nvSpPr>
        <p:spPr>
          <a:xfrm>
            <a:off x="1247477" y="6699721"/>
            <a:ext cx="252294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number names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5" name="Google Shape;2815;p57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6" name="Google Shape;2816;p57"/>
          <p:cNvSpPr/>
          <p:nvPr/>
        </p:nvSpPr>
        <p:spPr>
          <a:xfrm>
            <a:off x="1247477" y="7138615"/>
            <a:ext cx="39462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numbers in expanded form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7" name="Google Shape;2817;p57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8" name="Google Shape;2818;p57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9" name="Google Shape;2819;p57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0" name="Google Shape;2820;p57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write 300 + 40 + 2 as 30042. They are concatenating rather than composing. Model with blocks alongside the notation.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1" name="Google Shape;2821;p57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2" name="Google Shape;2822;p57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3" name="Google Shape;2823;p57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4" name="Google Shape;2824;p57"/>
          <p:cNvSpPr/>
          <p:nvPr/>
        </p:nvSpPr>
        <p:spPr>
          <a:xfrm>
            <a:off x="1218902" y="10098807"/>
            <a:ext cx="877408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write a number three ways: numeral, words, and expanded form.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5" name="Google Shape;2825;p5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6" name="Google Shape;2826;p5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7" name="Google Shape;2827;p57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832" name="Shape 2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3" name="Google Shape;2833;p58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4" name="Google Shape;2834;p58"/>
          <p:cNvSpPr/>
          <p:nvPr/>
        </p:nvSpPr>
        <p:spPr>
          <a:xfrm>
            <a:off x="533326" y="533326"/>
            <a:ext cx="9713379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5" name="Google Shape;2835;p58"/>
          <p:cNvSpPr/>
          <p:nvPr/>
        </p:nvSpPr>
        <p:spPr>
          <a:xfrm>
            <a:off x="533326" y="847651"/>
            <a:ext cx="9713379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Understand Place Value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6" name="Google Shape;2836;p58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7" name="Google Shape;2837;p58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2.NBT.A.4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8" name="Google Shape;2838;p58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9" name="Google Shape;2839;p58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0" name="Google Shape;2840;p58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1" name="Google Shape;2841;p58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two three-digit numbers based on meanings of the hundreds, tens, and ones digits, using &gt;, =, and &lt; symbols.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2" name="Google Shape;2842;p58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3" name="Google Shape;2843;p58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4" name="Google Shape;2844;p58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58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decide which of two numbers is greater?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6" name="Google Shape;2846;p58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7" name="Google Shape;2847;p58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 I compare the hundreds place first?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8" name="Google Shape;2848;p58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9" name="Google Shape;2849;p58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0" name="Google Shape;2850;p58"/>
          <p:cNvSpPr/>
          <p:nvPr/>
        </p:nvSpPr>
        <p:spPr>
          <a:xfrm>
            <a:off x="642446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1" name="Google Shape;2851;p58"/>
          <p:cNvSpPr/>
          <p:nvPr/>
        </p:nvSpPr>
        <p:spPr>
          <a:xfrm>
            <a:off x="658638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2" name="Google Shape;2852;p58"/>
          <p:cNvSpPr/>
          <p:nvPr/>
        </p:nvSpPr>
        <p:spPr>
          <a:xfrm>
            <a:off x="7760122" y="4115470"/>
            <a:ext cx="160734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3" name="Google Shape;2853;p58"/>
          <p:cNvSpPr/>
          <p:nvPr/>
        </p:nvSpPr>
        <p:spPr>
          <a:xfrm>
            <a:off x="7922047" y="4182145"/>
            <a:ext cx="135969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greater than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4" name="Google Shape;2854;p58"/>
          <p:cNvSpPr/>
          <p:nvPr/>
        </p:nvSpPr>
        <p:spPr>
          <a:xfrm>
            <a:off x="9453190" y="4115470"/>
            <a:ext cx="127649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5" name="Google Shape;2855;p58"/>
          <p:cNvSpPr/>
          <p:nvPr/>
        </p:nvSpPr>
        <p:spPr>
          <a:xfrm>
            <a:off x="9615115" y="4182145"/>
            <a:ext cx="102884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less than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6" name="Google Shape;2856;p58"/>
          <p:cNvSpPr/>
          <p:nvPr/>
        </p:nvSpPr>
        <p:spPr>
          <a:xfrm>
            <a:off x="6424464" y="4619997"/>
            <a:ext cx="11709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7" name="Google Shape;2857;p58"/>
          <p:cNvSpPr/>
          <p:nvPr/>
        </p:nvSpPr>
        <p:spPr>
          <a:xfrm>
            <a:off x="6586389" y="4686672"/>
            <a:ext cx="9232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to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8" name="Google Shape;2858;p58"/>
          <p:cNvSpPr/>
          <p:nvPr/>
        </p:nvSpPr>
        <p:spPr>
          <a:xfrm>
            <a:off x="7681094" y="4619997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9" name="Google Shape;2859;p58"/>
          <p:cNvSpPr/>
          <p:nvPr/>
        </p:nvSpPr>
        <p:spPr>
          <a:xfrm>
            <a:off x="7843019" y="4686672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order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0" name="Google Shape;2860;p58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1" name="Google Shape;2861;p58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2" name="Google Shape;2862;p58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3" name="Google Shape;2863;p58"/>
          <p:cNvSpPr/>
          <p:nvPr/>
        </p:nvSpPr>
        <p:spPr>
          <a:xfrm>
            <a:off x="1247477" y="6595021"/>
            <a:ext cx="57226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three-digit numbers using place value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4" name="Google Shape;2864;p58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5" name="Google Shape;2865;p58"/>
          <p:cNvSpPr/>
          <p:nvPr/>
        </p:nvSpPr>
        <p:spPr>
          <a:xfrm>
            <a:off x="1247477" y="7033915"/>
            <a:ext cx="339888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the symbols &gt;, =, and &lt;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6" name="Google Shape;2866;p58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7" name="Google Shape;2867;p58"/>
          <p:cNvSpPr/>
          <p:nvPr/>
        </p:nvSpPr>
        <p:spPr>
          <a:xfrm>
            <a:off x="1247477" y="7472809"/>
            <a:ext cx="280068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Order a set of numbers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8" name="Google Shape;2868;p58"/>
          <p:cNvSpPr/>
          <p:nvPr/>
        </p:nvSpPr>
        <p:spPr>
          <a:xfrm>
            <a:off x="533326" y="82164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9" name="Google Shape;2869;p58"/>
          <p:cNvSpPr/>
          <p:nvPr/>
        </p:nvSpPr>
        <p:spPr>
          <a:xfrm>
            <a:off x="533326" y="82164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0" name="Google Shape;2870;p58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1" name="Google Shape;2871;p58"/>
          <p:cNvSpPr/>
          <p:nvPr/>
        </p:nvSpPr>
        <p:spPr>
          <a:xfrm>
            <a:off x="895201" y="87687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compare the leftmost digits without checking place value, so they judge 89 as greater than 132. Alignment and place-value language fix this.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2" name="Google Shape;2872;p58"/>
          <p:cNvSpPr/>
          <p:nvPr/>
        </p:nvSpPr>
        <p:spPr>
          <a:xfrm>
            <a:off x="533326" y="98425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3" name="Google Shape;2873;p58"/>
          <p:cNvSpPr/>
          <p:nvPr/>
        </p:nvSpPr>
        <p:spPr>
          <a:xfrm>
            <a:off x="780901" y="1003295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4" name="Google Shape;2874;p58"/>
          <p:cNvSpPr/>
          <p:nvPr/>
        </p:nvSpPr>
        <p:spPr>
          <a:xfrm>
            <a:off x="780901" y="1046157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5" name="Google Shape;2875;p58"/>
          <p:cNvSpPr/>
          <p:nvPr/>
        </p:nvSpPr>
        <p:spPr>
          <a:xfrm>
            <a:off x="1218902" y="10433000"/>
            <a:ext cx="490592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compare two three-digit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6" name="Google Shape;2876;p58"/>
          <p:cNvSpPr/>
          <p:nvPr/>
        </p:nvSpPr>
        <p:spPr>
          <a:xfrm>
            <a:off x="780901" y="1090381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7" name="Google Shape;2877;p58"/>
          <p:cNvSpPr/>
          <p:nvPr/>
        </p:nvSpPr>
        <p:spPr>
          <a:xfrm>
            <a:off x="1218902" y="10875243"/>
            <a:ext cx="379228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&gt;, =, and &lt;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8" name="Google Shape;2878;p5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9" name="Google Shape;2879;p5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0" name="Google Shape;2880;p58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2.NBT.A.4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885" name="Shape 2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6" name="Google Shape;2886;p59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7" name="Google Shape;2887;p59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8" name="Google Shape;2888;p59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to Add and Subtract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9" name="Google Shape;2889;p59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0" name="Google Shape;2890;p59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2.NBT.B.5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1" name="Google Shape;2891;p59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2" name="Google Shape;2892;p59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3" name="Google Shape;2893;p59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4" name="Google Shape;2894;p59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Fluently add and subtract within 100 using strategies based on place value, properties of operations, and the relationship between addition and subtraction.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5" name="Google Shape;2895;p59"/>
          <p:cNvSpPr/>
          <p:nvPr/>
        </p:nvSpPr>
        <p:spPr>
          <a:xfrm>
            <a:off x="533326" y="4016350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6" name="Google Shape;2896;p59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7" name="Google Shape;2897;p59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8" name="Google Shape;2898;p59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strategy is most efficient for this problem?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9" name="Google Shape;2899;p59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0" name="Google Shape;2900;p59"/>
          <p:cNvSpPr/>
          <p:nvPr/>
        </p:nvSpPr>
        <p:spPr>
          <a:xfrm>
            <a:off x="999902" y="5418088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does place value help me add and subtract?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1" name="Google Shape;2901;p59"/>
          <p:cNvSpPr/>
          <p:nvPr/>
        </p:nvSpPr>
        <p:spPr>
          <a:xfrm>
            <a:off x="6167289" y="4016350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2" name="Google Shape;2902;p59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3" name="Google Shape;2903;p59"/>
          <p:cNvSpPr/>
          <p:nvPr/>
        </p:nvSpPr>
        <p:spPr>
          <a:xfrm>
            <a:off x="6424464" y="4635401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4" name="Google Shape;2904;p59"/>
          <p:cNvSpPr/>
          <p:nvPr/>
        </p:nvSpPr>
        <p:spPr>
          <a:xfrm>
            <a:off x="6586389" y="4702076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5" name="Google Shape;2905;p59"/>
          <p:cNvSpPr/>
          <p:nvPr/>
        </p:nvSpPr>
        <p:spPr>
          <a:xfrm>
            <a:off x="7680647" y="4635401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6" name="Google Shape;2906;p59"/>
          <p:cNvSpPr/>
          <p:nvPr/>
        </p:nvSpPr>
        <p:spPr>
          <a:xfrm>
            <a:off x="7842572" y="4702076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regroup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7" name="Google Shape;2907;p59"/>
          <p:cNvSpPr/>
          <p:nvPr/>
        </p:nvSpPr>
        <p:spPr>
          <a:xfrm>
            <a:off x="8910712" y="4635401"/>
            <a:ext cx="152809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8" name="Google Shape;2908;p59"/>
          <p:cNvSpPr/>
          <p:nvPr/>
        </p:nvSpPr>
        <p:spPr>
          <a:xfrm>
            <a:off x="9072637" y="4702076"/>
            <a:ext cx="128044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place value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9" name="Google Shape;2909;p59"/>
          <p:cNvSpPr/>
          <p:nvPr/>
        </p:nvSpPr>
        <p:spPr>
          <a:xfrm>
            <a:off x="6424464" y="5139928"/>
            <a:ext cx="113987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0" name="Google Shape;2910;p59"/>
          <p:cNvSpPr/>
          <p:nvPr/>
        </p:nvSpPr>
        <p:spPr>
          <a:xfrm>
            <a:off x="6586389" y="5206603"/>
            <a:ext cx="89222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efficient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1" name="Google Shape;2911;p59"/>
          <p:cNvSpPr/>
          <p:nvPr/>
        </p:nvSpPr>
        <p:spPr>
          <a:xfrm>
            <a:off x="533326" y="6495901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2" name="Google Shape;2912;p59"/>
          <p:cNvSpPr/>
          <p:nvPr/>
        </p:nvSpPr>
        <p:spPr>
          <a:xfrm>
            <a:off x="809476" y="6714902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3" name="Google Shape;2913;p59"/>
          <p:cNvSpPr/>
          <p:nvPr/>
        </p:nvSpPr>
        <p:spPr>
          <a:xfrm>
            <a:off x="809476" y="71435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4" name="Google Shape;2914;p59"/>
          <p:cNvSpPr/>
          <p:nvPr/>
        </p:nvSpPr>
        <p:spPr>
          <a:xfrm>
            <a:off x="1247477" y="7114952"/>
            <a:ext cx="43001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within 100 fluently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5" name="Google Shape;2915;p59"/>
          <p:cNvSpPr/>
          <p:nvPr/>
        </p:nvSpPr>
        <p:spPr>
          <a:xfrm>
            <a:off x="809476" y="75824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6" name="Google Shape;2916;p59"/>
          <p:cNvSpPr/>
          <p:nvPr/>
        </p:nvSpPr>
        <p:spPr>
          <a:xfrm>
            <a:off x="1247477" y="7553846"/>
            <a:ext cx="54054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and properties of operations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7" name="Google Shape;2917;p59"/>
          <p:cNvSpPr/>
          <p:nvPr/>
        </p:nvSpPr>
        <p:spPr>
          <a:xfrm>
            <a:off x="809476" y="802131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8" name="Google Shape;2918;p59"/>
          <p:cNvSpPr/>
          <p:nvPr/>
        </p:nvSpPr>
        <p:spPr>
          <a:xfrm>
            <a:off x="1247477" y="7992740"/>
            <a:ext cx="375520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addition and subtraction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9" name="Google Shape;2919;p59"/>
          <p:cNvSpPr/>
          <p:nvPr/>
        </p:nvSpPr>
        <p:spPr>
          <a:xfrm>
            <a:off x="533326" y="8736360"/>
            <a:ext cx="11077724" cy="1782142"/>
          </a:xfrm>
          <a:custGeom>
            <a:rect b="b" l="l" r="r" t="t"/>
            <a:pathLst>
              <a:path extrusionOk="0" h="1782142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648792"/>
                </a:lnTo>
                <a:cubicBezTo>
                  <a:pt x="11077724" y="1722439"/>
                  <a:pt x="11018021" y="1782142"/>
                  <a:pt x="10944374" y="1782142"/>
                </a:cubicBezTo>
                <a:lnTo>
                  <a:pt x="0" y="1782142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0" name="Google Shape;2920;p59"/>
          <p:cNvSpPr/>
          <p:nvPr/>
        </p:nvSpPr>
        <p:spPr>
          <a:xfrm>
            <a:off x="533326" y="8736360"/>
            <a:ext cx="114300" cy="1782142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1" name="Google Shape;2921;p59"/>
          <p:cNvSpPr/>
          <p:nvPr/>
        </p:nvSpPr>
        <p:spPr>
          <a:xfrm>
            <a:off x="895201" y="8926785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2" name="Google Shape;2922;p59"/>
          <p:cNvSpPr/>
          <p:nvPr/>
        </p:nvSpPr>
        <p:spPr>
          <a:xfrm>
            <a:off x="895201" y="9288661"/>
            <a:ext cx="10782321" cy="10775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subtract the smaller digit from the larger regardless of position: 52 - 27 becomes 35. This is the single most common two-digit subtraction error. Require an estimate before computing.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3" name="Google Shape;2923;p59"/>
          <p:cNvSpPr/>
          <p:nvPr/>
        </p:nvSpPr>
        <p:spPr>
          <a:xfrm>
            <a:off x="533326" y="1070892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59"/>
          <p:cNvSpPr/>
          <p:nvPr/>
        </p:nvSpPr>
        <p:spPr>
          <a:xfrm>
            <a:off x="780901" y="10899353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5" name="Google Shape;2925;p59"/>
          <p:cNvSpPr/>
          <p:nvPr/>
        </p:nvSpPr>
        <p:spPr>
          <a:xfrm>
            <a:off x="780901" y="1132797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6" name="Google Shape;2926;p59"/>
          <p:cNvSpPr/>
          <p:nvPr/>
        </p:nvSpPr>
        <p:spPr>
          <a:xfrm>
            <a:off x="1218902" y="11299403"/>
            <a:ext cx="423061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within 100.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59"/>
          <p:cNvSpPr/>
          <p:nvPr/>
        </p:nvSpPr>
        <p:spPr>
          <a:xfrm>
            <a:off x="780901" y="1177022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8" name="Google Shape;2928;p59"/>
          <p:cNvSpPr/>
          <p:nvPr/>
        </p:nvSpPr>
        <p:spPr>
          <a:xfrm>
            <a:off x="1218902" y="11741646"/>
            <a:ext cx="421441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the strategy I chose.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9" name="Google Shape;2929;p5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0" name="Google Shape;2930;p5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59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2.NBT.B.5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36" name="Shape 2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7" name="Google Shape;2937;p60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8" name="Google Shape;2938;p60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9" name="Google Shape;2939;p60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to Add and Subtract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0" name="Google Shape;2940;p60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1" name="Google Shape;2941;p60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2.NBT.B.6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2" name="Google Shape;2942;p60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3" name="Google Shape;2943;p60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4" name="Google Shape;2944;p60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5" name="Google Shape;2945;p60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up to four two-digit numbers using strategies based on place value and properties of operations.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6" name="Google Shape;2946;p60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7" name="Google Shape;2947;p60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8" name="Google Shape;2948;p60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9" name="Google Shape;2949;p60"/>
          <p:cNvSpPr/>
          <p:nvPr/>
        </p:nvSpPr>
        <p:spPr>
          <a:xfrm>
            <a:off x="999902" y="4635401"/>
            <a:ext cx="518783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I add several numbers efficiently?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0" name="Google Shape;2950;p60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1" name="Google Shape;2951;p60"/>
          <p:cNvSpPr/>
          <p:nvPr/>
        </p:nvSpPr>
        <p:spPr>
          <a:xfrm>
            <a:off x="999902" y="5083894"/>
            <a:ext cx="493637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the order I add in change the total?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2" name="Google Shape;2952;p60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3" name="Google Shape;2953;p60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4" name="Google Shape;2954;p60"/>
          <p:cNvSpPr/>
          <p:nvPr/>
        </p:nvSpPr>
        <p:spPr>
          <a:xfrm>
            <a:off x="6424464" y="4635401"/>
            <a:ext cx="111799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5" name="Google Shape;2955;p60"/>
          <p:cNvSpPr/>
          <p:nvPr/>
        </p:nvSpPr>
        <p:spPr>
          <a:xfrm>
            <a:off x="6586389" y="4702076"/>
            <a:ext cx="87034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addend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6" name="Google Shape;2956;p60"/>
          <p:cNvSpPr/>
          <p:nvPr/>
        </p:nvSpPr>
        <p:spPr>
          <a:xfrm>
            <a:off x="7628186" y="4635401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7" name="Google Shape;2957;p60"/>
          <p:cNvSpPr/>
          <p:nvPr/>
        </p:nvSpPr>
        <p:spPr>
          <a:xfrm>
            <a:off x="7790111" y="4702076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total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8" name="Google Shape;2958;p60"/>
          <p:cNvSpPr/>
          <p:nvPr/>
        </p:nvSpPr>
        <p:spPr>
          <a:xfrm>
            <a:off x="8487668" y="4635401"/>
            <a:ext cx="167297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9" name="Google Shape;2959;p60"/>
          <p:cNvSpPr/>
          <p:nvPr/>
        </p:nvSpPr>
        <p:spPr>
          <a:xfrm>
            <a:off x="8649593" y="4702076"/>
            <a:ext cx="14253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commutative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0" name="Google Shape;2960;p60"/>
          <p:cNvSpPr/>
          <p:nvPr/>
        </p:nvSpPr>
        <p:spPr>
          <a:xfrm>
            <a:off x="6424464" y="5139928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1" name="Google Shape;2961;p60"/>
          <p:cNvSpPr/>
          <p:nvPr/>
        </p:nvSpPr>
        <p:spPr>
          <a:xfrm>
            <a:off x="6586389" y="5206603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associative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2" name="Google Shape;2962;p60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3" name="Google Shape;2963;p60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4" name="Google Shape;2964;p60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5" name="Google Shape;2965;p60"/>
          <p:cNvSpPr/>
          <p:nvPr/>
        </p:nvSpPr>
        <p:spPr>
          <a:xfrm>
            <a:off x="1247477" y="6587207"/>
            <a:ext cx="39364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up to four two-digit numbers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6" name="Google Shape;2966;p60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7" name="Google Shape;2967;p60"/>
          <p:cNvSpPr/>
          <p:nvPr/>
        </p:nvSpPr>
        <p:spPr>
          <a:xfrm>
            <a:off x="1247477" y="7026101"/>
            <a:ext cx="33762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Look for pairs that make ten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8" name="Google Shape;2968;p60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9" name="Google Shape;2969;p60"/>
          <p:cNvSpPr/>
          <p:nvPr/>
        </p:nvSpPr>
        <p:spPr>
          <a:xfrm>
            <a:off x="1247477" y="7464996"/>
            <a:ext cx="361866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Apply properties of operations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0" name="Google Shape;2970;p60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1" name="Google Shape;2971;p60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2" name="Google Shape;2972;p60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3" name="Google Shape;2973;p60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add strictly left to right and miss opportunities to combine friendly pairs first. Ask "which two would you add first, and why?"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4" name="Google Shape;2974;p60"/>
          <p:cNvSpPr/>
          <p:nvPr/>
        </p:nvSpPr>
        <p:spPr>
          <a:xfrm>
            <a:off x="533326" y="983471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5" name="Google Shape;2975;p60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6" name="Google Shape;2976;p60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7" name="Google Shape;2977;p60"/>
          <p:cNvSpPr/>
          <p:nvPr/>
        </p:nvSpPr>
        <p:spPr>
          <a:xfrm>
            <a:off x="1218902" y="10425187"/>
            <a:ext cx="411986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four two-digit numbers.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8" name="Google Shape;2978;p60"/>
          <p:cNvSpPr/>
          <p:nvPr/>
        </p:nvSpPr>
        <p:spPr>
          <a:xfrm>
            <a:off x="780901" y="1089600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9" name="Google Shape;2979;p60"/>
          <p:cNvSpPr/>
          <p:nvPr/>
        </p:nvSpPr>
        <p:spPr>
          <a:xfrm>
            <a:off x="1218902" y="10867430"/>
            <a:ext cx="545648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pairs that make my adding easier.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0" name="Google Shape;2980;p6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1" name="Google Shape;2981;p6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2" name="Google Shape;2982;p60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2.NBT.B.6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2987" name="Shape 2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8" name="Google Shape;2988;p61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9" name="Google Shape;2989;p61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61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to Add and Subtract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1" name="Google Shape;2991;p61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2" name="Google Shape;2992;p61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2.NBT.B.7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3" name="Google Shape;2993;p61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4" name="Google Shape;2994;p61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5" name="Google Shape;2995;p61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6" name="Google Shape;2996;p61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within 1000, using concrete models or drawings and strategies based on place value.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7" name="Google Shape;2997;p61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8" name="Google Shape;2998;p61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9" name="Google Shape;2999;p61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0" name="Google Shape;3000;p61"/>
          <p:cNvSpPr/>
          <p:nvPr/>
        </p:nvSpPr>
        <p:spPr>
          <a:xfrm>
            <a:off x="999902" y="4635401"/>
            <a:ext cx="33917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When do I need to regroup?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1" name="Google Shape;3001;p61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2" name="Google Shape;3002;p61"/>
          <p:cNvSpPr/>
          <p:nvPr/>
        </p:nvSpPr>
        <p:spPr>
          <a:xfrm>
            <a:off x="999902" y="5083894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models show what happens when I regroup?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3" name="Google Shape;3003;p61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4" name="Google Shape;3004;p61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5" name="Google Shape;3005;p61"/>
          <p:cNvSpPr/>
          <p:nvPr/>
        </p:nvSpPr>
        <p:spPr>
          <a:xfrm>
            <a:off x="6424464" y="4635401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6" name="Google Shape;3006;p61"/>
          <p:cNvSpPr/>
          <p:nvPr/>
        </p:nvSpPr>
        <p:spPr>
          <a:xfrm>
            <a:off x="6586389" y="4702076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regroup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7" name="Google Shape;3007;p61"/>
          <p:cNvSpPr/>
          <p:nvPr/>
        </p:nvSpPr>
        <p:spPr>
          <a:xfrm>
            <a:off x="7654528" y="4635401"/>
            <a:ext cx="128967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8" name="Google Shape;3008;p61"/>
          <p:cNvSpPr/>
          <p:nvPr/>
        </p:nvSpPr>
        <p:spPr>
          <a:xfrm>
            <a:off x="7816453" y="4702076"/>
            <a:ext cx="104202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9" name="Google Shape;3009;p61"/>
          <p:cNvSpPr/>
          <p:nvPr/>
        </p:nvSpPr>
        <p:spPr>
          <a:xfrm>
            <a:off x="9029923" y="4635401"/>
            <a:ext cx="1554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0" name="Google Shape;3010;p61"/>
          <p:cNvSpPr/>
          <p:nvPr/>
        </p:nvSpPr>
        <p:spPr>
          <a:xfrm>
            <a:off x="9191848" y="4702076"/>
            <a:ext cx="1306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decompose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1" name="Google Shape;3011;p61"/>
          <p:cNvSpPr/>
          <p:nvPr/>
        </p:nvSpPr>
        <p:spPr>
          <a:xfrm>
            <a:off x="6424464" y="5139928"/>
            <a:ext cx="97222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2" name="Google Shape;3012;p61"/>
          <p:cNvSpPr/>
          <p:nvPr/>
        </p:nvSpPr>
        <p:spPr>
          <a:xfrm>
            <a:off x="6586389" y="5206603"/>
            <a:ext cx="72457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model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3" name="Google Shape;3013;p61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4" name="Google Shape;3014;p61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5" name="Google Shape;3015;p61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6" name="Google Shape;3016;p61"/>
          <p:cNvSpPr/>
          <p:nvPr/>
        </p:nvSpPr>
        <p:spPr>
          <a:xfrm>
            <a:off x="1247477" y="6780758"/>
            <a:ext cx="351282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Add and subtract within 1000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7" name="Google Shape;3017;p61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8" name="Google Shape;3018;p61"/>
          <p:cNvSpPr/>
          <p:nvPr/>
        </p:nvSpPr>
        <p:spPr>
          <a:xfrm>
            <a:off x="1247477" y="7219652"/>
            <a:ext cx="404202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concrete models or drawings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9" name="Google Shape;3019;p61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0" name="Google Shape;3020;p61"/>
          <p:cNvSpPr/>
          <p:nvPr/>
        </p:nvSpPr>
        <p:spPr>
          <a:xfrm>
            <a:off x="1247477" y="7658546"/>
            <a:ext cx="554243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Regroup hundreds, tens, and ones as needed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1" name="Google Shape;3021;p61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2" name="Google Shape;3022;p61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3" name="Google Shape;3023;p61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4" name="Google Shape;3024;p61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regroup automatically on every problem, whether or not it is needed. Mix problems that require regrouping with ones that do not.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5" name="Google Shape;3025;p61"/>
          <p:cNvSpPr/>
          <p:nvPr/>
        </p:nvSpPr>
        <p:spPr>
          <a:xfrm>
            <a:off x="533326" y="1002826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6" name="Google Shape;3026;p61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7" name="Google Shape;3027;p61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8" name="Google Shape;3028;p61"/>
          <p:cNvSpPr/>
          <p:nvPr/>
        </p:nvSpPr>
        <p:spPr>
          <a:xfrm>
            <a:off x="1218902" y="10618738"/>
            <a:ext cx="438778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and subtract within 1000.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9" name="Google Shape;3029;p61"/>
          <p:cNvSpPr/>
          <p:nvPr/>
        </p:nvSpPr>
        <p:spPr>
          <a:xfrm>
            <a:off x="780901" y="110895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0" name="Google Shape;3030;p61"/>
          <p:cNvSpPr/>
          <p:nvPr/>
        </p:nvSpPr>
        <p:spPr>
          <a:xfrm>
            <a:off x="1218902" y="11060981"/>
            <a:ext cx="562862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my work with a model or drawing.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1" name="Google Shape;3031;p6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2" name="Google Shape;3032;p6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3" name="Google Shape;3033;p61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2.NBT.B.7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038" name="Shape 3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9" name="Google Shape;3039;p62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0" name="Google Shape;3040;p62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1" name="Google Shape;3041;p62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to Add and Subtract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2" name="Google Shape;3042;p62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3" name="Google Shape;3043;p62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2.NBT.B.8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4" name="Google Shape;3044;p62"/>
          <p:cNvSpPr/>
          <p:nvPr/>
        </p:nvSpPr>
        <p:spPr>
          <a:xfrm>
            <a:off x="533326" y="2325514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5" name="Google Shape;3045;p62"/>
          <p:cNvSpPr/>
          <p:nvPr/>
        </p:nvSpPr>
        <p:spPr>
          <a:xfrm>
            <a:off x="533326" y="2325514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6" name="Google Shape;3046;p62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7" name="Google Shape;3047;p62"/>
          <p:cNvSpPr/>
          <p:nvPr/>
        </p:nvSpPr>
        <p:spPr>
          <a:xfrm>
            <a:off x="914177" y="2896791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Mentally add 10 or 100 to, or subtract 10 or 100 from, a given number 100-900.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8" name="Google Shape;3048;p62"/>
          <p:cNvSpPr/>
          <p:nvPr/>
        </p:nvSpPr>
        <p:spPr>
          <a:xfrm>
            <a:off x="533326" y="3656484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9" name="Google Shape;3049;p62"/>
          <p:cNvSpPr/>
          <p:nvPr/>
        </p:nvSpPr>
        <p:spPr>
          <a:xfrm>
            <a:off x="790501" y="3875484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0" name="Google Shape;3050;p62"/>
          <p:cNvSpPr/>
          <p:nvPr/>
        </p:nvSpPr>
        <p:spPr>
          <a:xfrm>
            <a:off x="790501" y="438023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1" name="Google Shape;3051;p62"/>
          <p:cNvSpPr/>
          <p:nvPr/>
        </p:nvSpPr>
        <p:spPr>
          <a:xfrm>
            <a:off x="999902" y="4275534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happens to a number when I add ten? A hundred?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2" name="Google Shape;3052;p62"/>
          <p:cNvSpPr/>
          <p:nvPr/>
        </p:nvSpPr>
        <p:spPr>
          <a:xfrm>
            <a:off x="790501" y="5162922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3" name="Google Shape;3053;p62"/>
          <p:cNvSpPr/>
          <p:nvPr/>
        </p:nvSpPr>
        <p:spPr>
          <a:xfrm>
            <a:off x="999902" y="505822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digit changes and which stay the same?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4" name="Google Shape;3054;p62"/>
          <p:cNvSpPr/>
          <p:nvPr/>
        </p:nvSpPr>
        <p:spPr>
          <a:xfrm>
            <a:off x="6167289" y="3656484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5" name="Google Shape;3055;p62"/>
          <p:cNvSpPr/>
          <p:nvPr/>
        </p:nvSpPr>
        <p:spPr>
          <a:xfrm>
            <a:off x="6424464" y="3875484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6" name="Google Shape;3056;p62"/>
          <p:cNvSpPr/>
          <p:nvPr/>
        </p:nvSpPr>
        <p:spPr>
          <a:xfrm>
            <a:off x="6424464" y="4275534"/>
            <a:ext cx="121019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7" name="Google Shape;3057;p62"/>
          <p:cNvSpPr/>
          <p:nvPr/>
        </p:nvSpPr>
        <p:spPr>
          <a:xfrm>
            <a:off x="6586389" y="4342209"/>
            <a:ext cx="96254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mentally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8" name="Google Shape;3058;p62"/>
          <p:cNvSpPr/>
          <p:nvPr/>
        </p:nvSpPr>
        <p:spPr>
          <a:xfrm>
            <a:off x="7720385" y="4275534"/>
            <a:ext cx="86618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9" name="Google Shape;3059;p62"/>
          <p:cNvSpPr/>
          <p:nvPr/>
        </p:nvSpPr>
        <p:spPr>
          <a:xfrm>
            <a:off x="7882310" y="4342209"/>
            <a:ext cx="61853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more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0" name="Google Shape;3060;p62"/>
          <p:cNvSpPr/>
          <p:nvPr/>
        </p:nvSpPr>
        <p:spPr>
          <a:xfrm>
            <a:off x="8672289" y="4275534"/>
            <a:ext cx="74719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1" name="Google Shape;3061;p62"/>
          <p:cNvSpPr/>
          <p:nvPr/>
        </p:nvSpPr>
        <p:spPr>
          <a:xfrm>
            <a:off x="8834214" y="4342209"/>
            <a:ext cx="49954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less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2" name="Google Shape;3062;p62"/>
          <p:cNvSpPr/>
          <p:nvPr/>
        </p:nvSpPr>
        <p:spPr>
          <a:xfrm>
            <a:off x="533326" y="6136035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3" name="Google Shape;3063;p62"/>
          <p:cNvSpPr/>
          <p:nvPr/>
        </p:nvSpPr>
        <p:spPr>
          <a:xfrm>
            <a:off x="809476" y="6355035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4" name="Google Shape;3064;p62"/>
          <p:cNvSpPr/>
          <p:nvPr/>
        </p:nvSpPr>
        <p:spPr>
          <a:xfrm>
            <a:off x="809476" y="678366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5" name="Google Shape;3065;p62"/>
          <p:cNvSpPr/>
          <p:nvPr/>
        </p:nvSpPr>
        <p:spPr>
          <a:xfrm>
            <a:off x="1247477" y="6755085"/>
            <a:ext cx="413337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Mentally add or subtract 10 or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6" name="Google Shape;3066;p62"/>
          <p:cNvSpPr/>
          <p:nvPr/>
        </p:nvSpPr>
        <p:spPr>
          <a:xfrm>
            <a:off x="809476" y="722255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7" name="Google Shape;3067;p62"/>
          <p:cNvSpPr/>
          <p:nvPr/>
        </p:nvSpPr>
        <p:spPr>
          <a:xfrm>
            <a:off x="1247477" y="7193979"/>
            <a:ext cx="41031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Notice which place value changes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8" name="Google Shape;3068;p62"/>
          <p:cNvSpPr/>
          <p:nvPr/>
        </p:nvSpPr>
        <p:spPr>
          <a:xfrm>
            <a:off x="809476" y="766144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9" name="Google Shape;3069;p62"/>
          <p:cNvSpPr/>
          <p:nvPr/>
        </p:nvSpPr>
        <p:spPr>
          <a:xfrm>
            <a:off x="1247477" y="7632874"/>
            <a:ext cx="340109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Work with numbers 100-900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0" name="Google Shape;3070;p62"/>
          <p:cNvSpPr/>
          <p:nvPr/>
        </p:nvSpPr>
        <p:spPr>
          <a:xfrm>
            <a:off x="533326" y="8376493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1" name="Google Shape;3071;p62"/>
          <p:cNvSpPr/>
          <p:nvPr/>
        </p:nvSpPr>
        <p:spPr>
          <a:xfrm>
            <a:off x="533326" y="8376493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2" name="Google Shape;3072;p62"/>
          <p:cNvSpPr/>
          <p:nvPr/>
        </p:nvSpPr>
        <p:spPr>
          <a:xfrm>
            <a:off x="895201" y="8566919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3" name="Google Shape;3073;p62"/>
          <p:cNvSpPr/>
          <p:nvPr/>
        </p:nvSpPr>
        <p:spPr>
          <a:xfrm>
            <a:off x="895201" y="892879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who rely on a written algorithm cannot do this mentally. Use a hundreds chart to make the pattern visible before removing 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4" name="Google Shape;3074;p62"/>
          <p:cNvSpPr/>
          <p:nvPr/>
        </p:nvSpPr>
        <p:spPr>
          <a:xfrm>
            <a:off x="533326" y="10002589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5" name="Google Shape;3075;p62"/>
          <p:cNvSpPr/>
          <p:nvPr/>
        </p:nvSpPr>
        <p:spPr>
          <a:xfrm>
            <a:off x="780901" y="1019301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6" name="Google Shape;3076;p62"/>
          <p:cNvSpPr/>
          <p:nvPr/>
        </p:nvSpPr>
        <p:spPr>
          <a:xfrm>
            <a:off x="780901" y="1062164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7" name="Google Shape;3077;p62"/>
          <p:cNvSpPr/>
          <p:nvPr/>
        </p:nvSpPr>
        <p:spPr>
          <a:xfrm>
            <a:off x="1218902" y="10593065"/>
            <a:ext cx="539411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add or subtract 10 or 100 in my head.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8" name="Google Shape;3078;p6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9" name="Google Shape;3079;p6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0" name="Google Shape;3080;p62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2.NBT.B.8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085" name="Shape 3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6" name="Google Shape;3086;p63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63"/>
          <p:cNvSpPr/>
          <p:nvPr/>
        </p:nvSpPr>
        <p:spPr>
          <a:xfrm>
            <a:off x="533326" y="533326"/>
            <a:ext cx="9847458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NUMBER AND OPERATIONS IN BASE TEN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8" name="Google Shape;3088;p63"/>
          <p:cNvSpPr/>
          <p:nvPr/>
        </p:nvSpPr>
        <p:spPr>
          <a:xfrm>
            <a:off x="533326" y="847651"/>
            <a:ext cx="9220802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Place Value to Add and Subtract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9" name="Google Shape;3089;p63"/>
          <p:cNvSpPr/>
          <p:nvPr/>
        </p:nvSpPr>
        <p:spPr>
          <a:xfrm>
            <a:off x="9771311" y="533326"/>
            <a:ext cx="183973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0" name="Google Shape;3090;p63"/>
          <p:cNvSpPr/>
          <p:nvPr/>
        </p:nvSpPr>
        <p:spPr>
          <a:xfrm>
            <a:off x="9980861" y="647626"/>
            <a:ext cx="149683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2.NBT.B.9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1" name="Google Shape;3091;p63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2" name="Google Shape;3092;p63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3" name="Google Shape;3093;p63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4" name="Google Shape;3094;p63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why addition and subtraction strategies work, using place value and the properties of operations.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5" name="Google Shape;3095;p63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6" name="Google Shape;3096;p63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7" name="Google Shape;3097;p63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8" name="Google Shape;3098;p63"/>
          <p:cNvSpPr/>
          <p:nvPr/>
        </p:nvSpPr>
        <p:spPr>
          <a:xfrm>
            <a:off x="999902" y="4635401"/>
            <a:ext cx="34966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my strategy work?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9" name="Google Shape;3099;p63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0" name="Google Shape;3100;p63"/>
          <p:cNvSpPr/>
          <p:nvPr/>
        </p:nvSpPr>
        <p:spPr>
          <a:xfrm>
            <a:off x="999902" y="5083894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can I convince someone my answer is right?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1" name="Google Shape;3101;p63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2" name="Google Shape;3102;p63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3" name="Google Shape;3103;p63"/>
          <p:cNvSpPr/>
          <p:nvPr/>
        </p:nvSpPr>
        <p:spPr>
          <a:xfrm>
            <a:off x="6424464" y="4635401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4" name="Google Shape;3104;p63"/>
          <p:cNvSpPr/>
          <p:nvPr/>
        </p:nvSpPr>
        <p:spPr>
          <a:xfrm>
            <a:off x="6586389" y="4702076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explain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5" name="Google Shape;3105;p63"/>
          <p:cNvSpPr/>
          <p:nvPr/>
        </p:nvSpPr>
        <p:spPr>
          <a:xfrm>
            <a:off x="7588225" y="4635401"/>
            <a:ext cx="9322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6" name="Google Shape;3106;p63"/>
          <p:cNvSpPr/>
          <p:nvPr/>
        </p:nvSpPr>
        <p:spPr>
          <a:xfrm>
            <a:off x="7750150" y="4702076"/>
            <a:ext cx="6846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justify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7" name="Google Shape;3107;p63"/>
          <p:cNvSpPr/>
          <p:nvPr/>
        </p:nvSpPr>
        <p:spPr>
          <a:xfrm>
            <a:off x="8606210" y="4635401"/>
            <a:ext cx="136936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8" name="Google Shape;3108;p63"/>
          <p:cNvSpPr/>
          <p:nvPr/>
        </p:nvSpPr>
        <p:spPr>
          <a:xfrm>
            <a:off x="8768135" y="4702076"/>
            <a:ext cx="112171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reasoning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9" name="Google Shape;3109;p63"/>
          <p:cNvSpPr/>
          <p:nvPr/>
        </p:nvSpPr>
        <p:spPr>
          <a:xfrm>
            <a:off x="10061302" y="4635401"/>
            <a:ext cx="11704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0" name="Google Shape;3110;p63"/>
          <p:cNvSpPr/>
          <p:nvPr/>
        </p:nvSpPr>
        <p:spPr>
          <a:xfrm>
            <a:off x="10223227" y="4702076"/>
            <a:ext cx="9228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strategy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1" name="Google Shape;3111;p63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2" name="Google Shape;3112;p63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3" name="Google Shape;3113;p63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4" name="Google Shape;3114;p63"/>
          <p:cNvSpPr/>
          <p:nvPr/>
        </p:nvSpPr>
        <p:spPr>
          <a:xfrm>
            <a:off x="1247477" y="6780758"/>
            <a:ext cx="43457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Explain reasoning using place value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5" name="Google Shape;3115;p63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6" name="Google Shape;3116;p63"/>
          <p:cNvSpPr/>
          <p:nvPr/>
        </p:nvSpPr>
        <p:spPr>
          <a:xfrm>
            <a:off x="1247477" y="7219652"/>
            <a:ext cx="47684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Justify a strategy with a model or words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7" name="Google Shape;3117;p63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8" name="Google Shape;3118;p63"/>
          <p:cNvSpPr/>
          <p:nvPr/>
        </p:nvSpPr>
        <p:spPr>
          <a:xfrm>
            <a:off x="1247477" y="7658546"/>
            <a:ext cx="408303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Critique another student’s method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9" name="Google Shape;3119;p63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0" name="Google Shape;3120;p63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1" name="Google Shape;3121;p63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2" name="Google Shape;3122;p63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describe the steps they took rather than why those steps work. Push from "first I..." to "this works because...".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3" name="Google Shape;3123;p63"/>
          <p:cNvSpPr/>
          <p:nvPr/>
        </p:nvSpPr>
        <p:spPr>
          <a:xfrm>
            <a:off x="533326" y="1002826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4" name="Google Shape;3124;p63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5" name="Google Shape;3125;p63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6" name="Google Shape;3126;p63"/>
          <p:cNvSpPr/>
          <p:nvPr/>
        </p:nvSpPr>
        <p:spPr>
          <a:xfrm>
            <a:off x="1218902" y="10618738"/>
            <a:ext cx="460658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why my strategy works.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7" name="Google Shape;3127;p63"/>
          <p:cNvSpPr/>
          <p:nvPr/>
        </p:nvSpPr>
        <p:spPr>
          <a:xfrm>
            <a:off x="780901" y="110895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8" name="Google Shape;3128;p63"/>
          <p:cNvSpPr/>
          <p:nvPr/>
        </p:nvSpPr>
        <p:spPr>
          <a:xfrm>
            <a:off x="1218902" y="11060981"/>
            <a:ext cx="404153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and explain a mistake.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9" name="Google Shape;3129;p6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0" name="Google Shape;3130;p6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1" name="Google Shape;3131;p63"/>
          <p:cNvSpPr/>
          <p:nvPr/>
        </p:nvSpPr>
        <p:spPr>
          <a:xfrm>
            <a:off x="10513144" y="14897174"/>
            <a:ext cx="117410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2.NBT.B.9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36" name="Shape 3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Google Shape;3137;p64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8" name="Google Shape;3138;p64"/>
          <p:cNvSpPr/>
          <p:nvPr/>
        </p:nvSpPr>
        <p:spPr>
          <a:xfrm>
            <a:off x="533326" y="533326"/>
            <a:ext cx="89251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9" name="Google Shape;3139;p64"/>
          <p:cNvSpPr/>
          <p:nvPr/>
        </p:nvSpPr>
        <p:spPr>
          <a:xfrm>
            <a:off x="533326" y="847651"/>
            <a:ext cx="892511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and Estimate Lengths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0" name="Google Shape;3140;p64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1" name="Google Shape;3141;p64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2" name="Google Shape;3142;p64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3" name="Google Shape;3143;p64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4" name="Google Shape;3144;p64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5" name="Google Shape;3145;p64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the length of an object by selecting and using appropriate tools such as rulers, yardsticks, meter sticks, and measuring tapes.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6" name="Google Shape;3146;p64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7" name="Google Shape;3147;p64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8" name="Google Shape;3148;p64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9" name="Google Shape;3149;p64"/>
          <p:cNvSpPr/>
          <p:nvPr/>
        </p:nvSpPr>
        <p:spPr>
          <a:xfrm>
            <a:off x="999902" y="4115470"/>
            <a:ext cx="44504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tool fits what I am measuring?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0" name="Google Shape;3150;p64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1" name="Google Shape;3151;p64"/>
          <p:cNvSpPr/>
          <p:nvPr/>
        </p:nvSpPr>
        <p:spPr>
          <a:xfrm>
            <a:off x="999902" y="4563963"/>
            <a:ext cx="429962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the starting point matter?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2" name="Google Shape;3152;p64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3" name="Google Shape;3153;p64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4" name="Google Shape;3154;p64"/>
          <p:cNvSpPr/>
          <p:nvPr/>
        </p:nvSpPr>
        <p:spPr>
          <a:xfrm>
            <a:off x="6424464" y="4115470"/>
            <a:ext cx="97244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5" name="Google Shape;3155;p64"/>
          <p:cNvSpPr/>
          <p:nvPr/>
        </p:nvSpPr>
        <p:spPr>
          <a:xfrm>
            <a:off x="6586389" y="4182145"/>
            <a:ext cx="72479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6" name="Google Shape;3156;p64"/>
          <p:cNvSpPr/>
          <p:nvPr/>
        </p:nvSpPr>
        <p:spPr>
          <a:xfrm>
            <a:off x="7482632" y="4115470"/>
            <a:ext cx="79987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7" name="Google Shape;3157;p64"/>
          <p:cNvSpPr/>
          <p:nvPr/>
        </p:nvSpPr>
        <p:spPr>
          <a:xfrm>
            <a:off x="7644557" y="4182145"/>
            <a:ext cx="55222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ruler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8" name="Google Shape;3158;p64"/>
          <p:cNvSpPr/>
          <p:nvPr/>
        </p:nvSpPr>
        <p:spPr>
          <a:xfrm>
            <a:off x="8368233" y="4115470"/>
            <a:ext cx="126288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9" name="Google Shape;3159;p64"/>
          <p:cNvSpPr/>
          <p:nvPr/>
        </p:nvSpPr>
        <p:spPr>
          <a:xfrm>
            <a:off x="8530158" y="4182145"/>
            <a:ext cx="101523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yardstick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0" name="Google Shape;3160;p64"/>
          <p:cNvSpPr/>
          <p:nvPr/>
        </p:nvSpPr>
        <p:spPr>
          <a:xfrm>
            <a:off x="9716839" y="4115470"/>
            <a:ext cx="147451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1" name="Google Shape;3161;p64"/>
          <p:cNvSpPr/>
          <p:nvPr/>
        </p:nvSpPr>
        <p:spPr>
          <a:xfrm>
            <a:off x="9878764" y="4182145"/>
            <a:ext cx="122686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meter stick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2" name="Google Shape;3162;p64"/>
          <p:cNvSpPr/>
          <p:nvPr/>
        </p:nvSpPr>
        <p:spPr>
          <a:xfrm>
            <a:off x="6424464" y="4619997"/>
            <a:ext cx="196453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3" name="Google Shape;3163;p64"/>
          <p:cNvSpPr/>
          <p:nvPr/>
        </p:nvSpPr>
        <p:spPr>
          <a:xfrm>
            <a:off x="6586389" y="4686672"/>
            <a:ext cx="171688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measuring tape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4" name="Google Shape;3164;p64"/>
          <p:cNvSpPr/>
          <p:nvPr/>
        </p:nvSpPr>
        <p:spPr>
          <a:xfrm>
            <a:off x="8474720" y="4619997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5" name="Google Shape;3165;p64"/>
          <p:cNvSpPr/>
          <p:nvPr/>
        </p:nvSpPr>
        <p:spPr>
          <a:xfrm>
            <a:off x="8636645" y="4686672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6" name="Google Shape;3166;p64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7" name="Google Shape;3167;p64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8" name="Google Shape;3168;p64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9" name="Google Shape;3169;p64"/>
          <p:cNvSpPr/>
          <p:nvPr/>
        </p:nvSpPr>
        <p:spPr>
          <a:xfrm>
            <a:off x="1247477" y="6067276"/>
            <a:ext cx="445138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Select an appropriate measuring tool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0" name="Google Shape;3170;p64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1" name="Google Shape;3171;p64"/>
          <p:cNvSpPr/>
          <p:nvPr/>
        </p:nvSpPr>
        <p:spPr>
          <a:xfrm>
            <a:off x="1247477" y="6506170"/>
            <a:ext cx="448158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Align the object with zero on the ruler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2" name="Google Shape;3172;p64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3" name="Google Shape;3173;p64"/>
          <p:cNvSpPr/>
          <p:nvPr/>
        </p:nvSpPr>
        <p:spPr>
          <a:xfrm>
            <a:off x="1247477" y="6945064"/>
            <a:ext cx="410316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to the nearest whole unit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4" name="Google Shape;3174;p64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5" name="Google Shape;3175;p64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6" name="Google Shape;3176;p64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7" name="Google Shape;3177;p64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start measuring at the end of the ruler or at the 1 mark rather than at zero, producing answers off by one unit.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8" name="Google Shape;3178;p64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9" name="Google Shape;3179;p64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0" name="Google Shape;3180;p64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1" name="Google Shape;3181;p64"/>
          <p:cNvSpPr/>
          <p:nvPr/>
        </p:nvSpPr>
        <p:spPr>
          <a:xfrm>
            <a:off x="1218902" y="9905256"/>
            <a:ext cx="2909225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pick the right tool.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2" name="Google Shape;3182;p64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3" name="Google Shape;3183;p64"/>
          <p:cNvSpPr/>
          <p:nvPr/>
        </p:nvSpPr>
        <p:spPr>
          <a:xfrm>
            <a:off x="1218902" y="10347499"/>
            <a:ext cx="5860197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measure the length of an object correctly.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4" name="Google Shape;3184;p6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5" name="Google Shape;3185;p6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6" name="Google Shape;3186;p64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191" name="Shape 3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2" name="Google Shape;3192;p65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65"/>
          <p:cNvSpPr/>
          <p:nvPr/>
        </p:nvSpPr>
        <p:spPr>
          <a:xfrm>
            <a:off x="533326" y="533326"/>
            <a:ext cx="89251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4" name="Google Shape;3194;p65"/>
          <p:cNvSpPr/>
          <p:nvPr/>
        </p:nvSpPr>
        <p:spPr>
          <a:xfrm>
            <a:off x="533326" y="847651"/>
            <a:ext cx="892511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and Estimate Lengths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5" name="Google Shape;3195;p65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6" name="Google Shape;3196;p65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7" name="Google Shape;3197;p65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8" name="Google Shape;3198;p65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9" name="Google Shape;3199;p65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0" name="Google Shape;3200;p65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the length of an object twice, using different length units; describe how the two measurements relate to the size of the unit.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1" name="Google Shape;3201;p65"/>
          <p:cNvSpPr/>
          <p:nvPr/>
        </p:nvSpPr>
        <p:spPr>
          <a:xfrm>
            <a:off x="533326" y="3496419"/>
            <a:ext cx="5443538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2" name="Google Shape;3202;p65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3" name="Google Shape;3203;p65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4" name="Google Shape;3204;p65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does the same object give two different numbers?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5" name="Google Shape;3205;p65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6" name="Google Shape;3206;p65"/>
          <p:cNvSpPr/>
          <p:nvPr/>
        </p:nvSpPr>
        <p:spPr>
          <a:xfrm>
            <a:off x="999902" y="4898157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happens to the count when the unit gets smaller?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7" name="Google Shape;3207;p65"/>
          <p:cNvSpPr/>
          <p:nvPr/>
        </p:nvSpPr>
        <p:spPr>
          <a:xfrm>
            <a:off x="6167289" y="3496419"/>
            <a:ext cx="5443761" cy="2289125"/>
          </a:xfrm>
          <a:prstGeom prst="roundRect">
            <a:avLst>
              <a:gd fmla="val 582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8" name="Google Shape;3208;p65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9" name="Google Shape;3209;p65"/>
          <p:cNvSpPr/>
          <p:nvPr/>
        </p:nvSpPr>
        <p:spPr>
          <a:xfrm>
            <a:off x="6424464" y="4115470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0" name="Google Shape;3210;p65"/>
          <p:cNvSpPr/>
          <p:nvPr/>
        </p:nvSpPr>
        <p:spPr>
          <a:xfrm>
            <a:off x="6586389" y="4182145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1" name="Google Shape;3211;p65"/>
          <p:cNvSpPr/>
          <p:nvPr/>
        </p:nvSpPr>
        <p:spPr>
          <a:xfrm>
            <a:off x="7217866" y="4115470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2" name="Google Shape;3212;p65"/>
          <p:cNvSpPr/>
          <p:nvPr/>
        </p:nvSpPr>
        <p:spPr>
          <a:xfrm>
            <a:off x="7379791" y="4182145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inch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3" name="Google Shape;3213;p65"/>
          <p:cNvSpPr/>
          <p:nvPr/>
        </p:nvSpPr>
        <p:spPr>
          <a:xfrm>
            <a:off x="8063954" y="4115470"/>
            <a:ext cx="72084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4" name="Google Shape;3214;p65"/>
          <p:cNvSpPr/>
          <p:nvPr/>
        </p:nvSpPr>
        <p:spPr>
          <a:xfrm>
            <a:off x="8225879" y="4182145"/>
            <a:ext cx="4731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foot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5" name="Google Shape;3215;p65"/>
          <p:cNvSpPr/>
          <p:nvPr/>
        </p:nvSpPr>
        <p:spPr>
          <a:xfrm>
            <a:off x="8870528" y="4115470"/>
            <a:ext cx="143500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6" name="Google Shape;3216;p65"/>
          <p:cNvSpPr/>
          <p:nvPr/>
        </p:nvSpPr>
        <p:spPr>
          <a:xfrm>
            <a:off x="9032453" y="4182145"/>
            <a:ext cx="118735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centimeter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7" name="Google Shape;3217;p65"/>
          <p:cNvSpPr/>
          <p:nvPr/>
        </p:nvSpPr>
        <p:spPr>
          <a:xfrm>
            <a:off x="10391254" y="4115470"/>
            <a:ext cx="9322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8" name="Google Shape;3218;p65"/>
          <p:cNvSpPr/>
          <p:nvPr/>
        </p:nvSpPr>
        <p:spPr>
          <a:xfrm>
            <a:off x="10553179" y="4182145"/>
            <a:ext cx="6846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meter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9" name="Google Shape;3219;p65"/>
          <p:cNvSpPr/>
          <p:nvPr/>
        </p:nvSpPr>
        <p:spPr>
          <a:xfrm>
            <a:off x="6424464" y="4619997"/>
            <a:ext cx="154126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0" name="Google Shape;3220;p65"/>
          <p:cNvSpPr/>
          <p:nvPr/>
        </p:nvSpPr>
        <p:spPr>
          <a:xfrm>
            <a:off x="6586389" y="4686672"/>
            <a:ext cx="129361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relationship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1" name="Google Shape;3221;p65"/>
          <p:cNvSpPr/>
          <p:nvPr/>
        </p:nvSpPr>
        <p:spPr>
          <a:xfrm>
            <a:off x="533326" y="5975970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2" name="Google Shape;3222;p65"/>
          <p:cNvSpPr/>
          <p:nvPr/>
        </p:nvSpPr>
        <p:spPr>
          <a:xfrm>
            <a:off x="809476" y="6194971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3" name="Google Shape;3223;p65"/>
          <p:cNvSpPr/>
          <p:nvPr/>
        </p:nvSpPr>
        <p:spPr>
          <a:xfrm>
            <a:off x="809476" y="66235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4" name="Google Shape;3224;p65"/>
          <p:cNvSpPr/>
          <p:nvPr/>
        </p:nvSpPr>
        <p:spPr>
          <a:xfrm>
            <a:off x="1247477" y="6595021"/>
            <a:ext cx="48852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one object in two different units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5" name="Google Shape;3225;p65"/>
          <p:cNvSpPr/>
          <p:nvPr/>
        </p:nvSpPr>
        <p:spPr>
          <a:xfrm>
            <a:off x="809476" y="70624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6" name="Google Shape;3226;p65"/>
          <p:cNvSpPr/>
          <p:nvPr/>
        </p:nvSpPr>
        <p:spPr>
          <a:xfrm>
            <a:off x="1247477" y="7033915"/>
            <a:ext cx="395116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Compare the two measurements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7" name="Google Shape;3227;p65"/>
          <p:cNvSpPr/>
          <p:nvPr/>
        </p:nvSpPr>
        <p:spPr>
          <a:xfrm>
            <a:off x="809476" y="750138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8" name="Google Shape;3228;p65"/>
          <p:cNvSpPr/>
          <p:nvPr/>
        </p:nvSpPr>
        <p:spPr>
          <a:xfrm>
            <a:off x="1247477" y="7472809"/>
            <a:ext cx="61470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the size of the unit to the size of the number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9" name="Google Shape;3229;p65"/>
          <p:cNvSpPr/>
          <p:nvPr/>
        </p:nvSpPr>
        <p:spPr>
          <a:xfrm>
            <a:off x="533326" y="8216429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0" name="Google Shape;3230;p65"/>
          <p:cNvSpPr/>
          <p:nvPr/>
        </p:nvSpPr>
        <p:spPr>
          <a:xfrm>
            <a:off x="533326" y="8216429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1" name="Google Shape;3231;p65"/>
          <p:cNvSpPr/>
          <p:nvPr/>
        </p:nvSpPr>
        <p:spPr>
          <a:xfrm>
            <a:off x="895201" y="8406854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2" name="Google Shape;3232;p65"/>
          <p:cNvSpPr/>
          <p:nvPr/>
        </p:nvSpPr>
        <p:spPr>
          <a:xfrm>
            <a:off x="895201" y="8768730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think the larger number means the longer object, even when the units differ. Measure the same desk in inches and feet and discuss.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3" name="Google Shape;3233;p65"/>
          <p:cNvSpPr/>
          <p:nvPr/>
        </p:nvSpPr>
        <p:spPr>
          <a:xfrm>
            <a:off x="533326" y="9842525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4" name="Google Shape;3234;p65"/>
          <p:cNvSpPr/>
          <p:nvPr/>
        </p:nvSpPr>
        <p:spPr>
          <a:xfrm>
            <a:off x="780901" y="10032950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5" name="Google Shape;3235;p65"/>
          <p:cNvSpPr/>
          <p:nvPr/>
        </p:nvSpPr>
        <p:spPr>
          <a:xfrm>
            <a:off x="780901" y="1046157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6" name="Google Shape;3236;p65"/>
          <p:cNvSpPr/>
          <p:nvPr/>
        </p:nvSpPr>
        <p:spPr>
          <a:xfrm>
            <a:off x="1218902" y="10433000"/>
            <a:ext cx="504737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measure the same thing two ways.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7" name="Google Shape;3237;p65"/>
          <p:cNvSpPr/>
          <p:nvPr/>
        </p:nvSpPr>
        <p:spPr>
          <a:xfrm>
            <a:off x="780901" y="1090381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8" name="Google Shape;3238;p65"/>
          <p:cNvSpPr/>
          <p:nvPr/>
        </p:nvSpPr>
        <p:spPr>
          <a:xfrm>
            <a:off x="1218902" y="10875243"/>
            <a:ext cx="710767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explain why the smaller unit gives a bigger number.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9" name="Google Shape;3239;p6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0" name="Google Shape;3240;p6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1" name="Google Shape;3241;p65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46" name="Shape 3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7" name="Google Shape;3247;p66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8" name="Google Shape;3248;p66"/>
          <p:cNvSpPr/>
          <p:nvPr/>
        </p:nvSpPr>
        <p:spPr>
          <a:xfrm>
            <a:off x="533326" y="533326"/>
            <a:ext cx="89251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9" name="Google Shape;3249;p66"/>
          <p:cNvSpPr/>
          <p:nvPr/>
        </p:nvSpPr>
        <p:spPr>
          <a:xfrm>
            <a:off x="533326" y="847651"/>
            <a:ext cx="892511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and Estimate Lengths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0" name="Google Shape;3250;p66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1" name="Google Shape;3251;p66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2" name="Google Shape;3252;p66"/>
          <p:cNvSpPr/>
          <p:nvPr/>
        </p:nvSpPr>
        <p:spPr>
          <a:xfrm>
            <a:off x="533326" y="1805583"/>
            <a:ext cx="11077724" cy="1140544"/>
          </a:xfrm>
          <a:custGeom>
            <a:rect b="b" l="l" r="r" t="t"/>
            <a:pathLst>
              <a:path extrusionOk="0" h="1140544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007194"/>
                </a:lnTo>
                <a:cubicBezTo>
                  <a:pt x="11077724" y="1080841"/>
                  <a:pt x="11018021" y="1140544"/>
                  <a:pt x="10944374" y="1140544"/>
                </a:cubicBezTo>
                <a:lnTo>
                  <a:pt x="0" y="1140544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3" name="Google Shape;3253;p66"/>
          <p:cNvSpPr/>
          <p:nvPr/>
        </p:nvSpPr>
        <p:spPr>
          <a:xfrm>
            <a:off x="533326" y="1805583"/>
            <a:ext cx="114300" cy="1140544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4" name="Google Shape;3254;p66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5" name="Google Shape;3255;p66"/>
          <p:cNvSpPr/>
          <p:nvPr/>
        </p:nvSpPr>
        <p:spPr>
          <a:xfrm>
            <a:off x="914177" y="2376860"/>
            <a:ext cx="11473354" cy="39796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Estimate lengths using units of inches, feet, centimeters, and meters.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6" name="Google Shape;3256;p66"/>
          <p:cNvSpPr/>
          <p:nvPr/>
        </p:nvSpPr>
        <p:spPr>
          <a:xfrm>
            <a:off x="533326" y="3136553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7" name="Google Shape;3257;p66"/>
          <p:cNvSpPr/>
          <p:nvPr/>
        </p:nvSpPr>
        <p:spPr>
          <a:xfrm>
            <a:off x="790501" y="3355553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8" name="Google Shape;3258;p66"/>
          <p:cNvSpPr/>
          <p:nvPr/>
        </p:nvSpPr>
        <p:spPr>
          <a:xfrm>
            <a:off x="790501" y="386030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9" name="Google Shape;3259;p66"/>
          <p:cNvSpPr/>
          <p:nvPr/>
        </p:nvSpPr>
        <p:spPr>
          <a:xfrm>
            <a:off x="999902" y="3755603"/>
            <a:ext cx="39816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can I use as a benchmark?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0" name="Google Shape;3260;p66"/>
          <p:cNvSpPr/>
          <p:nvPr/>
        </p:nvSpPr>
        <p:spPr>
          <a:xfrm>
            <a:off x="790501" y="430879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1" name="Google Shape;3261;p66"/>
          <p:cNvSpPr/>
          <p:nvPr/>
        </p:nvSpPr>
        <p:spPr>
          <a:xfrm>
            <a:off x="999902" y="4204097"/>
            <a:ext cx="49209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close does an estimate need to be?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2" name="Google Shape;3262;p66"/>
          <p:cNvSpPr/>
          <p:nvPr/>
        </p:nvSpPr>
        <p:spPr>
          <a:xfrm>
            <a:off x="6167289" y="3136553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3" name="Google Shape;3263;p66"/>
          <p:cNvSpPr/>
          <p:nvPr/>
        </p:nvSpPr>
        <p:spPr>
          <a:xfrm>
            <a:off x="6424464" y="3355553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4" name="Google Shape;3264;p66"/>
          <p:cNvSpPr/>
          <p:nvPr/>
        </p:nvSpPr>
        <p:spPr>
          <a:xfrm>
            <a:off x="6424464" y="3755603"/>
            <a:ext cx="122336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5" name="Google Shape;3265;p66"/>
          <p:cNvSpPr/>
          <p:nvPr/>
        </p:nvSpPr>
        <p:spPr>
          <a:xfrm>
            <a:off x="6586389" y="3822278"/>
            <a:ext cx="97571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estimate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6" name="Google Shape;3266;p66"/>
          <p:cNvSpPr/>
          <p:nvPr/>
        </p:nvSpPr>
        <p:spPr>
          <a:xfrm>
            <a:off x="7733556" y="3755603"/>
            <a:ext cx="150130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7" name="Google Shape;3267;p66"/>
          <p:cNvSpPr/>
          <p:nvPr/>
        </p:nvSpPr>
        <p:spPr>
          <a:xfrm>
            <a:off x="7895481" y="3822278"/>
            <a:ext cx="125365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benchmark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8" name="Google Shape;3268;p66"/>
          <p:cNvSpPr/>
          <p:nvPr/>
        </p:nvSpPr>
        <p:spPr>
          <a:xfrm>
            <a:off x="9320585" y="3755603"/>
            <a:ext cx="9195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9" name="Google Shape;3269;p66"/>
          <p:cNvSpPr/>
          <p:nvPr/>
        </p:nvSpPr>
        <p:spPr>
          <a:xfrm>
            <a:off x="9482510" y="3822278"/>
            <a:ext cx="6718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about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0" name="Google Shape;3270;p66"/>
          <p:cNvSpPr/>
          <p:nvPr/>
        </p:nvSpPr>
        <p:spPr>
          <a:xfrm>
            <a:off x="6424464" y="4260131"/>
            <a:ext cx="150175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1" name="Google Shape;3271;p66"/>
          <p:cNvSpPr/>
          <p:nvPr/>
        </p:nvSpPr>
        <p:spPr>
          <a:xfrm>
            <a:off x="6586389" y="4326806"/>
            <a:ext cx="125410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reasonable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2" name="Google Shape;3272;p66"/>
          <p:cNvSpPr/>
          <p:nvPr/>
        </p:nvSpPr>
        <p:spPr>
          <a:xfrm>
            <a:off x="533326" y="5088359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3" name="Google Shape;3273;p66"/>
          <p:cNvSpPr/>
          <p:nvPr/>
        </p:nvSpPr>
        <p:spPr>
          <a:xfrm>
            <a:off x="809476" y="5307360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4" name="Google Shape;3274;p66"/>
          <p:cNvSpPr/>
          <p:nvPr/>
        </p:nvSpPr>
        <p:spPr>
          <a:xfrm>
            <a:off x="809476" y="573598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5" name="Google Shape;3275;p66"/>
          <p:cNvSpPr/>
          <p:nvPr/>
        </p:nvSpPr>
        <p:spPr>
          <a:xfrm>
            <a:off x="1247477" y="5707410"/>
            <a:ext cx="684270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Estimate lengths in inches, feet, centimeters, and meters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6" name="Google Shape;3276;p66"/>
          <p:cNvSpPr/>
          <p:nvPr/>
        </p:nvSpPr>
        <p:spPr>
          <a:xfrm>
            <a:off x="809476" y="61748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7" name="Google Shape;3277;p66"/>
          <p:cNvSpPr/>
          <p:nvPr/>
        </p:nvSpPr>
        <p:spPr>
          <a:xfrm>
            <a:off x="1247477" y="6146304"/>
            <a:ext cx="316412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personal benchmarks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8" name="Google Shape;3278;p66"/>
          <p:cNvSpPr/>
          <p:nvPr/>
        </p:nvSpPr>
        <p:spPr>
          <a:xfrm>
            <a:off x="809476" y="66137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9" name="Google Shape;3279;p66"/>
          <p:cNvSpPr/>
          <p:nvPr/>
        </p:nvSpPr>
        <p:spPr>
          <a:xfrm>
            <a:off x="1247477" y="6585198"/>
            <a:ext cx="372401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Check estimates by measuring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0" name="Google Shape;3280;p66"/>
          <p:cNvSpPr/>
          <p:nvPr/>
        </p:nvSpPr>
        <p:spPr>
          <a:xfrm>
            <a:off x="533326" y="7328818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1" name="Google Shape;3281;p66"/>
          <p:cNvSpPr/>
          <p:nvPr/>
        </p:nvSpPr>
        <p:spPr>
          <a:xfrm>
            <a:off x="533326" y="7328818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2" name="Google Shape;3282;p66"/>
          <p:cNvSpPr/>
          <p:nvPr/>
        </p:nvSpPr>
        <p:spPr>
          <a:xfrm>
            <a:off x="895201" y="7519243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3" name="Google Shape;3283;p66"/>
          <p:cNvSpPr/>
          <p:nvPr/>
        </p:nvSpPr>
        <p:spPr>
          <a:xfrm>
            <a:off x="895201" y="7881119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guess randomly instead of comparing to a known referent. Establish benchmarks: a paper clip is about an inch, a door is about two meters.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4" name="Google Shape;3284;p66"/>
          <p:cNvSpPr/>
          <p:nvPr/>
        </p:nvSpPr>
        <p:spPr>
          <a:xfrm>
            <a:off x="533326" y="8954914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5" name="Google Shape;3285;p66"/>
          <p:cNvSpPr/>
          <p:nvPr/>
        </p:nvSpPr>
        <p:spPr>
          <a:xfrm>
            <a:off x="780901" y="9145339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6" name="Google Shape;3286;p66"/>
          <p:cNvSpPr/>
          <p:nvPr/>
        </p:nvSpPr>
        <p:spPr>
          <a:xfrm>
            <a:off x="780901" y="957396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7" name="Google Shape;3287;p66"/>
          <p:cNvSpPr/>
          <p:nvPr/>
        </p:nvSpPr>
        <p:spPr>
          <a:xfrm>
            <a:off x="1218902" y="9545389"/>
            <a:ext cx="495381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 good estimate of a length.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8" name="Google Shape;3288;p6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9" name="Google Shape;3289;p6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0" name="Google Shape;3290;p66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295" name="Shape 3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6" name="Google Shape;3296;p67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7" name="Google Shape;3297;p67"/>
          <p:cNvSpPr/>
          <p:nvPr/>
        </p:nvSpPr>
        <p:spPr>
          <a:xfrm>
            <a:off x="533326" y="533326"/>
            <a:ext cx="892511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8" name="Google Shape;3298;p67"/>
          <p:cNvSpPr/>
          <p:nvPr/>
        </p:nvSpPr>
        <p:spPr>
          <a:xfrm>
            <a:off x="533326" y="847651"/>
            <a:ext cx="892511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and Estimate Lengths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9" name="Google Shape;3299;p67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0" name="Google Shape;3300;p67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2.MD.A.4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1" name="Google Shape;3301;p67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2" name="Google Shape;3302;p67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3" name="Google Shape;3303;p67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4" name="Google Shape;3304;p67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to determine how much longer one object is than another, expressing the difference in a standard length unit.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5" name="Google Shape;3305;p67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6" name="Google Shape;3306;p67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7" name="Google Shape;3307;p67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8" name="Google Shape;3308;p67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find out how much longer one object 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9" name="Google Shape;3309;p67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0" name="Google Shape;3310;p67"/>
          <p:cNvSpPr/>
          <p:nvPr/>
        </p:nvSpPr>
        <p:spPr>
          <a:xfrm>
            <a:off x="999902" y="4898157"/>
            <a:ext cx="484478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operation compares two lengths?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1" name="Google Shape;3311;p67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2" name="Google Shape;3312;p67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3" name="Google Shape;3313;p67"/>
          <p:cNvSpPr/>
          <p:nvPr/>
        </p:nvSpPr>
        <p:spPr>
          <a:xfrm>
            <a:off x="6424464" y="4115470"/>
            <a:ext cx="136490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4" name="Google Shape;3314;p67"/>
          <p:cNvSpPr/>
          <p:nvPr/>
        </p:nvSpPr>
        <p:spPr>
          <a:xfrm>
            <a:off x="6586389" y="4182145"/>
            <a:ext cx="111725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difference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5" name="Google Shape;3315;p67"/>
          <p:cNvSpPr/>
          <p:nvPr/>
        </p:nvSpPr>
        <p:spPr>
          <a:xfrm>
            <a:off x="7875091" y="4115470"/>
            <a:ext cx="98539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6" name="Google Shape;3316;p67"/>
          <p:cNvSpPr/>
          <p:nvPr/>
        </p:nvSpPr>
        <p:spPr>
          <a:xfrm>
            <a:off x="8037016" y="4182145"/>
            <a:ext cx="73774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longer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7" name="Google Shape;3317;p67"/>
          <p:cNvSpPr/>
          <p:nvPr/>
        </p:nvSpPr>
        <p:spPr>
          <a:xfrm>
            <a:off x="8946207" y="4115470"/>
            <a:ext cx="106464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8" name="Google Shape;3318;p67"/>
          <p:cNvSpPr/>
          <p:nvPr/>
        </p:nvSpPr>
        <p:spPr>
          <a:xfrm>
            <a:off x="9108132" y="4182145"/>
            <a:ext cx="81699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shorter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9" name="Google Shape;3319;p67"/>
          <p:cNvSpPr/>
          <p:nvPr/>
        </p:nvSpPr>
        <p:spPr>
          <a:xfrm>
            <a:off x="10096574" y="4115470"/>
            <a:ext cx="1249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0" name="Google Shape;3320;p67"/>
          <p:cNvSpPr/>
          <p:nvPr/>
        </p:nvSpPr>
        <p:spPr>
          <a:xfrm>
            <a:off x="10258499" y="4182145"/>
            <a:ext cx="1002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compare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1" name="Google Shape;3321;p67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2" name="Google Shape;3322;p67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3" name="Google Shape;3323;p67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4" name="Google Shape;3324;p67"/>
          <p:cNvSpPr/>
          <p:nvPr/>
        </p:nvSpPr>
        <p:spPr>
          <a:xfrm>
            <a:off x="1247477" y="6260827"/>
            <a:ext cx="449632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two objects in the same unit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5" name="Google Shape;3325;p67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6" name="Google Shape;3326;p67"/>
          <p:cNvSpPr/>
          <p:nvPr/>
        </p:nvSpPr>
        <p:spPr>
          <a:xfrm>
            <a:off x="1247477" y="6699721"/>
            <a:ext cx="35531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Subtract to find the difference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7" name="Google Shape;3327;p67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8" name="Google Shape;3328;p67"/>
          <p:cNvSpPr/>
          <p:nvPr/>
        </p:nvSpPr>
        <p:spPr>
          <a:xfrm>
            <a:off x="1247477" y="7138615"/>
            <a:ext cx="487031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Express the difference in a standard unit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9" name="Google Shape;3329;p67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0" name="Google Shape;3330;p67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1" name="Google Shape;3331;p67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2" name="Google Shape;3332;p67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add the two lengths instead of subtracting. Anchor the question: "how much longer" asks for a difference.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3" name="Google Shape;3333;p67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4" name="Google Shape;3334;p67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5" name="Google Shape;3335;p67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6" name="Google Shape;3336;p67"/>
          <p:cNvSpPr/>
          <p:nvPr/>
        </p:nvSpPr>
        <p:spPr>
          <a:xfrm>
            <a:off x="1218902" y="10098807"/>
            <a:ext cx="677812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find how much longer one object is than another.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7" name="Google Shape;3337;p67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8" name="Google Shape;3338;p67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9" name="Google Shape;3339;p67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2.MD.A.4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344" name="Shape 3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5" name="Google Shape;3345;p68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6" name="Google Shape;3346;p68"/>
          <p:cNvSpPr/>
          <p:nvPr/>
        </p:nvSpPr>
        <p:spPr>
          <a:xfrm>
            <a:off x="533326" y="533326"/>
            <a:ext cx="99822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7" name="Google Shape;3347;p68"/>
          <p:cNvSpPr/>
          <p:nvPr/>
        </p:nvSpPr>
        <p:spPr>
          <a:xfrm>
            <a:off x="533326" y="847651"/>
            <a:ext cx="9347039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Addition and Subtraction to Length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8" name="Google Shape;3348;p68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9" name="Google Shape;3349;p68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2.MD.B.5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0" name="Google Shape;3350;p68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1" name="Google Shape;3351;p68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2" name="Google Shape;3352;p68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3" name="Google Shape;3353;p68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addition and subtraction within 100 to solve word problems involving lengths given in the same units.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4" name="Google Shape;3354;p68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5" name="Google Shape;3355;p68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6" name="Google Shape;3356;p68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7" name="Google Shape;3357;p68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are length problems like other word problems?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8" name="Google Shape;3358;p68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9" name="Google Shape;3359;p68"/>
          <p:cNvSpPr/>
          <p:nvPr/>
        </p:nvSpPr>
        <p:spPr>
          <a:xfrm>
            <a:off x="999902" y="5418088"/>
            <a:ext cx="49209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the unknown represent here?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0" name="Google Shape;3360;p68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1" name="Google Shape;3361;p68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2" name="Google Shape;3362;p68"/>
          <p:cNvSpPr/>
          <p:nvPr/>
        </p:nvSpPr>
        <p:spPr>
          <a:xfrm>
            <a:off x="6424464" y="4635401"/>
            <a:ext cx="97244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3" name="Google Shape;3363;p68"/>
          <p:cNvSpPr/>
          <p:nvPr/>
        </p:nvSpPr>
        <p:spPr>
          <a:xfrm>
            <a:off x="6586389" y="4702076"/>
            <a:ext cx="72479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length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4" name="Google Shape;3364;p68"/>
          <p:cNvSpPr/>
          <p:nvPr/>
        </p:nvSpPr>
        <p:spPr>
          <a:xfrm>
            <a:off x="7482632" y="4635401"/>
            <a:ext cx="127672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5" name="Google Shape;3365;p68"/>
          <p:cNvSpPr/>
          <p:nvPr/>
        </p:nvSpPr>
        <p:spPr>
          <a:xfrm>
            <a:off x="7644557" y="4702076"/>
            <a:ext cx="102907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unknown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6" name="Google Shape;3366;p68"/>
          <p:cNvSpPr/>
          <p:nvPr/>
        </p:nvSpPr>
        <p:spPr>
          <a:xfrm>
            <a:off x="8845079" y="4635401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7" name="Google Shape;3367;p68"/>
          <p:cNvSpPr/>
          <p:nvPr/>
        </p:nvSpPr>
        <p:spPr>
          <a:xfrm>
            <a:off x="9007004" y="4702076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8" name="Google Shape;3368;p68"/>
          <p:cNvSpPr/>
          <p:nvPr/>
        </p:nvSpPr>
        <p:spPr>
          <a:xfrm>
            <a:off x="10168012" y="4635401"/>
            <a:ext cx="70767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9" name="Google Shape;3369;p68"/>
          <p:cNvSpPr/>
          <p:nvPr/>
        </p:nvSpPr>
        <p:spPr>
          <a:xfrm>
            <a:off x="10329937" y="4702076"/>
            <a:ext cx="46002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unit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0" name="Google Shape;3370;p68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1" name="Google Shape;3371;p68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2" name="Google Shape;3372;p68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3" name="Google Shape;3373;p68"/>
          <p:cNvSpPr/>
          <p:nvPr/>
        </p:nvSpPr>
        <p:spPr>
          <a:xfrm>
            <a:off x="1247477" y="6780758"/>
            <a:ext cx="466306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length word problems within 100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4" name="Google Shape;3374;p68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5" name="Google Shape;3375;p68"/>
          <p:cNvSpPr/>
          <p:nvPr/>
        </p:nvSpPr>
        <p:spPr>
          <a:xfrm>
            <a:off x="1247477" y="7219652"/>
            <a:ext cx="696401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drawings or equations with a symbol for the unknown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6" name="Google Shape;3376;p68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7" name="Google Shape;3377;p68"/>
          <p:cNvSpPr/>
          <p:nvPr/>
        </p:nvSpPr>
        <p:spPr>
          <a:xfrm>
            <a:off x="1247477" y="7658546"/>
            <a:ext cx="258925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Keep units consistent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8" name="Google Shape;3378;p68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9" name="Google Shape;3379;p68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0" name="Google Shape;3380;p68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1" name="Google Shape;3381;p68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drop the unit from the answer, writing 18 instead of 18 cm. Require units in every answer.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2" name="Google Shape;3382;p68"/>
          <p:cNvSpPr/>
          <p:nvPr/>
        </p:nvSpPr>
        <p:spPr>
          <a:xfrm>
            <a:off x="533326" y="10028262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3" name="Google Shape;3383;p68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4" name="Google Shape;3384;p68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5" name="Google Shape;3385;p68"/>
          <p:cNvSpPr/>
          <p:nvPr/>
        </p:nvSpPr>
        <p:spPr>
          <a:xfrm>
            <a:off x="1218902" y="10618738"/>
            <a:ext cx="500071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word problems about length.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6" name="Google Shape;3386;p68"/>
          <p:cNvSpPr/>
          <p:nvPr/>
        </p:nvSpPr>
        <p:spPr>
          <a:xfrm>
            <a:off x="780901" y="11089556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7" name="Google Shape;3387;p68"/>
          <p:cNvSpPr/>
          <p:nvPr/>
        </p:nvSpPr>
        <p:spPr>
          <a:xfrm>
            <a:off x="1218902" y="11060981"/>
            <a:ext cx="440276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label my answer with the unit.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8" name="Google Shape;3388;p68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9" name="Google Shape;3389;p68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0" name="Google Shape;3390;p68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2.MD.B.5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395" name="Shape 3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6" name="Google Shape;3396;p69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7" name="Google Shape;3397;p69"/>
          <p:cNvSpPr/>
          <p:nvPr/>
        </p:nvSpPr>
        <p:spPr>
          <a:xfrm>
            <a:off x="533326" y="533326"/>
            <a:ext cx="998227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8" name="Google Shape;3398;p69"/>
          <p:cNvSpPr/>
          <p:nvPr/>
        </p:nvSpPr>
        <p:spPr>
          <a:xfrm>
            <a:off x="533326" y="847651"/>
            <a:ext cx="9347039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Relate Addition and Subtraction to Length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9" name="Google Shape;3399;p69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0" name="Google Shape;3400;p69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2.MD.B.6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1" name="Google Shape;3401;p69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2" name="Google Shape;3402;p69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3" name="Google Shape;3403;p69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4" name="Google Shape;3404;p69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whole numbers as lengths on a number line diagram and represent whole-number sums and differences within 100.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5" name="Google Shape;3405;p69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6" name="Google Shape;3406;p69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7" name="Google Shape;3407;p69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8" name="Google Shape;3408;p69"/>
          <p:cNvSpPr/>
          <p:nvPr/>
        </p:nvSpPr>
        <p:spPr>
          <a:xfrm>
            <a:off x="999902" y="4635401"/>
            <a:ext cx="40267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a number line like a ruler?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9" name="Google Shape;3409;p69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0" name="Google Shape;3410;p69"/>
          <p:cNvSpPr/>
          <p:nvPr/>
        </p:nvSpPr>
        <p:spPr>
          <a:xfrm>
            <a:off x="999902" y="5083894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jumps on a number line show addition?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1" name="Google Shape;3411;p69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2" name="Google Shape;3412;p69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3" name="Google Shape;3413;p69"/>
          <p:cNvSpPr/>
          <p:nvPr/>
        </p:nvSpPr>
        <p:spPr>
          <a:xfrm>
            <a:off x="6424464" y="4635401"/>
            <a:ext cx="156760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4" name="Google Shape;3414;p69"/>
          <p:cNvSpPr/>
          <p:nvPr/>
        </p:nvSpPr>
        <p:spPr>
          <a:xfrm>
            <a:off x="6586389" y="4702076"/>
            <a:ext cx="131995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number line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5" name="Google Shape;3415;p69"/>
          <p:cNvSpPr/>
          <p:nvPr/>
        </p:nvSpPr>
        <p:spPr>
          <a:xfrm>
            <a:off x="8077795" y="4635401"/>
            <a:ext cx="8398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6" name="Google Shape;3416;p69"/>
          <p:cNvSpPr/>
          <p:nvPr/>
        </p:nvSpPr>
        <p:spPr>
          <a:xfrm>
            <a:off x="8239720" y="4702076"/>
            <a:ext cx="5921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jump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7" name="Google Shape;3417;p69"/>
          <p:cNvSpPr/>
          <p:nvPr/>
        </p:nvSpPr>
        <p:spPr>
          <a:xfrm>
            <a:off x="9003357" y="4635401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8" name="Google Shape;3418;p69"/>
          <p:cNvSpPr/>
          <p:nvPr/>
        </p:nvSpPr>
        <p:spPr>
          <a:xfrm>
            <a:off x="9165282" y="4702076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interval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9" name="Google Shape;3419;p69"/>
          <p:cNvSpPr/>
          <p:nvPr/>
        </p:nvSpPr>
        <p:spPr>
          <a:xfrm>
            <a:off x="6424464" y="5139928"/>
            <a:ext cx="191184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0" name="Google Shape;3420;p69"/>
          <p:cNvSpPr/>
          <p:nvPr/>
        </p:nvSpPr>
        <p:spPr>
          <a:xfrm>
            <a:off x="6586389" y="5206603"/>
            <a:ext cx="166419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equally spaced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1" name="Google Shape;3421;p69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2" name="Google Shape;3422;p69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3" name="Google Shape;3423;p69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4" name="Google Shape;3424;p69"/>
          <p:cNvSpPr/>
          <p:nvPr/>
        </p:nvSpPr>
        <p:spPr>
          <a:xfrm>
            <a:off x="1247477" y="6780758"/>
            <a:ext cx="66010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whole numbers as lengths on a number line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5" name="Google Shape;3425;p69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6" name="Google Shape;3426;p69"/>
          <p:cNvSpPr/>
          <p:nvPr/>
        </p:nvSpPr>
        <p:spPr>
          <a:xfrm>
            <a:off x="1247477" y="7219652"/>
            <a:ext cx="450638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Show sums and differences as jumps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7" name="Google Shape;3427;p69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8" name="Google Shape;3428;p69"/>
          <p:cNvSpPr/>
          <p:nvPr/>
        </p:nvSpPr>
        <p:spPr>
          <a:xfrm>
            <a:off x="1247477" y="7658546"/>
            <a:ext cx="317959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equally spaced points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9" name="Google Shape;3429;p69"/>
          <p:cNvSpPr/>
          <p:nvPr/>
        </p:nvSpPr>
        <p:spPr>
          <a:xfrm>
            <a:off x="533326" y="8402166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0" name="Google Shape;3430;p69"/>
          <p:cNvSpPr/>
          <p:nvPr/>
        </p:nvSpPr>
        <p:spPr>
          <a:xfrm>
            <a:off x="533326" y="8402166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1" name="Google Shape;3431;p69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2" name="Google Shape;3432;p69"/>
          <p:cNvSpPr/>
          <p:nvPr/>
        </p:nvSpPr>
        <p:spPr>
          <a:xfrm>
            <a:off x="895201" y="8954467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count the tick marks instead of the spaces between them, so their jumps are off by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3" name="Google Shape;3433;p69"/>
          <p:cNvSpPr/>
          <p:nvPr/>
        </p:nvSpPr>
        <p:spPr>
          <a:xfrm>
            <a:off x="533326" y="10028262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4" name="Google Shape;3434;p69"/>
          <p:cNvSpPr/>
          <p:nvPr/>
        </p:nvSpPr>
        <p:spPr>
          <a:xfrm>
            <a:off x="780901" y="10218688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5" name="Google Shape;3435;p69"/>
          <p:cNvSpPr/>
          <p:nvPr/>
        </p:nvSpPr>
        <p:spPr>
          <a:xfrm>
            <a:off x="780901" y="1064731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6" name="Google Shape;3436;p69"/>
          <p:cNvSpPr/>
          <p:nvPr/>
        </p:nvSpPr>
        <p:spPr>
          <a:xfrm>
            <a:off x="1218902" y="10618738"/>
            <a:ext cx="66995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show addition and subtraction on a number line.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7" name="Google Shape;3437;p69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8" name="Google Shape;3438;p69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9" name="Google Shape;3439;p69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2.MD.B.6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444" name="Shape 3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5" name="Google Shape;3445;p70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6" name="Google Shape;3446;p70"/>
          <p:cNvSpPr/>
          <p:nvPr/>
        </p:nvSpPr>
        <p:spPr>
          <a:xfrm>
            <a:off x="533326" y="533326"/>
            <a:ext cx="77928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7" name="Google Shape;3447;p70"/>
          <p:cNvSpPr/>
          <p:nvPr/>
        </p:nvSpPr>
        <p:spPr>
          <a:xfrm>
            <a:off x="533326" y="847651"/>
            <a:ext cx="779280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Work with Time and Money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8" name="Google Shape;3448;p70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9" name="Google Shape;3449;p70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2.MD.C.7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0" name="Google Shape;3450;p70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1" name="Google Shape;3451;p70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2" name="Google Shape;3452;p70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3" name="Google Shape;3453;p70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and write time from analog and digital clocks to the nearest five minutes, using a.m. and p.m.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4" name="Google Shape;3454;p70"/>
          <p:cNvSpPr/>
          <p:nvPr/>
        </p:nvSpPr>
        <p:spPr>
          <a:xfrm>
            <a:off x="533326" y="3496419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5" name="Google Shape;3455;p70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6" name="Google Shape;3456;p70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7" name="Google Shape;3457;p70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the two clock hands work together?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8" name="Google Shape;3458;p70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9" name="Google Shape;3459;p70"/>
          <p:cNvSpPr/>
          <p:nvPr/>
        </p:nvSpPr>
        <p:spPr>
          <a:xfrm>
            <a:off x="999902" y="4898157"/>
            <a:ext cx="416259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know if it is a.m. or p.m.?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0" name="Google Shape;3460;p70"/>
          <p:cNvSpPr/>
          <p:nvPr/>
        </p:nvSpPr>
        <p:spPr>
          <a:xfrm>
            <a:off x="6167289" y="3496419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1" name="Google Shape;3461;p70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2" name="Google Shape;3462;p70"/>
          <p:cNvSpPr/>
          <p:nvPr/>
        </p:nvSpPr>
        <p:spPr>
          <a:xfrm>
            <a:off x="6424464" y="4115470"/>
            <a:ext cx="103852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3" name="Google Shape;3463;p70"/>
          <p:cNvSpPr/>
          <p:nvPr/>
        </p:nvSpPr>
        <p:spPr>
          <a:xfrm>
            <a:off x="6586389" y="4182145"/>
            <a:ext cx="79087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analog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4" name="Google Shape;3464;p70"/>
          <p:cNvSpPr/>
          <p:nvPr/>
        </p:nvSpPr>
        <p:spPr>
          <a:xfrm>
            <a:off x="7548711" y="4115470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5" name="Google Shape;3465;p70"/>
          <p:cNvSpPr/>
          <p:nvPr/>
        </p:nvSpPr>
        <p:spPr>
          <a:xfrm>
            <a:off x="7710636" y="4182145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digital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6" name="Google Shape;3466;p70"/>
          <p:cNvSpPr/>
          <p:nvPr/>
        </p:nvSpPr>
        <p:spPr>
          <a:xfrm>
            <a:off x="8580090" y="4115470"/>
            <a:ext cx="139593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7" name="Google Shape;3467;p70"/>
          <p:cNvSpPr/>
          <p:nvPr/>
        </p:nvSpPr>
        <p:spPr>
          <a:xfrm>
            <a:off x="8742015" y="4182145"/>
            <a:ext cx="114828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hour hand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8" name="Google Shape;3468;p70"/>
          <p:cNvSpPr/>
          <p:nvPr/>
        </p:nvSpPr>
        <p:spPr>
          <a:xfrm>
            <a:off x="6424464" y="4619997"/>
            <a:ext cx="163391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9" name="Google Shape;3469;p70"/>
          <p:cNvSpPr/>
          <p:nvPr/>
        </p:nvSpPr>
        <p:spPr>
          <a:xfrm>
            <a:off x="6586389" y="4686672"/>
            <a:ext cx="138626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minute hand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0" name="Google Shape;3470;p70"/>
          <p:cNvSpPr/>
          <p:nvPr/>
        </p:nvSpPr>
        <p:spPr>
          <a:xfrm>
            <a:off x="8144098" y="4619997"/>
            <a:ext cx="7867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1" name="Google Shape;3471;p70"/>
          <p:cNvSpPr/>
          <p:nvPr/>
        </p:nvSpPr>
        <p:spPr>
          <a:xfrm>
            <a:off x="8306023" y="4686672"/>
            <a:ext cx="5390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a.m.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2" name="Google Shape;3472;p70"/>
          <p:cNvSpPr/>
          <p:nvPr/>
        </p:nvSpPr>
        <p:spPr>
          <a:xfrm>
            <a:off x="9016529" y="4619997"/>
            <a:ext cx="78670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3" name="Google Shape;3473;p70"/>
          <p:cNvSpPr/>
          <p:nvPr/>
        </p:nvSpPr>
        <p:spPr>
          <a:xfrm>
            <a:off x="9178454" y="4686672"/>
            <a:ext cx="53905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p.m.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4" name="Google Shape;3474;p70"/>
          <p:cNvSpPr/>
          <p:nvPr/>
        </p:nvSpPr>
        <p:spPr>
          <a:xfrm>
            <a:off x="6424464" y="5124524"/>
            <a:ext cx="159394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5" name="Google Shape;3475;p70"/>
          <p:cNvSpPr/>
          <p:nvPr/>
        </p:nvSpPr>
        <p:spPr>
          <a:xfrm>
            <a:off x="6586389" y="5191199"/>
            <a:ext cx="134629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quarter past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6" name="Google Shape;3476;p70"/>
          <p:cNvSpPr/>
          <p:nvPr/>
        </p:nvSpPr>
        <p:spPr>
          <a:xfrm>
            <a:off x="8104138" y="5124524"/>
            <a:ext cx="122359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7" name="Google Shape;3477;p70"/>
          <p:cNvSpPr/>
          <p:nvPr/>
        </p:nvSpPr>
        <p:spPr>
          <a:xfrm>
            <a:off x="8266063" y="5191199"/>
            <a:ext cx="97594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half past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8" name="Google Shape;3478;p70"/>
          <p:cNvSpPr/>
          <p:nvPr/>
        </p:nvSpPr>
        <p:spPr>
          <a:xfrm>
            <a:off x="533326" y="5952753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9" name="Google Shape;3479;p70"/>
          <p:cNvSpPr/>
          <p:nvPr/>
        </p:nvSpPr>
        <p:spPr>
          <a:xfrm>
            <a:off x="809476" y="6171754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0" name="Google Shape;3480;p70"/>
          <p:cNvSpPr/>
          <p:nvPr/>
        </p:nvSpPr>
        <p:spPr>
          <a:xfrm>
            <a:off x="809476" y="660037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1" name="Google Shape;3481;p70"/>
          <p:cNvSpPr/>
          <p:nvPr/>
        </p:nvSpPr>
        <p:spPr>
          <a:xfrm>
            <a:off x="1247477" y="6571804"/>
            <a:ext cx="769114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Tell time to the nearest five minutes on analog and digital clocks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2" name="Google Shape;3482;p70"/>
          <p:cNvSpPr/>
          <p:nvPr/>
        </p:nvSpPr>
        <p:spPr>
          <a:xfrm>
            <a:off x="809476" y="703927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3" name="Google Shape;3483;p70"/>
          <p:cNvSpPr/>
          <p:nvPr/>
        </p:nvSpPr>
        <p:spPr>
          <a:xfrm>
            <a:off x="1247477" y="7010698"/>
            <a:ext cx="2325514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Write time correctly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4" name="Google Shape;3484;p70"/>
          <p:cNvSpPr/>
          <p:nvPr/>
        </p:nvSpPr>
        <p:spPr>
          <a:xfrm>
            <a:off x="809476" y="747816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5" name="Google Shape;3485;p70"/>
          <p:cNvSpPr/>
          <p:nvPr/>
        </p:nvSpPr>
        <p:spPr>
          <a:xfrm>
            <a:off x="1247477" y="7449592"/>
            <a:ext cx="387552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a.m. and p.m. appropriately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6" name="Google Shape;3486;p70"/>
          <p:cNvSpPr/>
          <p:nvPr/>
        </p:nvSpPr>
        <p:spPr>
          <a:xfrm>
            <a:off x="533326" y="8193212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7" name="Google Shape;3487;p70"/>
          <p:cNvSpPr/>
          <p:nvPr/>
        </p:nvSpPr>
        <p:spPr>
          <a:xfrm>
            <a:off x="533326" y="8193212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8" name="Google Shape;3488;p70"/>
          <p:cNvSpPr/>
          <p:nvPr/>
        </p:nvSpPr>
        <p:spPr>
          <a:xfrm>
            <a:off x="895201" y="8383637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9" name="Google Shape;3489;p70"/>
          <p:cNvSpPr/>
          <p:nvPr/>
        </p:nvSpPr>
        <p:spPr>
          <a:xfrm>
            <a:off x="895201" y="8745513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the minute hand as the hour when it points near a number. Practice with the hour hand alone before adding the minute hand.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0" name="Google Shape;3490;p70"/>
          <p:cNvSpPr/>
          <p:nvPr/>
        </p:nvSpPr>
        <p:spPr>
          <a:xfrm>
            <a:off x="533326" y="9819308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1" name="Google Shape;3491;p70"/>
          <p:cNvSpPr/>
          <p:nvPr/>
        </p:nvSpPr>
        <p:spPr>
          <a:xfrm>
            <a:off x="780901" y="10009733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2" name="Google Shape;3492;p70"/>
          <p:cNvSpPr/>
          <p:nvPr/>
        </p:nvSpPr>
        <p:spPr>
          <a:xfrm>
            <a:off x="780901" y="10438358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3" name="Google Shape;3493;p70"/>
          <p:cNvSpPr/>
          <p:nvPr/>
        </p:nvSpPr>
        <p:spPr>
          <a:xfrm>
            <a:off x="1218902" y="10409783"/>
            <a:ext cx="3647643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tell time to five minutes.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4" name="Google Shape;3494;p70"/>
          <p:cNvSpPr/>
          <p:nvPr/>
        </p:nvSpPr>
        <p:spPr>
          <a:xfrm>
            <a:off x="780901" y="1088060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5" name="Google Shape;3495;p70"/>
          <p:cNvSpPr/>
          <p:nvPr/>
        </p:nvSpPr>
        <p:spPr>
          <a:xfrm>
            <a:off x="1218902" y="10852026"/>
            <a:ext cx="2956374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use a.m. and p.m.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6" name="Google Shape;3496;p70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7" name="Google Shape;3497;p70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8" name="Google Shape;3498;p70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2.MD.C.7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503" name="Shape 3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4" name="Google Shape;3504;p71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5" name="Google Shape;3505;p71"/>
          <p:cNvSpPr/>
          <p:nvPr/>
        </p:nvSpPr>
        <p:spPr>
          <a:xfrm>
            <a:off x="533326" y="533326"/>
            <a:ext cx="779280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6" name="Google Shape;3506;p71"/>
          <p:cNvSpPr/>
          <p:nvPr/>
        </p:nvSpPr>
        <p:spPr>
          <a:xfrm>
            <a:off x="533326" y="847651"/>
            <a:ext cx="7792804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Work with Time and Money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7" name="Google Shape;3507;p71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8" name="Google Shape;3508;p71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2.MD.C.8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9" name="Google Shape;3509;p71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0" name="Google Shape;3510;p71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1" name="Google Shape;3511;p71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2" name="Google Shape;3512;p71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word problems involving dollar bills, quarters, dimes, nickels, and pennies, using $ and cent symbols appropriately.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3" name="Google Shape;3513;p71"/>
          <p:cNvSpPr/>
          <p:nvPr/>
        </p:nvSpPr>
        <p:spPr>
          <a:xfrm>
            <a:off x="533326" y="3496419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4" name="Google Shape;3514;p71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5" name="Google Shape;3515;p71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6" name="Google Shape;3516;p71"/>
          <p:cNvSpPr/>
          <p:nvPr/>
        </p:nvSpPr>
        <p:spPr>
          <a:xfrm>
            <a:off x="999902" y="4115470"/>
            <a:ext cx="478437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count a mixed group of coins?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7" name="Google Shape;3517;p71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8" name="Google Shape;3518;p71"/>
          <p:cNvSpPr/>
          <p:nvPr/>
        </p:nvSpPr>
        <p:spPr>
          <a:xfrm>
            <a:off x="999902" y="4563963"/>
            <a:ext cx="431435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Why do I start with the largest coin?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9" name="Google Shape;3519;p71"/>
          <p:cNvSpPr/>
          <p:nvPr/>
        </p:nvSpPr>
        <p:spPr>
          <a:xfrm>
            <a:off x="6167289" y="3496419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0" name="Google Shape;3520;p71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1" name="Google Shape;3521;p71"/>
          <p:cNvSpPr/>
          <p:nvPr/>
        </p:nvSpPr>
        <p:spPr>
          <a:xfrm>
            <a:off x="6424464" y="4115470"/>
            <a:ext cx="10780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2" name="Google Shape;3522;p71"/>
          <p:cNvSpPr/>
          <p:nvPr/>
        </p:nvSpPr>
        <p:spPr>
          <a:xfrm>
            <a:off x="6586389" y="4182145"/>
            <a:ext cx="8303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quarter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3" name="Google Shape;3523;p71"/>
          <p:cNvSpPr/>
          <p:nvPr/>
        </p:nvSpPr>
        <p:spPr>
          <a:xfrm>
            <a:off x="7588225" y="4115470"/>
            <a:ext cx="83983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4" name="Google Shape;3524;p71"/>
          <p:cNvSpPr/>
          <p:nvPr/>
        </p:nvSpPr>
        <p:spPr>
          <a:xfrm>
            <a:off x="7750150" y="4182145"/>
            <a:ext cx="59218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dime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5" name="Google Shape;3525;p71"/>
          <p:cNvSpPr/>
          <p:nvPr/>
        </p:nvSpPr>
        <p:spPr>
          <a:xfrm>
            <a:off x="8513787" y="4115470"/>
            <a:ext cx="93225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6" name="Google Shape;3526;p71"/>
          <p:cNvSpPr/>
          <p:nvPr/>
        </p:nvSpPr>
        <p:spPr>
          <a:xfrm>
            <a:off x="8675712" y="4182145"/>
            <a:ext cx="68460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nickel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7" name="Google Shape;3527;p71"/>
          <p:cNvSpPr/>
          <p:nvPr/>
        </p:nvSpPr>
        <p:spPr>
          <a:xfrm>
            <a:off x="9531772" y="4115470"/>
            <a:ext cx="97244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8" name="Google Shape;3528;p71"/>
          <p:cNvSpPr/>
          <p:nvPr/>
        </p:nvSpPr>
        <p:spPr>
          <a:xfrm>
            <a:off x="9693697" y="4182145"/>
            <a:ext cx="72479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penny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9" name="Google Shape;3529;p71"/>
          <p:cNvSpPr/>
          <p:nvPr/>
        </p:nvSpPr>
        <p:spPr>
          <a:xfrm>
            <a:off x="6424464" y="4619997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0" name="Google Shape;3530;p71"/>
          <p:cNvSpPr/>
          <p:nvPr/>
        </p:nvSpPr>
        <p:spPr>
          <a:xfrm>
            <a:off x="6586389" y="4686672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dollar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1" name="Google Shape;3531;p71"/>
          <p:cNvSpPr/>
          <p:nvPr/>
        </p:nvSpPr>
        <p:spPr>
          <a:xfrm>
            <a:off x="7416105" y="4619997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2" name="Google Shape;3532;p71"/>
          <p:cNvSpPr/>
          <p:nvPr/>
        </p:nvSpPr>
        <p:spPr>
          <a:xfrm>
            <a:off x="7578030" y="4686672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cent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3" name="Google Shape;3533;p71"/>
          <p:cNvSpPr/>
          <p:nvPr/>
        </p:nvSpPr>
        <p:spPr>
          <a:xfrm>
            <a:off x="533326" y="5448226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4" name="Google Shape;3534;p71"/>
          <p:cNvSpPr/>
          <p:nvPr/>
        </p:nvSpPr>
        <p:spPr>
          <a:xfrm>
            <a:off x="809476" y="5667226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5" name="Google Shape;3535;p71"/>
          <p:cNvSpPr/>
          <p:nvPr/>
        </p:nvSpPr>
        <p:spPr>
          <a:xfrm>
            <a:off x="809476" y="609585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6" name="Google Shape;3536;p71"/>
          <p:cNvSpPr/>
          <p:nvPr/>
        </p:nvSpPr>
        <p:spPr>
          <a:xfrm>
            <a:off x="1247477" y="6067276"/>
            <a:ext cx="231642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coin values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7" name="Google Shape;3537;p71"/>
          <p:cNvSpPr/>
          <p:nvPr/>
        </p:nvSpPr>
        <p:spPr>
          <a:xfrm>
            <a:off x="809476" y="6534745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8" name="Google Shape;3538;p71"/>
          <p:cNvSpPr/>
          <p:nvPr/>
        </p:nvSpPr>
        <p:spPr>
          <a:xfrm>
            <a:off x="1247477" y="6506170"/>
            <a:ext cx="54803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mixed coins by starting with the largest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9" name="Google Shape;3539;p71"/>
          <p:cNvSpPr/>
          <p:nvPr/>
        </p:nvSpPr>
        <p:spPr>
          <a:xfrm>
            <a:off x="809476" y="6973639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0" name="Google Shape;3540;p71"/>
          <p:cNvSpPr/>
          <p:nvPr/>
        </p:nvSpPr>
        <p:spPr>
          <a:xfrm>
            <a:off x="1247477" y="6945064"/>
            <a:ext cx="658560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Solve money word problems using $ and cent symbols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1" name="Google Shape;3541;p71"/>
          <p:cNvSpPr/>
          <p:nvPr/>
        </p:nvSpPr>
        <p:spPr>
          <a:xfrm>
            <a:off x="533326" y="7688684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2" name="Google Shape;3542;p71"/>
          <p:cNvSpPr/>
          <p:nvPr/>
        </p:nvSpPr>
        <p:spPr>
          <a:xfrm>
            <a:off x="533326" y="7688684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3" name="Google Shape;3543;p71"/>
          <p:cNvSpPr/>
          <p:nvPr/>
        </p:nvSpPr>
        <p:spPr>
          <a:xfrm>
            <a:off x="895201" y="7879110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4" name="Google Shape;3544;p71"/>
          <p:cNvSpPr/>
          <p:nvPr/>
        </p:nvSpPr>
        <p:spPr>
          <a:xfrm>
            <a:off x="895201" y="8240985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count coins by quantity rather than value, so five pennies feels like more than one nickel. Size and count both mislead them.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5" name="Google Shape;3545;p71"/>
          <p:cNvSpPr/>
          <p:nvPr/>
        </p:nvSpPr>
        <p:spPr>
          <a:xfrm>
            <a:off x="533326" y="9314780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6" name="Google Shape;3546;p71"/>
          <p:cNvSpPr/>
          <p:nvPr/>
        </p:nvSpPr>
        <p:spPr>
          <a:xfrm>
            <a:off x="780901" y="950520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7" name="Google Shape;3547;p71"/>
          <p:cNvSpPr/>
          <p:nvPr/>
        </p:nvSpPr>
        <p:spPr>
          <a:xfrm>
            <a:off x="780901" y="993383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8" name="Google Shape;3548;p71"/>
          <p:cNvSpPr/>
          <p:nvPr/>
        </p:nvSpPr>
        <p:spPr>
          <a:xfrm>
            <a:off x="1218902" y="9905256"/>
            <a:ext cx="3554328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count a group of coins.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9" name="Google Shape;3549;p71"/>
          <p:cNvSpPr/>
          <p:nvPr/>
        </p:nvSpPr>
        <p:spPr>
          <a:xfrm>
            <a:off x="780901" y="10376074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0" name="Google Shape;3550;p71"/>
          <p:cNvSpPr/>
          <p:nvPr/>
        </p:nvSpPr>
        <p:spPr>
          <a:xfrm>
            <a:off x="1218902" y="10347499"/>
            <a:ext cx="429250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solve money word problems.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1" name="Google Shape;3551;p71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2" name="Google Shape;3552;p71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3" name="Google Shape;3553;p71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2.MD.C.8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558" name="Shape 3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9" name="Google Shape;3559;p72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0" name="Google Shape;3560;p72"/>
          <p:cNvSpPr/>
          <p:nvPr/>
        </p:nvSpPr>
        <p:spPr>
          <a:xfrm>
            <a:off x="533326" y="533326"/>
            <a:ext cx="84288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1" name="Google Shape;3561;p72"/>
          <p:cNvSpPr/>
          <p:nvPr/>
        </p:nvSpPr>
        <p:spPr>
          <a:xfrm>
            <a:off x="533326" y="847651"/>
            <a:ext cx="84288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Interpret Data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2" name="Google Shape;3562;p72"/>
          <p:cNvSpPr/>
          <p:nvPr/>
        </p:nvSpPr>
        <p:spPr>
          <a:xfrm>
            <a:off x="9893871" y="533326"/>
            <a:ext cx="1717179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3" name="Google Shape;3563;p72"/>
          <p:cNvSpPr/>
          <p:nvPr/>
        </p:nvSpPr>
        <p:spPr>
          <a:xfrm>
            <a:off x="10103421" y="647626"/>
            <a:ext cx="1374279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2.MD.D.9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4" name="Google Shape;3564;p72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5" name="Google Shape;3565;p72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6" name="Google Shape;3566;p72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7" name="Google Shape;3567;p72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Generate measurement data by measuring lengths of several objects; show the measurements by making a line plot.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8" name="Google Shape;3568;p72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9" name="Google Shape;3569;p72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0" name="Google Shape;3570;p72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1" name="Google Shape;3571;p72"/>
          <p:cNvSpPr/>
          <p:nvPr/>
        </p:nvSpPr>
        <p:spPr>
          <a:xfrm>
            <a:off x="999902" y="4115470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does a line plot show me about my data?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2" name="Google Shape;3572;p72"/>
          <p:cNvSpPr/>
          <p:nvPr/>
        </p:nvSpPr>
        <p:spPr>
          <a:xfrm>
            <a:off x="790501" y="5002857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3" name="Google Shape;3573;p72"/>
          <p:cNvSpPr/>
          <p:nvPr/>
        </p:nvSpPr>
        <p:spPr>
          <a:xfrm>
            <a:off x="999902" y="4898157"/>
            <a:ext cx="334608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I choose the scale?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4" name="Google Shape;3574;p72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5" name="Google Shape;3575;p72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6" name="Google Shape;3576;p72"/>
          <p:cNvSpPr/>
          <p:nvPr/>
        </p:nvSpPr>
        <p:spPr>
          <a:xfrm>
            <a:off x="6424464" y="4115470"/>
            <a:ext cx="1144339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7" name="Google Shape;3577;p72"/>
          <p:cNvSpPr/>
          <p:nvPr/>
        </p:nvSpPr>
        <p:spPr>
          <a:xfrm>
            <a:off x="6586389" y="4182145"/>
            <a:ext cx="896689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line plot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8" name="Google Shape;3578;p72"/>
          <p:cNvSpPr/>
          <p:nvPr/>
        </p:nvSpPr>
        <p:spPr>
          <a:xfrm>
            <a:off x="7654528" y="4115470"/>
            <a:ext cx="78715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9" name="Google Shape;3579;p72"/>
          <p:cNvSpPr/>
          <p:nvPr/>
        </p:nvSpPr>
        <p:spPr>
          <a:xfrm>
            <a:off x="7816453" y="4182145"/>
            <a:ext cx="53950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0" name="Google Shape;3580;p72"/>
          <p:cNvSpPr/>
          <p:nvPr/>
        </p:nvSpPr>
        <p:spPr>
          <a:xfrm>
            <a:off x="8527405" y="4115470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1" name="Google Shape;3581;p72"/>
          <p:cNvSpPr/>
          <p:nvPr/>
        </p:nvSpPr>
        <p:spPr>
          <a:xfrm>
            <a:off x="8689330" y="4182145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2" name="Google Shape;3582;p72"/>
          <p:cNvSpPr/>
          <p:nvPr/>
        </p:nvSpPr>
        <p:spPr>
          <a:xfrm>
            <a:off x="9492704" y="4115470"/>
            <a:ext cx="135597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3" name="Google Shape;3583;p72"/>
          <p:cNvSpPr/>
          <p:nvPr/>
        </p:nvSpPr>
        <p:spPr>
          <a:xfrm>
            <a:off x="9654629" y="4182145"/>
            <a:ext cx="110832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horizontal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4" name="Google Shape;3584;p72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5" name="Google Shape;3585;p72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6" name="Google Shape;3586;p72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7" name="Google Shape;3587;p72"/>
          <p:cNvSpPr/>
          <p:nvPr/>
        </p:nvSpPr>
        <p:spPr>
          <a:xfrm>
            <a:off x="1247477" y="6260827"/>
            <a:ext cx="295219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Measure several objects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8" name="Google Shape;3588;p72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9" name="Google Shape;3589;p72"/>
          <p:cNvSpPr/>
          <p:nvPr/>
        </p:nvSpPr>
        <p:spPr>
          <a:xfrm>
            <a:off x="1247477" y="6699721"/>
            <a:ext cx="3104205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Record data on a line plot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0" name="Google Shape;3590;p72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1" name="Google Shape;3591;p72"/>
          <p:cNvSpPr/>
          <p:nvPr/>
        </p:nvSpPr>
        <p:spPr>
          <a:xfrm>
            <a:off x="1247477" y="7138615"/>
            <a:ext cx="538944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horizontal scale marked in whole units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2" name="Google Shape;3592;p72"/>
          <p:cNvSpPr/>
          <p:nvPr/>
        </p:nvSpPr>
        <p:spPr>
          <a:xfrm>
            <a:off x="533326" y="788223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3" name="Google Shape;3593;p72"/>
          <p:cNvSpPr/>
          <p:nvPr/>
        </p:nvSpPr>
        <p:spPr>
          <a:xfrm>
            <a:off x="533326" y="788223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4" name="Google Shape;3594;p72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5" name="Google Shape;3595;p72"/>
          <p:cNvSpPr/>
          <p:nvPr/>
        </p:nvSpPr>
        <p:spPr>
          <a:xfrm>
            <a:off x="895201" y="843453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stack the X marks unevenly or omit values with zero data points, which distorts the shape of the data.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6" name="Google Shape;3596;p72"/>
          <p:cNvSpPr/>
          <p:nvPr/>
        </p:nvSpPr>
        <p:spPr>
          <a:xfrm>
            <a:off x="533326" y="9508331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7" name="Google Shape;3597;p72"/>
          <p:cNvSpPr/>
          <p:nvPr/>
        </p:nvSpPr>
        <p:spPr>
          <a:xfrm>
            <a:off x="780901" y="969875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8" name="Google Shape;3598;p72"/>
          <p:cNvSpPr/>
          <p:nvPr/>
        </p:nvSpPr>
        <p:spPr>
          <a:xfrm>
            <a:off x="780901" y="1012738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9" name="Google Shape;3599;p72"/>
          <p:cNvSpPr/>
          <p:nvPr/>
        </p:nvSpPr>
        <p:spPr>
          <a:xfrm>
            <a:off x="1218902" y="10098807"/>
            <a:ext cx="545673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measure objects and make a line plot.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0" name="Google Shape;3600;p72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1" name="Google Shape;3601;p72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2" name="Google Shape;3602;p72"/>
          <p:cNvSpPr/>
          <p:nvPr/>
        </p:nvSpPr>
        <p:spPr>
          <a:xfrm>
            <a:off x="10605790" y="14897174"/>
            <a:ext cx="108146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2.MD.D.9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07" name="Shape 3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8" name="Google Shape;3608;p73"/>
          <p:cNvSpPr/>
          <p:nvPr/>
        </p:nvSpPr>
        <p:spPr>
          <a:xfrm>
            <a:off x="533326" y="1539032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9" name="Google Shape;3609;p73"/>
          <p:cNvSpPr/>
          <p:nvPr/>
        </p:nvSpPr>
        <p:spPr>
          <a:xfrm>
            <a:off x="533326" y="533326"/>
            <a:ext cx="842882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MEASUREMENT AND DATA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0" name="Google Shape;3610;p73"/>
          <p:cNvSpPr/>
          <p:nvPr/>
        </p:nvSpPr>
        <p:spPr>
          <a:xfrm>
            <a:off x="533326" y="847651"/>
            <a:ext cx="8428821" cy="55803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Represent and Interpret Data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1" name="Google Shape;3611;p73"/>
          <p:cNvSpPr/>
          <p:nvPr/>
        </p:nvSpPr>
        <p:spPr>
          <a:xfrm>
            <a:off x="9723537" y="533326"/>
            <a:ext cx="1887513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2" name="Google Shape;3612;p73"/>
          <p:cNvSpPr/>
          <p:nvPr/>
        </p:nvSpPr>
        <p:spPr>
          <a:xfrm>
            <a:off x="9933087" y="647626"/>
            <a:ext cx="1544613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2.MD.D.10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3" name="Google Shape;3613;p73"/>
          <p:cNvSpPr/>
          <p:nvPr/>
        </p:nvSpPr>
        <p:spPr>
          <a:xfrm>
            <a:off x="533326" y="1805583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4" name="Google Shape;3614;p73"/>
          <p:cNvSpPr/>
          <p:nvPr/>
        </p:nvSpPr>
        <p:spPr>
          <a:xfrm>
            <a:off x="533326" y="1805583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5" name="Google Shape;3615;p73"/>
          <p:cNvSpPr/>
          <p:nvPr/>
        </p:nvSpPr>
        <p:spPr>
          <a:xfrm>
            <a:off x="914177" y="2014984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6" name="Google Shape;3616;p73"/>
          <p:cNvSpPr/>
          <p:nvPr/>
        </p:nvSpPr>
        <p:spPr>
          <a:xfrm>
            <a:off x="914177" y="2376860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a picture graph and a bar graph to represent a data set with up to four categories; solve problems using information in the graphs.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7" name="Google Shape;3617;p73"/>
          <p:cNvSpPr/>
          <p:nvPr/>
        </p:nvSpPr>
        <p:spPr>
          <a:xfrm>
            <a:off x="533326" y="3496419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8" name="Google Shape;3618;p73"/>
          <p:cNvSpPr/>
          <p:nvPr/>
        </p:nvSpPr>
        <p:spPr>
          <a:xfrm>
            <a:off x="790501" y="3715420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9" name="Google Shape;3619;p73"/>
          <p:cNvSpPr/>
          <p:nvPr/>
        </p:nvSpPr>
        <p:spPr>
          <a:xfrm>
            <a:off x="790501" y="4220170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0" name="Google Shape;3620;p73"/>
          <p:cNvSpPr/>
          <p:nvPr/>
        </p:nvSpPr>
        <p:spPr>
          <a:xfrm>
            <a:off x="999902" y="4115470"/>
            <a:ext cx="314889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Which graph fits my data?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1" name="Google Shape;3621;p73"/>
          <p:cNvSpPr/>
          <p:nvPr/>
        </p:nvSpPr>
        <p:spPr>
          <a:xfrm>
            <a:off x="790501" y="4668664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2" name="Google Shape;3622;p73"/>
          <p:cNvSpPr/>
          <p:nvPr/>
        </p:nvSpPr>
        <p:spPr>
          <a:xfrm>
            <a:off x="999902" y="4563963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comparisons can I make from this graph?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3" name="Google Shape;3623;p73"/>
          <p:cNvSpPr/>
          <p:nvPr/>
        </p:nvSpPr>
        <p:spPr>
          <a:xfrm>
            <a:off x="6167289" y="3496419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4" name="Google Shape;3624;p73"/>
          <p:cNvSpPr/>
          <p:nvPr/>
        </p:nvSpPr>
        <p:spPr>
          <a:xfrm>
            <a:off x="6424464" y="3715420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5" name="Google Shape;3625;p73"/>
          <p:cNvSpPr/>
          <p:nvPr/>
        </p:nvSpPr>
        <p:spPr>
          <a:xfrm>
            <a:off x="6424464" y="4115470"/>
            <a:ext cx="171316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6" name="Google Shape;3626;p73"/>
          <p:cNvSpPr/>
          <p:nvPr/>
        </p:nvSpPr>
        <p:spPr>
          <a:xfrm>
            <a:off x="6586389" y="4182145"/>
            <a:ext cx="146551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picture 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7" name="Google Shape;3627;p73"/>
          <p:cNvSpPr/>
          <p:nvPr/>
        </p:nvSpPr>
        <p:spPr>
          <a:xfrm>
            <a:off x="8223349" y="4115470"/>
            <a:ext cx="134280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8" name="Google Shape;3628;p73"/>
          <p:cNvSpPr/>
          <p:nvPr/>
        </p:nvSpPr>
        <p:spPr>
          <a:xfrm>
            <a:off x="8385274" y="4182145"/>
            <a:ext cx="109515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bar graph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9" name="Google Shape;3629;p73"/>
          <p:cNvSpPr/>
          <p:nvPr/>
        </p:nvSpPr>
        <p:spPr>
          <a:xfrm>
            <a:off x="9651876" y="4115470"/>
            <a:ext cx="69428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0" name="Google Shape;3630;p73"/>
          <p:cNvSpPr/>
          <p:nvPr/>
        </p:nvSpPr>
        <p:spPr>
          <a:xfrm>
            <a:off x="9813801" y="4182145"/>
            <a:ext cx="44663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1" name="Google Shape;3631;p73"/>
          <p:cNvSpPr/>
          <p:nvPr/>
        </p:nvSpPr>
        <p:spPr>
          <a:xfrm>
            <a:off x="6424464" y="4619997"/>
            <a:ext cx="123676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2" name="Google Shape;3632;p73"/>
          <p:cNvSpPr/>
          <p:nvPr/>
        </p:nvSpPr>
        <p:spPr>
          <a:xfrm>
            <a:off x="6586389" y="4686672"/>
            <a:ext cx="98911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category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3" name="Google Shape;3633;p73"/>
          <p:cNvSpPr/>
          <p:nvPr/>
        </p:nvSpPr>
        <p:spPr>
          <a:xfrm>
            <a:off x="7746950" y="4619997"/>
            <a:ext cx="87957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4" name="Google Shape;3634;p73"/>
          <p:cNvSpPr/>
          <p:nvPr/>
        </p:nvSpPr>
        <p:spPr>
          <a:xfrm>
            <a:off x="7908875" y="4686672"/>
            <a:ext cx="63192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5" name="Google Shape;3635;p73"/>
          <p:cNvSpPr/>
          <p:nvPr/>
        </p:nvSpPr>
        <p:spPr>
          <a:xfrm>
            <a:off x="533326" y="564177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6" name="Google Shape;3636;p73"/>
          <p:cNvSpPr/>
          <p:nvPr/>
        </p:nvSpPr>
        <p:spPr>
          <a:xfrm>
            <a:off x="809476" y="586077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7" name="Google Shape;3637;p73"/>
          <p:cNvSpPr/>
          <p:nvPr/>
        </p:nvSpPr>
        <p:spPr>
          <a:xfrm>
            <a:off x="809476" y="628940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8" name="Google Shape;3638;p73"/>
          <p:cNvSpPr/>
          <p:nvPr/>
        </p:nvSpPr>
        <p:spPr>
          <a:xfrm>
            <a:off x="1247477" y="6260827"/>
            <a:ext cx="746399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picture graphs and bar graphs with up to four categories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9" name="Google Shape;3639;p73"/>
          <p:cNvSpPr/>
          <p:nvPr/>
        </p:nvSpPr>
        <p:spPr>
          <a:xfrm>
            <a:off x="809476" y="672829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0" name="Google Shape;3640;p73"/>
          <p:cNvSpPr/>
          <p:nvPr/>
        </p:nvSpPr>
        <p:spPr>
          <a:xfrm>
            <a:off x="1247477" y="6699721"/>
            <a:ext cx="224054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Use a key or scale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1" name="Google Shape;3641;p73"/>
          <p:cNvSpPr/>
          <p:nvPr/>
        </p:nvSpPr>
        <p:spPr>
          <a:xfrm>
            <a:off x="809476" y="716719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2" name="Google Shape;3642;p73"/>
          <p:cNvSpPr/>
          <p:nvPr/>
        </p:nvSpPr>
        <p:spPr>
          <a:xfrm>
            <a:off x="1247477" y="7138615"/>
            <a:ext cx="8644920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Answer put-together, take-apart, and compare questions from the graph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3" name="Google Shape;3643;p73"/>
          <p:cNvSpPr/>
          <p:nvPr/>
        </p:nvSpPr>
        <p:spPr>
          <a:xfrm>
            <a:off x="533326" y="7882235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4" name="Google Shape;3644;p73"/>
          <p:cNvSpPr/>
          <p:nvPr/>
        </p:nvSpPr>
        <p:spPr>
          <a:xfrm>
            <a:off x="533326" y="7882235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5" name="Google Shape;3645;p73"/>
          <p:cNvSpPr/>
          <p:nvPr/>
        </p:nvSpPr>
        <p:spPr>
          <a:xfrm>
            <a:off x="895201" y="807266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6" name="Google Shape;3646;p73"/>
          <p:cNvSpPr/>
          <p:nvPr/>
        </p:nvSpPr>
        <p:spPr>
          <a:xfrm>
            <a:off x="895201" y="8434536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read the bar height without checking the scale, assuming one square equals one.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7" name="Google Shape;3647;p73"/>
          <p:cNvSpPr/>
          <p:nvPr/>
        </p:nvSpPr>
        <p:spPr>
          <a:xfrm>
            <a:off x="533326" y="9161859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8" name="Google Shape;3648;p73"/>
          <p:cNvSpPr/>
          <p:nvPr/>
        </p:nvSpPr>
        <p:spPr>
          <a:xfrm>
            <a:off x="780901" y="9352285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9" name="Google Shape;3649;p73"/>
          <p:cNvSpPr/>
          <p:nvPr/>
        </p:nvSpPr>
        <p:spPr>
          <a:xfrm>
            <a:off x="780901" y="9780910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0" name="Google Shape;3650;p73"/>
          <p:cNvSpPr/>
          <p:nvPr/>
        </p:nvSpPr>
        <p:spPr>
          <a:xfrm>
            <a:off x="1218902" y="9752335"/>
            <a:ext cx="298780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make a bar graph.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1" name="Google Shape;3651;p73"/>
          <p:cNvSpPr/>
          <p:nvPr/>
        </p:nvSpPr>
        <p:spPr>
          <a:xfrm>
            <a:off x="780901" y="10223153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2" name="Google Shape;3652;p73"/>
          <p:cNvSpPr/>
          <p:nvPr/>
        </p:nvSpPr>
        <p:spPr>
          <a:xfrm>
            <a:off x="1218902" y="10194578"/>
            <a:ext cx="4764971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answer questions using a graph.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3" name="Google Shape;3653;p73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4" name="Google Shape;3654;p73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5" name="Google Shape;3655;p73"/>
          <p:cNvSpPr/>
          <p:nvPr/>
        </p:nvSpPr>
        <p:spPr>
          <a:xfrm>
            <a:off x="10473407" y="14897174"/>
            <a:ext cx="121384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2.MD.D.10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660" name="Shape 3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1" name="Google Shape;3661;p74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2" name="Google Shape;3662;p74"/>
          <p:cNvSpPr/>
          <p:nvPr/>
        </p:nvSpPr>
        <p:spPr>
          <a:xfrm>
            <a:off x="533326" y="533326"/>
            <a:ext cx="10239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3" name="Google Shape;3663;p74"/>
          <p:cNvSpPr/>
          <p:nvPr/>
        </p:nvSpPr>
        <p:spPr>
          <a:xfrm>
            <a:off x="533326" y="847651"/>
            <a:ext cx="9587555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 with Shapes and Their Attributes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4" name="Google Shape;3664;p74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5" name="Google Shape;3665;p74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2.G.A.1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6" name="Google Shape;3666;p74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7" name="Google Shape;3667;p74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8" name="Google Shape;3668;p74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9" name="Google Shape;3669;p74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and draw shapes having specified attributes, such as a given number of angles or a given number of equal faces.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0" name="Google Shape;3670;p74"/>
          <p:cNvSpPr/>
          <p:nvPr/>
        </p:nvSpPr>
        <p:spPr>
          <a:xfrm>
            <a:off x="533326" y="4016350"/>
            <a:ext cx="5443538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1" name="Google Shape;3671;p74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2" name="Google Shape;3672;p74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3" name="Google Shape;3673;p74"/>
          <p:cNvSpPr/>
          <p:nvPr/>
        </p:nvSpPr>
        <p:spPr>
          <a:xfrm>
            <a:off x="999902" y="4635401"/>
            <a:ext cx="490592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a shape belong to a group?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4" name="Google Shape;3674;p74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5" name="Google Shape;3675;p74"/>
          <p:cNvSpPr/>
          <p:nvPr/>
        </p:nvSpPr>
        <p:spPr>
          <a:xfrm>
            <a:off x="999902" y="5083894"/>
            <a:ext cx="4845271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Does turning a shape change what it is?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6" name="Google Shape;3676;p74"/>
          <p:cNvSpPr/>
          <p:nvPr/>
        </p:nvSpPr>
        <p:spPr>
          <a:xfrm>
            <a:off x="6167289" y="4016350"/>
            <a:ext cx="5443761" cy="2265908"/>
          </a:xfrm>
          <a:prstGeom prst="roundRect">
            <a:avLst>
              <a:gd fmla="val 588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7" name="Google Shape;3677;p74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74"/>
          <p:cNvSpPr/>
          <p:nvPr/>
        </p:nvSpPr>
        <p:spPr>
          <a:xfrm>
            <a:off x="6424464" y="4635401"/>
            <a:ext cx="118385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9" name="Google Shape;3679;p74"/>
          <p:cNvSpPr/>
          <p:nvPr/>
        </p:nvSpPr>
        <p:spPr>
          <a:xfrm>
            <a:off x="6586389" y="4702076"/>
            <a:ext cx="93620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attribute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0" name="Google Shape;3680;p74"/>
          <p:cNvSpPr/>
          <p:nvPr/>
        </p:nvSpPr>
        <p:spPr>
          <a:xfrm>
            <a:off x="7694042" y="4635401"/>
            <a:ext cx="760363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1" name="Google Shape;3681;p74"/>
          <p:cNvSpPr/>
          <p:nvPr/>
        </p:nvSpPr>
        <p:spPr>
          <a:xfrm>
            <a:off x="7855967" y="4702076"/>
            <a:ext cx="512713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side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2" name="Google Shape;3682;p74"/>
          <p:cNvSpPr/>
          <p:nvPr/>
        </p:nvSpPr>
        <p:spPr>
          <a:xfrm>
            <a:off x="8540130" y="4635401"/>
            <a:ext cx="90614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3" name="Google Shape;3683;p74"/>
          <p:cNvSpPr/>
          <p:nvPr/>
        </p:nvSpPr>
        <p:spPr>
          <a:xfrm>
            <a:off x="8702055" y="4702076"/>
            <a:ext cx="65849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angle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4" name="Google Shape;3684;p74"/>
          <p:cNvSpPr/>
          <p:nvPr/>
        </p:nvSpPr>
        <p:spPr>
          <a:xfrm>
            <a:off x="9531995" y="4635401"/>
            <a:ext cx="77375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5" name="Google Shape;3685;p74"/>
          <p:cNvSpPr/>
          <p:nvPr/>
        </p:nvSpPr>
        <p:spPr>
          <a:xfrm>
            <a:off x="9693920" y="4702076"/>
            <a:ext cx="5261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face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6" name="Google Shape;3686;p74"/>
          <p:cNvSpPr/>
          <p:nvPr/>
        </p:nvSpPr>
        <p:spPr>
          <a:xfrm>
            <a:off x="6424464" y="5139928"/>
            <a:ext cx="110460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7" name="Google Shape;3687;p74"/>
          <p:cNvSpPr/>
          <p:nvPr/>
        </p:nvSpPr>
        <p:spPr>
          <a:xfrm>
            <a:off x="6586389" y="5206603"/>
            <a:ext cx="85695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triangle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8" name="Google Shape;3688;p74"/>
          <p:cNvSpPr/>
          <p:nvPr/>
        </p:nvSpPr>
        <p:spPr>
          <a:xfrm>
            <a:off x="7614791" y="5139928"/>
            <a:ext cx="1633686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9" name="Google Shape;3689;p74"/>
          <p:cNvSpPr/>
          <p:nvPr/>
        </p:nvSpPr>
        <p:spPr>
          <a:xfrm>
            <a:off x="7776716" y="5206603"/>
            <a:ext cx="1386036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quadrilateral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0" name="Google Shape;3690;p74"/>
          <p:cNvSpPr/>
          <p:nvPr/>
        </p:nvSpPr>
        <p:spPr>
          <a:xfrm>
            <a:off x="9334202" y="5139928"/>
            <a:ext cx="131668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1" name="Google Shape;3691;p74"/>
          <p:cNvSpPr/>
          <p:nvPr/>
        </p:nvSpPr>
        <p:spPr>
          <a:xfrm>
            <a:off x="9496127" y="5206603"/>
            <a:ext cx="1069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pentagon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2" name="Google Shape;3692;p74"/>
          <p:cNvSpPr/>
          <p:nvPr/>
        </p:nvSpPr>
        <p:spPr>
          <a:xfrm>
            <a:off x="6424464" y="5644455"/>
            <a:ext cx="1237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3" name="Google Shape;3693;p74"/>
          <p:cNvSpPr/>
          <p:nvPr/>
        </p:nvSpPr>
        <p:spPr>
          <a:xfrm>
            <a:off x="6586389" y="5711130"/>
            <a:ext cx="989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hexagon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4" name="Google Shape;3694;p74"/>
          <p:cNvSpPr/>
          <p:nvPr/>
        </p:nvSpPr>
        <p:spPr>
          <a:xfrm>
            <a:off x="7747397" y="5644455"/>
            <a:ext cx="840060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5" name="Google Shape;3695;p74"/>
          <p:cNvSpPr/>
          <p:nvPr/>
        </p:nvSpPr>
        <p:spPr>
          <a:xfrm>
            <a:off x="7909322" y="5711130"/>
            <a:ext cx="592410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cube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6" name="Google Shape;3696;p74"/>
          <p:cNvSpPr/>
          <p:nvPr/>
        </p:nvSpPr>
        <p:spPr>
          <a:xfrm>
            <a:off x="533326" y="6472684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7" name="Google Shape;3697;p74"/>
          <p:cNvSpPr/>
          <p:nvPr/>
        </p:nvSpPr>
        <p:spPr>
          <a:xfrm>
            <a:off x="809476" y="6691685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8" name="Google Shape;3698;p74"/>
          <p:cNvSpPr/>
          <p:nvPr/>
        </p:nvSpPr>
        <p:spPr>
          <a:xfrm>
            <a:off x="809476" y="7120310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9" name="Google Shape;3699;p74"/>
          <p:cNvSpPr/>
          <p:nvPr/>
        </p:nvSpPr>
        <p:spPr>
          <a:xfrm>
            <a:off x="1247477" y="7091735"/>
            <a:ext cx="83428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triangles, quadrilaterals, pentagons, hexagons, and cubes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0" name="Google Shape;3700;p74"/>
          <p:cNvSpPr/>
          <p:nvPr/>
        </p:nvSpPr>
        <p:spPr>
          <a:xfrm>
            <a:off x="809476" y="7559204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1" name="Google Shape;3701;p74"/>
          <p:cNvSpPr/>
          <p:nvPr/>
        </p:nvSpPr>
        <p:spPr>
          <a:xfrm>
            <a:off x="1247477" y="7530629"/>
            <a:ext cx="5617332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Identify shapes by number of sides and angles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2" name="Google Shape;3702;p74"/>
          <p:cNvSpPr/>
          <p:nvPr/>
        </p:nvSpPr>
        <p:spPr>
          <a:xfrm>
            <a:off x="809476" y="7998098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3" name="Google Shape;3703;p74"/>
          <p:cNvSpPr/>
          <p:nvPr/>
        </p:nvSpPr>
        <p:spPr>
          <a:xfrm>
            <a:off x="1247477" y="7969523"/>
            <a:ext cx="407247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Draw shapes with given attributes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4" name="Google Shape;3704;p74"/>
          <p:cNvSpPr/>
          <p:nvPr/>
        </p:nvSpPr>
        <p:spPr>
          <a:xfrm>
            <a:off x="533326" y="8713143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5" name="Google Shape;3705;p74"/>
          <p:cNvSpPr/>
          <p:nvPr/>
        </p:nvSpPr>
        <p:spPr>
          <a:xfrm>
            <a:off x="533326" y="8713143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6" name="Google Shape;3706;p74"/>
          <p:cNvSpPr/>
          <p:nvPr/>
        </p:nvSpPr>
        <p:spPr>
          <a:xfrm>
            <a:off x="895201" y="8903568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7" name="Google Shape;3707;p74"/>
          <p:cNvSpPr/>
          <p:nvPr/>
        </p:nvSpPr>
        <p:spPr>
          <a:xfrm>
            <a:off x="895201" y="9265444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only recognize shapes in their typical orientation. A triangle resting on a vertex is often not identified as a triangle.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8" name="Google Shape;3708;p74"/>
          <p:cNvSpPr/>
          <p:nvPr/>
        </p:nvSpPr>
        <p:spPr>
          <a:xfrm>
            <a:off x="533326" y="10339239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9" name="Google Shape;3709;p74"/>
          <p:cNvSpPr/>
          <p:nvPr/>
        </p:nvSpPr>
        <p:spPr>
          <a:xfrm>
            <a:off x="780901" y="10529664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0" name="Google Shape;3710;p74"/>
          <p:cNvSpPr/>
          <p:nvPr/>
        </p:nvSpPr>
        <p:spPr>
          <a:xfrm>
            <a:off x="780901" y="10958289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74"/>
          <p:cNvSpPr/>
          <p:nvPr/>
        </p:nvSpPr>
        <p:spPr>
          <a:xfrm>
            <a:off x="1218902" y="10929714"/>
            <a:ext cx="5677250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name shapes by their sides and angles.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2" name="Google Shape;3712;p74"/>
          <p:cNvSpPr/>
          <p:nvPr/>
        </p:nvSpPr>
        <p:spPr>
          <a:xfrm>
            <a:off x="780901" y="1140053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3" name="Google Shape;3713;p74"/>
          <p:cNvSpPr/>
          <p:nvPr/>
        </p:nvSpPr>
        <p:spPr>
          <a:xfrm>
            <a:off x="1218902" y="11371957"/>
            <a:ext cx="614849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draw a shape with the attributes I am given.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4" name="Google Shape;3714;p74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5" name="Google Shape;3715;p74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74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2.G.A.1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721" name="Shape 3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2" name="Google Shape;3722;p75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3" name="Google Shape;3723;p75"/>
          <p:cNvSpPr/>
          <p:nvPr/>
        </p:nvSpPr>
        <p:spPr>
          <a:xfrm>
            <a:off x="533326" y="533326"/>
            <a:ext cx="10239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4" name="Google Shape;3724;p75"/>
          <p:cNvSpPr/>
          <p:nvPr/>
        </p:nvSpPr>
        <p:spPr>
          <a:xfrm>
            <a:off x="533326" y="847651"/>
            <a:ext cx="9587555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 with Shapes and Their Attributes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5" name="Google Shape;3725;p75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6" name="Google Shape;3726;p75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2.G.A.2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7" name="Google Shape;3727;p75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8" name="Google Shape;3728;p75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9" name="Google Shape;3729;p75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0" name="Google Shape;3730;p75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a rectangle into rows and columns of same-size squares and count to find the total number of them.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1" name="Google Shape;3731;p75"/>
          <p:cNvSpPr/>
          <p:nvPr/>
        </p:nvSpPr>
        <p:spPr>
          <a:xfrm>
            <a:off x="533326" y="4016350"/>
            <a:ext cx="5443538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2" name="Google Shape;3732;p75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3" name="Google Shape;3733;p75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4" name="Google Shape;3734;p75"/>
          <p:cNvSpPr/>
          <p:nvPr/>
        </p:nvSpPr>
        <p:spPr>
          <a:xfrm>
            <a:off x="999902" y="4635401"/>
            <a:ext cx="4861380" cy="706487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do rows and columns help me count squares?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5" name="Google Shape;3735;p75"/>
          <p:cNvSpPr/>
          <p:nvPr/>
        </p:nvSpPr>
        <p:spPr>
          <a:xfrm>
            <a:off x="790501" y="5522788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6" name="Google Shape;3736;p75"/>
          <p:cNvSpPr/>
          <p:nvPr/>
        </p:nvSpPr>
        <p:spPr>
          <a:xfrm>
            <a:off x="999902" y="5418088"/>
            <a:ext cx="3027588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How is this like an array?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7" name="Google Shape;3737;p75"/>
          <p:cNvSpPr/>
          <p:nvPr/>
        </p:nvSpPr>
        <p:spPr>
          <a:xfrm>
            <a:off x="6167289" y="4016350"/>
            <a:ext cx="5443761" cy="1954932"/>
          </a:xfrm>
          <a:prstGeom prst="roundRect">
            <a:avLst>
              <a:gd fmla="val 682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8" name="Google Shape;3738;p75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9" name="Google Shape;3739;p75"/>
          <p:cNvSpPr/>
          <p:nvPr/>
        </p:nvSpPr>
        <p:spPr>
          <a:xfrm>
            <a:off x="6424464" y="4635401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0" name="Google Shape;3740;p75"/>
          <p:cNvSpPr/>
          <p:nvPr/>
        </p:nvSpPr>
        <p:spPr>
          <a:xfrm>
            <a:off x="6586389" y="4702076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partition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1" name="Google Shape;3741;p75"/>
          <p:cNvSpPr/>
          <p:nvPr/>
        </p:nvSpPr>
        <p:spPr>
          <a:xfrm>
            <a:off x="7680871" y="4635401"/>
            <a:ext cx="7074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2" name="Google Shape;3742;p75"/>
          <p:cNvSpPr/>
          <p:nvPr/>
        </p:nvSpPr>
        <p:spPr>
          <a:xfrm>
            <a:off x="7842796" y="4702076"/>
            <a:ext cx="4598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row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3" name="Google Shape;3743;p75"/>
          <p:cNvSpPr/>
          <p:nvPr/>
        </p:nvSpPr>
        <p:spPr>
          <a:xfrm>
            <a:off x="8474050" y="4635401"/>
            <a:ext cx="109120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4" name="Google Shape;3744;p75"/>
          <p:cNvSpPr/>
          <p:nvPr/>
        </p:nvSpPr>
        <p:spPr>
          <a:xfrm>
            <a:off x="8635975" y="4702076"/>
            <a:ext cx="84355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column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5" name="Google Shape;3745;p75"/>
          <p:cNvSpPr/>
          <p:nvPr/>
        </p:nvSpPr>
        <p:spPr>
          <a:xfrm>
            <a:off x="9650983" y="4635401"/>
            <a:ext cx="1408435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6" name="Google Shape;3746;p75"/>
          <p:cNvSpPr/>
          <p:nvPr/>
        </p:nvSpPr>
        <p:spPr>
          <a:xfrm>
            <a:off x="9812908" y="4702076"/>
            <a:ext cx="1160785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same-size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7" name="Google Shape;3747;p75"/>
          <p:cNvSpPr/>
          <p:nvPr/>
        </p:nvSpPr>
        <p:spPr>
          <a:xfrm>
            <a:off x="6424464" y="5139928"/>
            <a:ext cx="105169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8" name="Google Shape;3748;p75"/>
          <p:cNvSpPr/>
          <p:nvPr/>
        </p:nvSpPr>
        <p:spPr>
          <a:xfrm>
            <a:off x="6586389" y="5206603"/>
            <a:ext cx="80404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square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9" name="Google Shape;3749;p75"/>
          <p:cNvSpPr/>
          <p:nvPr/>
        </p:nvSpPr>
        <p:spPr>
          <a:xfrm>
            <a:off x="533326" y="6161708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0" name="Google Shape;3750;p75"/>
          <p:cNvSpPr/>
          <p:nvPr/>
        </p:nvSpPr>
        <p:spPr>
          <a:xfrm>
            <a:off x="809476" y="6380708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1" name="Google Shape;3751;p75"/>
          <p:cNvSpPr/>
          <p:nvPr/>
        </p:nvSpPr>
        <p:spPr>
          <a:xfrm>
            <a:off x="809476" y="6809333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2" name="Google Shape;3752;p75"/>
          <p:cNvSpPr/>
          <p:nvPr/>
        </p:nvSpPr>
        <p:spPr>
          <a:xfrm>
            <a:off x="1247477" y="6780758"/>
            <a:ext cx="529858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a rectangle into same-size squares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3" name="Google Shape;3753;p75"/>
          <p:cNvSpPr/>
          <p:nvPr/>
        </p:nvSpPr>
        <p:spPr>
          <a:xfrm>
            <a:off x="809476" y="7248227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4" name="Google Shape;3754;p75"/>
          <p:cNvSpPr/>
          <p:nvPr/>
        </p:nvSpPr>
        <p:spPr>
          <a:xfrm>
            <a:off x="1247477" y="7219652"/>
            <a:ext cx="522319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Count the squares using rows and columns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5" name="Google Shape;3755;p75"/>
          <p:cNvSpPr/>
          <p:nvPr/>
        </p:nvSpPr>
        <p:spPr>
          <a:xfrm>
            <a:off x="809476" y="768712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6" name="Google Shape;3756;p75"/>
          <p:cNvSpPr/>
          <p:nvPr/>
        </p:nvSpPr>
        <p:spPr>
          <a:xfrm>
            <a:off x="1247477" y="7658546"/>
            <a:ext cx="349809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Connect to repeated addition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7" name="Google Shape;3757;p75"/>
          <p:cNvSpPr/>
          <p:nvPr/>
        </p:nvSpPr>
        <p:spPr>
          <a:xfrm>
            <a:off x="533326" y="8402166"/>
            <a:ext cx="11077724" cy="1089199"/>
          </a:xfrm>
          <a:custGeom>
            <a:rect b="b" l="l" r="r" t="t"/>
            <a:pathLst>
              <a:path extrusionOk="0" h="1089199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955849"/>
                </a:lnTo>
                <a:cubicBezTo>
                  <a:pt x="11077724" y="1029496"/>
                  <a:pt x="11018021" y="1089199"/>
                  <a:pt x="10944374" y="1089199"/>
                </a:cubicBezTo>
                <a:lnTo>
                  <a:pt x="0" y="1089199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8" name="Google Shape;3758;p75"/>
          <p:cNvSpPr/>
          <p:nvPr/>
        </p:nvSpPr>
        <p:spPr>
          <a:xfrm>
            <a:off x="533326" y="8402166"/>
            <a:ext cx="114300" cy="1089199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9" name="Google Shape;3759;p75"/>
          <p:cNvSpPr/>
          <p:nvPr/>
        </p:nvSpPr>
        <p:spPr>
          <a:xfrm>
            <a:off x="895201" y="8592592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0" name="Google Shape;3760;p75"/>
          <p:cNvSpPr/>
          <p:nvPr/>
        </p:nvSpPr>
        <p:spPr>
          <a:xfrm>
            <a:off x="895201" y="8954467"/>
            <a:ext cx="11515100" cy="38457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draw squares of unequal size, which breaks the connection to area and multiplication.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1" name="Google Shape;3761;p75"/>
          <p:cNvSpPr/>
          <p:nvPr/>
        </p:nvSpPr>
        <p:spPr>
          <a:xfrm>
            <a:off x="533326" y="9681790"/>
            <a:ext cx="11077724" cy="1128043"/>
          </a:xfrm>
          <a:prstGeom prst="roundRect">
            <a:avLst>
              <a:gd fmla="val 11821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2" name="Google Shape;3762;p75"/>
          <p:cNvSpPr/>
          <p:nvPr/>
        </p:nvSpPr>
        <p:spPr>
          <a:xfrm>
            <a:off x="780901" y="9872216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3" name="Google Shape;3763;p75"/>
          <p:cNvSpPr/>
          <p:nvPr/>
        </p:nvSpPr>
        <p:spPr>
          <a:xfrm>
            <a:off x="780901" y="10300841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4" name="Google Shape;3764;p75"/>
          <p:cNvSpPr/>
          <p:nvPr/>
        </p:nvSpPr>
        <p:spPr>
          <a:xfrm>
            <a:off x="1218902" y="10272266"/>
            <a:ext cx="717127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split a rectangle into equal squares and count them.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5" name="Google Shape;3765;p75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6" name="Google Shape;3766;p75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7" name="Google Shape;3767;p75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2.G.A.2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DF7"/>
        </a:solidFill>
      </p:bgPr>
    </p:bg>
    <p:spTree>
      <p:nvGrpSpPr>
        <p:cNvPr id="3772" name="Shape 3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3" name="Google Shape;3773;p76"/>
          <p:cNvSpPr/>
          <p:nvPr/>
        </p:nvSpPr>
        <p:spPr>
          <a:xfrm>
            <a:off x="533326" y="2058963"/>
            <a:ext cx="11077724" cy="57150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4" name="Google Shape;3774;p76"/>
          <p:cNvSpPr/>
          <p:nvPr/>
        </p:nvSpPr>
        <p:spPr>
          <a:xfrm>
            <a:off x="533326" y="533326"/>
            <a:ext cx="1023913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2ND GRADE MATH · GEOMETRY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5" name="Google Shape;3775;p76"/>
          <p:cNvSpPr/>
          <p:nvPr/>
        </p:nvSpPr>
        <p:spPr>
          <a:xfrm>
            <a:off x="533326" y="847651"/>
            <a:ext cx="9587555" cy="107796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428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3900"/>
              <a:buFont typeface="Arial"/>
              <a:buNone/>
            </a:pPr>
            <a:r>
              <a:rPr b="1" i="0" lang="en-US" sz="390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Reason with Shapes and Their Attributes</a:t>
            </a:r>
            <a:endParaRPr b="0" i="0" sz="3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6" name="Google Shape;3776;p76"/>
          <p:cNvSpPr/>
          <p:nvPr/>
        </p:nvSpPr>
        <p:spPr>
          <a:xfrm>
            <a:off x="10127382" y="533326"/>
            <a:ext cx="1483668" cy="557213"/>
          </a:xfrm>
          <a:prstGeom prst="roundRect">
            <a:avLst>
              <a:gd fmla="val 17094" name="adj"/>
            </a:avLst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7" name="Google Shape;3777;p76"/>
          <p:cNvSpPr/>
          <p:nvPr/>
        </p:nvSpPr>
        <p:spPr>
          <a:xfrm>
            <a:off x="10336932" y="647626"/>
            <a:ext cx="114076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50"/>
              <a:buFont typeface="Arial"/>
              <a:buNone/>
            </a:pPr>
            <a:r>
              <a:rPr b="1" i="0" lang="en-US" sz="225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2.G.A.3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8" name="Google Shape;3778;p76"/>
          <p:cNvSpPr/>
          <p:nvPr/>
        </p:nvSpPr>
        <p:spPr>
          <a:xfrm>
            <a:off x="533326" y="2325514"/>
            <a:ext cx="11077724" cy="1500411"/>
          </a:xfrm>
          <a:custGeom>
            <a:rect b="b" l="l" r="r" t="t"/>
            <a:pathLst>
              <a:path extrusionOk="0" h="150041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67061"/>
                </a:lnTo>
                <a:cubicBezTo>
                  <a:pt x="11077724" y="1440708"/>
                  <a:pt x="11018021" y="1500411"/>
                  <a:pt x="10944374" y="1500411"/>
                </a:cubicBezTo>
                <a:lnTo>
                  <a:pt x="0" y="1500411"/>
                </a:lnTo>
                <a:lnTo>
                  <a:pt x="0" y="0"/>
                </a:lnTo>
                <a:close/>
              </a:path>
            </a:pathLst>
          </a:custGeom>
          <a:solidFill>
            <a:srgbClr val="F4F6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9" name="Google Shape;3779;p76"/>
          <p:cNvSpPr/>
          <p:nvPr/>
        </p:nvSpPr>
        <p:spPr>
          <a:xfrm>
            <a:off x="533326" y="2325514"/>
            <a:ext cx="114300" cy="1500411"/>
          </a:xfrm>
          <a:prstGeom prst="rect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0" name="Google Shape;3780;p76"/>
          <p:cNvSpPr/>
          <p:nvPr/>
        </p:nvSpPr>
        <p:spPr>
          <a:xfrm>
            <a:off x="914177" y="2534915"/>
            <a:ext cx="1147335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THE STANDARD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1" name="Google Shape;3781;p76"/>
          <p:cNvSpPr/>
          <p:nvPr/>
        </p:nvSpPr>
        <p:spPr>
          <a:xfrm>
            <a:off x="914177" y="2896791"/>
            <a:ext cx="10743231" cy="75783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circles and rectangles into two, three, or four equal shares; describe the shares and the whole.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2" name="Google Shape;3782;p76"/>
          <p:cNvSpPr/>
          <p:nvPr/>
        </p:nvSpPr>
        <p:spPr>
          <a:xfrm>
            <a:off x="533326" y="4016350"/>
            <a:ext cx="5443538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3" name="Google Shape;3783;p76"/>
          <p:cNvSpPr/>
          <p:nvPr/>
        </p:nvSpPr>
        <p:spPr>
          <a:xfrm>
            <a:off x="790501" y="4235351"/>
            <a:ext cx="542210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QUESTIONS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4" name="Google Shape;3784;p76"/>
          <p:cNvSpPr/>
          <p:nvPr/>
        </p:nvSpPr>
        <p:spPr>
          <a:xfrm>
            <a:off x="790501" y="4740101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5" name="Google Shape;3785;p76"/>
          <p:cNvSpPr/>
          <p:nvPr/>
        </p:nvSpPr>
        <p:spPr>
          <a:xfrm>
            <a:off x="999902" y="4635401"/>
            <a:ext cx="3300413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What makes shares equal?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6" name="Google Shape;3786;p76"/>
          <p:cNvSpPr/>
          <p:nvPr/>
        </p:nvSpPr>
        <p:spPr>
          <a:xfrm>
            <a:off x="790501" y="5188595"/>
            <a:ext cx="95101" cy="95101"/>
          </a:xfrm>
          <a:prstGeom prst="ellipse">
            <a:avLst/>
          </a:prstGeom>
          <a:solidFill>
            <a:srgbClr val="64789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7" name="Google Shape;3787;p76"/>
          <p:cNvSpPr/>
          <p:nvPr/>
        </p:nvSpPr>
        <p:spPr>
          <a:xfrm>
            <a:off x="999902" y="5083894"/>
            <a:ext cx="391653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Can equal shares look different?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8" name="Google Shape;3788;p76"/>
          <p:cNvSpPr/>
          <p:nvPr/>
        </p:nvSpPr>
        <p:spPr>
          <a:xfrm>
            <a:off x="6167289" y="4016350"/>
            <a:ext cx="5443761" cy="1761381"/>
          </a:xfrm>
          <a:prstGeom prst="roundRect">
            <a:avLst>
              <a:gd fmla="val 7571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9" name="Google Shape;3789;p76"/>
          <p:cNvSpPr/>
          <p:nvPr/>
        </p:nvSpPr>
        <p:spPr>
          <a:xfrm>
            <a:off x="6424464" y="4235351"/>
            <a:ext cx="542235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VOCABULARY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0" name="Google Shape;3790;p76"/>
          <p:cNvSpPr/>
          <p:nvPr/>
        </p:nvSpPr>
        <p:spPr>
          <a:xfrm>
            <a:off x="6424464" y="4635401"/>
            <a:ext cx="1170682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1" name="Google Shape;3791;p76"/>
          <p:cNvSpPr/>
          <p:nvPr/>
        </p:nvSpPr>
        <p:spPr>
          <a:xfrm>
            <a:off x="6586389" y="4702076"/>
            <a:ext cx="923032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partition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2" name="Google Shape;3792;p76"/>
          <p:cNvSpPr/>
          <p:nvPr/>
        </p:nvSpPr>
        <p:spPr>
          <a:xfrm>
            <a:off x="7680871" y="4635401"/>
            <a:ext cx="1686818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3" name="Google Shape;3793;p76"/>
          <p:cNvSpPr/>
          <p:nvPr/>
        </p:nvSpPr>
        <p:spPr>
          <a:xfrm>
            <a:off x="7842796" y="4702076"/>
            <a:ext cx="1439168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equal shares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4" name="Google Shape;3794;p76"/>
          <p:cNvSpPr/>
          <p:nvPr/>
        </p:nvSpPr>
        <p:spPr>
          <a:xfrm>
            <a:off x="9453414" y="4635401"/>
            <a:ext cx="101195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5" name="Google Shape;3795;p76"/>
          <p:cNvSpPr/>
          <p:nvPr/>
        </p:nvSpPr>
        <p:spPr>
          <a:xfrm>
            <a:off x="9615339" y="4702076"/>
            <a:ext cx="76430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halves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6" name="Google Shape;3796;p76"/>
          <p:cNvSpPr/>
          <p:nvPr/>
        </p:nvSpPr>
        <p:spPr>
          <a:xfrm>
            <a:off x="6424464" y="5139928"/>
            <a:ext cx="905917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7" name="Google Shape;3797;p76"/>
          <p:cNvSpPr/>
          <p:nvPr/>
        </p:nvSpPr>
        <p:spPr>
          <a:xfrm>
            <a:off x="6586389" y="5206603"/>
            <a:ext cx="658267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thirds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8" name="Google Shape;3798;p76"/>
          <p:cNvSpPr/>
          <p:nvPr/>
        </p:nvSpPr>
        <p:spPr>
          <a:xfrm>
            <a:off x="7416105" y="5139928"/>
            <a:ext cx="1051471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9" name="Google Shape;3799;p76"/>
          <p:cNvSpPr/>
          <p:nvPr/>
        </p:nvSpPr>
        <p:spPr>
          <a:xfrm>
            <a:off x="7578030" y="5206603"/>
            <a:ext cx="803821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fourths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0" name="Google Shape;3800;p76"/>
          <p:cNvSpPr/>
          <p:nvPr/>
        </p:nvSpPr>
        <p:spPr>
          <a:xfrm>
            <a:off x="8553301" y="5139928"/>
            <a:ext cx="945654" cy="418802"/>
          </a:xfrm>
          <a:prstGeom prst="roundRect">
            <a:avLst>
              <a:gd fmla="val 50000" name="adj"/>
            </a:avLst>
          </a:prstGeom>
          <a:solidFill>
            <a:srgbClr val="EDE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1" name="Google Shape;3801;p76"/>
          <p:cNvSpPr/>
          <p:nvPr/>
        </p:nvSpPr>
        <p:spPr>
          <a:xfrm>
            <a:off x="8715226" y="5206603"/>
            <a:ext cx="698004" cy="32355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whole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2" name="Google Shape;3802;p76"/>
          <p:cNvSpPr/>
          <p:nvPr/>
        </p:nvSpPr>
        <p:spPr>
          <a:xfrm>
            <a:off x="533326" y="5968157"/>
            <a:ext cx="11077724" cy="2050033"/>
          </a:xfrm>
          <a:prstGeom prst="roundRect">
            <a:avLst>
              <a:gd fmla="val 6505" name="adj"/>
            </a:avLst>
          </a:prstGeom>
          <a:noFill/>
          <a:ln cap="flat" cmpd="sng" w="28575">
            <a:solidFill>
              <a:srgbClr val="E3E6D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3" name="Google Shape;3803;p76"/>
          <p:cNvSpPr/>
          <p:nvPr/>
        </p:nvSpPr>
        <p:spPr>
          <a:xfrm>
            <a:off x="809476" y="6187157"/>
            <a:ext cx="1157796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C5E80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4C5E80"/>
                </a:solidFill>
                <a:latin typeface="Arial"/>
                <a:ea typeface="Arial"/>
                <a:cs typeface="Arial"/>
                <a:sym typeface="Arial"/>
              </a:rPr>
              <a:t>ESSENTIAL SKILLS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4" name="Google Shape;3804;p76"/>
          <p:cNvSpPr/>
          <p:nvPr/>
        </p:nvSpPr>
        <p:spPr>
          <a:xfrm>
            <a:off x="809476" y="6615782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5" name="Google Shape;3805;p76"/>
          <p:cNvSpPr/>
          <p:nvPr/>
        </p:nvSpPr>
        <p:spPr>
          <a:xfrm>
            <a:off x="1247477" y="6587207"/>
            <a:ext cx="7418316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Partition circles and rectangles into halves, thirds, and fourths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6" name="Google Shape;3806;p76"/>
          <p:cNvSpPr/>
          <p:nvPr/>
        </p:nvSpPr>
        <p:spPr>
          <a:xfrm>
            <a:off x="809476" y="7054676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7" name="Google Shape;3807;p76"/>
          <p:cNvSpPr/>
          <p:nvPr/>
        </p:nvSpPr>
        <p:spPr>
          <a:xfrm>
            <a:off x="1247477" y="7026101"/>
            <a:ext cx="6615559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Describe shares using the words halves, thirds, fourths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8" name="Google Shape;3808;p76"/>
          <p:cNvSpPr/>
          <p:nvPr/>
        </p:nvSpPr>
        <p:spPr>
          <a:xfrm>
            <a:off x="809476" y="7493571"/>
            <a:ext cx="304726" cy="304726"/>
          </a:xfrm>
          <a:prstGeom prst="roundRect">
            <a:avLst>
              <a:gd fmla="val 18755" name="adj"/>
            </a:avLst>
          </a:prstGeom>
          <a:solidFill>
            <a:srgbClr val="FFFFFF"/>
          </a:solidFill>
          <a:ln cap="flat" cmpd="sng" w="28575">
            <a:solidFill>
              <a:srgbClr val="64789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9" name="Google Shape;3809;p76"/>
          <p:cNvSpPr/>
          <p:nvPr/>
        </p:nvSpPr>
        <p:spPr>
          <a:xfrm>
            <a:off x="1247477" y="7464996"/>
            <a:ext cx="9569477" cy="37229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1429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Recognize that equal shares of identical wholes need not have the same shape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0" name="Google Shape;3810;p76"/>
          <p:cNvSpPr/>
          <p:nvPr/>
        </p:nvSpPr>
        <p:spPr>
          <a:xfrm>
            <a:off x="533326" y="8208615"/>
            <a:ext cx="11077724" cy="1435671"/>
          </a:xfrm>
          <a:custGeom>
            <a:rect b="b" l="l" r="r" t="t"/>
            <a:pathLst>
              <a:path extrusionOk="0" h="1435671" w="11077724">
                <a:moveTo>
                  <a:pt x="0" y="0"/>
                </a:moveTo>
                <a:lnTo>
                  <a:pt x="10944374" y="0"/>
                </a:lnTo>
                <a:cubicBezTo>
                  <a:pt x="10979741" y="0"/>
                  <a:pt x="11013659" y="14049"/>
                  <a:pt x="11038667" y="39057"/>
                </a:cubicBezTo>
                <a:cubicBezTo>
                  <a:pt x="11063675" y="64065"/>
                  <a:pt x="11077724" y="97983"/>
                  <a:pt x="11077724" y="133350"/>
                </a:cubicBezTo>
                <a:lnTo>
                  <a:pt x="11077724" y="1302321"/>
                </a:lnTo>
                <a:cubicBezTo>
                  <a:pt x="11077724" y="1375968"/>
                  <a:pt x="11018021" y="1435671"/>
                  <a:pt x="10944374" y="1435671"/>
                </a:cubicBezTo>
                <a:lnTo>
                  <a:pt x="0" y="1435671"/>
                </a:lnTo>
                <a:lnTo>
                  <a:pt x="0" y="0"/>
                </a:lnTo>
                <a:close/>
              </a:path>
            </a:pathLst>
          </a:custGeom>
          <a:solidFill>
            <a:srgbClr val="FC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1" name="Google Shape;3811;p76"/>
          <p:cNvSpPr/>
          <p:nvPr/>
        </p:nvSpPr>
        <p:spPr>
          <a:xfrm>
            <a:off x="533326" y="8208615"/>
            <a:ext cx="114300" cy="1435671"/>
          </a:xfrm>
          <a:prstGeom prst="rect">
            <a:avLst/>
          </a:prstGeom>
          <a:solidFill>
            <a:srgbClr val="C4714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2" name="Google Shape;3812;p76"/>
          <p:cNvSpPr/>
          <p:nvPr/>
        </p:nvSpPr>
        <p:spPr>
          <a:xfrm>
            <a:off x="895201" y="8399041"/>
            <a:ext cx="115151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5D3E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A85D3E"/>
                </a:solidFill>
                <a:latin typeface="Arial"/>
                <a:ea typeface="Arial"/>
                <a:cs typeface="Arial"/>
                <a:sym typeface="Arial"/>
              </a:rPr>
              <a:t>COMMON MISCONCEPTION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3" name="Google Shape;3813;p76"/>
          <p:cNvSpPr/>
          <p:nvPr/>
        </p:nvSpPr>
        <p:spPr>
          <a:xfrm>
            <a:off x="895201" y="8760916"/>
            <a:ext cx="10782321" cy="731044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556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1950"/>
              <a:buFont typeface="Arial"/>
              <a:buNone/>
            </a:pPr>
            <a:r>
              <a:rPr b="0" i="0" lang="en-US" sz="1950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Students accept any split into the right number of pieces, whether or not the pieces are equal. Emphasize equal, not just the count.</a:t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4" name="Google Shape;3814;p76"/>
          <p:cNvSpPr/>
          <p:nvPr/>
        </p:nvSpPr>
        <p:spPr>
          <a:xfrm>
            <a:off x="533326" y="9834711"/>
            <a:ext cx="11077724" cy="1570286"/>
          </a:xfrm>
          <a:prstGeom prst="roundRect">
            <a:avLst>
              <a:gd fmla="val 8492" name="adj"/>
            </a:avLst>
          </a:prstGeom>
          <a:solidFill>
            <a:srgbClr val="F2F5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5" name="Google Shape;3815;p76"/>
          <p:cNvSpPr/>
          <p:nvPr/>
        </p:nvSpPr>
        <p:spPr>
          <a:xfrm>
            <a:off x="780901" y="10025137"/>
            <a:ext cx="1164083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F9C7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7F9C76"/>
                </a:solidFill>
                <a:latin typeface="Arial"/>
                <a:ea typeface="Arial"/>
                <a:cs typeface="Arial"/>
                <a:sym typeface="Arial"/>
              </a:rPr>
              <a:t>I CAN STATEMENTS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6" name="Google Shape;3816;p76"/>
          <p:cNvSpPr/>
          <p:nvPr/>
        </p:nvSpPr>
        <p:spPr>
          <a:xfrm>
            <a:off x="780901" y="10453762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7" name="Google Shape;3817;p76"/>
          <p:cNvSpPr/>
          <p:nvPr/>
        </p:nvSpPr>
        <p:spPr>
          <a:xfrm>
            <a:off x="1218902" y="10425187"/>
            <a:ext cx="6211602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can split a shape into halves, thirds, and fourths.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8" name="Google Shape;3818;p76"/>
          <p:cNvSpPr/>
          <p:nvPr/>
        </p:nvSpPr>
        <p:spPr>
          <a:xfrm>
            <a:off x="780901" y="10896005"/>
            <a:ext cx="304726" cy="304726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7F9C7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9" name="Google Shape;3819;p76"/>
          <p:cNvSpPr/>
          <p:nvPr/>
        </p:nvSpPr>
        <p:spPr>
          <a:xfrm>
            <a:off x="1218902" y="10867430"/>
            <a:ext cx="4151546" cy="38524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Clr>
                <a:srgbClr val="2E3230"/>
              </a:buClr>
              <a:buSzPts val="2025"/>
              <a:buFont typeface="Arial"/>
              <a:buNone/>
            </a:pPr>
            <a:r>
              <a:rPr b="0" i="0" lang="en-US" sz="2025" u="none" cap="none" strike="noStrike">
                <a:solidFill>
                  <a:srgbClr val="2E3230"/>
                </a:solidFill>
                <a:latin typeface="Arial"/>
                <a:ea typeface="Arial"/>
                <a:cs typeface="Arial"/>
                <a:sym typeface="Arial"/>
              </a:rPr>
              <a:t>I know the shares must be equal.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0" name="Google Shape;3820;p76"/>
          <p:cNvSpPr/>
          <p:nvPr/>
        </p:nvSpPr>
        <p:spPr>
          <a:xfrm>
            <a:off x="533326" y="14730636"/>
            <a:ext cx="11077724" cy="14288"/>
          </a:xfrm>
          <a:prstGeom prst="rect">
            <a:avLst/>
          </a:prstGeom>
          <a:solidFill>
            <a:srgbClr val="E3E6D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1" name="Google Shape;3821;p76"/>
          <p:cNvSpPr/>
          <p:nvPr/>
        </p:nvSpPr>
        <p:spPr>
          <a:xfrm>
            <a:off x="533326" y="14897174"/>
            <a:ext cx="2095664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0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Assess: Quarter 4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2" name="Google Shape;3822;p76"/>
          <p:cNvSpPr/>
          <p:nvPr/>
        </p:nvSpPr>
        <p:spPr>
          <a:xfrm>
            <a:off x="10790634" y="14897174"/>
            <a:ext cx="89661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C9086"/>
              </a:buClr>
              <a:buSzPts val="1875"/>
              <a:buFont typeface="Arial"/>
              <a:buNone/>
            </a:pPr>
            <a:r>
              <a:rPr b="1" i="0" lang="en-US" sz="1875" u="none" cap="none" strike="noStrike">
                <a:solidFill>
                  <a:srgbClr val="8C9086"/>
                </a:solidFill>
                <a:latin typeface="Arial"/>
                <a:ea typeface="Arial"/>
                <a:cs typeface="Arial"/>
                <a:sym typeface="Arial"/>
              </a:rPr>
              <a:t>2.G.A.3</a:t>
            </a:r>
            <a:endParaRPr b="0" i="0" sz="18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